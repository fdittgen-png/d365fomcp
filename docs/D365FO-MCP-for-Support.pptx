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D365FO MCP Services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2200" b="0">
                <a:solidFill>
                  <a:srgbClr val="BFD6EA"/>
                </a:solidFill>
                <a:latin typeface="Segoe UI"/>
              </a:rPr>
              <a:t>Grounding Claude in real D365 metadata — for faster, accurate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16A085"/>
                </a:solidFill>
                <a:latin typeface="Segoe UI"/>
              </a:rPr>
              <a:t>54 AI-consumable tools · 4 local services · read-only · grounded in your environment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8A97A5"/>
                </a:solidFill>
                <a:latin typeface="Segoe UI"/>
              </a:rPr>
              <a:t>Internal enablement overview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6A085"/>
                </a:solidFill>
                <a:latin typeface="Segoe UI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A general LLM alone is risky for D365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9494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500" b="1">
                <a:solidFill>
                  <a:srgbClr val="0B2140"/>
                </a:solidFill>
                <a:latin typeface="Segoe UI"/>
              </a:rPr>
              <a:t>Hallucinations. </a:t>
            </a:r>
            <a:r>
              <a:rPr sz="1500" b="0">
                <a:solidFill>
                  <a:srgbClr val="455260"/>
                </a:solidFill>
                <a:latin typeface="Segoe UI"/>
              </a:rPr>
              <a:t>Generic models invent table names, fields, enum values and role names that don't exist in your build.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500" b="1">
                <a:solidFill>
                  <a:srgbClr val="0B2140"/>
                </a:solidFill>
                <a:latin typeface="Segoe UI"/>
              </a:rPr>
              <a:t>No environment truth. </a:t>
            </a:r>
            <a:r>
              <a:rPr sz="1500" b="0">
                <a:solidFill>
                  <a:srgbClr val="455260"/>
                </a:solidFill>
                <a:latin typeface="Segoe UI"/>
              </a:rPr>
              <a:t>They can't see your AOT metadata, cross-references, security config or customizations (TBG_/TOC_).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500" b="1">
                <a:solidFill>
                  <a:srgbClr val="0B2140"/>
                </a:solidFill>
                <a:latin typeface="Segoe UI"/>
              </a:rPr>
              <a:t>Version drift. </a:t>
            </a:r>
            <a:r>
              <a:rPr sz="1500" b="0">
                <a:solidFill>
                  <a:srgbClr val="455260"/>
                </a:solidFill>
                <a:latin typeface="Segoe UI"/>
              </a:rPr>
              <a:t>Field renames and customizations differ per environment — generic answers go stale.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500" b="1">
                <a:solidFill>
                  <a:srgbClr val="0B2140"/>
                </a:solidFill>
                <a:latin typeface="Segoe UI"/>
              </a:rPr>
              <a:t>Slow triage. </a:t>
            </a:r>
            <a:r>
              <a:rPr sz="1500" b="0">
                <a:solidFill>
                  <a:srgbClr val="455260"/>
                </a:solidFill>
                <a:latin typeface="Segoe UI"/>
              </a:rPr>
              <a:t>Engineers hand-trace callers, permissions and repro steps across tools.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463040"/>
            <a:ext cx="35661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463040"/>
            <a:ext cx="3566160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3200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1">
                <a:solidFill>
                  <a:srgbClr val="1F6FB2"/>
                </a:solidFill>
                <a:latin typeface="Segoe UI"/>
              </a:rPr>
              <a:t>The fix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00" b="0">
                <a:solidFill>
                  <a:srgbClr val="455260"/>
                </a:solidFill>
                <a:latin typeface="Segoe UI"/>
              </a:rPr>
              <a:t>Give Claude live, read-only access to the same metadata an engineer would open in Visual Studio — via the Model Context Protocol (MCP).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0B2140"/>
                </a:solidFill>
                <a:latin typeface="Segoe UI"/>
              </a:rPr>
              <a:t>Every answer is traceable to a real object in the snapshot.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6A085"/>
                </a:solidFill>
                <a:latin typeface="Segoe UI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One MCP platform, four services, 54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74320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743200" cy="7772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Knowledge Base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17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468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Tables, fields, EDTs, enums,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classes, methods, labels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554480"/>
            <a:ext cx="274320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554480"/>
            <a:ext cx="2743200" cy="77724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627632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Cross-Reference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16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560320"/>
            <a:ext cx="2468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Callers, usages, extensions,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event handlers,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1554480"/>
            <a:ext cx="274320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554480"/>
            <a:ext cx="2743200" cy="777240"/>
          </a:xfrm>
          <a:prstGeom prst="rect">
            <a:avLst/>
          </a:prstGeom>
          <a:solidFill>
            <a:srgbClr val="B5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627632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Security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19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560320"/>
            <a:ext cx="2468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Roles, duties, privileges,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effective access, SoD, licence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9136" y="1554480"/>
            <a:ext cx="274320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89136" y="1554480"/>
            <a:ext cx="2743200" cy="777240"/>
          </a:xfrm>
          <a:prstGeom prst="rect">
            <a:avLst/>
          </a:prstGeom>
          <a:solidFill>
            <a:srgbClr val="6B4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627632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Task Recorder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2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560320"/>
            <a:ext cx="2468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Recordings → enriched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repro &amp; process 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1">
                <a:solidFill>
                  <a:srgbClr val="0B2140"/>
                </a:solidFill>
                <a:latin typeface="Segoe UI"/>
              </a:rPr>
              <a:t>Local &amp; safe: </a:t>
            </a:r>
            <a:r>
              <a:rPr sz="1400" b="0">
                <a:solidFill>
                  <a:srgbClr val="455260"/>
                </a:solidFill>
                <a:latin typeface="Segoe UI"/>
              </a:rPr>
              <a:t>each service runs as a local stdio MCP server over a read-only SQLite snapshot. Read-only, idempotent, no open-world calls — hosts can auto-approve.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0B2140"/>
                </a:solidFill>
                <a:latin typeface="Segoe UI"/>
              </a:rPr>
              <a:t>Plus a complementary RAG service </a:t>
            </a:r>
            <a:r>
              <a:rPr sz="1300" b="0">
                <a:solidFill>
                  <a:srgbClr val="455260"/>
                </a:solidFill>
                <a:latin typeface="Segoe UI"/>
              </a:rPr>
              <a:t>for grounded Q&amp;A over D365 documentation.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6A085"/>
                </a:solidFill>
                <a:latin typeface="Segoe UI"/>
              </a:rPr>
              <a:t>SERVICE 1 · KNOWLEDGE BASE (17 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Answer 'what is this object?' from real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0408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Look it up. </a:t>
            </a:r>
            <a:r>
              <a:rPr sz="1400" b="0">
                <a:solidFill>
                  <a:srgbClr val="455260"/>
                </a:solidFill>
                <a:latin typeface="Segoe UI"/>
              </a:rPr>
              <a:t>lookup_table, get_enum, get_class_methods, get_method_source, resolve_label — exact field/enum/label values, no guessing.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Explore relations. </a:t>
            </a:r>
            <a:r>
              <a:rPr sz="1400" b="0">
                <a:solidFill>
                  <a:srgbClr val="455260"/>
                </a:solidFill>
                <a:latin typeface="Segoe UI"/>
              </a:rPr>
              <a:t>find_referencing_tables, get_join_keys, get_entity_sources, graph_traverse.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Catch drift. </a:t>
            </a:r>
            <a:r>
              <a:rPr sz="1400" b="0">
                <a:solidFill>
                  <a:srgbClr val="455260"/>
                </a:solidFill>
                <a:latin typeface="Segoe UI"/>
              </a:rPr>
              <a:t>field_renames and check_field_exists confirm a field is real in this build.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Anti-hallucination. </a:t>
            </a:r>
            <a:r>
              <a:rPr sz="1400" b="0">
                <a:solidFill>
                  <a:srgbClr val="455260"/>
                </a:solidFill>
                <a:latin typeface="Segoe UI"/>
              </a:rPr>
              <a:t>hallucination_check validates a claimed object before you act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463040"/>
            <a:ext cx="3566160" cy="448056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691640"/>
            <a:ext cx="3200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6A085"/>
                </a:solidFill>
                <a:latin typeface="Segoe UI"/>
              </a:rPr>
              <a:t>Support win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“Is CustTable.Blocked an enum?”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BFD6EA"/>
                </a:solidFill>
                <a:latin typeface="Segoe UI"/>
              </a:rPr>
              <a:t>Claude returns the real EDT/enum, its values and label — instead of a confident guess.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6A085"/>
                </a:solidFill>
                <a:latin typeface="Segoe UI"/>
              </a:rPr>
              <a:t>SERVICE 2 · CROSS-REFERENCE (16 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Trace 'what touches this?' across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0408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Who calls what. </a:t>
            </a:r>
            <a:r>
              <a:rPr sz="1400" b="0">
                <a:solidFill>
                  <a:srgbClr val="455260"/>
                </a:solidFill>
                <a:latin typeface="Segoe UI"/>
              </a:rPr>
              <a:t>find_references, find_usages, find_method_callers, method_references, find_field_usages.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Customization-aware. </a:t>
            </a:r>
            <a:r>
              <a:rPr sz="1400" b="0">
                <a:solidFill>
                  <a:srgbClr val="455260"/>
                </a:solidFill>
                <a:latin typeface="Segoe UI"/>
              </a:rPr>
              <a:t>find_extensions and find_event_handlers surface ISV / TBG_ / TOC_ overlayer behaviour.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Structure. </a:t>
            </a:r>
            <a:r>
              <a:rPr sz="1400" b="0">
                <a:solidFill>
                  <a:srgbClr val="455260"/>
                </a:solidFill>
                <a:latin typeface="Segoe UI"/>
              </a:rPr>
              <a:t>class_hierarchy, interface_implementors, module_objects, cross_module_deps.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Blast radius. </a:t>
            </a:r>
            <a:r>
              <a:rPr sz="1400" b="0">
                <a:solidFill>
                  <a:srgbClr val="455260"/>
                </a:solidFill>
                <a:latin typeface="Segoe UI"/>
              </a:rPr>
              <a:t>impact_analysis answers “what breaks if we change X?” before a fix ships.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463040"/>
            <a:ext cx="3566160" cy="448056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691640"/>
            <a:ext cx="3200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6A085"/>
                </a:solidFill>
                <a:latin typeface="Segoe UI"/>
              </a:rPr>
              <a:t>Support win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“Why did posting change?”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BFD6EA"/>
                </a:solidFill>
                <a:latin typeface="Segoe UI"/>
              </a:rPr>
              <a:t>Claude lists every caller and extension of the method — with line references you can click straight 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6A085"/>
                </a:solidFill>
                <a:latin typeface="Segoe UI"/>
              </a:rPr>
              <a:t>SERVICE 3 · SECURITY (19 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Explain any access decision —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0408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Who &amp; what. </a:t>
            </a:r>
            <a:r>
              <a:rPr sz="1400" b="0">
                <a:solidFill>
                  <a:srgbClr val="455260"/>
                </a:solidFill>
                <a:latin typeface="Segoe UI"/>
              </a:rPr>
              <a:t>lookup_user/role/duty/privilege, find_users_by_role, company_users, role_hierarchy.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Effective access. </a:t>
            </a:r>
            <a:r>
              <a:rPr sz="1400" b="0">
                <a:solidFill>
                  <a:srgbClr val="455260"/>
                </a:solidFill>
                <a:latin typeface="Segoe UI"/>
              </a:rPr>
              <a:t>effective_permissions &amp; permission_trace walk role→duty→privilege→entry point with Deny-wins.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“Can user X do Y?” </a:t>
            </a:r>
            <a:r>
              <a:rPr sz="1400" b="0">
                <a:solidFill>
                  <a:srgbClr val="455260"/>
                </a:solidFill>
                <a:latin typeface="Segoe UI"/>
              </a:rPr>
              <a:t>object_access shows grant/deny incl. Invoke; what_if simulates a role change.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Governance. </a:t>
            </a:r>
            <a:r>
              <a:rPr sz="1400" b="0">
                <a:solidFill>
                  <a:srgbClr val="455260"/>
                </a:solidFill>
                <a:latin typeface="Segoe UI"/>
              </a:rPr>
              <a:t>sod_check (now from live D365 SoD rules), licence_assessment, compare_roles.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463040"/>
            <a:ext cx="3566160" cy="448056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691640"/>
            <a:ext cx="3200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6A085"/>
                </a:solidFill>
                <a:latin typeface="Segoe UI"/>
              </a:rPr>
              <a:t>Support win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“Why is the button greyed out?”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BFD6EA"/>
                </a:solidFill>
                <a:latin typeface="Segoe UI"/>
              </a:rPr>
              <a:t>Claude traces the exact role/duty granting or denying the menu item — no more screen-share spelunking.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6A085"/>
                </a:solidFill>
                <a:latin typeface="Segoe UI"/>
              </a:rPr>
              <a:t>SERVICE 4 · TASK RECORDER (2 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Turn a recording into a repro you can act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0408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taskrecorder_to_markdown. </a:t>
            </a:r>
            <a:r>
              <a:rPr sz="1400" b="0">
                <a:solidFill>
                  <a:srgbClr val="455260"/>
                </a:solidFill>
                <a:latin typeface="Segoe UI"/>
              </a:rPr>
              <a:t>Parses a server .axtr into clean, readable steps.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taskrecorder_to_document. </a:t>
            </a:r>
            <a:r>
              <a:rPr sz="1400" b="0">
                <a:solidFill>
                  <a:srgbClr val="455260"/>
                </a:solidFill>
                <a:latin typeface="Segoe UI"/>
              </a:rPr>
              <a:t>Builds an enriched MHTML web-archive: client recording + screenshots correlated to each server action.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Auto-enriched. </a:t>
            </a:r>
            <a:r>
              <a:rPr sz="1400" b="0">
                <a:solidFill>
                  <a:srgbClr val="455260"/>
                </a:solidFill>
                <a:latin typeface="Segoe UI"/>
              </a:rPr>
              <a:t>Each step is annotated with KB metadata and Security context (which object, which permission).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6A085"/>
                </a:solidFill>
                <a:latin typeface="Segoe UI"/>
              </a:rPr>
              <a:t>•  </a:t>
            </a:r>
            <a:r>
              <a:rPr sz="1400" b="1">
                <a:solidFill>
                  <a:srgbClr val="0B2140"/>
                </a:solidFill>
                <a:latin typeface="Segoe UI"/>
              </a:rPr>
              <a:t>Reproduce faster. </a:t>
            </a:r>
            <a:r>
              <a:rPr sz="1400" b="0">
                <a:solidFill>
                  <a:srgbClr val="455260"/>
                </a:solidFill>
                <a:latin typeface="Segoe UI"/>
              </a:rPr>
              <a:t>A customer recording becomes a precise, navigable repro for the engineer.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463040"/>
            <a:ext cx="3566160" cy="448056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691640"/>
            <a:ext cx="3200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6A085"/>
                </a:solidFill>
                <a:latin typeface="Segoe UI"/>
              </a:rPr>
              <a:t>Support win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“It fails when I post…”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BFD6EA"/>
                </a:solidFill>
                <a:latin typeface="Segoe UI"/>
              </a:rPr>
              <a:t>The .axtr becomes a step-by-step document with the exact forms, menu items and required permissions.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6A085"/>
                </a:solidFill>
                <a:latin typeface="Segoe UI"/>
              </a:rPr>
              <a:t>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How a support engineer uses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27432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743200" cy="6400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1.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Frame the ticket; identify objects &amp; users involved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645920"/>
            <a:ext cx="27432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645920"/>
            <a:ext cx="2743200" cy="6400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7373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2. Reproduce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42316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Turn the Task Recording into an enriched repro doc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1645920"/>
            <a:ext cx="27432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45920"/>
            <a:ext cx="2743200" cy="640080"/>
          </a:xfrm>
          <a:prstGeom prst="rect">
            <a:avLst/>
          </a:prstGeom>
          <a:solidFill>
            <a:srgbClr val="B5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7373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3. Diagnose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42316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KB + XRef trace the behaviour &amp; blast radius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9136" y="1645920"/>
            <a:ext cx="27432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89136" y="1645920"/>
            <a:ext cx="2743200" cy="640080"/>
          </a:xfrm>
          <a:prstGeom prst="rect">
            <a:avLst/>
          </a:prstGeom>
          <a:solidFill>
            <a:srgbClr val="6B4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7373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4.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42316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55260"/>
                </a:solidFill>
                <a:latin typeface="Segoe UI"/>
              </a:rPr>
              <a:t>Security explains who can/can't do what, and why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11155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0B2140"/>
                </a:solidFill>
                <a:latin typeface="Segoe UI"/>
              </a:rPr>
              <a:t>Packaged as one-click skills: </a:t>
            </a:r>
            <a:r>
              <a:rPr sz="1400" b="0">
                <a:solidFill>
                  <a:srgbClr val="455260"/>
                </a:solidFill>
                <a:latin typeface="Segoe UI"/>
              </a:rPr>
              <a:t>support-scope, support-reproduce, support-diagnose and biz-access-check orchestrate the tools above so engineers don't memorise tool names.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0B2140"/>
                </a:solidFill>
                <a:latin typeface="Segoe UI"/>
              </a:rPr>
              <a:t>Every claim is grounded: </a:t>
            </a:r>
            <a:r>
              <a:rPr sz="1400" b="0">
                <a:solidFill>
                  <a:srgbClr val="455260"/>
                </a:solidFill>
                <a:latin typeface="Segoe UI"/>
              </a:rPr>
              <a:t>answers cite the real object and snapshot date, so they're auditable, not improvised.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Why it matters for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697480" cy="2468880"/>
          </a:xfrm>
          <a:prstGeom prst="rect">
            <a:avLst/>
          </a:prstGeom>
          <a:solidFill>
            <a:srgbClr val="1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697480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331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6A085"/>
                </a:solidFill>
                <a:latin typeface="Segoe UI"/>
              </a:rPr>
              <a:t>Accurate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CFDDEA"/>
                </a:solidFill>
                <a:latin typeface="Segoe UI"/>
              </a:rPr>
              <a:t>Grounded in real metadata — far fewer hallucinations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2424" y="1554480"/>
            <a:ext cx="2697480" cy="2468880"/>
          </a:xfrm>
          <a:prstGeom prst="rect">
            <a:avLst/>
          </a:prstGeom>
          <a:solidFill>
            <a:srgbClr val="1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2424" y="1554480"/>
            <a:ext cx="2697480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783080"/>
            <a:ext cx="2331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6A085"/>
                </a:solidFill>
                <a:latin typeface="Segoe UI"/>
              </a:rPr>
              <a:t>Faster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CFDDEA"/>
                </a:solidFill>
                <a:latin typeface="Segoe UI"/>
              </a:rPr>
              <a:t>Minutes, not hours, to trace callers / permissions / repro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554480"/>
            <a:ext cx="2697480" cy="2468880"/>
          </a:xfrm>
          <a:prstGeom prst="rect">
            <a:avLst/>
          </a:prstGeom>
          <a:solidFill>
            <a:srgbClr val="1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554480"/>
            <a:ext cx="2697480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83080"/>
            <a:ext cx="2331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6A085"/>
                </a:solidFill>
                <a:latin typeface="Segoe UI"/>
              </a:rPr>
              <a:t>Auditable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CFDDEA"/>
                </a:solidFill>
                <a:latin typeface="Segoe UI"/>
              </a:rPr>
              <a:t>Every answer traces to an object + snapshot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9992" y="1554480"/>
            <a:ext cx="2697480" cy="2468880"/>
          </a:xfrm>
          <a:prstGeom prst="rect">
            <a:avLst/>
          </a:prstGeom>
          <a:solidFill>
            <a:srgbClr val="12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79992" y="1554480"/>
            <a:ext cx="2697480" cy="381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783080"/>
            <a:ext cx="2331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6A085"/>
                </a:solidFill>
                <a:latin typeface="Segoe UI"/>
              </a:rPr>
              <a:t>Safe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CFDDEA"/>
                </a:solidFill>
                <a:latin typeface="Segoe UI"/>
              </a:rPr>
              <a:t>Read-only snapshots; no consumer/vendor data, no writes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From “confident guesses” to “traceable answers.”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0">
                <a:solidFill>
                  <a:srgbClr val="8A97A5"/>
                </a:solidFill>
                <a:latin typeface="Segoe UI"/>
              </a:rPr>
              <a:t>4 services · 54 tools · running locally today — extensible as the D365 estate grows.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