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55" r:id="rId4"/>
    <p:sldMasterId id="2147484156" r:id="rId5"/>
  </p:sldMasterIdLst>
  <p:notesMasterIdLst>
    <p:notesMasterId r:id="rId10"/>
  </p:notesMasterIdLst>
  <p:handoutMasterIdLst>
    <p:handoutMasterId r:id="rId11"/>
  </p:handoutMasterIdLst>
  <p:sldIdLst>
    <p:sldId id="300" r:id="rId100"/>
    <p:sldId id="301" r:id="rId101"/>
    <p:sldId id="302" r:id="rId102"/>
    <p:sldId id="303" r:id="rId103"/>
    <p:sldId id="304" r:id="rId104"/>
    <p:sldId id="305" r:id="rId105"/>
    <p:sldId id="306" r:id="rId106"/>
    <p:sldId id="307" r:id="rId107"/>
    <p:sldId id="308" r:id="rId108"/>
    <p:sldId id="309" r:id="rId109"/>
    <p:sldId id="310" r:id="rId110"/>
    <p:sldId id="311" r:id="rId111"/>
    <p:sldId id="312" r:id="rId112"/>
    <p:sldId id="313" r:id="rId113"/>
    <p:sldId id="314" r:id="rId114"/>
    <p:sldId id="315" r:id="rId115"/>
    <p:sldId id="316" r:id="rId116"/>
    <p:sldId id="317" r:id="rId117"/>
    <p:sldId id="318" r:id="rId118"/>
    <p:sldId id="319" r:id="rId119"/>
    <p:sldId id="320" r:id="rId120"/>
  </p:sldIdLst>
  <p:sldSz cx="12192000" cy="6858000"/>
  <p:notesSz cx="7315200" cy="96012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A1C916-6EE0-F152-37D1-5D7186435031}" name="Criselda Olanday" initials="" userId="S::colanday@hsdyn.com::631923f0-de08-4c34-9b60-231f39a03558" providerId="AD"/>
  <p188:author id="{BD038BF0-4252-EFCA-73A1-1C06A7BFD751}" name="Rebecca Ziedén" initials="RZ" userId="S::rebecca.zieden@trelleborg.com::8e1a3bf3-e463-4fc2-ab7b-87cc8e7518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0000"/>
    <a:srgbClr val="E1E1E1"/>
    <a:srgbClr val="F8CBAD"/>
    <a:srgbClr val="FFE699"/>
    <a:srgbClr val="BDD7EE"/>
    <a:srgbClr val="C6E0B4"/>
    <a:srgbClr val="002664"/>
    <a:srgbClr val="0070C0"/>
    <a:srgbClr val="191919"/>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DDB511-BBF4-4F67-9E07-019295306042}" v="15" dt="2026-03-03T13:45:03.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14" Type="http://schemas.openxmlformats.org/officeDocument/2006/relationships/viewProps" Target="viewProp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3169920" cy="353763"/>
          </a:xfrm>
          <a:prstGeom prst="rect">
            <a:avLst/>
          </a:prstGeom>
        </p:spPr>
        <p:txBody>
          <a:bodyPr vert="horz" lIns="76111" tIns="76111" rIns="76111" bIns="76111" rtlCol="0">
            <a:spAutoFit/>
          </a:bodyPr>
          <a:lstStyle>
            <a:lvl1pPr algn="l">
              <a:defRPr sz="13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4143587" y="0"/>
            <a:ext cx="3169920" cy="353763"/>
          </a:xfrm>
          <a:prstGeom prst="rect">
            <a:avLst/>
          </a:prstGeom>
        </p:spPr>
        <p:txBody>
          <a:bodyPr vert="horz" lIns="76111" tIns="76111" rIns="76111" bIns="76111" rtlCol="0">
            <a:spAutoFit/>
          </a:bodyPr>
          <a:lstStyle>
            <a:lvl1pPr algn="r">
              <a:defRPr sz="1300"/>
            </a:lvl1pPr>
          </a:lstStyle>
          <a:p>
            <a:fld id="{CC0BB003-453D-49F4-9E2C-B0AABA0AB37D}" type="datetimeFigureOut">
              <a:rPr lang="en-US" smtClean="0"/>
              <a:t>3/3/2026</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9247437"/>
            <a:ext cx="3169920" cy="353763"/>
          </a:xfrm>
          <a:prstGeom prst="rect">
            <a:avLst/>
          </a:prstGeom>
        </p:spPr>
        <p:txBody>
          <a:bodyPr vert="horz" lIns="76111" tIns="76111" rIns="76111" bIns="76111" rtlCol="0" anchor="b">
            <a:spAutoFit/>
          </a:bodyPr>
          <a:lstStyle>
            <a:lvl1pPr algn="l">
              <a:defRPr sz="13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4143587" y="9247437"/>
            <a:ext cx="3169920" cy="353763"/>
          </a:xfrm>
          <a:prstGeom prst="rect">
            <a:avLst/>
          </a:prstGeom>
        </p:spPr>
        <p:txBody>
          <a:bodyPr vert="horz" lIns="76111" tIns="76111" rIns="76111" bIns="76111" rtlCol="0" anchor="b">
            <a:spAutoFit/>
          </a:bodyPr>
          <a:lstStyle>
            <a:lvl1pPr algn="r">
              <a:defRPr sz="13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24" userDrawn="1">
          <p15:clr>
            <a:srgbClr val="F26B43"/>
          </p15:clr>
        </p15:guide>
        <p15:guide id="2" pos="230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276910"/>
          </a:xfrm>
          <a:prstGeom prst="rect">
            <a:avLst/>
          </a:prstGeom>
        </p:spPr>
        <p:txBody>
          <a:bodyPr vert="horz" lIns="38056" tIns="38056" rIns="38056" bIns="38056" rtlCol="0">
            <a:spAutoFit/>
          </a:bodyPr>
          <a:lstStyle>
            <a:lvl1pPr algn="l">
              <a:defRPr sz="1300"/>
            </a:lvl1pPr>
          </a:lstStyle>
          <a:p>
            <a:endParaRPr lang="en-US"/>
          </a:p>
        </p:txBody>
      </p:sp>
      <p:sp>
        <p:nvSpPr>
          <p:cNvPr id="3" name="Date Placeholder 2"/>
          <p:cNvSpPr>
            <a:spLocks noGrp="1"/>
          </p:cNvSpPr>
          <p:nvPr>
            <p:ph type="dt" idx="1"/>
          </p:nvPr>
        </p:nvSpPr>
        <p:spPr>
          <a:xfrm>
            <a:off x="4143587" y="1"/>
            <a:ext cx="3169920" cy="276910"/>
          </a:xfrm>
          <a:prstGeom prst="rect">
            <a:avLst/>
          </a:prstGeom>
        </p:spPr>
        <p:txBody>
          <a:bodyPr vert="horz" lIns="38056" tIns="38056" rIns="38056" bIns="38056" rtlCol="0">
            <a:spAutoFit/>
          </a:bodyPr>
          <a:lstStyle>
            <a:lvl1pPr algn="r">
              <a:defRPr sz="1300"/>
            </a:lvl1pPr>
          </a:lstStyle>
          <a:p>
            <a:fld id="{17C9ACF2-9523-4E24-AB2A-AA40E013F93F}" type="datetimeFigureOut">
              <a:rPr lang="en-US" smtClean="0"/>
              <a:t>3/3/2026</a:t>
            </a:fld>
            <a:endParaRPr lang="en-US"/>
          </a:p>
        </p:txBody>
      </p:sp>
      <p:sp>
        <p:nvSpPr>
          <p:cNvPr id="4" name="Slide Image Placeholder 3"/>
          <p:cNvSpPr>
            <a:spLocks noGrp="1" noRot="1" noChangeAspect="1"/>
          </p:cNvSpPr>
          <p:nvPr>
            <p:ph type="sldImg" idx="2"/>
          </p:nvPr>
        </p:nvSpPr>
        <p:spPr>
          <a:xfrm>
            <a:off x="434975" y="377825"/>
            <a:ext cx="6443663" cy="3624263"/>
          </a:xfrm>
          <a:prstGeom prst="rect">
            <a:avLst/>
          </a:prstGeom>
          <a:noFill/>
          <a:ln w="3175">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708419" y="4376764"/>
            <a:ext cx="5852160" cy="49541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24290"/>
            <a:ext cx="3169920" cy="276910"/>
          </a:xfrm>
          <a:prstGeom prst="rect">
            <a:avLst/>
          </a:prstGeom>
        </p:spPr>
        <p:txBody>
          <a:bodyPr vert="horz" lIns="38056" tIns="38056" rIns="38056" bIns="38056" rtlCol="0" anchor="b">
            <a:spAutoFit/>
          </a:bodyPr>
          <a:lstStyle>
            <a:lvl1pPr algn="l">
              <a:defRPr sz="1300"/>
            </a:lvl1pPr>
          </a:lstStyle>
          <a:p>
            <a:endParaRPr lang="en-US"/>
          </a:p>
        </p:txBody>
      </p:sp>
      <p:sp>
        <p:nvSpPr>
          <p:cNvPr id="7" name="Slide Number Placeholder 6"/>
          <p:cNvSpPr>
            <a:spLocks noGrp="1"/>
          </p:cNvSpPr>
          <p:nvPr>
            <p:ph type="sldNum" sz="quarter" idx="5"/>
          </p:nvPr>
        </p:nvSpPr>
        <p:spPr>
          <a:xfrm>
            <a:off x="4143587" y="9324290"/>
            <a:ext cx="3169920" cy="276910"/>
          </a:xfrm>
          <a:prstGeom prst="rect">
            <a:avLst/>
          </a:prstGeom>
        </p:spPr>
        <p:txBody>
          <a:bodyPr vert="horz" lIns="38056" tIns="38056" rIns="38056" bIns="38056" rtlCol="0" anchor="b">
            <a:spAutoFit/>
          </a:bodyPr>
          <a:lstStyle>
            <a:lvl1pPr algn="r">
              <a:defRPr sz="1300"/>
            </a:lvl1pPr>
          </a:lstStyle>
          <a:p>
            <a:fld id="{79F5A480-A98C-4E91-8166-A054DD06EBA9}" type="slidenum">
              <a:rPr lang="en-US" smtClean="0"/>
              <a:t>‹#›</a:t>
            </a:fld>
            <a:endParaRPr lang="en-US"/>
          </a:p>
        </p:txBody>
      </p:sp>
      <p:sp>
        <p:nvSpPr>
          <p:cNvPr id="8" name="TextBox 30">
            <a:extLst>
              <a:ext uri="{FF2B5EF4-FFF2-40B4-BE49-F238E27FC236}">
                <a16:creationId xmlns:a16="http://schemas.microsoft.com/office/drawing/2014/main" id="{B5AB089E-4160-1789-5FB9-5606598D96E9}"/>
              </a:ext>
            </a:extLst>
          </p:cNvPr>
          <p:cNvSpPr txBox="1">
            <a:spLocks/>
          </p:cNvSpPr>
          <p:nvPr/>
        </p:nvSpPr>
        <p:spPr>
          <a:xfrm>
            <a:off x="7708419" y="4177085"/>
            <a:ext cx="4865963" cy="203004"/>
          </a:xfrm>
          <a:prstGeom prst="rect">
            <a:avLst/>
          </a:prstGeom>
        </p:spPr>
        <p:txBody>
          <a:bodyPr vert="horz" wrap="square" lIns="0" tIns="0" rIns="0" bIns="0" rtlCol="0">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a:solidFill>
                  <a:srgbClr val="FF0000"/>
                </a:solidFill>
              </a:rPr>
              <a:t>PLACEHOLDER FOR SPEAKER NOTES. </a:t>
            </a:r>
            <a:r>
              <a:rPr lang="en-US" sz="1300" b="1">
                <a:solidFill>
                  <a:srgbClr val="FF0000"/>
                </a:solidFill>
              </a:rPr>
              <a:t>DO NOT DELETE!</a:t>
            </a:r>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975" indent="-180975" algn="l" defTabSz="914400" rtl="0" eaLnBrk="1" latinLnBrk="0" hangingPunct="1">
      <a:defRPr sz="1200" kern="1200">
        <a:solidFill>
          <a:schemeClr val="tx1"/>
        </a:solidFill>
        <a:latin typeface="+mn-lt"/>
        <a:ea typeface="+mn-ea"/>
        <a:cs typeface="+mn-cs"/>
      </a:defRPr>
    </a:lvl2pPr>
    <a:lvl3pPr marL="361950" indent="-180975" algn="l" defTabSz="914400" rtl="0" eaLnBrk="1" latinLnBrk="0" hangingPunct="1">
      <a:defRPr sz="1200" kern="1200">
        <a:solidFill>
          <a:schemeClr val="tx1"/>
        </a:solidFill>
        <a:latin typeface="+mn-lt"/>
        <a:ea typeface="+mn-ea"/>
        <a:cs typeface="+mn-cs"/>
      </a:defRPr>
    </a:lvl3pPr>
    <a:lvl4pPr marL="542925" indent="-180975" algn="l" defTabSz="914400" rtl="0" eaLnBrk="1" latinLnBrk="0" hangingPunct="1">
      <a:defRPr sz="1200" kern="1200">
        <a:solidFill>
          <a:schemeClr val="tx1"/>
        </a:solidFill>
        <a:latin typeface="+mn-lt"/>
        <a:ea typeface="+mn-ea"/>
        <a:cs typeface="+mn-cs"/>
      </a:defRPr>
    </a:lvl4pPr>
    <a:lvl5pPr marL="714375" indent="-17145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755" userDrawn="1">
          <p15:clr>
            <a:srgbClr val="F26B43"/>
          </p15:clr>
        </p15:guide>
        <p15:guide id="2" pos="242" userDrawn="1">
          <p15:clr>
            <a:srgbClr val="F26B43"/>
          </p15:clr>
        </p15:guide>
        <p15:guide id="3" pos="4365"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Title</a:t>
            </a:r>
          </a:p>
        </p:txBody>
      </p:sp>
    </p:spTree>
    <p:extLst>
      <p:ext uri="{BB962C8B-B14F-4D97-AF65-F5344CB8AC3E}">
        <p14:creationId xmlns:p14="http://schemas.microsoft.com/office/powerpoint/2010/main" val="2081108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14" name="Picture 13" descr="A bridge over water with a city in the background&#10;&#10;Description automatically generated">
            <a:extLst>
              <a:ext uri="{FF2B5EF4-FFF2-40B4-BE49-F238E27FC236}">
                <a16:creationId xmlns:a16="http://schemas.microsoft.com/office/drawing/2014/main" id="{2FF56083-EF44-4D03-F22B-D8BF3915BE8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7999"/>
          </a:xfrm>
          <a:prstGeom prst="rect">
            <a:avLst/>
          </a:prstGeom>
        </p:spPr>
      </p:pic>
      <p:sp>
        <p:nvSpPr>
          <p:cNvPr id="17" name="Platshållare för text 5">
            <a:extLst>
              <a:ext uri="{FF2B5EF4-FFF2-40B4-BE49-F238E27FC236}">
                <a16:creationId xmlns:a16="http://schemas.microsoft.com/office/drawing/2014/main" id="{91D07A75-093C-CC29-0295-DD1A43DF9891}"/>
              </a:ext>
            </a:extLst>
          </p:cNvPr>
          <p:cNvSpPr txBox="1">
            <a:spLocks/>
          </p:cNvSpPr>
          <p:nvPr userDrawn="1"/>
        </p:nvSpPr>
        <p:spPr>
          <a:xfrm>
            <a:off x="4447548" y="2863373"/>
            <a:ext cx="5527988"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65000"/>
                  </a:schemeClr>
                </a:solidFill>
                <a:latin typeface="Arial"/>
                <a:ea typeface="ＭＳ Ｐゴシック" charset="0"/>
                <a:cs typeface="Arial"/>
              </a:rPr>
              <a:t>Welcome to the</a:t>
            </a:r>
          </a:p>
        </p:txBody>
      </p:sp>
      <p:sp>
        <p:nvSpPr>
          <p:cNvPr id="18" name="Platshållare för text 6">
            <a:extLst>
              <a:ext uri="{FF2B5EF4-FFF2-40B4-BE49-F238E27FC236}">
                <a16:creationId xmlns:a16="http://schemas.microsoft.com/office/drawing/2014/main" id="{9CA49248-ADE0-5317-90A4-4884DA335D1E}"/>
              </a:ext>
            </a:extLst>
          </p:cNvPr>
          <p:cNvSpPr txBox="1">
            <a:spLocks/>
          </p:cNvSpPr>
          <p:nvPr userDrawn="1"/>
        </p:nvSpPr>
        <p:spPr>
          <a:xfrm>
            <a:off x="5080230" y="3327778"/>
            <a:ext cx="6702091"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90000"/>
                  </a:schemeClr>
                </a:solidFill>
                <a:latin typeface="Arial"/>
                <a:ea typeface="ＭＳ Ｐゴシック" charset="0"/>
                <a:cs typeface="Arial"/>
              </a:rPr>
              <a:t>World of Trelleborg</a:t>
            </a:r>
          </a:p>
        </p:txBody>
      </p:sp>
      <p:sp>
        <p:nvSpPr>
          <p:cNvPr id="19" name="Title 5">
            <a:extLst>
              <a:ext uri="{FF2B5EF4-FFF2-40B4-BE49-F238E27FC236}">
                <a16:creationId xmlns:a16="http://schemas.microsoft.com/office/drawing/2014/main" id="{EE4E0A4E-F1A4-4C53-6FCB-78BDB21504AA}"/>
              </a:ext>
            </a:extLst>
          </p:cNvPr>
          <p:cNvSpPr>
            <a:spLocks noGrp="1"/>
          </p:cNvSpPr>
          <p:nvPr>
            <p:ph type="title" hasCustomPrompt="1"/>
          </p:nvPr>
        </p:nvSpPr>
        <p:spPr>
          <a:xfrm>
            <a:off x="5272201" y="4492547"/>
            <a:ext cx="6400800" cy="429348"/>
          </a:xfrm>
        </p:spPr>
        <p:txBody>
          <a:bodyPr wrap="square">
            <a:spAutoFit/>
          </a:bodyPr>
          <a:lstStyle>
            <a:lvl1pPr>
              <a:defRPr sz="3100">
                <a:solidFill>
                  <a:schemeClr val="bg1">
                    <a:alpha val="90000"/>
                  </a:schemeClr>
                </a:solidFill>
              </a:defRPr>
            </a:lvl1pPr>
          </a:lstStyle>
          <a:p>
            <a:r>
              <a:rPr lang="en-US"/>
              <a:t>Click to add presentation name</a:t>
            </a:r>
          </a:p>
        </p:txBody>
      </p:sp>
      <p:sp>
        <p:nvSpPr>
          <p:cNvPr id="20" name="Text Placeholder 14">
            <a:extLst>
              <a:ext uri="{FF2B5EF4-FFF2-40B4-BE49-F238E27FC236}">
                <a16:creationId xmlns:a16="http://schemas.microsoft.com/office/drawing/2014/main" id="{9A31CA47-65E2-612A-723D-E0638444D2DE}"/>
              </a:ext>
            </a:extLst>
          </p:cNvPr>
          <p:cNvSpPr>
            <a:spLocks noGrp="1"/>
          </p:cNvSpPr>
          <p:nvPr>
            <p:ph type="body" sz="quarter" idx="13" hasCustomPrompt="1"/>
          </p:nvPr>
        </p:nvSpPr>
        <p:spPr>
          <a:xfrm>
            <a:off x="5272201" y="499450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location and date</a:t>
            </a:r>
          </a:p>
        </p:txBody>
      </p:sp>
      <p:sp>
        <p:nvSpPr>
          <p:cNvPr id="21" name="Text Placeholder 14">
            <a:extLst>
              <a:ext uri="{FF2B5EF4-FFF2-40B4-BE49-F238E27FC236}">
                <a16:creationId xmlns:a16="http://schemas.microsoft.com/office/drawing/2014/main" id="{F30FA783-13B7-CC24-C426-21199798B860}"/>
              </a:ext>
            </a:extLst>
          </p:cNvPr>
          <p:cNvSpPr>
            <a:spLocks noGrp="1"/>
          </p:cNvSpPr>
          <p:nvPr>
            <p:ph type="body" sz="quarter" idx="14" hasCustomPrompt="1"/>
          </p:nvPr>
        </p:nvSpPr>
        <p:spPr>
          <a:xfrm>
            <a:off x="5272201" y="533875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name and title</a:t>
            </a:r>
          </a:p>
        </p:txBody>
      </p:sp>
    </p:spTree>
    <p:extLst>
      <p:ext uri="{BB962C8B-B14F-4D97-AF65-F5344CB8AC3E}">
        <p14:creationId xmlns:p14="http://schemas.microsoft.com/office/powerpoint/2010/main" val="427183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Section divider</a:t>
            </a:r>
          </a:p>
        </p:txBody>
      </p:sp>
    </p:spTree>
    <p:extLst>
      <p:ext uri="{BB962C8B-B14F-4D97-AF65-F5344CB8AC3E}">
        <p14:creationId xmlns:p14="http://schemas.microsoft.com/office/powerpoint/2010/main" val="3087849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  Section divider  (option 1)">
    <p:spTree>
      <p:nvGrpSpPr>
        <p:cNvPr id="1" name=""/>
        <p:cNvGrpSpPr/>
        <p:nvPr/>
      </p:nvGrpSpPr>
      <p:grpSpPr>
        <a:xfrm>
          <a:off x="0" y="0"/>
          <a:ext cx="0" cy="0"/>
          <a:chOff x="0" y="0"/>
          <a:chExt cx="0" cy="0"/>
        </a:xfrm>
      </p:grpSpPr>
      <p:pic>
        <p:nvPicPr>
          <p:cNvPr id="14" name="Picture 13" descr="A pile of blue round objects&#10;&#10;Description automatically generated">
            <a:extLst>
              <a:ext uri="{FF2B5EF4-FFF2-40B4-BE49-F238E27FC236}">
                <a16:creationId xmlns:a16="http://schemas.microsoft.com/office/drawing/2014/main" id="{21039A13-5E24-01BD-7AE6-E21BAF2FF5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0" cy="6321600"/>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343B7AF6-E61D-4D5E-AA5E-F0A0FEE57720}" type="datetime4">
              <a:rPr lang="en-US" smtClean="0"/>
              <a:t>March 3, 2026</a:t>
            </a:fld>
            <a:endParaRPr lang="en-US"/>
          </a:p>
        </p:txBody>
      </p:sp>
      <p:sp>
        <p:nvSpPr>
          <p:cNvPr id="13" name="Title 12">
            <a:extLst>
              <a:ext uri="{FF2B5EF4-FFF2-40B4-BE49-F238E27FC236}">
                <a16:creationId xmlns:a16="http://schemas.microsoft.com/office/drawing/2014/main" id="{09B5E219-96E4-B92D-AE36-E2D19DEBA32E}"/>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21" name="Text Placeholder 20">
            <a:extLst>
              <a:ext uri="{FF2B5EF4-FFF2-40B4-BE49-F238E27FC236}">
                <a16:creationId xmlns:a16="http://schemas.microsoft.com/office/drawing/2014/main" id="{9115E250-E415-ADB7-5CD0-E7600905911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2" name="Rectangle 1">
            <a:extLst>
              <a:ext uri="{FF2B5EF4-FFF2-40B4-BE49-F238E27FC236}">
                <a16:creationId xmlns:a16="http://schemas.microsoft.com/office/drawing/2014/main" id="{0475A65D-43E7-43CB-B1DC-1AA3498557F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1BF84820-31F1-B83D-4E26-E092B59B035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8279A15E-E54F-4DAA-5039-C13CF5FB75D7}"/>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next slides with either black or white text. Choose the option with the best legibility.</a:t>
            </a:r>
          </a:p>
          <a:p>
            <a:endParaRPr lang="en-US" sz="1050">
              <a:solidFill>
                <a:schemeClr val="tx1">
                  <a:alpha val="90000"/>
                </a:schemeClr>
              </a:solidFill>
            </a:endParaRPr>
          </a:p>
        </p:txBody>
      </p:sp>
      <p:sp>
        <p:nvSpPr>
          <p:cNvPr id="9" name="Text Placeholder 14">
            <a:extLst>
              <a:ext uri="{FF2B5EF4-FFF2-40B4-BE49-F238E27FC236}">
                <a16:creationId xmlns:a16="http://schemas.microsoft.com/office/drawing/2014/main" id="{04A4F2AD-5ADC-6997-65BD-83EACEA7E73E}"/>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(option 1)</a:t>
            </a:r>
          </a:p>
        </p:txBody>
      </p:sp>
      <p:cxnSp>
        <p:nvCxnSpPr>
          <p:cNvPr id="10" name="Straight Connector 9">
            <a:extLst>
              <a:ext uri="{FF2B5EF4-FFF2-40B4-BE49-F238E27FC236}">
                <a16:creationId xmlns:a16="http://schemas.microsoft.com/office/drawing/2014/main" id="{F698932B-31B6-5487-DFA4-E7A48CC3FFA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684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pic>
        <p:nvPicPr>
          <p:cNvPr id="14" name="Picture 13" descr="Close-up of a molecule model&#10;&#10;Description automatically generated">
            <a:extLst>
              <a:ext uri="{FF2B5EF4-FFF2-40B4-BE49-F238E27FC236}">
                <a16:creationId xmlns:a16="http://schemas.microsoft.com/office/drawing/2014/main" id="{B59F7929-18C9-D935-8A79-ADDD408D3A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323584"/>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5E701AB1-BA42-17D3-EADA-8CA27E06B62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9757374E-7FB7-5928-E71B-EE966B8CD30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91EFE4E1-E895-95A1-DA9C-6922E3FE13C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next slides with either black or white text. Choose the option with the best legibility.</a:t>
            </a:r>
          </a:p>
        </p:txBody>
      </p:sp>
      <p:sp>
        <p:nvSpPr>
          <p:cNvPr id="9" name="Text Placeholder 14">
            <a:extLst>
              <a:ext uri="{FF2B5EF4-FFF2-40B4-BE49-F238E27FC236}">
                <a16:creationId xmlns:a16="http://schemas.microsoft.com/office/drawing/2014/main" id="{3659CBF1-350C-4D27-D419-177B583FEA0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(option 2)</a:t>
            </a:r>
          </a:p>
        </p:txBody>
      </p:sp>
      <p:cxnSp>
        <p:nvCxnSpPr>
          <p:cNvPr id="11" name="Straight Connector 10">
            <a:extLst>
              <a:ext uri="{FF2B5EF4-FFF2-40B4-BE49-F238E27FC236}">
                <a16:creationId xmlns:a16="http://schemas.microsoft.com/office/drawing/2014/main" id="{4479317C-BA14-2104-07A5-C5447AE5FEA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19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Section divider    (white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6A3F4F4-7BBD-6943-C498-8A7432F35526}"/>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E0584D7D-FC54-134E-D60E-77615076D29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6B4D6DF-C38B-8BF5-6884-66C97524E19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EA28B8FE-7831-4D03-F7FB-DD767237FA18}"/>
              </a:ext>
            </a:extLst>
          </p:cNvPr>
          <p:cNvSpPr txBox="1">
            <a:spLocks/>
          </p:cNvSpPr>
          <p:nvPr userDrawn="1"/>
        </p:nvSpPr>
        <p:spPr>
          <a:xfrm>
            <a:off x="-1584000" y="1105200"/>
            <a:ext cx="1476000" cy="5333772"/>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black text is better. </a:t>
            </a:r>
          </a:p>
        </p:txBody>
      </p:sp>
      <p:sp>
        <p:nvSpPr>
          <p:cNvPr id="9" name="Text Placeholder 14">
            <a:extLst>
              <a:ext uri="{FF2B5EF4-FFF2-40B4-BE49-F238E27FC236}">
                <a16:creationId xmlns:a16="http://schemas.microsoft.com/office/drawing/2014/main" id="{DE62AA2A-3974-9045-FBE4-6193CD40BBB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(white text)</a:t>
            </a:r>
          </a:p>
        </p:txBody>
      </p:sp>
      <p:cxnSp>
        <p:nvCxnSpPr>
          <p:cNvPr id="11" name="Straight Connector 10">
            <a:extLst>
              <a:ext uri="{FF2B5EF4-FFF2-40B4-BE49-F238E27FC236}">
                <a16:creationId xmlns:a16="http://schemas.microsoft.com/office/drawing/2014/main" id="{5FA65224-5F6E-8C17-CF93-017355C6E88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216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Section divider    (black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EC9CC24-D5A1-293B-9B6C-F6B05C74A45B}"/>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5E701AB1-BA42-17D3-EADA-8CA27E06B62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9757374E-7FB7-5928-E71B-EE966B8CD30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91EFE4E1-E895-95A1-DA9C-6922E3FE13C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white text is better. </a:t>
            </a:r>
          </a:p>
        </p:txBody>
      </p:sp>
      <p:sp>
        <p:nvSpPr>
          <p:cNvPr id="9" name="Text Placeholder 14">
            <a:extLst>
              <a:ext uri="{FF2B5EF4-FFF2-40B4-BE49-F238E27FC236}">
                <a16:creationId xmlns:a16="http://schemas.microsoft.com/office/drawing/2014/main" id="{3659CBF1-350C-4D27-D419-177B583FEA0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(black text)</a:t>
            </a:r>
          </a:p>
        </p:txBody>
      </p:sp>
      <p:cxnSp>
        <p:nvCxnSpPr>
          <p:cNvPr id="11" name="Straight Connector 10">
            <a:extLst>
              <a:ext uri="{FF2B5EF4-FFF2-40B4-BE49-F238E27FC236}">
                <a16:creationId xmlns:a16="http://schemas.microsoft.com/office/drawing/2014/main" id="{4479317C-BA14-2104-07A5-C5447AE5FEA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643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Agenda</a:t>
            </a:r>
          </a:p>
        </p:txBody>
      </p:sp>
    </p:spTree>
    <p:extLst>
      <p:ext uri="{BB962C8B-B14F-4D97-AF65-F5344CB8AC3E}">
        <p14:creationId xmlns:p14="http://schemas.microsoft.com/office/powerpoint/2010/main" val="1349467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Title +           agenda (option 1)">
    <p:spTree>
      <p:nvGrpSpPr>
        <p:cNvPr id="1" name=""/>
        <p:cNvGrpSpPr/>
        <p:nvPr/>
      </p:nvGrpSpPr>
      <p:grpSpPr>
        <a:xfrm>
          <a:off x="0" y="0"/>
          <a:ext cx="0" cy="0"/>
          <a:chOff x="0" y="0"/>
          <a:chExt cx="0" cy="0"/>
        </a:xfrm>
      </p:grpSpPr>
      <p:pic>
        <p:nvPicPr>
          <p:cNvPr id="13" name="Picture 12" descr="A white flag with black text on a pole&#10;&#10;Description automatically generated">
            <a:extLst>
              <a:ext uri="{FF2B5EF4-FFF2-40B4-BE49-F238E27FC236}">
                <a16:creationId xmlns:a16="http://schemas.microsoft.com/office/drawing/2014/main" id="{E3F97B24-C0D7-5D5D-E8C3-A41B24560DC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4168" cy="6317996"/>
          </a:xfrm>
          <a:prstGeom prst="rect">
            <a:avLst/>
          </a:prstGeom>
        </p:spPr>
      </p:pic>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5DCD17DF-27AC-4A99-9425-A3094F9CB30D}" type="datetime4">
              <a:rPr lang="en-US" smtClean="0"/>
              <a:t>March 3, 2026</a:t>
            </a:fld>
            <a:endParaRPr lang="en-US"/>
          </a:p>
        </p:txBody>
      </p:sp>
      <p:sp>
        <p:nvSpPr>
          <p:cNvPr id="32" name="Rectangle 31">
            <a:extLst>
              <a:ext uri="{FF2B5EF4-FFF2-40B4-BE49-F238E27FC236}">
                <a16:creationId xmlns:a16="http://schemas.microsoft.com/office/drawing/2014/main" id="{9DFFF09D-081B-AB3E-4B44-FA17D925AA76}"/>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6" name="Title 5">
            <a:extLst>
              <a:ext uri="{FF2B5EF4-FFF2-40B4-BE49-F238E27FC236}">
                <a16:creationId xmlns:a16="http://schemas.microsoft.com/office/drawing/2014/main" id="{737E0588-03FC-58A5-2D48-A55679FDE5AE}"/>
              </a:ext>
            </a:extLst>
          </p:cNvPr>
          <p:cNvSpPr>
            <a:spLocks noGrp="1"/>
          </p:cNvSpPr>
          <p:nvPr>
            <p:ph type="title" hasCustomPrompt="1"/>
          </p:nvPr>
        </p:nvSpPr>
        <p:spPr>
          <a:xfrm>
            <a:off x="539999" y="262800"/>
            <a:ext cx="5285999" cy="664797"/>
          </a:xfrm>
        </p:spPr>
        <p:txBody>
          <a:bodyPr/>
          <a:lstStyle>
            <a:lvl1pPr>
              <a:defRPr/>
            </a:lvl1pPr>
          </a:lstStyle>
          <a:p>
            <a:r>
              <a:rPr lang="en-US"/>
              <a:t>Click to add title – max 2 lines</a:t>
            </a:r>
          </a:p>
        </p:txBody>
      </p:sp>
      <p:sp>
        <p:nvSpPr>
          <p:cNvPr id="15" name="Text Placeholder 14">
            <a:extLst>
              <a:ext uri="{FF2B5EF4-FFF2-40B4-BE49-F238E27FC236}">
                <a16:creationId xmlns:a16="http://schemas.microsoft.com/office/drawing/2014/main" id="{E1259B1A-1C82-5DEF-6A4D-B7BBE17DADEE}"/>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0F0E6B4F-3095-4BD0-7EE3-63266938F506}"/>
              </a:ext>
            </a:extLst>
          </p:cNvPr>
          <p:cNvSpPr>
            <a:spLocks noGrp="1"/>
          </p:cNvSpPr>
          <p:nvPr>
            <p:ph type="body" sz="quarter" idx="14"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A5BC62B4-6EA7-3164-7EB4-A7C7090AF2B2}"/>
              </a:ext>
            </a:extLst>
          </p:cNvPr>
          <p:cNvSpPr>
            <a:spLocks noGrp="1"/>
          </p:cNvSpPr>
          <p:nvPr>
            <p:ph type="body" sz="quarter" idx="15"/>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F96CAD89-7CBE-6878-2AD0-186D8E1C1B52}"/>
              </a:ext>
            </a:extLst>
          </p:cNvPr>
          <p:cNvSpPr>
            <a:spLocks noGrp="1"/>
          </p:cNvSpPr>
          <p:nvPr>
            <p:ph type="body" sz="quarter" idx="16"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0" name="Text Placeholder 14">
            <a:extLst>
              <a:ext uri="{FF2B5EF4-FFF2-40B4-BE49-F238E27FC236}">
                <a16:creationId xmlns:a16="http://schemas.microsoft.com/office/drawing/2014/main" id="{23F0DF00-E256-BE3F-0522-B7F48B692DB8}"/>
              </a:ext>
            </a:extLst>
          </p:cNvPr>
          <p:cNvSpPr>
            <a:spLocks noGrp="1"/>
          </p:cNvSpPr>
          <p:nvPr>
            <p:ph type="body" sz="quarter" idx="17"/>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1" name="Text Placeholder 14">
            <a:extLst>
              <a:ext uri="{FF2B5EF4-FFF2-40B4-BE49-F238E27FC236}">
                <a16:creationId xmlns:a16="http://schemas.microsoft.com/office/drawing/2014/main" id="{BE62DA0B-D26E-4273-30E9-40A74A4F9822}"/>
              </a:ext>
            </a:extLst>
          </p:cNvPr>
          <p:cNvSpPr>
            <a:spLocks noGrp="1"/>
          </p:cNvSpPr>
          <p:nvPr>
            <p:ph type="body" sz="quarter" idx="18"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2" name="Text Placeholder 14">
            <a:extLst>
              <a:ext uri="{FF2B5EF4-FFF2-40B4-BE49-F238E27FC236}">
                <a16:creationId xmlns:a16="http://schemas.microsoft.com/office/drawing/2014/main" id="{D098AC2E-7F34-9C23-662B-15AE620CE989}"/>
              </a:ext>
            </a:extLst>
          </p:cNvPr>
          <p:cNvSpPr>
            <a:spLocks noGrp="1"/>
          </p:cNvSpPr>
          <p:nvPr>
            <p:ph type="body" sz="quarter" idx="19"/>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3" name="Text Placeholder 14">
            <a:extLst>
              <a:ext uri="{FF2B5EF4-FFF2-40B4-BE49-F238E27FC236}">
                <a16:creationId xmlns:a16="http://schemas.microsoft.com/office/drawing/2014/main" id="{83EC1EFB-0A10-6CF7-B8D9-A527427E1BFA}"/>
              </a:ext>
            </a:extLst>
          </p:cNvPr>
          <p:cNvSpPr>
            <a:spLocks noGrp="1"/>
          </p:cNvSpPr>
          <p:nvPr>
            <p:ph type="body" sz="quarter" idx="20"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4" name="Text Placeholder 14">
            <a:extLst>
              <a:ext uri="{FF2B5EF4-FFF2-40B4-BE49-F238E27FC236}">
                <a16:creationId xmlns:a16="http://schemas.microsoft.com/office/drawing/2014/main" id="{E2744B1B-C4AF-383B-FA2B-42B096861E84}"/>
              </a:ext>
            </a:extLst>
          </p:cNvPr>
          <p:cNvSpPr>
            <a:spLocks noGrp="1"/>
          </p:cNvSpPr>
          <p:nvPr>
            <p:ph type="body" sz="quarter" idx="21"/>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5" name="Text Placeholder 14">
            <a:extLst>
              <a:ext uri="{FF2B5EF4-FFF2-40B4-BE49-F238E27FC236}">
                <a16:creationId xmlns:a16="http://schemas.microsoft.com/office/drawing/2014/main" id="{C1D8073D-E809-4AFD-F13D-A31DEC46ED94}"/>
              </a:ext>
            </a:extLst>
          </p:cNvPr>
          <p:cNvSpPr>
            <a:spLocks noGrp="1"/>
          </p:cNvSpPr>
          <p:nvPr>
            <p:ph type="body" sz="quarter" idx="22"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6" name="Text Placeholder 14">
            <a:extLst>
              <a:ext uri="{FF2B5EF4-FFF2-40B4-BE49-F238E27FC236}">
                <a16:creationId xmlns:a16="http://schemas.microsoft.com/office/drawing/2014/main" id="{058C5436-90C0-B14F-E462-114AF5C1DF4E}"/>
              </a:ext>
            </a:extLst>
          </p:cNvPr>
          <p:cNvSpPr>
            <a:spLocks noGrp="1"/>
          </p:cNvSpPr>
          <p:nvPr>
            <p:ph type="body" sz="quarter" idx="23"/>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7" name="Text Placeholder 14">
            <a:extLst>
              <a:ext uri="{FF2B5EF4-FFF2-40B4-BE49-F238E27FC236}">
                <a16:creationId xmlns:a16="http://schemas.microsoft.com/office/drawing/2014/main" id="{030AF1BD-F4F7-6587-C38F-58AEEB8C6EBB}"/>
              </a:ext>
            </a:extLst>
          </p:cNvPr>
          <p:cNvSpPr>
            <a:spLocks noGrp="1"/>
          </p:cNvSpPr>
          <p:nvPr>
            <p:ph type="body" sz="quarter" idx="24"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8" name="Text Placeholder 14">
            <a:extLst>
              <a:ext uri="{FF2B5EF4-FFF2-40B4-BE49-F238E27FC236}">
                <a16:creationId xmlns:a16="http://schemas.microsoft.com/office/drawing/2014/main" id="{7AA62A2D-66F0-2046-5500-5D3A2A0E9056}"/>
              </a:ext>
            </a:extLst>
          </p:cNvPr>
          <p:cNvSpPr>
            <a:spLocks noGrp="1"/>
          </p:cNvSpPr>
          <p:nvPr>
            <p:ph type="body" sz="quarter" idx="25"/>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9" name="Text Placeholder 14">
            <a:extLst>
              <a:ext uri="{FF2B5EF4-FFF2-40B4-BE49-F238E27FC236}">
                <a16:creationId xmlns:a16="http://schemas.microsoft.com/office/drawing/2014/main" id="{06A33176-BF33-67B1-DB48-F6C24814E7C1}"/>
              </a:ext>
            </a:extLst>
          </p:cNvPr>
          <p:cNvSpPr>
            <a:spLocks noGrp="1"/>
          </p:cNvSpPr>
          <p:nvPr>
            <p:ph type="body" sz="quarter" idx="26"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30" name="Text Placeholder 14">
            <a:extLst>
              <a:ext uri="{FF2B5EF4-FFF2-40B4-BE49-F238E27FC236}">
                <a16:creationId xmlns:a16="http://schemas.microsoft.com/office/drawing/2014/main" id="{DA646A20-84EB-6BFA-E2E3-2F143D5D7B95}"/>
              </a:ext>
            </a:extLst>
          </p:cNvPr>
          <p:cNvSpPr>
            <a:spLocks noGrp="1"/>
          </p:cNvSpPr>
          <p:nvPr>
            <p:ph type="body" sz="quarter" idx="27"/>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31" name="Text Placeholder 14">
            <a:extLst>
              <a:ext uri="{FF2B5EF4-FFF2-40B4-BE49-F238E27FC236}">
                <a16:creationId xmlns:a16="http://schemas.microsoft.com/office/drawing/2014/main" id="{0AE8C673-852C-6607-245E-0D62351058DB}"/>
              </a:ext>
            </a:extLst>
          </p:cNvPr>
          <p:cNvSpPr>
            <a:spLocks noGrp="1"/>
          </p:cNvSpPr>
          <p:nvPr>
            <p:ph type="body" sz="quarter" idx="28"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Rectangle 1">
            <a:extLst>
              <a:ext uri="{FF2B5EF4-FFF2-40B4-BE49-F238E27FC236}">
                <a16:creationId xmlns:a16="http://schemas.microsoft.com/office/drawing/2014/main" id="{30160124-8D64-6220-6389-959C12744C91}"/>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A3CC72B2-92A7-59D9-F3F6-82B5ABD0D43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E2208CF7-50A2-E4FE-AE38-DB96E4C8382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0" name="Text Placeholder 14">
            <a:extLst>
              <a:ext uri="{FF2B5EF4-FFF2-40B4-BE49-F238E27FC236}">
                <a16:creationId xmlns:a16="http://schemas.microsoft.com/office/drawing/2014/main" id="{64F3EE16-62FB-8179-7BDB-E2B2DC83982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1)</a:t>
            </a:r>
          </a:p>
        </p:txBody>
      </p:sp>
      <p:cxnSp>
        <p:nvCxnSpPr>
          <p:cNvPr id="11" name="Straight Connector 10">
            <a:extLst>
              <a:ext uri="{FF2B5EF4-FFF2-40B4-BE49-F238E27FC236}">
                <a16:creationId xmlns:a16="http://schemas.microsoft.com/office/drawing/2014/main" id="{EA1520DB-DC79-88D2-AB36-0E1D14D9C8BF}"/>
              </a:ext>
            </a:extLst>
          </p:cNvPr>
          <p:cNvCxnSpPr>
            <a:cxnSpLocks/>
          </p:cNvCxnSpPr>
          <p:nvPr userDrawn="1"/>
        </p:nvCxnSpPr>
        <p:spPr>
          <a:xfrm>
            <a:off x="-1466969" y="1006831"/>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7" name="Line">
            <a:extLst>
              <a:ext uri="{FF2B5EF4-FFF2-40B4-BE49-F238E27FC236}">
                <a16:creationId xmlns:a16="http://schemas.microsoft.com/office/drawing/2014/main" id="{699564C9-E5C3-E632-EC13-0F0571598E9D}"/>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2131483265"/>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             Title +          agenda (option 2)">
    <p:spTree>
      <p:nvGrpSpPr>
        <p:cNvPr id="1" name=""/>
        <p:cNvGrpSpPr/>
        <p:nvPr/>
      </p:nvGrpSpPr>
      <p:grpSpPr>
        <a:xfrm>
          <a:off x="0" y="0"/>
          <a:ext cx="0" cy="0"/>
          <a:chOff x="0" y="0"/>
          <a:chExt cx="0" cy="0"/>
        </a:xfrm>
      </p:grpSpPr>
      <p:pic>
        <p:nvPicPr>
          <p:cNvPr id="30" name="Picture 29" descr="A close up of a fabric&#10;&#10;Description automatically generated">
            <a:extLst>
              <a:ext uri="{FF2B5EF4-FFF2-40B4-BE49-F238E27FC236}">
                <a16:creationId xmlns:a16="http://schemas.microsoft.com/office/drawing/2014/main" id="{9DF86BC4-59F0-2637-65E0-55A5A0194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8000"/>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6" name="Title 5">
            <a:extLst>
              <a:ext uri="{FF2B5EF4-FFF2-40B4-BE49-F238E27FC236}">
                <a16:creationId xmlns:a16="http://schemas.microsoft.com/office/drawing/2014/main" id="{38614FAC-4F99-A018-085D-423B44F4C3A3}"/>
              </a:ext>
            </a:extLst>
          </p:cNvPr>
          <p:cNvSpPr>
            <a:spLocks noGrp="1"/>
          </p:cNvSpPr>
          <p:nvPr>
            <p:ph type="title" hasCustomPrompt="1"/>
          </p:nvPr>
        </p:nvSpPr>
        <p:spPr>
          <a:xfrm>
            <a:off x="539999" y="262800"/>
            <a:ext cx="5285999" cy="664797"/>
          </a:xfrm>
        </p:spPr>
        <p:txBody>
          <a:bodyPr/>
          <a:lstStyle/>
          <a:p>
            <a:r>
              <a:rPr lang="en-US"/>
              <a:t>Click to add title – max 2 lines</a:t>
            </a:r>
          </a:p>
        </p:txBody>
      </p:sp>
      <p:sp>
        <p:nvSpPr>
          <p:cNvPr id="2" name="Rectangle 1">
            <a:extLst>
              <a:ext uri="{FF2B5EF4-FFF2-40B4-BE49-F238E27FC236}">
                <a16:creationId xmlns:a16="http://schemas.microsoft.com/office/drawing/2014/main" id="{C669A388-0668-E3BA-040D-26643B2F64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2433AB0E-C022-E9C1-55AA-2D0DBFDF3DF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481460C1-772B-9650-0D54-38F0353A5EF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27" name="Text Placeholder 14">
            <a:extLst>
              <a:ext uri="{FF2B5EF4-FFF2-40B4-BE49-F238E27FC236}">
                <a16:creationId xmlns:a16="http://schemas.microsoft.com/office/drawing/2014/main" id="{A0C8BC95-CB59-C133-CB6F-0E2DB1F5453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2)</a:t>
            </a:r>
          </a:p>
        </p:txBody>
      </p:sp>
      <p:cxnSp>
        <p:nvCxnSpPr>
          <p:cNvPr id="28" name="Straight Connector 27">
            <a:extLst>
              <a:ext uri="{FF2B5EF4-FFF2-40B4-BE49-F238E27FC236}">
                <a16:creationId xmlns:a16="http://schemas.microsoft.com/office/drawing/2014/main" id="{40D426C4-B5F6-7542-1D6C-193286A8371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Line">
            <a:extLst>
              <a:ext uri="{FF2B5EF4-FFF2-40B4-BE49-F238E27FC236}">
                <a16:creationId xmlns:a16="http://schemas.microsoft.com/office/drawing/2014/main" id="{835D7BB8-9942-24B6-C9B9-9A47D011B095}"/>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2045576809"/>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Title +          agenda (option 3)">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57101AF5-F148-9768-1958-2E366CE82412}"/>
              </a:ext>
            </a:extLst>
          </p:cNvPr>
          <p:cNvSpPr>
            <a:spLocks noGrp="1"/>
          </p:cNvSpPr>
          <p:nvPr>
            <p:ph type="pic" sz="quarter" idx="30" hasCustomPrompt="1"/>
          </p:nvPr>
        </p:nvSpPr>
        <p:spPr>
          <a:xfrm>
            <a:off x="0" y="0"/>
            <a:ext cx="12192000" cy="6319838"/>
          </a:xfrm>
          <a:solidFill>
            <a:schemeClr val="bg2"/>
          </a:solidFill>
        </p:spPr>
        <p:txBody>
          <a:bodyPr lIns="6552000" tIns="3024000" rIns="0"/>
          <a:lstStyle>
            <a:lvl1pPr marL="0" indent="0" algn="l">
              <a:buNone/>
              <a:defRPr i="1">
                <a:solidFill>
                  <a:schemeClr val="tx1"/>
                </a:solidFill>
              </a:defRPr>
            </a:lvl1pPr>
          </a:lstStyle>
          <a:p>
            <a:r>
              <a:rPr lang="en-US"/>
              <a:t> </a:t>
            </a:r>
          </a:p>
        </p:txBody>
      </p:sp>
      <p:sp>
        <p:nvSpPr>
          <p:cNvPr id="46" name="Pladsholder til tekst 45">
            <a:extLst>
              <a:ext uri="{FF2B5EF4-FFF2-40B4-BE49-F238E27FC236}">
                <a16:creationId xmlns:a16="http://schemas.microsoft.com/office/drawing/2014/main" id="{89B9DE34-8ABF-BA64-1E5A-2C22615BEE66}"/>
              </a:ext>
            </a:extLst>
          </p:cNvPr>
          <p:cNvSpPr>
            <a:spLocks noGrp="1"/>
          </p:cNvSpPr>
          <p:nvPr>
            <p:ph type="body" sz="quarter" idx="34" hasCustomPrompt="1"/>
          </p:nvPr>
        </p:nvSpPr>
        <p:spPr>
          <a:xfrm>
            <a:off x="-1" y="-1"/>
            <a:ext cx="6365876" cy="6317997"/>
          </a:xfrm>
          <a:solidFill>
            <a:schemeClr val="bg1">
              <a:alpha val="80000"/>
            </a:schemeClr>
          </a:solidFill>
        </p:spPr>
        <p:txBody>
          <a:bodyPr/>
          <a:lstStyle>
            <a:lvl1pPr marL="0" indent="0">
              <a:buNone/>
              <a:defRPr/>
            </a:lvl1pPr>
          </a:lstStyle>
          <a:p>
            <a:pPr lvl="0"/>
            <a:r>
              <a:rPr lang="en-US"/>
              <a:t> </a:t>
            </a:r>
            <a:endParaRPr lang="en-GB"/>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6" name="Title 5">
            <a:extLst>
              <a:ext uri="{FF2B5EF4-FFF2-40B4-BE49-F238E27FC236}">
                <a16:creationId xmlns:a16="http://schemas.microsoft.com/office/drawing/2014/main" id="{38614FAC-4F99-A018-085D-423B44F4C3A3}"/>
              </a:ext>
            </a:extLst>
          </p:cNvPr>
          <p:cNvSpPr>
            <a:spLocks noGrp="1"/>
          </p:cNvSpPr>
          <p:nvPr>
            <p:ph type="title" hasCustomPrompt="1"/>
          </p:nvPr>
        </p:nvSpPr>
        <p:spPr>
          <a:xfrm>
            <a:off x="539999" y="262800"/>
            <a:ext cx="5285999" cy="664797"/>
          </a:xfrm>
        </p:spPr>
        <p:txBody>
          <a:bodyPr/>
          <a:lstStyle>
            <a:lvl1pPr>
              <a:defRPr/>
            </a:lvl1pPr>
          </a:lstStyle>
          <a:p>
            <a:r>
              <a:rPr lang="en-US"/>
              <a:t>Click to add title – max 2 lines</a:t>
            </a:r>
          </a:p>
        </p:txBody>
      </p:sp>
      <p:sp>
        <p:nvSpPr>
          <p:cNvPr id="7" name="Rectangle 6">
            <a:extLst>
              <a:ext uri="{FF2B5EF4-FFF2-40B4-BE49-F238E27FC236}">
                <a16:creationId xmlns:a16="http://schemas.microsoft.com/office/drawing/2014/main" id="{47C2B682-98E6-349C-0176-8A4810E0A2F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D22CA28-A0C9-3E35-9ECC-AB5396971096}"/>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971AB745-404C-4D44-A15A-03EA16B1A0D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Use this slide to insert a picture, by following the slide’s  instructions.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Please </a:t>
            </a:r>
            <a:r>
              <a:rPr lang="en-US" sz="1050" b="1">
                <a:solidFill>
                  <a:schemeClr val="tx1">
                    <a:alpha val="90000"/>
                  </a:schemeClr>
                </a:solidFill>
              </a:rPr>
              <a:t>consider the legibility</a:t>
            </a:r>
            <a:r>
              <a:rPr lang="en-US" sz="1050">
                <a:solidFill>
                  <a:schemeClr val="tx1">
                    <a:alpha val="90000"/>
                  </a:schemeClr>
                </a:solidFill>
              </a:rPr>
              <a:t> of the text when selecting a picture. If needed, crop the picture differently or select another picture.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27" name="Text Placeholder 14">
            <a:extLst>
              <a:ext uri="{FF2B5EF4-FFF2-40B4-BE49-F238E27FC236}">
                <a16:creationId xmlns:a16="http://schemas.microsoft.com/office/drawing/2014/main" id="{7D0368A2-1F36-B909-3639-2BA06FFB13E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3)</a:t>
            </a:r>
          </a:p>
        </p:txBody>
      </p:sp>
      <p:cxnSp>
        <p:nvCxnSpPr>
          <p:cNvPr id="28" name="Straight Connector 27">
            <a:extLst>
              <a:ext uri="{FF2B5EF4-FFF2-40B4-BE49-F238E27FC236}">
                <a16:creationId xmlns:a16="http://schemas.microsoft.com/office/drawing/2014/main" id="{6FFCB287-AAC8-88F3-6E22-96915914F13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Text Placeholder 30">
            <a:extLst>
              <a:ext uri="{FF2B5EF4-FFF2-40B4-BE49-F238E27FC236}">
                <a16:creationId xmlns:a16="http://schemas.microsoft.com/office/drawing/2014/main" id="{AACEA48E-2A50-3CDE-DDC8-0FEC307BD222}"/>
              </a:ext>
            </a:extLst>
          </p:cNvPr>
          <p:cNvSpPr>
            <a:spLocks noGrp="1"/>
          </p:cNvSpPr>
          <p:nvPr>
            <p:ph type="body" sz="quarter" idx="32" hasCustomPrompt="1"/>
          </p:nvPr>
        </p:nvSpPr>
        <p:spPr>
          <a:xfrm>
            <a:off x="6654801" y="2184917"/>
            <a:ext cx="5248274" cy="1950003"/>
          </a:xfrm>
          <a:solidFill>
            <a:schemeClr val="accent1"/>
          </a:solidFill>
        </p:spPr>
        <p:txBody>
          <a:bodyPr wrap="square" lIns="72000" tIns="72000" rIns="72000" bIns="72000">
            <a:spAutoFit/>
          </a:bodyPr>
          <a:lstStyle>
            <a:lvl1pPr marL="0" indent="0">
              <a:buFont typeface="+mj-lt"/>
              <a:buNone/>
              <a:defRPr i="1">
                <a:solidFill>
                  <a:schemeClr val="bg1"/>
                </a:solidFill>
              </a:defRPr>
            </a:lvl1pPr>
            <a:lvl2pPr marL="178775" indent="0">
              <a:buNone/>
              <a:defRPr/>
            </a:lvl2pPr>
            <a:lvl3pPr marL="360000" indent="0">
              <a:buNone/>
              <a:defRPr/>
            </a:lvl3pPr>
            <a:lvl4pPr marL="539138" indent="0">
              <a:buNone/>
              <a:defRPr/>
            </a:lvl4pPr>
            <a:lvl5pPr marL="720000" indent="0">
              <a:buNone/>
              <a:defRPr/>
            </a:lvl5pPr>
          </a:lstStyle>
          <a:p>
            <a:pPr lvl="0"/>
            <a:r>
              <a:rPr lang="en-GB"/>
              <a:t>To insert a picture:                                                1. Delete the transparent box on the left-hand side                                                        2. Click the picture icon to add a picture               3. Go to Home &gt;&gt; Reset (to bring the box back)  4. Type your text                                                   5. Delete this instruction</a:t>
            </a:r>
            <a:endParaRPr lang="en-US"/>
          </a:p>
        </p:txBody>
      </p:sp>
      <p:sp>
        <p:nvSpPr>
          <p:cNvPr id="38" name="Pladsholder til tekst 13">
            <a:extLst>
              <a:ext uri="{FF2B5EF4-FFF2-40B4-BE49-F238E27FC236}">
                <a16:creationId xmlns:a16="http://schemas.microsoft.com/office/drawing/2014/main" id="{ABD63393-A27E-64F9-FAC9-D0BD2A57020E}"/>
              </a:ext>
            </a:extLst>
          </p:cNvPr>
          <p:cNvSpPr>
            <a:spLocks noGrp="1"/>
          </p:cNvSpPr>
          <p:nvPr>
            <p:ph type="body" sz="quarter" idx="33" hasCustomPrompt="1"/>
          </p:nvPr>
        </p:nvSpPr>
        <p:spPr>
          <a:xfrm>
            <a:off x="540000" y="1000850"/>
            <a:ext cx="5289549" cy="10800"/>
          </a:xfrm>
          <a:solidFill>
            <a:schemeClr val="tx1"/>
          </a:solidFill>
          <a:ln w="3175">
            <a:solidFill>
              <a:schemeClr val="tx1"/>
            </a:solidFill>
            <a:miter lim="800000"/>
          </a:ln>
        </p:spPr>
        <p:txBody>
          <a:bodyPr/>
          <a:lstStyle>
            <a:lvl1pPr marL="0" indent="0">
              <a:buNone/>
              <a:defRPr sz="100"/>
            </a:lvl1pPr>
            <a:lvl2pPr marL="178775" indent="0">
              <a:buNone/>
              <a:defRPr/>
            </a:lvl2pPr>
            <a:lvl3pPr marL="360000" indent="0">
              <a:buNone/>
              <a:defRPr/>
            </a:lvl3pPr>
            <a:lvl4pPr marL="539138" indent="0">
              <a:buNone/>
              <a:defRPr/>
            </a:lvl4pPr>
            <a:lvl5pPr marL="720000" indent="0">
              <a:buNone/>
              <a:defRPr/>
            </a:lvl5pPr>
          </a:lstStyle>
          <a:p>
            <a:pPr lvl="0"/>
            <a:r>
              <a:rPr lang="da-DK"/>
              <a:t> </a:t>
            </a:r>
            <a:endParaRPr lang="en-GB"/>
          </a:p>
        </p:txBody>
      </p:sp>
    </p:spTree>
    <p:extLst>
      <p:ext uri="{BB962C8B-B14F-4D97-AF65-F5344CB8AC3E}">
        <p14:creationId xmlns:p14="http://schemas.microsoft.com/office/powerpoint/2010/main" val="601801277"/>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content</a:t>
            </a:r>
          </a:p>
        </p:txBody>
      </p:sp>
    </p:spTree>
    <p:extLst>
      <p:ext uri="{BB962C8B-B14F-4D97-AF65-F5344CB8AC3E}">
        <p14:creationId xmlns:p14="http://schemas.microsoft.com/office/powerpoint/2010/main" val="4083498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           Title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4C493F5B-4B0B-4F35-B137-C73DCBEFE06E}"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hasCustomPrompt="1"/>
          </p:nvPr>
        </p:nvSpPr>
        <p:spPr>
          <a:xfrm>
            <a:off x="540000" y="1204914"/>
            <a:ext cx="11111997" cy="4840286"/>
          </a:xfrm>
          <a:ln w="12700">
            <a:noFill/>
          </a:ln>
        </p:spPr>
        <p:txBody>
          <a:bodyPr/>
          <a:lstStyle>
            <a:lvl1pPr>
              <a:defRPr/>
            </a:lvl1pPr>
          </a:lstStyle>
          <a:p>
            <a:pPr lvl="0"/>
            <a:r>
              <a:rPr lang="en-US"/>
              <a:t>Click to add text or use the icons to insert content</a:t>
            </a:r>
          </a:p>
          <a:p>
            <a:pPr lvl="1"/>
            <a:r>
              <a:rPr lang="en-US"/>
              <a:t>Second level</a:t>
            </a:r>
          </a:p>
          <a:p>
            <a:pPr lvl="2"/>
            <a:r>
              <a:rPr lang="en-US"/>
              <a:t>Third level</a:t>
            </a:r>
          </a:p>
          <a:p>
            <a:pPr lvl="3"/>
            <a:r>
              <a:rPr lang="en-US"/>
              <a:t>Fourth level</a:t>
            </a:r>
          </a:p>
          <a:p>
            <a:pPr lvl="4"/>
            <a:r>
              <a:rPr lang="en-US"/>
              <a:t>Fifth level</a:t>
            </a:r>
          </a:p>
        </p:txBody>
      </p:sp>
      <p:sp>
        <p:nvSpPr>
          <p:cNvPr id="22" name="Title 21">
            <a:extLst>
              <a:ext uri="{FF2B5EF4-FFF2-40B4-BE49-F238E27FC236}">
                <a16:creationId xmlns:a16="http://schemas.microsoft.com/office/drawing/2014/main" id="{70F760CC-EB81-1B52-CB77-0751D3F2DC26}"/>
              </a:ext>
            </a:extLst>
          </p:cNvPr>
          <p:cNvSpPr>
            <a:spLocks noGrp="1"/>
          </p:cNvSpPr>
          <p:nvPr>
            <p:ph type="title" hasCustomPrompt="1"/>
          </p:nvPr>
        </p:nvSpPr>
        <p:spPr/>
        <p:txBody>
          <a:bodyPr/>
          <a:lstStyle>
            <a:lvl1pPr>
              <a:defRPr/>
            </a:lvl1pPr>
          </a:lstStyle>
          <a:p>
            <a:r>
              <a:rPr lang="en-US"/>
              <a:t>Click to add title – max 2 lines</a:t>
            </a:r>
          </a:p>
        </p:txBody>
      </p:sp>
      <p:sp>
        <p:nvSpPr>
          <p:cNvPr id="2" name="Line">
            <a:extLst>
              <a:ext uri="{FF2B5EF4-FFF2-40B4-BE49-F238E27FC236}">
                <a16:creationId xmlns:a16="http://schemas.microsoft.com/office/drawing/2014/main" id="{81C618C2-76F3-7029-7C9E-17893EDB0F2B}"/>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352508782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Title +           2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335016B0-873B-4D63-9325-924D4CDC686E}"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2 lines</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0" name="Content Placeholder 8">
            <a:extLst>
              <a:ext uri="{FF2B5EF4-FFF2-40B4-BE49-F238E27FC236}">
                <a16:creationId xmlns:a16="http://schemas.microsoft.com/office/drawing/2014/main" id="{A2DA405C-8706-D6A0-A804-4E31612EBBEC}"/>
              </a:ext>
            </a:extLst>
          </p:cNvPr>
          <p:cNvSpPr>
            <a:spLocks noGrp="1"/>
          </p:cNvSpPr>
          <p:nvPr>
            <p:ph sz="quarter" idx="29"/>
          </p:nvPr>
        </p:nvSpPr>
        <p:spPr>
          <a:xfrm>
            <a:off x="540000" y="1666015"/>
            <a:ext cx="5285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DBC5536A-7708-7318-4D3F-51D16B72F692}"/>
              </a:ext>
            </a:extLst>
          </p:cNvPr>
          <p:cNvSpPr>
            <a:spLocks noGrp="1"/>
          </p:cNvSpPr>
          <p:nvPr>
            <p:ph sz="quarter" idx="35"/>
          </p:nvPr>
        </p:nvSpPr>
        <p:spPr>
          <a:xfrm>
            <a:off x="6365998" y="1666015"/>
            <a:ext cx="5285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Rectangle 5">
            <a:extLst>
              <a:ext uri="{FF2B5EF4-FFF2-40B4-BE49-F238E27FC236}">
                <a16:creationId xmlns:a16="http://schemas.microsoft.com/office/drawing/2014/main" id="{888903B7-457A-31FB-D4AD-99B8A68D5C5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4BBDED1D-B412-AD16-FA88-2C6FB91BC21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D5B26F13-8D04-19B3-9A99-75C06691D18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two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B8D5E408-CD80-103B-C407-9CC505DD1BD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content</a:t>
            </a:r>
          </a:p>
        </p:txBody>
      </p:sp>
      <p:cxnSp>
        <p:nvCxnSpPr>
          <p:cNvPr id="13" name="Straight Connector 12">
            <a:extLst>
              <a:ext uri="{FF2B5EF4-FFF2-40B4-BE49-F238E27FC236}">
                <a16:creationId xmlns:a16="http://schemas.microsoft.com/office/drawing/2014/main" id="{CD91A839-838F-F001-350F-371F377F195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993402"/>
      </p:ext>
    </p:extLst>
  </p:cSld>
  <p:clrMapOvr>
    <a:masterClrMapping/>
  </p:clrMapOvr>
  <p:extLst>
    <p:ext uri="{DCECCB84-F9BA-43D5-87BE-67443E8EF086}">
      <p15:sldGuideLst xmlns:p15="http://schemas.microsoft.com/office/powerpoint/2012/main">
        <p15:guide id="6" pos="3671">
          <p15:clr>
            <a:srgbClr val="5ACBF0"/>
          </p15:clr>
        </p15:guide>
        <p15:guide id="7" pos="401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Title +           3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E29A6D0-4FB7-46CD-9B06-EE97F1E482E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2 lines</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D71D8E4A-10D7-09A9-F88F-FCA898147C9F}"/>
              </a:ext>
            </a:extLst>
          </p:cNvPr>
          <p:cNvSpPr>
            <a:spLocks noGrp="1"/>
          </p:cNvSpPr>
          <p:nvPr>
            <p:ph sz="quarter" idx="29"/>
          </p:nvPr>
        </p:nvSpPr>
        <p:spPr>
          <a:xfrm>
            <a:off x="540000"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02598A2E-56D7-E713-566B-47E4BC1C0AFB}"/>
              </a:ext>
            </a:extLst>
          </p:cNvPr>
          <p:cNvSpPr>
            <a:spLocks noGrp="1"/>
          </p:cNvSpPr>
          <p:nvPr>
            <p:ph sz="quarter" idx="31"/>
          </p:nvPr>
        </p:nvSpPr>
        <p:spPr>
          <a:xfrm>
            <a:off x="4423999"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0" name="Content Placeholder 8">
            <a:extLst>
              <a:ext uri="{FF2B5EF4-FFF2-40B4-BE49-F238E27FC236}">
                <a16:creationId xmlns:a16="http://schemas.microsoft.com/office/drawing/2014/main" id="{FAC640A2-0195-E324-897E-17CFA2A8BF94}"/>
              </a:ext>
            </a:extLst>
          </p:cNvPr>
          <p:cNvSpPr>
            <a:spLocks noGrp="1"/>
          </p:cNvSpPr>
          <p:nvPr>
            <p:ph sz="quarter" idx="35"/>
          </p:nvPr>
        </p:nvSpPr>
        <p:spPr>
          <a:xfrm>
            <a:off x="8307998"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Rectangle 5">
            <a:extLst>
              <a:ext uri="{FF2B5EF4-FFF2-40B4-BE49-F238E27FC236}">
                <a16:creationId xmlns:a16="http://schemas.microsoft.com/office/drawing/2014/main" id="{A99C8BE9-283B-D03E-891D-9B81509E985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EF0C279F-9262-DAB8-4C49-84F031339C5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23479838-93B8-149B-6DC7-E491DF3BD33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content</a:t>
            </a:r>
          </a:p>
        </p:txBody>
      </p:sp>
      <p:sp>
        <p:nvSpPr>
          <p:cNvPr id="9" name="Text Placeholder 14">
            <a:extLst>
              <a:ext uri="{FF2B5EF4-FFF2-40B4-BE49-F238E27FC236}">
                <a16:creationId xmlns:a16="http://schemas.microsoft.com/office/drawing/2014/main" id="{B7BBA0A3-ED50-091D-3179-32B8AF2E397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three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0" name="Straight Connector 9">
            <a:extLst>
              <a:ext uri="{FF2B5EF4-FFF2-40B4-BE49-F238E27FC236}">
                <a16:creationId xmlns:a16="http://schemas.microsoft.com/office/drawing/2014/main" id="{F7549196-2416-450A-3A2D-32AF66AABF4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648308"/>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           Title +           4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3452999"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6365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278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2 lines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Rectangle 14">
            <a:extLst>
              <a:ext uri="{FF2B5EF4-FFF2-40B4-BE49-F238E27FC236}">
                <a16:creationId xmlns:a16="http://schemas.microsoft.com/office/drawing/2014/main" id="{DAA5AC9F-000A-820C-FCD3-BF852968EAD6}"/>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6" name="Content Placeholder 7">
            <a:extLst>
              <a:ext uri="{FF2B5EF4-FFF2-40B4-BE49-F238E27FC236}">
                <a16:creationId xmlns:a16="http://schemas.microsoft.com/office/drawing/2014/main" id="{E7262B6C-05EE-24A0-5004-0ECCCE1186C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7" name="Text Placeholder 14">
            <a:extLst>
              <a:ext uri="{FF2B5EF4-FFF2-40B4-BE49-F238E27FC236}">
                <a16:creationId xmlns:a16="http://schemas.microsoft.com/office/drawing/2014/main" id="{9B673292-0108-C19A-F546-513D96C46235}"/>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content</a:t>
            </a:r>
          </a:p>
        </p:txBody>
      </p:sp>
      <p:sp>
        <p:nvSpPr>
          <p:cNvPr id="18" name="Text Placeholder 14">
            <a:extLst>
              <a:ext uri="{FF2B5EF4-FFF2-40B4-BE49-F238E27FC236}">
                <a16:creationId xmlns:a16="http://schemas.microsoft.com/office/drawing/2014/main" id="{F5AFEFD6-1B7D-80D9-5A0F-6F16D1DFBB6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four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9" name="Straight Connector 18">
            <a:extLst>
              <a:ext uri="{FF2B5EF4-FFF2-40B4-BE49-F238E27FC236}">
                <a16:creationId xmlns:a16="http://schemas.microsoft.com/office/drawing/2014/main" id="{7CC283CA-1E9C-BC2D-B77F-5AB33544ABA6}"/>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016015"/>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           5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28343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74231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7175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2 lines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6">
            <a:extLst>
              <a:ext uri="{FF2B5EF4-FFF2-40B4-BE49-F238E27FC236}">
                <a16:creationId xmlns:a16="http://schemas.microsoft.com/office/drawing/2014/main" id="{BA2D3DC5-9629-2C38-7C2F-3AD97B71C73A}"/>
              </a:ext>
            </a:extLst>
          </p:cNvPr>
          <p:cNvSpPr>
            <a:spLocks noGrp="1"/>
          </p:cNvSpPr>
          <p:nvPr>
            <p:ph type="body" sz="quarter" idx="36"/>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6" name="Content Placeholder 8">
            <a:extLst>
              <a:ext uri="{FF2B5EF4-FFF2-40B4-BE49-F238E27FC236}">
                <a16:creationId xmlns:a16="http://schemas.microsoft.com/office/drawing/2014/main" id="{9F4ACD4F-192F-9FB1-E965-6891944E0D59}"/>
              </a:ext>
            </a:extLst>
          </p:cNvPr>
          <p:cNvSpPr>
            <a:spLocks noGrp="1"/>
          </p:cNvSpPr>
          <p:nvPr>
            <p:ph sz="quarter" idx="37"/>
          </p:nvPr>
        </p:nvSpPr>
        <p:spPr>
          <a:xfrm>
            <a:off x="51287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16">
            <a:extLst>
              <a:ext uri="{FF2B5EF4-FFF2-40B4-BE49-F238E27FC236}">
                <a16:creationId xmlns:a16="http://schemas.microsoft.com/office/drawing/2014/main" id="{C8741E89-9D74-241F-B0B1-ACE37136CD16}"/>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8" name="Content Placeholder 7">
            <a:extLst>
              <a:ext uri="{FF2B5EF4-FFF2-40B4-BE49-F238E27FC236}">
                <a16:creationId xmlns:a16="http://schemas.microsoft.com/office/drawing/2014/main" id="{78B7045B-054E-0D81-3A22-EE4F72FC16A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9" name="Text Placeholder 14">
            <a:extLst>
              <a:ext uri="{FF2B5EF4-FFF2-40B4-BE49-F238E27FC236}">
                <a16:creationId xmlns:a16="http://schemas.microsoft.com/office/drawing/2014/main" id="{41A666DE-97FF-C04C-CD02-9CFF9A8F044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content</a:t>
            </a:r>
          </a:p>
        </p:txBody>
      </p:sp>
      <p:sp>
        <p:nvSpPr>
          <p:cNvPr id="20" name="Text Placeholder 14">
            <a:extLst>
              <a:ext uri="{FF2B5EF4-FFF2-40B4-BE49-F238E27FC236}">
                <a16:creationId xmlns:a16="http://schemas.microsoft.com/office/drawing/2014/main" id="{94806538-065B-112E-73BA-B6E90DD6EBD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five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1" name="Straight Connector 20">
            <a:extLst>
              <a:ext uri="{FF2B5EF4-FFF2-40B4-BE49-F238E27FC236}">
                <a16:creationId xmlns:a16="http://schemas.microsoft.com/office/drawing/2014/main" id="{4E79C413-AFF7-F044-EA41-63F54371DC5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559613"/>
      </p:ext>
    </p:extLst>
  </p:cSld>
  <p:clrMapOvr>
    <a:masterClrMapping/>
  </p:clrMapOvr>
  <p:extLst>
    <p:ext uri="{DCECCB84-F9BA-43D5-87BE-67443E8EF086}">
      <p15:sldGuideLst xmlns:p15="http://schemas.microsoft.com/office/powerpoint/2012/main">
        <p15:guide id="3" pos="340">
          <p15:clr>
            <a:srgbClr val="5ACBF0"/>
          </p15:clr>
        </p15:guide>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0" pos="7339">
          <p15:clr>
            <a:srgbClr val="FBAE40"/>
          </p15:clr>
        </p15:guide>
        <p15:guide id="12" pos="7341">
          <p15:clr>
            <a:srgbClr val="FBAE40"/>
          </p15:clr>
        </p15:guide>
        <p15:guide id="13" pos="3230">
          <p15:clr>
            <a:srgbClr val="5ACBF0"/>
          </p15:clr>
        </p15:guide>
        <p15:guide id="14" pos="4449">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pictures</a:t>
            </a:r>
          </a:p>
        </p:txBody>
      </p:sp>
    </p:spTree>
    <p:extLst>
      <p:ext uri="{BB962C8B-B14F-4D97-AF65-F5344CB8AC3E}">
        <p14:creationId xmlns:p14="http://schemas.microsoft.com/office/powerpoint/2010/main" val="27823691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Title +      slim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E141D6FB-2050-4479-8767-F535260FBE2B}"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8199000"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8">
            <a:extLst>
              <a:ext uri="{FF2B5EF4-FFF2-40B4-BE49-F238E27FC236}">
                <a16:creationId xmlns:a16="http://schemas.microsoft.com/office/drawing/2014/main" id="{A871CA24-6567-356B-26A9-AFE696ECC4CD}"/>
              </a:ext>
            </a:extLst>
          </p:cNvPr>
          <p:cNvSpPr>
            <a:spLocks noGrp="1"/>
          </p:cNvSpPr>
          <p:nvPr>
            <p:ph type="pic" sz="quarter" idx="15"/>
          </p:nvPr>
        </p:nvSpPr>
        <p:spPr>
          <a:xfrm>
            <a:off x="9279000" y="0"/>
            <a:ext cx="2912999"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539999" y="1006831"/>
            <a:ext cx="8199000" cy="0"/>
          </a:xfrm>
          <a:prstGeom prst="line">
            <a:avLst/>
          </a:prstGeom>
          <a:ln w="12700">
            <a:solidFill>
              <a:schemeClr val="tx1"/>
            </a:solidFill>
            <a:miter/>
          </a:ln>
        </p:spPr>
        <p:txBody>
          <a:bodyPr lIns="45719" rIns="45719"/>
          <a:lstStyle/>
          <a:p>
            <a:endParaRPr lang="en-US"/>
          </a:p>
        </p:txBody>
      </p:sp>
      <p:sp>
        <p:nvSpPr>
          <p:cNvPr id="10" name="Title 9">
            <a:extLst>
              <a:ext uri="{FF2B5EF4-FFF2-40B4-BE49-F238E27FC236}">
                <a16:creationId xmlns:a16="http://schemas.microsoft.com/office/drawing/2014/main" id="{2FBBDB2A-2223-2537-5339-1BEB17F7B1AF}"/>
              </a:ext>
            </a:extLst>
          </p:cNvPr>
          <p:cNvSpPr>
            <a:spLocks noGrp="1"/>
          </p:cNvSpPr>
          <p:nvPr>
            <p:ph type="title" hasCustomPrompt="1"/>
          </p:nvPr>
        </p:nvSpPr>
        <p:spPr>
          <a:xfrm>
            <a:off x="539999" y="262800"/>
            <a:ext cx="8199000" cy="664797"/>
          </a:xfrm>
        </p:spPr>
        <p:txBody>
          <a:bodyPr/>
          <a:lstStyle>
            <a:lvl1pPr>
              <a:defRPr/>
            </a:lvl1pPr>
          </a:lstStyle>
          <a:p>
            <a:r>
              <a:rPr lang="en-US"/>
              <a:t>Click to add title – max 2 lines</a:t>
            </a:r>
          </a:p>
        </p:txBody>
      </p:sp>
      <p:sp>
        <p:nvSpPr>
          <p:cNvPr id="8" name="Rectangle 7">
            <a:extLst>
              <a:ext uri="{FF2B5EF4-FFF2-40B4-BE49-F238E27FC236}">
                <a16:creationId xmlns:a16="http://schemas.microsoft.com/office/drawing/2014/main" id="{C44A9CA9-E97F-CCE8-8F23-0FEA5BE62B6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9" name="Content Placeholder 7">
            <a:extLst>
              <a:ext uri="{FF2B5EF4-FFF2-40B4-BE49-F238E27FC236}">
                <a16:creationId xmlns:a16="http://schemas.microsoft.com/office/drawing/2014/main" id="{609FEEF2-9075-5A94-9151-B24854853AE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3DB34A00-26BA-43D3-02E6-55181091771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44FC7402-ECC1-E688-3C56-A6815141FCDC}"/>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right</a:t>
            </a:r>
          </a:p>
        </p:txBody>
      </p:sp>
      <p:cxnSp>
        <p:nvCxnSpPr>
          <p:cNvPr id="13" name="Straight Connector 12">
            <a:extLst>
              <a:ext uri="{FF2B5EF4-FFF2-40B4-BE49-F238E27FC236}">
                <a16:creationId xmlns:a16="http://schemas.microsoft.com/office/drawing/2014/main" id="{35413917-3356-254F-FCD2-3FCC6E32283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458643"/>
      </p:ext>
    </p:extLst>
  </p:cSld>
  <p:clrMapOvr>
    <a:masterClrMapping/>
  </p:clrMapOvr>
  <p:extLst>
    <p:ext uri="{DCECCB84-F9BA-43D5-87BE-67443E8EF086}">
      <p15:sldGuideLst xmlns:p15="http://schemas.microsoft.com/office/powerpoint/2012/main">
        <p15:guide id="1" pos="5505">
          <p15:clr>
            <a:srgbClr val="5ACBF0"/>
          </p15:clr>
        </p15:guide>
        <p15:guide id="2" pos="584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Title +      slim picture lef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E141D6FB-2050-4479-8767-F535260FBE2B}"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3454839" y="1204913"/>
            <a:ext cx="8199000"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8">
            <a:extLst>
              <a:ext uri="{FF2B5EF4-FFF2-40B4-BE49-F238E27FC236}">
                <a16:creationId xmlns:a16="http://schemas.microsoft.com/office/drawing/2014/main" id="{A871CA24-6567-356B-26A9-AFE696ECC4CD}"/>
              </a:ext>
            </a:extLst>
          </p:cNvPr>
          <p:cNvSpPr>
            <a:spLocks noGrp="1"/>
          </p:cNvSpPr>
          <p:nvPr>
            <p:ph type="pic" sz="quarter" idx="15"/>
          </p:nvPr>
        </p:nvSpPr>
        <p:spPr>
          <a:xfrm>
            <a:off x="0" y="0"/>
            <a:ext cx="2912999"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3454839" y="1006831"/>
            <a:ext cx="8199000" cy="0"/>
          </a:xfrm>
          <a:prstGeom prst="line">
            <a:avLst/>
          </a:prstGeom>
          <a:ln w="12700">
            <a:solidFill>
              <a:schemeClr val="tx1"/>
            </a:solidFill>
            <a:miter/>
          </a:ln>
        </p:spPr>
        <p:txBody>
          <a:bodyPr lIns="45719" rIns="45719"/>
          <a:lstStyle/>
          <a:p>
            <a:endParaRPr lang="en-US"/>
          </a:p>
        </p:txBody>
      </p:sp>
      <p:sp>
        <p:nvSpPr>
          <p:cNvPr id="10" name="Title 9">
            <a:extLst>
              <a:ext uri="{FF2B5EF4-FFF2-40B4-BE49-F238E27FC236}">
                <a16:creationId xmlns:a16="http://schemas.microsoft.com/office/drawing/2014/main" id="{2FBBDB2A-2223-2537-5339-1BEB17F7B1AF}"/>
              </a:ext>
            </a:extLst>
          </p:cNvPr>
          <p:cNvSpPr>
            <a:spLocks noGrp="1"/>
          </p:cNvSpPr>
          <p:nvPr>
            <p:ph type="title" hasCustomPrompt="1"/>
          </p:nvPr>
        </p:nvSpPr>
        <p:spPr>
          <a:xfrm>
            <a:off x="3454839" y="262800"/>
            <a:ext cx="8199000" cy="664797"/>
          </a:xfrm>
        </p:spPr>
        <p:txBody>
          <a:bodyPr/>
          <a:lstStyle>
            <a:lvl1pPr>
              <a:defRPr/>
            </a:lvl1pPr>
          </a:lstStyle>
          <a:p>
            <a:r>
              <a:rPr lang="en-US"/>
              <a:t>Click to add title – max 2 lines</a:t>
            </a:r>
          </a:p>
        </p:txBody>
      </p:sp>
      <p:sp>
        <p:nvSpPr>
          <p:cNvPr id="14" name="Rectangle 13">
            <a:extLst>
              <a:ext uri="{FF2B5EF4-FFF2-40B4-BE49-F238E27FC236}">
                <a16:creationId xmlns:a16="http://schemas.microsoft.com/office/drawing/2014/main" id="{455AF8C0-E372-9B50-5392-A21E3C3CEA9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5" name="Content Placeholder 7">
            <a:extLst>
              <a:ext uri="{FF2B5EF4-FFF2-40B4-BE49-F238E27FC236}">
                <a16:creationId xmlns:a16="http://schemas.microsoft.com/office/drawing/2014/main" id="{72CF0CD7-F775-86F9-2C16-C4CAB5AFFDB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6" name="Text Placeholder 14">
            <a:extLst>
              <a:ext uri="{FF2B5EF4-FFF2-40B4-BE49-F238E27FC236}">
                <a16:creationId xmlns:a16="http://schemas.microsoft.com/office/drawing/2014/main" id="{0AF7DA84-2CDC-52FD-3DEF-8744B210438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7" name="Text Placeholder 14">
            <a:extLst>
              <a:ext uri="{FF2B5EF4-FFF2-40B4-BE49-F238E27FC236}">
                <a16:creationId xmlns:a16="http://schemas.microsoft.com/office/drawing/2014/main" id="{E4C1BEE0-21DA-DBA3-5D83-1728B22CFAB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left</a:t>
            </a:r>
          </a:p>
        </p:txBody>
      </p:sp>
      <p:cxnSp>
        <p:nvCxnSpPr>
          <p:cNvPr id="18" name="Straight Connector 17">
            <a:extLst>
              <a:ext uri="{FF2B5EF4-FFF2-40B4-BE49-F238E27FC236}">
                <a16:creationId xmlns:a16="http://schemas.microsoft.com/office/drawing/2014/main" id="{C80D792B-10ED-C869-F544-C61071FD460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151395"/>
      </p:ext>
    </p:extLst>
  </p:cSld>
  <p:clrMapOvr>
    <a:masterClrMapping/>
  </p:clrMapOvr>
  <p:extLst>
    <p:ext uri="{DCECCB84-F9BA-43D5-87BE-67443E8EF086}">
      <p15:sldGuideLst xmlns:p15="http://schemas.microsoft.com/office/powerpoint/2012/main">
        <p15:guide id="1" pos="1835">
          <p15:clr>
            <a:srgbClr val="5ACBF0"/>
          </p15:clr>
        </p15:guide>
        <p15:guide id="2" pos="217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Title +      wide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2F9A6BD-B347-42A0-BA33-CF740CC356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5285999"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50E7941-4AAA-B2C2-2792-6DA3BEA7DB73}"/>
              </a:ext>
            </a:extLst>
          </p:cNvPr>
          <p:cNvSpPr>
            <a:spLocks noGrp="1"/>
          </p:cNvSpPr>
          <p:nvPr>
            <p:ph type="title" hasCustomPrompt="1"/>
          </p:nvPr>
        </p:nvSpPr>
        <p:spPr>
          <a:xfrm>
            <a:off x="539999" y="263891"/>
            <a:ext cx="5285999" cy="664797"/>
          </a:xfrm>
        </p:spPr>
        <p:txBody>
          <a:bodyPr/>
          <a:lstStyle>
            <a:lvl1pPr>
              <a:defRPr/>
            </a:lvl1pPr>
          </a:lstStyle>
          <a:p>
            <a:r>
              <a:rPr lang="en-US"/>
              <a:t>Click to add title – max 2 lines</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540000" y="1006831"/>
            <a:ext cx="5285999" cy="0"/>
          </a:xfrm>
          <a:prstGeom prst="line">
            <a:avLst/>
          </a:prstGeom>
          <a:ln w="12700">
            <a:solidFill>
              <a:schemeClr val="tx1"/>
            </a:solidFill>
            <a:miter/>
          </a:ln>
        </p:spPr>
        <p:txBody>
          <a:bodyPr lIns="45719" rIns="45719"/>
          <a:lstStyle/>
          <a:p>
            <a:endParaRPr lang="en-US"/>
          </a:p>
        </p:txBody>
      </p:sp>
      <p:sp>
        <p:nvSpPr>
          <p:cNvPr id="6" name="Picture Placeholder 8">
            <a:extLst>
              <a:ext uri="{FF2B5EF4-FFF2-40B4-BE49-F238E27FC236}">
                <a16:creationId xmlns:a16="http://schemas.microsoft.com/office/drawing/2014/main" id="{A457AB0C-87F5-3881-502C-83B67E5FD205}"/>
              </a:ext>
            </a:extLst>
          </p:cNvPr>
          <p:cNvSpPr>
            <a:spLocks noGrp="1"/>
          </p:cNvSpPr>
          <p:nvPr>
            <p:ph type="pic" sz="quarter" idx="16"/>
          </p:nvPr>
        </p:nvSpPr>
        <p:spPr>
          <a:xfrm>
            <a:off x="6366000" y="0"/>
            <a:ext cx="5826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8" name="Rectangle 7">
            <a:extLst>
              <a:ext uri="{FF2B5EF4-FFF2-40B4-BE49-F238E27FC236}">
                <a16:creationId xmlns:a16="http://schemas.microsoft.com/office/drawing/2014/main" id="{C28D39FE-7DD8-C7BE-A185-D93FB54614E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052E8917-98B8-1A40-413E-443F4F84F501}"/>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B712BABF-9947-DAD0-5CF3-B9E323F84F76}"/>
              </a:ext>
            </a:extLst>
          </p:cNvPr>
          <p:cNvSpPr txBox="1">
            <a:spLocks/>
          </p:cNvSpPr>
          <p:nvPr userDrawn="1"/>
        </p:nvSpPr>
        <p:spPr>
          <a:xfrm>
            <a:off x="-1568878" y="133349"/>
            <a:ext cx="1476000" cy="839673"/>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right</a:t>
            </a:r>
          </a:p>
        </p:txBody>
      </p:sp>
      <p:sp>
        <p:nvSpPr>
          <p:cNvPr id="12" name="Text Placeholder 14">
            <a:extLst>
              <a:ext uri="{FF2B5EF4-FFF2-40B4-BE49-F238E27FC236}">
                <a16:creationId xmlns:a16="http://schemas.microsoft.com/office/drawing/2014/main" id="{04FA701B-3DDC-7384-4818-400221E04E99}"/>
              </a:ext>
            </a:extLst>
          </p:cNvPr>
          <p:cNvSpPr txBox="1">
            <a:spLocks/>
          </p:cNvSpPr>
          <p:nvPr userDrawn="1"/>
        </p:nvSpPr>
        <p:spPr>
          <a:xfrm>
            <a:off x="-1584000" y="1103313"/>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3" name="Straight Connector 12">
            <a:extLst>
              <a:ext uri="{FF2B5EF4-FFF2-40B4-BE49-F238E27FC236}">
                <a16:creationId xmlns:a16="http://schemas.microsoft.com/office/drawing/2014/main" id="{51057E77-F45B-80AB-FC3E-696929B685F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786903"/>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      wide picture left">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A457AB0C-87F5-3881-502C-83B67E5FD205}"/>
              </a:ext>
            </a:extLst>
          </p:cNvPr>
          <p:cNvSpPr>
            <a:spLocks noGrp="1"/>
          </p:cNvSpPr>
          <p:nvPr>
            <p:ph type="pic" sz="quarter" idx="16"/>
          </p:nvPr>
        </p:nvSpPr>
        <p:spPr>
          <a:xfrm>
            <a:off x="0" y="0"/>
            <a:ext cx="5826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2F9A6BD-B347-42A0-BA33-CF740CC356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6367840" y="1204913"/>
            <a:ext cx="5285999"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50E7941-4AAA-B2C2-2792-6DA3BEA7DB73}"/>
              </a:ext>
            </a:extLst>
          </p:cNvPr>
          <p:cNvSpPr>
            <a:spLocks noGrp="1"/>
          </p:cNvSpPr>
          <p:nvPr>
            <p:ph type="title" hasCustomPrompt="1"/>
          </p:nvPr>
        </p:nvSpPr>
        <p:spPr>
          <a:xfrm>
            <a:off x="6367840" y="263891"/>
            <a:ext cx="5285999" cy="664797"/>
          </a:xfrm>
        </p:spPr>
        <p:txBody>
          <a:bodyPr/>
          <a:lstStyle>
            <a:lvl1pPr>
              <a:defRPr/>
            </a:lvl1pPr>
          </a:lstStyle>
          <a:p>
            <a:r>
              <a:rPr lang="en-US"/>
              <a:t>Click to add title – max 2 lines</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6367840" y="1006831"/>
            <a:ext cx="5285999" cy="0"/>
          </a:xfrm>
          <a:prstGeom prst="line">
            <a:avLst/>
          </a:prstGeom>
          <a:ln w="12700">
            <a:solidFill>
              <a:schemeClr val="tx1"/>
            </a:solidFill>
            <a:miter/>
          </a:ln>
        </p:spPr>
        <p:txBody>
          <a:bodyPr lIns="45719" rIns="45719"/>
          <a:lstStyle/>
          <a:p>
            <a:endParaRPr lang="en-US"/>
          </a:p>
        </p:txBody>
      </p:sp>
      <p:sp>
        <p:nvSpPr>
          <p:cNvPr id="8" name="Rectangle 7">
            <a:extLst>
              <a:ext uri="{FF2B5EF4-FFF2-40B4-BE49-F238E27FC236}">
                <a16:creationId xmlns:a16="http://schemas.microsoft.com/office/drawing/2014/main" id="{F404FB4B-638F-464D-0DBA-A1BB81D0D3D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CC2D1647-239E-6953-0934-35FD91592F1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65CF310B-E66A-E79C-A4D5-FC41DB30714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CB1AD031-8567-DC8C-907B-A6F797E1078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left</a:t>
            </a:r>
          </a:p>
        </p:txBody>
      </p:sp>
      <p:cxnSp>
        <p:nvCxnSpPr>
          <p:cNvPr id="13" name="Straight Connector 12">
            <a:extLst>
              <a:ext uri="{FF2B5EF4-FFF2-40B4-BE49-F238E27FC236}">
                <a16:creationId xmlns:a16="http://schemas.microsoft.com/office/drawing/2014/main" id="{62A30C48-4464-43F6-ED6F-323F26B94A3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538394"/>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           2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10F59875-23E9-43C9-9883-CE97839F1586}"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1" name="Picture Placeholder 10">
            <a:extLst>
              <a:ext uri="{FF2B5EF4-FFF2-40B4-BE49-F238E27FC236}">
                <a16:creationId xmlns:a16="http://schemas.microsoft.com/office/drawing/2014/main" id="{8D442347-66C0-3AC5-363B-B6A3649FDC2B}"/>
              </a:ext>
            </a:extLst>
          </p:cNvPr>
          <p:cNvSpPr>
            <a:spLocks noGrp="1"/>
          </p:cNvSpPr>
          <p:nvPr>
            <p:ph type="pic" sz="quarter" idx="36"/>
          </p:nvPr>
        </p:nvSpPr>
        <p:spPr>
          <a:xfrm>
            <a:off x="540000" y="1666016"/>
            <a:ext cx="5285999" cy="1762984"/>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B08D07AB-2B9B-C897-404E-3F154936C42C}"/>
              </a:ext>
            </a:extLst>
          </p:cNvPr>
          <p:cNvSpPr>
            <a:spLocks noGrp="1"/>
          </p:cNvSpPr>
          <p:nvPr>
            <p:ph type="body" sz="quarter" idx="38"/>
          </p:nvPr>
        </p:nvSpPr>
        <p:spPr>
          <a:xfrm>
            <a:off x="539750"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5">
            <a:extLst>
              <a:ext uri="{FF2B5EF4-FFF2-40B4-BE49-F238E27FC236}">
                <a16:creationId xmlns:a16="http://schemas.microsoft.com/office/drawing/2014/main" id="{167DA1CD-29F9-95FE-CAD9-638DD00D98E3}"/>
              </a:ext>
            </a:extLst>
          </p:cNvPr>
          <p:cNvSpPr>
            <a:spLocks noGrp="1"/>
          </p:cNvSpPr>
          <p:nvPr>
            <p:ph type="body" sz="quarter" idx="39"/>
          </p:nvPr>
        </p:nvSpPr>
        <p:spPr>
          <a:xfrm>
            <a:off x="6365998"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BC441258-7B44-816E-5F67-9F844A77A7A2}"/>
              </a:ext>
            </a:extLst>
          </p:cNvPr>
          <p:cNvSpPr>
            <a:spLocks noGrp="1"/>
          </p:cNvSpPr>
          <p:nvPr>
            <p:ph type="title" hasCustomPrompt="1"/>
          </p:nvPr>
        </p:nvSpPr>
        <p:spPr/>
        <p:txBody>
          <a:bodyPr/>
          <a:lstStyle>
            <a:lvl1pPr>
              <a:defRPr/>
            </a:lvl1pPr>
          </a:lstStyle>
          <a:p>
            <a:r>
              <a:rPr lang="en-US"/>
              <a:t>Click to add title – max 2 lines</a:t>
            </a:r>
          </a:p>
        </p:txBody>
      </p:sp>
      <p:sp>
        <p:nvSpPr>
          <p:cNvPr id="6" name="Picture Placeholder 10">
            <a:extLst>
              <a:ext uri="{FF2B5EF4-FFF2-40B4-BE49-F238E27FC236}">
                <a16:creationId xmlns:a16="http://schemas.microsoft.com/office/drawing/2014/main" id="{0EF042A2-E5DF-5175-F66F-F72319A9BCD6}"/>
              </a:ext>
            </a:extLst>
          </p:cNvPr>
          <p:cNvSpPr>
            <a:spLocks noGrp="1"/>
          </p:cNvSpPr>
          <p:nvPr>
            <p:ph type="pic" sz="quarter" idx="40"/>
          </p:nvPr>
        </p:nvSpPr>
        <p:spPr>
          <a:xfrm>
            <a:off x="6367840" y="1666016"/>
            <a:ext cx="5285999" cy="1762984"/>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7" name="Rectangle 6">
            <a:extLst>
              <a:ext uri="{FF2B5EF4-FFF2-40B4-BE49-F238E27FC236}">
                <a16:creationId xmlns:a16="http://schemas.microsoft.com/office/drawing/2014/main" id="{EA640050-1E99-6AB6-AF34-917ABBF1F20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7CF19401-8897-78C8-10AD-A39183A9E34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B9CED8BD-EAC4-4514-7E1F-814F4EC1333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two sections </a:t>
            </a:r>
            <a:br>
              <a:rPr lang="en-US" sz="1050">
                <a:solidFill>
                  <a:schemeClr val="tx1">
                    <a:alpha val="90000"/>
                  </a:schemeClr>
                </a:solidFill>
              </a:rPr>
            </a:br>
            <a:r>
              <a:rPr lang="en-US" sz="1050">
                <a:solidFill>
                  <a:schemeClr val="tx1">
                    <a:alpha val="90000"/>
                  </a:schemeClr>
                </a:solidFill>
              </a:rPr>
              <a:t>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0FE76C90-39C2-B05E-1532-781F038FD3C6}"/>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pictures</a:t>
            </a:r>
          </a:p>
        </p:txBody>
      </p:sp>
      <p:cxnSp>
        <p:nvCxnSpPr>
          <p:cNvPr id="15" name="Straight Connector 14">
            <a:extLst>
              <a:ext uri="{FF2B5EF4-FFF2-40B4-BE49-F238E27FC236}">
                <a16:creationId xmlns:a16="http://schemas.microsoft.com/office/drawing/2014/main" id="{25703441-9730-71C4-4A91-7696000E31E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421431"/>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           3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CB6BBDA6-5B4A-453D-B342-C2505ECDBEA1}"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7" name="Picture Placeholder 10">
            <a:extLst>
              <a:ext uri="{FF2B5EF4-FFF2-40B4-BE49-F238E27FC236}">
                <a16:creationId xmlns:a16="http://schemas.microsoft.com/office/drawing/2014/main" id="{EA8DB66A-D2CC-D810-675A-F43E35D8E076}"/>
              </a:ext>
            </a:extLst>
          </p:cNvPr>
          <p:cNvSpPr>
            <a:spLocks noGrp="1"/>
          </p:cNvSpPr>
          <p:nvPr>
            <p:ph type="pic" sz="quarter" idx="36"/>
          </p:nvPr>
        </p:nvSpPr>
        <p:spPr>
          <a:xfrm>
            <a:off x="540000"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0" name="Text Placeholder 15">
            <a:extLst>
              <a:ext uri="{FF2B5EF4-FFF2-40B4-BE49-F238E27FC236}">
                <a16:creationId xmlns:a16="http://schemas.microsoft.com/office/drawing/2014/main" id="{E0048019-BB1F-364C-C0FD-E0E76B01C99D}"/>
              </a:ext>
            </a:extLst>
          </p:cNvPr>
          <p:cNvSpPr>
            <a:spLocks noGrp="1"/>
          </p:cNvSpPr>
          <p:nvPr>
            <p:ph type="body" sz="quarter" idx="39"/>
          </p:nvPr>
        </p:nvSpPr>
        <p:spPr>
          <a:xfrm>
            <a:off x="53975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CE98B6C1-0C94-BB29-E1C8-3955ABC754DC}"/>
              </a:ext>
            </a:extLst>
          </p:cNvPr>
          <p:cNvSpPr>
            <a:spLocks noGrp="1"/>
          </p:cNvSpPr>
          <p:nvPr>
            <p:ph type="body" sz="quarter" idx="40"/>
          </p:nvPr>
        </p:nvSpPr>
        <p:spPr>
          <a:xfrm>
            <a:off x="442400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5">
            <a:extLst>
              <a:ext uri="{FF2B5EF4-FFF2-40B4-BE49-F238E27FC236}">
                <a16:creationId xmlns:a16="http://schemas.microsoft.com/office/drawing/2014/main" id="{883A7867-CE08-7924-457C-F27331277EB4}"/>
              </a:ext>
            </a:extLst>
          </p:cNvPr>
          <p:cNvSpPr>
            <a:spLocks noGrp="1"/>
          </p:cNvSpPr>
          <p:nvPr>
            <p:ph type="body" sz="quarter" idx="41"/>
          </p:nvPr>
        </p:nvSpPr>
        <p:spPr>
          <a:xfrm>
            <a:off x="8307998"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94FC28CC-FD7E-6A9C-BB41-796D36971A37}"/>
              </a:ext>
            </a:extLst>
          </p:cNvPr>
          <p:cNvSpPr>
            <a:spLocks noGrp="1"/>
          </p:cNvSpPr>
          <p:nvPr>
            <p:ph type="title" hasCustomPrompt="1"/>
          </p:nvPr>
        </p:nvSpPr>
        <p:spPr/>
        <p:txBody>
          <a:bodyPr/>
          <a:lstStyle>
            <a:lvl1pPr>
              <a:defRPr/>
            </a:lvl1pPr>
          </a:lstStyle>
          <a:p>
            <a:r>
              <a:rPr lang="en-US"/>
              <a:t>Click to add title – max 2 lines</a:t>
            </a:r>
          </a:p>
        </p:txBody>
      </p:sp>
      <p:sp>
        <p:nvSpPr>
          <p:cNvPr id="6" name="Picture Placeholder 10">
            <a:extLst>
              <a:ext uri="{FF2B5EF4-FFF2-40B4-BE49-F238E27FC236}">
                <a16:creationId xmlns:a16="http://schemas.microsoft.com/office/drawing/2014/main" id="{AEE614E9-6E39-7A6F-1281-EFE6FDDECE9D}"/>
              </a:ext>
            </a:extLst>
          </p:cNvPr>
          <p:cNvSpPr>
            <a:spLocks noGrp="1"/>
          </p:cNvSpPr>
          <p:nvPr>
            <p:ph type="pic" sz="quarter" idx="42"/>
          </p:nvPr>
        </p:nvSpPr>
        <p:spPr>
          <a:xfrm>
            <a:off x="4424000"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6505D42D-DBC1-5375-B31C-C1373C0F90DB}"/>
              </a:ext>
            </a:extLst>
          </p:cNvPr>
          <p:cNvSpPr>
            <a:spLocks noGrp="1"/>
          </p:cNvSpPr>
          <p:nvPr>
            <p:ph type="pic" sz="quarter" idx="43"/>
          </p:nvPr>
        </p:nvSpPr>
        <p:spPr>
          <a:xfrm>
            <a:off x="8307998"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8" name="Rectangle 7">
            <a:extLst>
              <a:ext uri="{FF2B5EF4-FFF2-40B4-BE49-F238E27FC236}">
                <a16:creationId xmlns:a16="http://schemas.microsoft.com/office/drawing/2014/main" id="{EF474CFF-73A8-DC60-2B9C-1A07FD50E52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9" name="Content Placeholder 7">
            <a:extLst>
              <a:ext uri="{FF2B5EF4-FFF2-40B4-BE49-F238E27FC236}">
                <a16:creationId xmlns:a16="http://schemas.microsoft.com/office/drawing/2014/main" id="{42E232F6-CCC4-1371-1E74-B3CF04C2545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5" name="Text Placeholder 14">
            <a:extLst>
              <a:ext uri="{FF2B5EF4-FFF2-40B4-BE49-F238E27FC236}">
                <a16:creationId xmlns:a16="http://schemas.microsoft.com/office/drawing/2014/main" id="{EB830415-8383-BA70-6648-70A2E11E4E9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three sections 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8" name="Text Placeholder 14">
            <a:extLst>
              <a:ext uri="{FF2B5EF4-FFF2-40B4-BE49-F238E27FC236}">
                <a16:creationId xmlns:a16="http://schemas.microsoft.com/office/drawing/2014/main" id="{F7828632-C99B-D8F2-2FA8-7737030C2901}"/>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pictures</a:t>
            </a:r>
          </a:p>
        </p:txBody>
      </p:sp>
      <p:cxnSp>
        <p:nvCxnSpPr>
          <p:cNvPr id="20" name="Straight Connector 19">
            <a:extLst>
              <a:ext uri="{FF2B5EF4-FFF2-40B4-BE49-F238E27FC236}">
                <a16:creationId xmlns:a16="http://schemas.microsoft.com/office/drawing/2014/main" id="{1A286678-FEA6-5028-5A5C-3AD45F9B71C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139362"/>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Title +           4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3452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6365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278998"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2 lines</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3452999"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6365999"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278998"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3" name="Rectangle 12">
            <a:extLst>
              <a:ext uri="{FF2B5EF4-FFF2-40B4-BE49-F238E27FC236}">
                <a16:creationId xmlns:a16="http://schemas.microsoft.com/office/drawing/2014/main" id="{9EFCA647-6B27-5C47-34E4-97A0BFE509D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5" name="Content Placeholder 7">
            <a:extLst>
              <a:ext uri="{FF2B5EF4-FFF2-40B4-BE49-F238E27FC236}">
                <a16:creationId xmlns:a16="http://schemas.microsoft.com/office/drawing/2014/main" id="{033B1A93-3158-8F08-FEB9-35D3CB903F4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7" name="Text Placeholder 14">
            <a:extLst>
              <a:ext uri="{FF2B5EF4-FFF2-40B4-BE49-F238E27FC236}">
                <a16:creationId xmlns:a16="http://schemas.microsoft.com/office/drawing/2014/main" id="{0BC45DBA-A38C-68B5-BB9B-E4199DC1F38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pictures</a:t>
            </a:r>
          </a:p>
        </p:txBody>
      </p:sp>
      <p:sp>
        <p:nvSpPr>
          <p:cNvPr id="18" name="Text Placeholder 14">
            <a:extLst>
              <a:ext uri="{FF2B5EF4-FFF2-40B4-BE49-F238E27FC236}">
                <a16:creationId xmlns:a16="http://schemas.microsoft.com/office/drawing/2014/main" id="{A5EEC2A8-B5A7-A3CF-2471-3168B61FF14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four sections 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9" name="Straight Connector 18">
            <a:extLst>
              <a:ext uri="{FF2B5EF4-FFF2-40B4-BE49-F238E27FC236}">
                <a16:creationId xmlns:a16="http://schemas.microsoft.com/office/drawing/2014/main" id="{4D6C802D-9825-DF57-8EEF-18E90C41DB2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074818"/>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             Title +           5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28341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74230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717547"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2 lines</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2834399"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7423198"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717598"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3" name="Text Placeholder 6">
            <a:extLst>
              <a:ext uri="{FF2B5EF4-FFF2-40B4-BE49-F238E27FC236}">
                <a16:creationId xmlns:a16="http://schemas.microsoft.com/office/drawing/2014/main" id="{B199FC84-D1AC-E5CB-21B0-D342328CA6D6}"/>
              </a:ext>
            </a:extLst>
          </p:cNvPr>
          <p:cNvSpPr>
            <a:spLocks noGrp="1"/>
          </p:cNvSpPr>
          <p:nvPr>
            <p:ph type="body" sz="quarter" idx="47"/>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5" name="Text Placeholder 15">
            <a:extLst>
              <a:ext uri="{FF2B5EF4-FFF2-40B4-BE49-F238E27FC236}">
                <a16:creationId xmlns:a16="http://schemas.microsoft.com/office/drawing/2014/main" id="{0FA1DC5B-9B9E-CA25-F9C1-9AF892A54BC3}"/>
              </a:ext>
            </a:extLst>
          </p:cNvPr>
          <p:cNvSpPr>
            <a:spLocks noGrp="1"/>
          </p:cNvSpPr>
          <p:nvPr>
            <p:ph type="body" sz="quarter" idx="48"/>
          </p:nvPr>
        </p:nvSpPr>
        <p:spPr>
          <a:xfrm>
            <a:off x="512864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0">
            <a:extLst>
              <a:ext uri="{FF2B5EF4-FFF2-40B4-BE49-F238E27FC236}">
                <a16:creationId xmlns:a16="http://schemas.microsoft.com/office/drawing/2014/main" id="{8E35BB86-17EE-7439-C9FE-7D245E970A8E}"/>
              </a:ext>
            </a:extLst>
          </p:cNvPr>
          <p:cNvSpPr>
            <a:spLocks noGrp="1"/>
          </p:cNvSpPr>
          <p:nvPr>
            <p:ph type="pic" sz="quarter" idx="49"/>
          </p:nvPr>
        </p:nvSpPr>
        <p:spPr>
          <a:xfrm>
            <a:off x="5128799"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8" name="Rectangle 17">
            <a:extLst>
              <a:ext uri="{FF2B5EF4-FFF2-40B4-BE49-F238E27FC236}">
                <a16:creationId xmlns:a16="http://schemas.microsoft.com/office/drawing/2014/main" id="{8B20C146-4A57-FE84-F9F7-F53F610A94B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9" name="Content Placeholder 7">
            <a:extLst>
              <a:ext uri="{FF2B5EF4-FFF2-40B4-BE49-F238E27FC236}">
                <a16:creationId xmlns:a16="http://schemas.microsoft.com/office/drawing/2014/main" id="{52B72080-A9DE-AC12-6289-80ECD4C1F6FD}"/>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0" name="Text Placeholder 14">
            <a:extLst>
              <a:ext uri="{FF2B5EF4-FFF2-40B4-BE49-F238E27FC236}">
                <a16:creationId xmlns:a16="http://schemas.microsoft.com/office/drawing/2014/main" id="{B32BB803-852B-F858-FFF4-D7C4C3A079F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pictures</a:t>
            </a:r>
          </a:p>
        </p:txBody>
      </p:sp>
      <p:sp>
        <p:nvSpPr>
          <p:cNvPr id="25" name="Text Placeholder 14">
            <a:extLst>
              <a:ext uri="{FF2B5EF4-FFF2-40B4-BE49-F238E27FC236}">
                <a16:creationId xmlns:a16="http://schemas.microsoft.com/office/drawing/2014/main" id="{5EB40EA3-45D0-4769-7EF1-15CF3765647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five sections </a:t>
            </a:r>
            <a:br>
              <a:rPr lang="en-US" sz="1050">
                <a:solidFill>
                  <a:schemeClr val="tx1">
                    <a:alpha val="90000"/>
                  </a:schemeClr>
                </a:solidFill>
              </a:rPr>
            </a:br>
            <a:r>
              <a:rPr lang="en-US" sz="1050">
                <a:solidFill>
                  <a:schemeClr val="tx1">
                    <a:alpha val="90000"/>
                  </a:schemeClr>
                </a:solidFill>
              </a:rPr>
              <a:t>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6" name="Straight Connector 25">
            <a:extLst>
              <a:ext uri="{FF2B5EF4-FFF2-40B4-BE49-F238E27FC236}">
                <a16:creationId xmlns:a16="http://schemas.microsoft.com/office/drawing/2014/main" id="{72F111A0-6C70-988D-E3B8-5D711B9D2681}"/>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474724"/>
      </p:ext>
    </p:extLst>
  </p:cSld>
  <p:clrMapOvr>
    <a:masterClrMapping/>
  </p:clrMapOvr>
  <p:extLst>
    <p:ext uri="{DCECCB84-F9BA-43D5-87BE-67443E8EF086}">
      <p15:sldGuideLst xmlns:p15="http://schemas.microsoft.com/office/powerpoint/2012/main">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1" pos="3230">
          <p15:clr>
            <a:srgbClr val="5ACBF0"/>
          </p15:clr>
        </p15:guide>
        <p15:guide id="12" pos="4449">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Statement</a:t>
            </a:r>
          </a:p>
        </p:txBody>
      </p:sp>
    </p:spTree>
    <p:extLst>
      <p:ext uri="{BB962C8B-B14F-4D97-AF65-F5344CB8AC3E}">
        <p14:creationId xmlns:p14="http://schemas.microsoft.com/office/powerpoint/2010/main" val="266088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  Statement    white">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D4D0B3D3-BA2C-2FEB-8C02-DEFEDEF4C693}"/>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88ACD003-B1D6-4D0F-95CF-57954B515B1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itle 1">
            <a:extLst>
              <a:ext uri="{FF2B5EF4-FFF2-40B4-BE49-F238E27FC236}">
                <a16:creationId xmlns:a16="http://schemas.microsoft.com/office/drawing/2014/main" id="{45793532-A2E6-6685-1408-C17DDE70E234}"/>
              </a:ext>
            </a:extLst>
          </p:cNvPr>
          <p:cNvSpPr>
            <a:spLocks noGrp="1"/>
          </p:cNvSpPr>
          <p:nvPr>
            <p:ph type="title" hasCustomPrompt="1"/>
          </p:nvPr>
        </p:nvSpPr>
        <p:spPr>
          <a:xfrm>
            <a:off x="0" y="1475521"/>
            <a:ext cx="5868000" cy="2267029"/>
          </a:xfrm>
          <a:solidFill>
            <a:schemeClr val="bg1">
              <a:alpha val="80000"/>
            </a:schemeClr>
          </a:solidFill>
        </p:spPr>
        <p:txBody>
          <a:bodyPr lIns="529200" tIns="144000" rIns="529200" bIns="126000" anchor="t">
            <a:spAutoFit/>
          </a:bodyPr>
          <a:lstStyle>
            <a:lvl1pPr>
              <a:defRPr sz="4800">
                <a:solidFill>
                  <a:schemeClr val="tx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A0FB02E7-1D53-AD29-7A84-12EF89515D2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5BB9824-6658-A405-A19C-E7F174DA35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F95F5933-3CB1-A24F-05AF-810F25169E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white</a:t>
            </a:r>
          </a:p>
        </p:txBody>
      </p:sp>
      <p:cxnSp>
        <p:nvCxnSpPr>
          <p:cNvPr id="10" name="Straight Connector 9">
            <a:extLst>
              <a:ext uri="{FF2B5EF4-FFF2-40B4-BE49-F238E27FC236}">
                <a16:creationId xmlns:a16="http://schemas.microsoft.com/office/drawing/2014/main" id="{EC90287A-2DEA-EA4F-F2DF-2984F661895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DBDD0FFF-5EFE-8252-3DCF-B1C4F8A644E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white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3227237138"/>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Statement    bla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04B0DF0-6A5C-9D2A-BCCA-B4F6A4DD8A34}"/>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3A1E385-CEE5-40B1-BE06-A2170ADB260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B71A99FF-1348-B954-4D93-10FE1BCF1D10}"/>
              </a:ext>
            </a:extLst>
          </p:cNvPr>
          <p:cNvSpPr>
            <a:spLocks noGrp="1"/>
          </p:cNvSpPr>
          <p:nvPr>
            <p:ph type="title" hasCustomPrompt="1"/>
          </p:nvPr>
        </p:nvSpPr>
        <p:spPr>
          <a:xfrm>
            <a:off x="0" y="1475521"/>
            <a:ext cx="5868000" cy="2267029"/>
          </a:xfrm>
          <a:solidFill>
            <a:schemeClr val="tx1">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2" name="Rectangle 1">
            <a:extLst>
              <a:ext uri="{FF2B5EF4-FFF2-40B4-BE49-F238E27FC236}">
                <a16:creationId xmlns:a16="http://schemas.microsoft.com/office/drawing/2014/main" id="{C946A1EB-78E6-C911-3486-AFD7E2E4530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4B8FFEAD-A022-9BD5-7C39-8C71C74BE97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063685F-78D8-4EDE-8162-993FEFD9DC0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black</a:t>
            </a:r>
          </a:p>
        </p:txBody>
      </p:sp>
      <p:cxnSp>
        <p:nvCxnSpPr>
          <p:cNvPr id="10" name="Straight Connector 9">
            <a:extLst>
              <a:ext uri="{FF2B5EF4-FFF2-40B4-BE49-F238E27FC236}">
                <a16:creationId xmlns:a16="http://schemas.microsoft.com/office/drawing/2014/main" id="{1E155D10-7C2F-E972-FE17-5550F306AF1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BEEE6ABC-957D-76CE-554C-AB9AE9E010E2}"/>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black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3263586804"/>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turquois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A69C33C-A823-AB73-96C5-616BB04D2BB9}"/>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FC280BE-4442-422D-B591-49D2892BD73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7939185-4078-8644-C515-440491B36AF5}"/>
              </a:ext>
            </a:extLst>
          </p:cNvPr>
          <p:cNvSpPr>
            <a:spLocks noGrp="1"/>
          </p:cNvSpPr>
          <p:nvPr>
            <p:ph type="title" hasCustomPrompt="1"/>
          </p:nvPr>
        </p:nvSpPr>
        <p:spPr>
          <a:xfrm>
            <a:off x="0" y="1475521"/>
            <a:ext cx="5868000" cy="2267029"/>
          </a:xfrm>
          <a:solidFill>
            <a:schemeClr val="accent2">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039198C6-18AD-B948-C3E3-F5D9C471E31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AE46F114-601F-99FE-9212-346B9D90DFE8}"/>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C2A3CDD-1A59-6F83-FAB0-E59A397C053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turquoise</a:t>
            </a:r>
          </a:p>
        </p:txBody>
      </p:sp>
      <p:cxnSp>
        <p:nvCxnSpPr>
          <p:cNvPr id="10" name="Straight Connector 9">
            <a:extLst>
              <a:ext uri="{FF2B5EF4-FFF2-40B4-BE49-F238E27FC236}">
                <a16:creationId xmlns:a16="http://schemas.microsoft.com/office/drawing/2014/main" id="{53EEE170-BE87-8E79-B8A8-6A712CD98BE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BEDF33B-43AB-C513-13D0-B4AF46D6BAA0}"/>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turquoise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661053854"/>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Statement     gold">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E6D0F6FB-6C6A-A316-65E3-21E4F016B4D0}"/>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AEB751A-D419-4C61-A0FC-D70FB7FC12BA}"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9BC075A0-04C1-D65B-1DE1-EADEDAD947BE}"/>
              </a:ext>
            </a:extLst>
          </p:cNvPr>
          <p:cNvSpPr>
            <a:spLocks noGrp="1"/>
          </p:cNvSpPr>
          <p:nvPr>
            <p:ph type="title" hasCustomPrompt="1"/>
          </p:nvPr>
        </p:nvSpPr>
        <p:spPr>
          <a:xfrm>
            <a:off x="0" y="1475521"/>
            <a:ext cx="5868000" cy="2267029"/>
          </a:xfrm>
          <a:solidFill>
            <a:schemeClr val="accent3">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C949F761-BEE2-A53B-6242-B3C1A8BF0E9D}"/>
              </a:ext>
            </a:extLst>
          </p:cNvPr>
          <p:cNvSpPr/>
          <p:nvPr userDrawn="1"/>
        </p:nvSpPr>
        <p:spPr>
          <a:xfrm>
            <a:off x="-15840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F3C2E87-14DA-E0D4-5F12-0B387EFA681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1EF5BD85-CE21-7450-DF80-12142997DB16}"/>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gold</a:t>
            </a:r>
          </a:p>
        </p:txBody>
      </p:sp>
      <p:cxnSp>
        <p:nvCxnSpPr>
          <p:cNvPr id="10" name="Straight Connector 9">
            <a:extLst>
              <a:ext uri="{FF2B5EF4-FFF2-40B4-BE49-F238E27FC236}">
                <a16:creationId xmlns:a16="http://schemas.microsoft.com/office/drawing/2014/main" id="{3ACD4093-BA46-B30A-3DE8-D87CC93B0FF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B58380EF-6188-7953-1395-B42A191F7B57}"/>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gold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459776802"/>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Statement   copper">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31C85D43-7198-311C-42C3-32E0EBCBC27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F7C17A99-D8A9-4C9C-AD15-2626DF3515BC}"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697B897-67A4-8811-FAA4-D38FAD3B2D2E}"/>
              </a:ext>
            </a:extLst>
          </p:cNvPr>
          <p:cNvSpPr>
            <a:spLocks noGrp="1"/>
          </p:cNvSpPr>
          <p:nvPr>
            <p:ph type="title" hasCustomPrompt="1"/>
          </p:nvPr>
        </p:nvSpPr>
        <p:spPr>
          <a:xfrm>
            <a:off x="0" y="1475521"/>
            <a:ext cx="5868000" cy="2267029"/>
          </a:xfrm>
          <a:solidFill>
            <a:schemeClr val="accent4">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13" name="Rectangle 12">
            <a:extLst>
              <a:ext uri="{FF2B5EF4-FFF2-40B4-BE49-F238E27FC236}">
                <a16:creationId xmlns:a16="http://schemas.microsoft.com/office/drawing/2014/main" id="{1AE9B890-D9E1-12AB-6A98-A6DFADB720AF}"/>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4" name="Content Placeholder 7">
            <a:extLst>
              <a:ext uri="{FF2B5EF4-FFF2-40B4-BE49-F238E27FC236}">
                <a16:creationId xmlns:a16="http://schemas.microsoft.com/office/drawing/2014/main" id="{D332EE90-B3A6-D045-6906-DF42611C5C6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5" name="Text Placeholder 14">
            <a:extLst>
              <a:ext uri="{FF2B5EF4-FFF2-40B4-BE49-F238E27FC236}">
                <a16:creationId xmlns:a16="http://schemas.microsoft.com/office/drawing/2014/main" id="{53D2FA41-5974-02ED-BFA0-AD0530180CC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copper</a:t>
            </a:r>
          </a:p>
        </p:txBody>
      </p:sp>
      <p:cxnSp>
        <p:nvCxnSpPr>
          <p:cNvPr id="16" name="Straight Connector 15">
            <a:extLst>
              <a:ext uri="{FF2B5EF4-FFF2-40B4-BE49-F238E27FC236}">
                <a16:creationId xmlns:a16="http://schemas.microsoft.com/office/drawing/2014/main" id="{5A3749F7-4A83-A1E3-0822-4E1501B6727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ext Placeholder 14">
            <a:extLst>
              <a:ext uri="{FF2B5EF4-FFF2-40B4-BE49-F238E27FC236}">
                <a16:creationId xmlns:a16="http://schemas.microsoft.com/office/drawing/2014/main" id="{68AA7ECA-721E-07A5-7366-58D72140C1ED}"/>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copper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272063915"/>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Statement   moss">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52E8F4F2-4CF5-20AA-C330-055737901CD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36A352F5-FC93-490A-A2C4-7D98228F4846}"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624EA5D7-9E6E-93A4-0317-88252D4D2855}"/>
              </a:ext>
            </a:extLst>
          </p:cNvPr>
          <p:cNvSpPr>
            <a:spLocks noGrp="1"/>
          </p:cNvSpPr>
          <p:nvPr>
            <p:ph type="title" hasCustomPrompt="1"/>
          </p:nvPr>
        </p:nvSpPr>
        <p:spPr>
          <a:xfrm>
            <a:off x="0" y="1475521"/>
            <a:ext cx="5868000" cy="2267029"/>
          </a:xfrm>
          <a:solidFill>
            <a:schemeClr val="accent5">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FD840BB9-9B4D-F063-C182-83505AB36D4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1EAE5AB-8073-EC5F-7543-906407B9F9D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30846C63-B27E-9F89-A437-34F51FFEE33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moss</a:t>
            </a:r>
          </a:p>
        </p:txBody>
      </p:sp>
      <p:cxnSp>
        <p:nvCxnSpPr>
          <p:cNvPr id="10" name="Straight Connector 9">
            <a:extLst>
              <a:ext uri="{FF2B5EF4-FFF2-40B4-BE49-F238E27FC236}">
                <a16:creationId xmlns:a16="http://schemas.microsoft.com/office/drawing/2014/main" id="{A14C1474-ECF9-6D0B-5627-7C818FF0A021}"/>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21ADEBE-6124-1F1F-FED8-77F90794445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moss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277223746"/>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Statement   bri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4840733B-15EC-9093-54BB-E7391FF71FCE}"/>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BFEA8F3D-30CD-440E-9BED-2660774D18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40D423E6-A47A-9FCC-D958-2918153CE1C6}"/>
              </a:ext>
            </a:extLst>
          </p:cNvPr>
          <p:cNvSpPr>
            <a:spLocks noGrp="1"/>
          </p:cNvSpPr>
          <p:nvPr>
            <p:ph type="title" hasCustomPrompt="1"/>
          </p:nvPr>
        </p:nvSpPr>
        <p:spPr>
          <a:xfrm>
            <a:off x="0" y="1475521"/>
            <a:ext cx="5868000" cy="2267029"/>
          </a:xfrm>
          <a:solidFill>
            <a:schemeClr val="accent6">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699513A5-9586-F580-38A5-F8FCE12EF77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C98E470-C356-1A03-23CE-2A61482C13A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854EA44A-6E92-16F9-EA07-B0CD00B2463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brick</a:t>
            </a:r>
          </a:p>
        </p:txBody>
      </p:sp>
      <p:cxnSp>
        <p:nvCxnSpPr>
          <p:cNvPr id="10" name="Straight Connector 9">
            <a:extLst>
              <a:ext uri="{FF2B5EF4-FFF2-40B4-BE49-F238E27FC236}">
                <a16:creationId xmlns:a16="http://schemas.microsoft.com/office/drawing/2014/main" id="{CD1AB75F-B8BD-AE26-DAD8-FDE8FACFE49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9405032D-31E6-1D44-B6A4-32C6C6BB5FDE}"/>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a:lnSpc>
                <a:spcPct val="100000"/>
              </a:lnSpc>
              <a:spcBef>
                <a:spcPts val="600"/>
              </a:spcBef>
              <a:spcAft>
                <a:spcPts val="600"/>
              </a:spcAft>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brick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292858688"/>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    Statement   green">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DEAF3BC-AC55-6BBF-E832-58A1DE4E14FE}"/>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AF518E8-2883-44C0-A44D-85D71A7A19A7}"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EBC7644B-07A5-5E66-6048-E522015017EC}"/>
              </a:ext>
            </a:extLst>
          </p:cNvPr>
          <p:cNvSpPr>
            <a:spLocks noGrp="1"/>
          </p:cNvSpPr>
          <p:nvPr>
            <p:ph type="title" hasCustomPrompt="1"/>
          </p:nvPr>
        </p:nvSpPr>
        <p:spPr>
          <a:xfrm>
            <a:off x="0" y="1475521"/>
            <a:ext cx="5868000" cy="2267029"/>
          </a:xfrm>
          <a:solidFill>
            <a:srgbClr val="72B86B">
              <a:alpha val="80000"/>
            </a:srgb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34EBC93D-EFFC-E999-9A87-F67F62880DF2}"/>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6F0EF083-9CF2-C1FC-4EFE-5284854FBCDA}"/>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EE40690-D1DF-BBFC-B703-4E7B71E07D5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green</a:t>
            </a:r>
          </a:p>
        </p:txBody>
      </p:sp>
      <p:cxnSp>
        <p:nvCxnSpPr>
          <p:cNvPr id="10" name="Straight Connector 9">
            <a:extLst>
              <a:ext uri="{FF2B5EF4-FFF2-40B4-BE49-F238E27FC236}">
                <a16:creationId xmlns:a16="http://schemas.microsoft.com/office/drawing/2014/main" id="{678228F3-844C-37E1-C6B8-F41053C85F50}"/>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A5F4A822-B676-DF7C-F52E-8B56749DFF6F}"/>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green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641505968"/>
      </p:ext>
    </p:extLst>
  </p:cSld>
  <p:clrMapOvr>
    <a:masterClrMapping/>
  </p:clrMapOvr>
  <p:extLst>
    <p:ext uri="{DCECCB84-F9BA-43D5-87BE-67443E8EF086}">
      <p15:sldGuideLst xmlns:p15="http://schemas.microsoft.com/office/powerpoint/2012/main">
        <p15:guide id="1" pos="385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No content</a:t>
            </a:r>
          </a:p>
        </p:txBody>
      </p:sp>
    </p:spTree>
    <p:extLst>
      <p:ext uri="{BB962C8B-B14F-4D97-AF65-F5344CB8AC3E}">
        <p14:creationId xmlns:p14="http://schemas.microsoft.com/office/powerpoint/2010/main" val="36422378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A44DB0-0405-CA6C-E055-F59491388805}"/>
              </a:ext>
            </a:extLst>
          </p:cNvPr>
          <p:cNvSpPr>
            <a:spLocks noGrp="1"/>
          </p:cNvSpPr>
          <p:nvPr>
            <p:ph type="dt" sz="half" idx="10"/>
          </p:nvPr>
        </p:nvSpPr>
        <p:spPr/>
        <p:txBody>
          <a:bodyPr/>
          <a:lstStyle/>
          <a:p>
            <a:fld id="{F66D1A21-DA7F-43FD-8BC0-CF1F1BBA6459}" type="datetime4">
              <a:rPr lang="en-US" smtClean="0"/>
              <a:t>March 3, 2026</a:t>
            </a:fld>
            <a:endParaRPr lang="en-US"/>
          </a:p>
        </p:txBody>
      </p:sp>
      <p:sp>
        <p:nvSpPr>
          <p:cNvPr id="3" name="Footer Placeholder 2">
            <a:extLst>
              <a:ext uri="{FF2B5EF4-FFF2-40B4-BE49-F238E27FC236}">
                <a16:creationId xmlns:a16="http://schemas.microsoft.com/office/drawing/2014/main" id="{AD3E1D6E-514F-0376-5C07-A1927A317128}"/>
              </a:ext>
            </a:extLst>
          </p:cNvPr>
          <p:cNvSpPr>
            <a:spLocks noGrp="1"/>
          </p:cNvSpPr>
          <p:nvPr>
            <p:ph type="ftr" sz="quarter" idx="11"/>
          </p:nvPr>
        </p:nvSpPr>
        <p:spPr/>
        <p:txBody>
          <a:bodyPr/>
          <a:lstStyle/>
          <a:p>
            <a:r>
              <a:rPr lang="en-US"/>
              <a:t>TRELLEBORG GROUP</a:t>
            </a:r>
          </a:p>
        </p:txBody>
      </p:sp>
      <p:sp>
        <p:nvSpPr>
          <p:cNvPr id="4" name="Slide Number Placeholder 3">
            <a:extLst>
              <a:ext uri="{FF2B5EF4-FFF2-40B4-BE49-F238E27FC236}">
                <a16:creationId xmlns:a16="http://schemas.microsoft.com/office/drawing/2014/main" id="{43C702A6-A533-4456-45FD-CCFAE4F9C481}"/>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5" name="Rectangle 4">
            <a:extLst>
              <a:ext uri="{FF2B5EF4-FFF2-40B4-BE49-F238E27FC236}">
                <a16:creationId xmlns:a16="http://schemas.microsoft.com/office/drawing/2014/main" id="{9F3AB048-B611-DE2A-18D9-88EA82D87C05}"/>
              </a:ext>
            </a:extLst>
          </p:cNvPr>
          <p:cNvSpPr/>
          <p:nvPr userDrawn="1"/>
        </p:nvSpPr>
        <p:spPr>
          <a:xfrm>
            <a:off x="-15696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6" name="Text Placeholder 14">
            <a:extLst>
              <a:ext uri="{FF2B5EF4-FFF2-40B4-BE49-F238E27FC236}">
                <a16:creationId xmlns:a16="http://schemas.microsoft.com/office/drawing/2014/main" id="{BFFA83D3-D6A4-0581-D713-C161575E6C7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Plain</a:t>
            </a:r>
          </a:p>
        </p:txBody>
      </p:sp>
      <p:sp>
        <p:nvSpPr>
          <p:cNvPr id="7" name="Text Placeholder 14">
            <a:extLst>
              <a:ext uri="{FF2B5EF4-FFF2-40B4-BE49-F238E27FC236}">
                <a16:creationId xmlns:a16="http://schemas.microsoft.com/office/drawing/2014/main" id="{C40B9DB4-9A20-4D76-D71C-2E2D50064E8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 </a:t>
            </a:r>
          </a:p>
          <a:p>
            <a:pPr>
              <a:lnSpc>
                <a:spcPct val="100000"/>
              </a:lnSpc>
              <a:spcBef>
                <a:spcPts val="600"/>
              </a:spcBef>
              <a:spcAft>
                <a:spcPts val="600"/>
              </a:spcAft>
            </a:pPr>
            <a:endParaRPr lang="en-US" sz="1050">
              <a:solidFill>
                <a:srgbClr val="FF0000">
                  <a:alpha val="90000"/>
                </a:srgbClr>
              </a:solidFill>
            </a:endParaRPr>
          </a:p>
          <a:p>
            <a:pPr>
              <a:lnSpc>
                <a:spcPct val="100000"/>
              </a:lnSpc>
              <a:spcBef>
                <a:spcPts val="600"/>
              </a:spcBef>
              <a:spcAft>
                <a:spcPts val="600"/>
              </a:spcAft>
            </a:pPr>
            <a:endParaRPr lang="en-US" sz="1050">
              <a:solidFill>
                <a:srgbClr val="FF0000">
                  <a:alpha val="90000"/>
                </a:srgbClr>
              </a:solidFill>
            </a:endParaRPr>
          </a:p>
          <a:p>
            <a:endParaRPr lang="en-US" sz="1050">
              <a:solidFill>
                <a:srgbClr val="FF0000">
                  <a:alpha val="90000"/>
                </a:srgbClr>
              </a:solidFill>
            </a:endParaRPr>
          </a:p>
        </p:txBody>
      </p:sp>
      <p:cxnSp>
        <p:nvCxnSpPr>
          <p:cNvPr id="8" name="Straight Connector 7">
            <a:extLst>
              <a:ext uri="{FF2B5EF4-FFF2-40B4-BE49-F238E27FC236}">
                <a16:creationId xmlns:a16="http://schemas.microsoft.com/office/drawing/2014/main" id="{7ED2106D-9AE0-031C-7B83-F511DD7E86F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82251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EA276-1CAD-56D6-6982-6B570F110003}"/>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3" name="Content Placeholder 7">
            <a:extLst>
              <a:ext uri="{FF2B5EF4-FFF2-40B4-BE49-F238E27FC236}">
                <a16:creationId xmlns:a16="http://schemas.microsoft.com/office/drawing/2014/main" id="{654A5925-E410-9B1B-3C52-F9744A41330A}"/>
              </a:ext>
            </a:extLst>
          </p:cNvPr>
          <p:cNvSpPr txBox="1">
            <a:spLocks/>
          </p:cNvSpPr>
          <p:nvPr userDrawn="1"/>
        </p:nvSpPr>
        <p:spPr>
          <a:xfrm>
            <a:off x="-1466969" y="1008000"/>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4" name="Text Placeholder 14">
            <a:extLst>
              <a:ext uri="{FF2B5EF4-FFF2-40B4-BE49-F238E27FC236}">
                <a16:creationId xmlns:a16="http://schemas.microsoft.com/office/drawing/2014/main" id="{1EFF5072-6D72-1C5D-056B-9040EFCBF02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Blank</a:t>
            </a:r>
          </a:p>
        </p:txBody>
      </p:sp>
      <p:sp>
        <p:nvSpPr>
          <p:cNvPr id="5" name="Text Placeholder 14">
            <a:extLst>
              <a:ext uri="{FF2B5EF4-FFF2-40B4-BE49-F238E27FC236}">
                <a16:creationId xmlns:a16="http://schemas.microsoft.com/office/drawing/2014/main" id="{22DB0CD0-1E94-5315-0351-69F583409E6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 </a:t>
            </a:r>
            <a:endParaRPr lang="en-US" sz="1050">
              <a:solidFill>
                <a:srgbClr val="FF0000">
                  <a:alpha val="90000"/>
                </a:srgbClr>
              </a:solidFill>
            </a:endParaRPr>
          </a:p>
          <a:p>
            <a:endParaRPr lang="en-US" sz="1050">
              <a:solidFill>
                <a:srgbClr val="FF0000">
                  <a:alpha val="90000"/>
                </a:srgbClr>
              </a:solidFill>
            </a:endParaRPr>
          </a:p>
        </p:txBody>
      </p:sp>
      <p:cxnSp>
        <p:nvCxnSpPr>
          <p:cNvPr id="6" name="Straight Connector 5">
            <a:extLst>
              <a:ext uri="{FF2B5EF4-FFF2-40B4-BE49-F238E27FC236}">
                <a16:creationId xmlns:a16="http://schemas.microsoft.com/office/drawing/2014/main" id="{2F60A8CE-2B28-F59C-432E-4D0CB08C0AF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533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End layout</a:t>
            </a:r>
          </a:p>
        </p:txBody>
      </p:sp>
    </p:spTree>
    <p:extLst>
      <p:ext uri="{BB962C8B-B14F-4D97-AF65-F5344CB8AC3E}">
        <p14:creationId xmlns:p14="http://schemas.microsoft.com/office/powerpoint/2010/main" val="34820747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nd layout">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FED7A3A3-370E-8E53-82F8-84D568B1CC02}"/>
              </a:ext>
            </a:extLst>
          </p:cNvPr>
          <p:cNvSpPr>
            <a:spLocks/>
          </p:cNvSpPr>
          <p:nvPr userDrawn="1"/>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74BCC4B3-3BF2-53A1-C224-45500A28CCA1}"/>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85CE5580-71D1-F9D8-4FA6-18FFE7D466F2}"/>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B78B1337-2405-2098-B79C-F595478908C9}"/>
              </a:ext>
            </a:extLst>
          </p:cNvPr>
          <p:cNvSpPr>
            <a:spLocks noGrp="1"/>
          </p:cNvSpPr>
          <p:nvPr>
            <p:ph type="dt" sz="half" idx="12"/>
          </p:nvPr>
        </p:nvSpPr>
        <p:spPr/>
        <p:txBody>
          <a:bodyPr/>
          <a:lstStyle/>
          <a:p>
            <a:fld id="{E53CAF16-5AB2-4305-959C-E17B059163E1}" type="datetime4">
              <a:rPr lang="en-US" smtClean="0"/>
              <a:t>March 3, 2026</a:t>
            </a:fld>
            <a:endParaRPr lang="en-US"/>
          </a:p>
        </p:txBody>
      </p:sp>
      <p:sp>
        <p:nvSpPr>
          <p:cNvPr id="9" name="TextBox 8">
            <a:extLst>
              <a:ext uri="{FF2B5EF4-FFF2-40B4-BE49-F238E27FC236}">
                <a16:creationId xmlns:a16="http://schemas.microsoft.com/office/drawing/2014/main" id="{E04FA609-5214-2601-064E-5161C32C183C}"/>
              </a:ext>
            </a:extLst>
          </p:cNvPr>
          <p:cNvSpPr txBox="1"/>
          <p:nvPr userDrawn="1"/>
        </p:nvSpPr>
        <p:spPr>
          <a:xfrm>
            <a:off x="0" y="4403514"/>
            <a:ext cx="12208324" cy="400110"/>
          </a:xfrm>
          <a:prstGeom prst="rect">
            <a:avLst/>
          </a:prstGeom>
          <a:noFill/>
        </p:spPr>
        <p:txBody>
          <a:bodyPr wrap="square">
            <a:spAutoFit/>
          </a:bodyPr>
          <a:lstStyle/>
          <a:p>
            <a:pPr algn="ctr"/>
            <a:r>
              <a:rPr lang="en-US" sz="2000" b="1" kern="2400">
                <a:solidFill>
                  <a:srgbClr val="998242"/>
                </a:solidFill>
                <a:latin typeface="Arial"/>
                <a:ea typeface="ＭＳ Ｐゴシック" charset="0"/>
                <a:cs typeface="Arial"/>
              </a:rPr>
              <a:t>www.trelleborg.com</a:t>
            </a:r>
            <a:endParaRPr lang="en-US" sz="2000" b="1">
              <a:solidFill>
                <a:srgbClr val="998242"/>
              </a:solidFill>
            </a:endParaRPr>
          </a:p>
        </p:txBody>
      </p:sp>
      <p:pic>
        <p:nvPicPr>
          <p:cNvPr id="7" name="Graphic 6">
            <a:extLst>
              <a:ext uri="{FF2B5EF4-FFF2-40B4-BE49-F238E27FC236}">
                <a16:creationId xmlns:a16="http://schemas.microsoft.com/office/drawing/2014/main" id="{147A962D-9441-E0BB-7AC7-AEFC587746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5790" b="35791"/>
          <a:stretch/>
        </p:blipFill>
        <p:spPr>
          <a:xfrm>
            <a:off x="2835272" y="1515015"/>
            <a:ext cx="6521456" cy="2622771"/>
          </a:xfrm>
          <a:prstGeom prst="rect">
            <a:avLst/>
          </a:prstGeom>
        </p:spPr>
      </p:pic>
      <p:sp>
        <p:nvSpPr>
          <p:cNvPr id="6" name="Rectangle 5">
            <a:extLst>
              <a:ext uri="{FF2B5EF4-FFF2-40B4-BE49-F238E27FC236}">
                <a16:creationId xmlns:a16="http://schemas.microsoft.com/office/drawing/2014/main" id="{DC2216F6-4218-A9B7-495B-6948DB60498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105352C-46B2-607C-D7F7-A66755C76F9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53CBF535-DF2A-E315-6F9F-D080C1FE162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should always be </a:t>
            </a:r>
            <a:r>
              <a:rPr lang="en-US" sz="1050" b="1">
                <a:solidFill>
                  <a:schemeClr val="tx1">
                    <a:alpha val="90000"/>
                  </a:schemeClr>
                </a:solidFill>
              </a:rPr>
              <a:t>the last slide of the presentation</a:t>
            </a:r>
            <a:r>
              <a:rPr lang="en-US" sz="1050">
                <a:solidFill>
                  <a:schemeClr val="tx1">
                    <a:alpha val="90000"/>
                  </a:schemeClr>
                </a:solidFill>
              </a:rPr>
              <a:t>.</a:t>
            </a:r>
          </a:p>
          <a:p>
            <a:pPr>
              <a:lnSpc>
                <a:spcPct val="100000"/>
              </a:lnSpc>
              <a:spcBef>
                <a:spcPts val="600"/>
              </a:spcBef>
              <a:spcAft>
                <a:spcPts val="600"/>
              </a:spcAft>
            </a:pPr>
            <a:r>
              <a:rPr lang="en-US" sz="1050">
                <a:solidFill>
                  <a:schemeClr val="tx1">
                    <a:alpha val="90000"/>
                  </a:schemeClr>
                </a:solidFill>
              </a:rPr>
              <a:t>The layout may not be altered or exchanged.</a:t>
            </a:r>
          </a:p>
          <a:p>
            <a:pPr>
              <a:lnSpc>
                <a:spcPct val="100000"/>
              </a:lnSpc>
              <a:spcBef>
                <a:spcPts val="600"/>
              </a:spcBef>
              <a:spcAft>
                <a:spcPts val="600"/>
              </a:spcAft>
            </a:pPr>
            <a:r>
              <a:rPr lang="en-US" sz="1050">
                <a:solidFill>
                  <a:schemeClr val="tx1">
                    <a:alpha val="90000"/>
                  </a:schemeClr>
                </a:solidFill>
              </a:rPr>
              <a:t>Do not add date or text boxes in the black footer.</a:t>
            </a:r>
          </a:p>
          <a:p>
            <a:endParaRPr lang="en-US" sz="1150">
              <a:solidFill>
                <a:schemeClr val="tx1">
                  <a:alpha val="90000"/>
                </a:schemeClr>
              </a:solidFill>
            </a:endParaRPr>
          </a:p>
        </p:txBody>
      </p:sp>
      <p:sp>
        <p:nvSpPr>
          <p:cNvPr id="11" name="Text Placeholder 14">
            <a:extLst>
              <a:ext uri="{FF2B5EF4-FFF2-40B4-BE49-F238E27FC236}">
                <a16:creationId xmlns:a16="http://schemas.microsoft.com/office/drawing/2014/main" id="{24893727-33C4-6661-11ED-837B77A5A35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End</a:t>
            </a:r>
          </a:p>
        </p:txBody>
      </p:sp>
      <p:cxnSp>
        <p:nvCxnSpPr>
          <p:cNvPr id="12" name="Straight Connector 11">
            <a:extLst>
              <a:ext uri="{FF2B5EF4-FFF2-40B4-BE49-F238E27FC236}">
                <a16:creationId xmlns:a16="http://schemas.microsoft.com/office/drawing/2014/main" id="{C56949FB-49FC-1A8F-C989-9640D70328B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605149"/>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9FB4E-823E-413B-B741-B28844C666F8}"/>
              </a:ext>
            </a:extLst>
          </p:cNvPr>
          <p:cNvSpPr>
            <a:spLocks/>
          </p:cNvSpPr>
          <p:nvPr userDrawn="1"/>
        </p:nvSpPr>
        <p:spPr>
          <a:xfrm>
            <a:off x="449580" y="778164"/>
            <a:ext cx="11292840" cy="2659190"/>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Do not use layouts after this (if any) </a:t>
            </a:r>
          </a:p>
        </p:txBody>
      </p:sp>
      <p:sp>
        <p:nvSpPr>
          <p:cNvPr id="10" name="Rectangle 9">
            <a:extLst>
              <a:ext uri="{FF2B5EF4-FFF2-40B4-BE49-F238E27FC236}">
                <a16:creationId xmlns:a16="http://schemas.microsoft.com/office/drawing/2014/main" id="{0F0BA21A-F948-D87E-FA9F-CAC0573B54B4}"/>
              </a:ext>
            </a:extLst>
          </p:cNvPr>
          <p:cNvSpPr>
            <a:spLocks/>
          </p:cNvSpPr>
          <p:nvPr userDrawn="1"/>
        </p:nvSpPr>
        <p:spPr>
          <a:xfrm>
            <a:off x="1011382" y="3628090"/>
            <a:ext cx="10169236" cy="1475001"/>
          </a:xfrm>
          <a:prstGeom prst="rect">
            <a:avLst/>
          </a:prstGeom>
          <a:noFill/>
          <a:ln w="9525" cap="flat">
            <a:noFill/>
            <a:prstDash val="solid"/>
            <a:miter/>
          </a:ln>
        </p:spPr>
        <p:txBody>
          <a:bodyPr rot="0" spcFirstLastPara="0" vertOverflow="overflow" horzOverflow="overflow" vert="horz" wrap="square" lIns="396000" tIns="72000" rIns="180000" bIns="72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Due to how PowerPoint works, more layouts may appear after this one. </a:t>
            </a:r>
          </a:p>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These layouts are duplicates from other templates and should not be used.</a:t>
            </a:r>
          </a:p>
        </p:txBody>
      </p:sp>
    </p:spTree>
    <p:extLst>
      <p:ext uri="{BB962C8B-B14F-4D97-AF65-F5344CB8AC3E}">
        <p14:creationId xmlns:p14="http://schemas.microsoft.com/office/powerpoint/2010/main" val="37402931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Title</a:t>
            </a:r>
          </a:p>
        </p:txBody>
      </p:sp>
    </p:spTree>
    <p:extLst>
      <p:ext uri="{BB962C8B-B14F-4D97-AF65-F5344CB8AC3E}">
        <p14:creationId xmlns:p14="http://schemas.microsoft.com/office/powerpoint/2010/main" val="11279984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14" name="Picture 13" descr="A bridge over water with a city in the background&#10;&#10;Description automatically generated">
            <a:extLst>
              <a:ext uri="{FF2B5EF4-FFF2-40B4-BE49-F238E27FC236}">
                <a16:creationId xmlns:a16="http://schemas.microsoft.com/office/drawing/2014/main" id="{2FF56083-EF44-4D03-F22B-D8BF3915BE8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7999"/>
          </a:xfrm>
          <a:prstGeom prst="rect">
            <a:avLst/>
          </a:prstGeom>
        </p:spPr>
      </p:pic>
      <p:sp>
        <p:nvSpPr>
          <p:cNvPr id="7" name="Rectangle 6">
            <a:extLst>
              <a:ext uri="{FF2B5EF4-FFF2-40B4-BE49-F238E27FC236}">
                <a16:creationId xmlns:a16="http://schemas.microsoft.com/office/drawing/2014/main" id="{DF2EEBA4-8D7D-C7D6-8079-8475A22BBE0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BD6C6BAD-1F86-7B7B-4E7C-5A8F4112B93F}"/>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467231C2-8EC2-FDAA-4BD7-1A4FD42785A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should always start the presentation.</a:t>
            </a:r>
          </a:p>
          <a:p>
            <a:pPr>
              <a:lnSpc>
                <a:spcPct val="100000"/>
              </a:lnSpc>
              <a:spcBef>
                <a:spcPts val="600"/>
              </a:spcBef>
              <a:spcAft>
                <a:spcPts val="600"/>
              </a:spcAft>
            </a:pPr>
            <a:r>
              <a:rPr lang="en-US" sz="1050">
                <a:solidFill>
                  <a:schemeClr val="tx1">
                    <a:alpha val="90000"/>
                  </a:schemeClr>
                </a:solidFill>
              </a:rPr>
              <a:t>This picture may not be altered or exchanged.</a:t>
            </a:r>
          </a:p>
          <a:p>
            <a:pPr>
              <a:lnSpc>
                <a:spcPct val="100000"/>
              </a:lnSpc>
              <a:spcBef>
                <a:spcPts val="600"/>
              </a:spcBef>
              <a:spcAft>
                <a:spcPts val="600"/>
              </a:spcAft>
            </a:pPr>
            <a:r>
              <a:rPr lang="en-US" sz="1050">
                <a:solidFill>
                  <a:schemeClr val="tx1">
                    <a:alpha val="90000"/>
                  </a:schemeClr>
                </a:solidFill>
              </a:rPr>
              <a:t>If you would like an image tailored to your presentation, it should be on a slide following this one. A suggested layout for that type of slide is the chapter divider. </a:t>
            </a:r>
          </a:p>
          <a:p>
            <a:pPr>
              <a:lnSpc>
                <a:spcPct val="100000"/>
              </a:lnSpc>
              <a:spcBef>
                <a:spcPts val="600"/>
              </a:spcBef>
              <a:spcAft>
                <a:spcPts val="600"/>
              </a:spcAft>
            </a:pPr>
            <a:r>
              <a:rPr lang="en-US" sz="1050">
                <a:solidFill>
                  <a:schemeClr val="tx1">
                    <a:alpha val="90000"/>
                  </a:schemeClr>
                </a:solidFill>
              </a:rPr>
              <a:t>Do not add date or text boxes in the black footer.</a:t>
            </a:r>
          </a:p>
          <a:p>
            <a:endParaRPr lang="en-US" sz="1050">
              <a:solidFill>
                <a:schemeClr val="tx1">
                  <a:alpha val="90000"/>
                </a:schemeClr>
              </a:solidFill>
            </a:endParaRPr>
          </a:p>
        </p:txBody>
      </p:sp>
      <p:sp>
        <p:nvSpPr>
          <p:cNvPr id="10" name="Text Placeholder 14">
            <a:extLst>
              <a:ext uri="{FF2B5EF4-FFF2-40B4-BE49-F238E27FC236}">
                <a16:creationId xmlns:a16="http://schemas.microsoft.com/office/drawing/2014/main" id="{A0D785D4-DE7B-68D2-23F6-0754A584AF81}"/>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a:t>
            </a:r>
          </a:p>
        </p:txBody>
      </p:sp>
      <p:cxnSp>
        <p:nvCxnSpPr>
          <p:cNvPr id="11" name="Straight Connector 10">
            <a:extLst>
              <a:ext uri="{FF2B5EF4-FFF2-40B4-BE49-F238E27FC236}">
                <a16:creationId xmlns:a16="http://schemas.microsoft.com/office/drawing/2014/main" id="{B782ADE1-E5B9-F688-D4F4-33C02E09A37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Platshållare för text 5">
            <a:extLst>
              <a:ext uri="{FF2B5EF4-FFF2-40B4-BE49-F238E27FC236}">
                <a16:creationId xmlns:a16="http://schemas.microsoft.com/office/drawing/2014/main" id="{91D07A75-093C-CC29-0295-DD1A43DF9891}"/>
              </a:ext>
            </a:extLst>
          </p:cNvPr>
          <p:cNvSpPr txBox="1">
            <a:spLocks/>
          </p:cNvSpPr>
          <p:nvPr userDrawn="1"/>
        </p:nvSpPr>
        <p:spPr>
          <a:xfrm>
            <a:off x="4447548" y="2863373"/>
            <a:ext cx="5527988"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65000"/>
                  </a:schemeClr>
                </a:solidFill>
                <a:latin typeface="Arial"/>
                <a:ea typeface="ＭＳ Ｐゴシック" charset="0"/>
                <a:cs typeface="Arial"/>
              </a:rPr>
              <a:t>Welcome to the</a:t>
            </a:r>
          </a:p>
        </p:txBody>
      </p:sp>
      <p:sp>
        <p:nvSpPr>
          <p:cNvPr id="18" name="Platshållare för text 6">
            <a:extLst>
              <a:ext uri="{FF2B5EF4-FFF2-40B4-BE49-F238E27FC236}">
                <a16:creationId xmlns:a16="http://schemas.microsoft.com/office/drawing/2014/main" id="{9CA49248-ADE0-5317-90A4-4884DA335D1E}"/>
              </a:ext>
            </a:extLst>
          </p:cNvPr>
          <p:cNvSpPr txBox="1">
            <a:spLocks/>
          </p:cNvSpPr>
          <p:nvPr userDrawn="1"/>
        </p:nvSpPr>
        <p:spPr>
          <a:xfrm>
            <a:off x="5080230" y="3327778"/>
            <a:ext cx="6702091"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90000"/>
                  </a:schemeClr>
                </a:solidFill>
                <a:latin typeface="Arial"/>
                <a:ea typeface="ＭＳ Ｐゴシック" charset="0"/>
                <a:cs typeface="Arial"/>
              </a:rPr>
              <a:t>World of Trelleborg</a:t>
            </a:r>
          </a:p>
        </p:txBody>
      </p:sp>
      <p:sp>
        <p:nvSpPr>
          <p:cNvPr id="19" name="Title 5">
            <a:extLst>
              <a:ext uri="{FF2B5EF4-FFF2-40B4-BE49-F238E27FC236}">
                <a16:creationId xmlns:a16="http://schemas.microsoft.com/office/drawing/2014/main" id="{EE4E0A4E-F1A4-4C53-6FCB-78BDB21504AA}"/>
              </a:ext>
            </a:extLst>
          </p:cNvPr>
          <p:cNvSpPr>
            <a:spLocks noGrp="1"/>
          </p:cNvSpPr>
          <p:nvPr>
            <p:ph type="title" hasCustomPrompt="1"/>
          </p:nvPr>
        </p:nvSpPr>
        <p:spPr>
          <a:xfrm>
            <a:off x="5272201" y="4492547"/>
            <a:ext cx="6400800" cy="429348"/>
          </a:xfrm>
        </p:spPr>
        <p:txBody>
          <a:bodyPr wrap="square">
            <a:spAutoFit/>
          </a:bodyPr>
          <a:lstStyle>
            <a:lvl1pPr>
              <a:defRPr sz="3100">
                <a:solidFill>
                  <a:schemeClr val="bg1">
                    <a:alpha val="90000"/>
                  </a:schemeClr>
                </a:solidFill>
              </a:defRPr>
            </a:lvl1pPr>
          </a:lstStyle>
          <a:p>
            <a:r>
              <a:rPr lang="en-US"/>
              <a:t>Click to add presentation name</a:t>
            </a:r>
          </a:p>
        </p:txBody>
      </p:sp>
      <p:sp>
        <p:nvSpPr>
          <p:cNvPr id="20" name="Text Placeholder 14">
            <a:extLst>
              <a:ext uri="{FF2B5EF4-FFF2-40B4-BE49-F238E27FC236}">
                <a16:creationId xmlns:a16="http://schemas.microsoft.com/office/drawing/2014/main" id="{9A31CA47-65E2-612A-723D-E0638444D2DE}"/>
              </a:ext>
            </a:extLst>
          </p:cNvPr>
          <p:cNvSpPr>
            <a:spLocks noGrp="1"/>
          </p:cNvSpPr>
          <p:nvPr>
            <p:ph type="body" sz="quarter" idx="13" hasCustomPrompt="1"/>
          </p:nvPr>
        </p:nvSpPr>
        <p:spPr>
          <a:xfrm>
            <a:off x="5272201" y="499450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location and date</a:t>
            </a:r>
          </a:p>
        </p:txBody>
      </p:sp>
      <p:sp>
        <p:nvSpPr>
          <p:cNvPr id="21" name="Text Placeholder 14">
            <a:extLst>
              <a:ext uri="{FF2B5EF4-FFF2-40B4-BE49-F238E27FC236}">
                <a16:creationId xmlns:a16="http://schemas.microsoft.com/office/drawing/2014/main" id="{F30FA783-13B7-CC24-C426-21199798B860}"/>
              </a:ext>
            </a:extLst>
          </p:cNvPr>
          <p:cNvSpPr>
            <a:spLocks noGrp="1"/>
          </p:cNvSpPr>
          <p:nvPr>
            <p:ph type="body" sz="quarter" idx="14" hasCustomPrompt="1"/>
          </p:nvPr>
        </p:nvSpPr>
        <p:spPr>
          <a:xfrm>
            <a:off x="5272201" y="533875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name and title</a:t>
            </a:r>
          </a:p>
        </p:txBody>
      </p:sp>
    </p:spTree>
    <p:extLst>
      <p:ext uri="{BB962C8B-B14F-4D97-AF65-F5344CB8AC3E}">
        <p14:creationId xmlns:p14="http://schemas.microsoft.com/office/powerpoint/2010/main" val="14485736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Section divider</a:t>
            </a:r>
          </a:p>
        </p:txBody>
      </p:sp>
    </p:spTree>
    <p:extLst>
      <p:ext uri="{BB962C8B-B14F-4D97-AF65-F5344CB8AC3E}">
        <p14:creationId xmlns:p14="http://schemas.microsoft.com/office/powerpoint/2010/main" val="2002214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  Section divider  (option 1)">
    <p:spTree>
      <p:nvGrpSpPr>
        <p:cNvPr id="1" name=""/>
        <p:cNvGrpSpPr/>
        <p:nvPr/>
      </p:nvGrpSpPr>
      <p:grpSpPr>
        <a:xfrm>
          <a:off x="0" y="0"/>
          <a:ext cx="0" cy="0"/>
          <a:chOff x="0" y="0"/>
          <a:chExt cx="0" cy="0"/>
        </a:xfrm>
      </p:grpSpPr>
      <p:pic>
        <p:nvPicPr>
          <p:cNvPr id="12" name="Picture 11" descr="A pile of blue round objects&#10;&#10;Description automatically generated">
            <a:extLst>
              <a:ext uri="{FF2B5EF4-FFF2-40B4-BE49-F238E27FC236}">
                <a16:creationId xmlns:a16="http://schemas.microsoft.com/office/drawing/2014/main" id="{A5D78FF6-AC81-C982-4659-4CA811ADE347}"/>
              </a:ext>
            </a:extLst>
          </p:cNvPr>
          <p:cNvPicPr>
            <a:picLocks noChangeAspect="1"/>
          </p:cNvPicPr>
          <p:nvPr userDrawn="1"/>
        </p:nvPicPr>
        <p:blipFill rotWithShape="1">
          <a:blip r:embed="rId2"/>
          <a:srcRect b="7778"/>
          <a:stretch/>
        </p:blipFill>
        <p:spPr>
          <a:xfrm>
            <a:off x="1" y="0"/>
            <a:ext cx="12186217" cy="6321600"/>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343B7AF6-E61D-4D5E-AA5E-F0A0FEE57720}" type="datetime4">
              <a:rPr lang="en-US" smtClean="0"/>
              <a:t>March 3, 2026</a:t>
            </a:fld>
            <a:endParaRPr lang="en-US"/>
          </a:p>
        </p:txBody>
      </p:sp>
      <p:sp>
        <p:nvSpPr>
          <p:cNvPr id="13" name="Title 12">
            <a:extLst>
              <a:ext uri="{FF2B5EF4-FFF2-40B4-BE49-F238E27FC236}">
                <a16:creationId xmlns:a16="http://schemas.microsoft.com/office/drawing/2014/main" id="{09B5E219-96E4-B92D-AE36-E2D19DEBA32E}"/>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21" name="Text Placeholder 20">
            <a:extLst>
              <a:ext uri="{FF2B5EF4-FFF2-40B4-BE49-F238E27FC236}">
                <a16:creationId xmlns:a16="http://schemas.microsoft.com/office/drawing/2014/main" id="{9115E250-E415-ADB7-5CD0-E7600905911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8580A4D0-62DF-1D03-2CBF-172ABDF7AE5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0222FCD-6EFA-D57F-3CCB-25A6F4818FF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FA6D5942-2F9C-5E1F-D2C4-2BEF6EB128B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a:t>
            </a:r>
            <a:br>
              <a:rPr lang="en-US" sz="1050">
                <a:solidFill>
                  <a:schemeClr val="tx1">
                    <a:alpha val="90000"/>
                  </a:schemeClr>
                </a:solidFill>
              </a:rPr>
            </a:br>
            <a:r>
              <a:rPr lang="en-US" sz="1050">
                <a:solidFill>
                  <a:schemeClr val="tx1">
                    <a:alpha val="90000"/>
                  </a:schemeClr>
                </a:solidFill>
              </a:rPr>
              <a:t>To do so, please use the next slides with either black or white text. Choose the option with the best legibility.</a:t>
            </a:r>
          </a:p>
          <a:p>
            <a:endParaRPr lang="en-US" sz="1050">
              <a:solidFill>
                <a:schemeClr val="tx1">
                  <a:alpha val="90000"/>
                </a:schemeClr>
              </a:solidFill>
            </a:endParaRPr>
          </a:p>
        </p:txBody>
      </p:sp>
      <p:sp>
        <p:nvSpPr>
          <p:cNvPr id="9" name="Text Placeholder 14">
            <a:extLst>
              <a:ext uri="{FF2B5EF4-FFF2-40B4-BE49-F238E27FC236}">
                <a16:creationId xmlns:a16="http://schemas.microsoft.com/office/drawing/2014/main" id="{B3141728-31EC-6AB0-5F94-ADA984279C1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(option 1)</a:t>
            </a:r>
          </a:p>
        </p:txBody>
      </p:sp>
      <p:cxnSp>
        <p:nvCxnSpPr>
          <p:cNvPr id="10" name="Straight Connector 9">
            <a:extLst>
              <a:ext uri="{FF2B5EF4-FFF2-40B4-BE49-F238E27FC236}">
                <a16:creationId xmlns:a16="http://schemas.microsoft.com/office/drawing/2014/main" id="{4C2D8BAE-8265-943B-4F1A-5211C25E9C0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9298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pic>
        <p:nvPicPr>
          <p:cNvPr id="15" name="Picture 14" descr="Close-up of a molecule model&#10;&#10;Description automatically generated">
            <a:extLst>
              <a:ext uri="{FF2B5EF4-FFF2-40B4-BE49-F238E27FC236}">
                <a16:creationId xmlns:a16="http://schemas.microsoft.com/office/drawing/2014/main" id="{74B99D62-9F91-5C92-67D0-79C3034972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323584"/>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9E56BE92-B6AF-4EBF-C16F-778DC6C57D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4954EA71-083A-12A4-22DD-BB27C3CE0C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330B1C6D-BEDE-9B44-1534-C7F64762F41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a:t>
            </a:r>
            <a:br>
              <a:rPr lang="en-US" sz="1050">
                <a:solidFill>
                  <a:schemeClr val="tx1">
                    <a:alpha val="90000"/>
                  </a:schemeClr>
                </a:solidFill>
              </a:rPr>
            </a:br>
            <a:r>
              <a:rPr lang="en-US" sz="1050">
                <a:solidFill>
                  <a:schemeClr val="tx1">
                    <a:alpha val="90000"/>
                  </a:schemeClr>
                </a:solidFill>
              </a:rPr>
              <a:t>To do so, please use the next slides with either black or white text. Choose the option with the best legibility.</a:t>
            </a:r>
          </a:p>
        </p:txBody>
      </p:sp>
      <p:sp>
        <p:nvSpPr>
          <p:cNvPr id="11" name="Text Placeholder 14">
            <a:extLst>
              <a:ext uri="{FF2B5EF4-FFF2-40B4-BE49-F238E27FC236}">
                <a16:creationId xmlns:a16="http://schemas.microsoft.com/office/drawing/2014/main" id="{377B16C4-9D9B-7425-9943-F5F8AEA356F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(option 2)</a:t>
            </a:r>
          </a:p>
        </p:txBody>
      </p:sp>
      <p:cxnSp>
        <p:nvCxnSpPr>
          <p:cNvPr id="12" name="Straight Connector 11">
            <a:extLst>
              <a:ext uri="{FF2B5EF4-FFF2-40B4-BE49-F238E27FC236}">
                <a16:creationId xmlns:a16="http://schemas.microsoft.com/office/drawing/2014/main" id="{62B737E4-A90E-3E2E-DD24-E48CC21B9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501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  Section divider    (white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0DA28AF9-6B31-A8DE-F8D6-C4B3FAF3273A}"/>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6292582B-B814-EAB8-3D6E-D6AC89177A7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4C7EB64-5E1A-9222-5FA6-49C6F7F9009D}"/>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612A211E-01A4-071E-72EC-4DC6854341F5}"/>
              </a:ext>
            </a:extLst>
          </p:cNvPr>
          <p:cNvSpPr txBox="1">
            <a:spLocks/>
          </p:cNvSpPr>
          <p:nvPr userDrawn="1"/>
        </p:nvSpPr>
        <p:spPr>
          <a:xfrm>
            <a:off x="-1584000" y="1105200"/>
            <a:ext cx="1476000" cy="5333772"/>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black text is better. </a:t>
            </a:r>
          </a:p>
        </p:txBody>
      </p:sp>
      <p:sp>
        <p:nvSpPr>
          <p:cNvPr id="11" name="Text Placeholder 14">
            <a:extLst>
              <a:ext uri="{FF2B5EF4-FFF2-40B4-BE49-F238E27FC236}">
                <a16:creationId xmlns:a16="http://schemas.microsoft.com/office/drawing/2014/main" id="{27E9DDD8-A8FD-1769-4AF5-3433EB05625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(white text)</a:t>
            </a:r>
          </a:p>
        </p:txBody>
      </p:sp>
      <p:cxnSp>
        <p:nvCxnSpPr>
          <p:cNvPr id="12" name="Straight Connector 11">
            <a:extLst>
              <a:ext uri="{FF2B5EF4-FFF2-40B4-BE49-F238E27FC236}">
                <a16:creationId xmlns:a16="http://schemas.microsoft.com/office/drawing/2014/main" id="{E285B26E-7DCC-BF3F-F5A4-F0978CB640D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9811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  Section divider    (black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C3D02A2-500F-8322-38B5-0A1AB415FAD5}"/>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9E56BE92-B6AF-4EBF-C16F-778DC6C57D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4954EA71-083A-12A4-22DD-BB27C3CE0C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330B1C6D-BEDE-9B44-1534-C7F64762F41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white text is better. </a:t>
            </a:r>
          </a:p>
        </p:txBody>
      </p:sp>
      <p:sp>
        <p:nvSpPr>
          <p:cNvPr id="11" name="Text Placeholder 14">
            <a:extLst>
              <a:ext uri="{FF2B5EF4-FFF2-40B4-BE49-F238E27FC236}">
                <a16:creationId xmlns:a16="http://schemas.microsoft.com/office/drawing/2014/main" id="{377B16C4-9D9B-7425-9943-F5F8AEA356F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(black text)</a:t>
            </a:r>
          </a:p>
        </p:txBody>
      </p:sp>
      <p:cxnSp>
        <p:nvCxnSpPr>
          <p:cNvPr id="12" name="Straight Connector 11">
            <a:extLst>
              <a:ext uri="{FF2B5EF4-FFF2-40B4-BE49-F238E27FC236}">
                <a16:creationId xmlns:a16="http://schemas.microsoft.com/office/drawing/2014/main" id="{62B737E4-A90E-3E2E-DD24-E48CC21B9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140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Agenda</a:t>
            </a:r>
          </a:p>
        </p:txBody>
      </p:sp>
    </p:spTree>
    <p:extLst>
      <p:ext uri="{BB962C8B-B14F-4D97-AF65-F5344CB8AC3E}">
        <p14:creationId xmlns:p14="http://schemas.microsoft.com/office/powerpoint/2010/main" val="27700124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1)">
    <p:spTree>
      <p:nvGrpSpPr>
        <p:cNvPr id="1" name=""/>
        <p:cNvGrpSpPr/>
        <p:nvPr/>
      </p:nvGrpSpPr>
      <p:grpSpPr>
        <a:xfrm>
          <a:off x="0" y="0"/>
          <a:ext cx="0" cy="0"/>
          <a:chOff x="0" y="0"/>
          <a:chExt cx="0" cy="0"/>
        </a:xfrm>
      </p:grpSpPr>
      <p:pic>
        <p:nvPicPr>
          <p:cNvPr id="32" name="Picture 31" descr="A white flag with black text on a pole&#10;&#10;Description automatically generated">
            <a:extLst>
              <a:ext uri="{FF2B5EF4-FFF2-40B4-BE49-F238E27FC236}">
                <a16:creationId xmlns:a16="http://schemas.microsoft.com/office/drawing/2014/main" id="{763E3F4E-B0BB-E808-818B-D3020FABE9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6637" cy="6317997"/>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lvl1pPr>
              <a:defRPr/>
            </a:lvl1pPr>
          </a:lstStyle>
          <a:p>
            <a:r>
              <a:rPr lang="en-US"/>
              <a:t>Click to add title – max 1 line</a:t>
            </a: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6" name="Rectangle 5">
            <a:extLst>
              <a:ext uri="{FF2B5EF4-FFF2-40B4-BE49-F238E27FC236}">
                <a16:creationId xmlns:a16="http://schemas.microsoft.com/office/drawing/2014/main" id="{315DC66A-771E-9A4A-20CA-8A95549278F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7" name="Content Placeholder 7">
            <a:extLst>
              <a:ext uri="{FF2B5EF4-FFF2-40B4-BE49-F238E27FC236}">
                <a16:creationId xmlns:a16="http://schemas.microsoft.com/office/drawing/2014/main" id="{27C53BBA-60D4-B8FC-1583-0BEAFE774A9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8" name="Text Placeholder 14">
            <a:extLst>
              <a:ext uri="{FF2B5EF4-FFF2-40B4-BE49-F238E27FC236}">
                <a16:creationId xmlns:a16="http://schemas.microsoft.com/office/drawing/2014/main" id="{18C0ECBE-554A-10C5-1042-4FCA8DAE9CDA}"/>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9" name="Text Placeholder 14">
            <a:extLst>
              <a:ext uri="{FF2B5EF4-FFF2-40B4-BE49-F238E27FC236}">
                <a16:creationId xmlns:a16="http://schemas.microsoft.com/office/drawing/2014/main" id="{75FB66CE-A1E5-862C-E320-2BD569AEF43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1)</a:t>
            </a:r>
          </a:p>
        </p:txBody>
      </p:sp>
      <p:cxnSp>
        <p:nvCxnSpPr>
          <p:cNvPr id="30" name="Straight Connector 29">
            <a:extLst>
              <a:ext uri="{FF2B5EF4-FFF2-40B4-BE49-F238E27FC236}">
                <a16:creationId xmlns:a16="http://schemas.microsoft.com/office/drawing/2014/main" id="{45DC5C47-A914-D75C-ED4C-B911589321A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Line">
            <a:extLst>
              <a:ext uri="{FF2B5EF4-FFF2-40B4-BE49-F238E27FC236}">
                <a16:creationId xmlns:a16="http://schemas.microsoft.com/office/drawing/2014/main" id="{A91AD660-4FC9-EA6F-9BBB-E77AC7D6C4E2}"/>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544595568"/>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2)">
    <p:spTree>
      <p:nvGrpSpPr>
        <p:cNvPr id="1" name=""/>
        <p:cNvGrpSpPr/>
        <p:nvPr/>
      </p:nvGrpSpPr>
      <p:grpSpPr>
        <a:xfrm>
          <a:off x="0" y="0"/>
          <a:ext cx="0" cy="0"/>
          <a:chOff x="0" y="0"/>
          <a:chExt cx="0" cy="0"/>
        </a:xfrm>
      </p:grpSpPr>
      <p:pic>
        <p:nvPicPr>
          <p:cNvPr id="30" name="Picture 29" descr="A close up of a fabric&#10;&#10;Description automatically generated">
            <a:extLst>
              <a:ext uri="{FF2B5EF4-FFF2-40B4-BE49-F238E27FC236}">
                <a16:creationId xmlns:a16="http://schemas.microsoft.com/office/drawing/2014/main" id="{A1958D24-4412-031A-38F6-D2D40D568D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8000"/>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p>
            <a:r>
              <a:rPr lang="en-US"/>
              <a:t>Click to add title – max 1 line</a:t>
            </a:r>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6" name="Rectangle 5">
            <a:extLst>
              <a:ext uri="{FF2B5EF4-FFF2-40B4-BE49-F238E27FC236}">
                <a16:creationId xmlns:a16="http://schemas.microsoft.com/office/drawing/2014/main" id="{8614357D-A5EF-D152-D9C5-B27976AFDF2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9A311020-FF54-9690-3446-9B2FB7BC0A1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7" name="Text Placeholder 14">
            <a:extLst>
              <a:ext uri="{FF2B5EF4-FFF2-40B4-BE49-F238E27FC236}">
                <a16:creationId xmlns:a16="http://schemas.microsoft.com/office/drawing/2014/main" id="{73953F82-9228-DA17-725D-C75898DFBA8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8" name="Text Placeholder 14">
            <a:extLst>
              <a:ext uri="{FF2B5EF4-FFF2-40B4-BE49-F238E27FC236}">
                <a16:creationId xmlns:a16="http://schemas.microsoft.com/office/drawing/2014/main" id="{F0C94062-0E92-632B-A0B7-7F7F5C8C2F8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2)</a:t>
            </a:r>
          </a:p>
        </p:txBody>
      </p:sp>
      <p:cxnSp>
        <p:nvCxnSpPr>
          <p:cNvPr id="29" name="Straight Connector 28">
            <a:extLst>
              <a:ext uri="{FF2B5EF4-FFF2-40B4-BE49-F238E27FC236}">
                <a16:creationId xmlns:a16="http://schemas.microsoft.com/office/drawing/2014/main" id="{E77BC3B6-1D5C-2AA0-FB83-D6727D4D366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Line">
            <a:extLst>
              <a:ext uri="{FF2B5EF4-FFF2-40B4-BE49-F238E27FC236}">
                <a16:creationId xmlns:a16="http://schemas.microsoft.com/office/drawing/2014/main" id="{450EBB9D-7777-AEEE-64BC-D7EF219575A9}"/>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3943560234"/>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3)">
    <p:spTree>
      <p:nvGrpSpPr>
        <p:cNvPr id="1" name=""/>
        <p:cNvGrpSpPr/>
        <p:nvPr/>
      </p:nvGrpSpPr>
      <p:grpSpPr>
        <a:xfrm>
          <a:off x="0" y="0"/>
          <a:ext cx="0" cy="0"/>
          <a:chOff x="0" y="0"/>
          <a:chExt cx="0" cy="0"/>
        </a:xfrm>
      </p:grpSpPr>
      <p:sp>
        <p:nvSpPr>
          <p:cNvPr id="31" name="Picture Placeholder 8">
            <a:extLst>
              <a:ext uri="{FF2B5EF4-FFF2-40B4-BE49-F238E27FC236}">
                <a16:creationId xmlns:a16="http://schemas.microsoft.com/office/drawing/2014/main" id="{1F00182A-2046-6DC2-ABAE-D4E164B19AB7}"/>
              </a:ext>
            </a:extLst>
          </p:cNvPr>
          <p:cNvSpPr>
            <a:spLocks noGrp="1"/>
          </p:cNvSpPr>
          <p:nvPr>
            <p:ph type="pic" sz="quarter" idx="30" hasCustomPrompt="1"/>
          </p:nvPr>
        </p:nvSpPr>
        <p:spPr>
          <a:xfrm>
            <a:off x="0" y="0"/>
            <a:ext cx="12192000" cy="6319838"/>
          </a:xfrm>
          <a:solidFill>
            <a:schemeClr val="bg2"/>
          </a:solidFill>
        </p:spPr>
        <p:txBody>
          <a:bodyPr lIns="6552000" tIns="3024000" rIns="0"/>
          <a:lstStyle>
            <a:lvl1pPr marL="0" indent="0" algn="l">
              <a:buNone/>
              <a:defRPr i="1">
                <a:solidFill>
                  <a:schemeClr val="tx1"/>
                </a:solidFill>
              </a:defRPr>
            </a:lvl1pPr>
          </a:lstStyle>
          <a:p>
            <a:r>
              <a:rPr lang="en-US"/>
              <a:t> </a:t>
            </a:r>
          </a:p>
        </p:txBody>
      </p:sp>
      <p:sp>
        <p:nvSpPr>
          <p:cNvPr id="32" name="Text Placeholder 30">
            <a:extLst>
              <a:ext uri="{FF2B5EF4-FFF2-40B4-BE49-F238E27FC236}">
                <a16:creationId xmlns:a16="http://schemas.microsoft.com/office/drawing/2014/main" id="{E2B6D3F5-A9E1-4C05-A84C-980329DB0E19}"/>
              </a:ext>
            </a:extLst>
          </p:cNvPr>
          <p:cNvSpPr>
            <a:spLocks noGrp="1"/>
          </p:cNvSpPr>
          <p:nvPr>
            <p:ph type="body" sz="quarter" idx="31" hasCustomPrompt="1"/>
          </p:nvPr>
        </p:nvSpPr>
        <p:spPr>
          <a:xfrm>
            <a:off x="0" y="1841"/>
            <a:ext cx="6365876" cy="6317997"/>
          </a:xfrm>
          <a:solidFill>
            <a:schemeClr val="bg1">
              <a:alpha val="80000"/>
            </a:schemeClr>
          </a:solidFill>
        </p:spPr>
        <p:txBody>
          <a:bodyPr/>
          <a:lstStyle>
            <a:lvl1pPr marL="0" indent="0">
              <a:buNone/>
              <a:defRPr/>
            </a:lvl1pPr>
            <a:lvl2pPr marL="178775" indent="0">
              <a:buNone/>
              <a:defRPr/>
            </a:lvl2pPr>
            <a:lvl3pPr marL="360000" indent="0">
              <a:buNone/>
              <a:defRPr/>
            </a:lvl3pPr>
            <a:lvl4pPr marL="539138" indent="0">
              <a:buNone/>
              <a:defRPr/>
            </a:lvl4pPr>
            <a:lvl5pPr marL="720000" indent="0">
              <a:buNone/>
              <a:defRPr/>
            </a:lvl5pPr>
          </a:lstStyle>
          <a:p>
            <a:pPr lvl="0"/>
            <a:r>
              <a:rPr lang="en-US"/>
              <a:t> </a:t>
            </a:r>
          </a:p>
        </p:txBody>
      </p:sp>
      <p:sp>
        <p:nvSpPr>
          <p:cNvPr id="33" name="Text Placeholder 30">
            <a:extLst>
              <a:ext uri="{FF2B5EF4-FFF2-40B4-BE49-F238E27FC236}">
                <a16:creationId xmlns:a16="http://schemas.microsoft.com/office/drawing/2014/main" id="{409B1779-E2DE-DF5A-0420-9C2D6AA62B0C}"/>
              </a:ext>
            </a:extLst>
          </p:cNvPr>
          <p:cNvSpPr>
            <a:spLocks noGrp="1"/>
          </p:cNvSpPr>
          <p:nvPr>
            <p:ph type="body" sz="quarter" idx="32" hasCustomPrompt="1"/>
          </p:nvPr>
        </p:nvSpPr>
        <p:spPr>
          <a:xfrm>
            <a:off x="6654801" y="2184917"/>
            <a:ext cx="5248274" cy="1950003"/>
          </a:xfrm>
          <a:solidFill>
            <a:schemeClr val="accent1"/>
          </a:solidFill>
        </p:spPr>
        <p:txBody>
          <a:bodyPr wrap="square" lIns="72000" tIns="72000" rIns="72000" bIns="72000">
            <a:spAutoFit/>
          </a:bodyPr>
          <a:lstStyle>
            <a:lvl1pPr marL="0" indent="0">
              <a:buFont typeface="+mj-lt"/>
              <a:buNone/>
              <a:defRPr i="1">
                <a:solidFill>
                  <a:schemeClr val="bg1"/>
                </a:solidFill>
              </a:defRPr>
            </a:lvl1pPr>
            <a:lvl2pPr marL="178775" indent="0">
              <a:buNone/>
              <a:defRPr/>
            </a:lvl2pPr>
            <a:lvl3pPr marL="360000" indent="0">
              <a:buNone/>
              <a:defRPr/>
            </a:lvl3pPr>
            <a:lvl4pPr marL="539138" indent="0">
              <a:buNone/>
              <a:defRPr/>
            </a:lvl4pPr>
            <a:lvl5pPr marL="720000" indent="0">
              <a:buNone/>
              <a:defRPr/>
            </a:lvl5pPr>
          </a:lstStyle>
          <a:p>
            <a:pPr lvl="0"/>
            <a:r>
              <a:rPr lang="en-GB"/>
              <a:t>To insert a picture:                                                1. Delete the transparent box on the left-hand side                                                        2. Click the picture icon to add a picture               3. Go to Home &gt;&gt; Reset (to bring the box back)  4. Type your text                                                   5. Delete this instruction</a:t>
            </a:r>
            <a:endParaRPr lang="en-US"/>
          </a:p>
        </p:txBody>
      </p:sp>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p>
            <a:r>
              <a:rPr lang="en-US"/>
              <a:t>Click to add title – max 1 line</a:t>
            </a:r>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8" name="Rectangle 7">
            <a:extLst>
              <a:ext uri="{FF2B5EF4-FFF2-40B4-BE49-F238E27FC236}">
                <a16:creationId xmlns:a16="http://schemas.microsoft.com/office/drawing/2014/main" id="{9FF2BAC6-0A88-F19E-5642-EB0621BB407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7" name="Content Placeholder 7">
            <a:extLst>
              <a:ext uri="{FF2B5EF4-FFF2-40B4-BE49-F238E27FC236}">
                <a16:creationId xmlns:a16="http://schemas.microsoft.com/office/drawing/2014/main" id="{35974C6E-E3E1-DAA9-DC97-5EFA381F830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8" name="Text Placeholder 14">
            <a:extLst>
              <a:ext uri="{FF2B5EF4-FFF2-40B4-BE49-F238E27FC236}">
                <a16:creationId xmlns:a16="http://schemas.microsoft.com/office/drawing/2014/main" id="{BB5A514B-73EC-D1ED-BE3B-913B4F27F41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Use this slide to insert a picture, by following the slide’s  instructions.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Please </a:t>
            </a:r>
            <a:r>
              <a:rPr lang="en-US" sz="1050" b="1">
                <a:solidFill>
                  <a:schemeClr val="tx1">
                    <a:alpha val="90000"/>
                  </a:schemeClr>
                </a:solidFill>
              </a:rPr>
              <a:t>consider the legibility</a:t>
            </a:r>
            <a:r>
              <a:rPr lang="en-US" sz="1050">
                <a:solidFill>
                  <a:schemeClr val="tx1">
                    <a:alpha val="90000"/>
                  </a:schemeClr>
                </a:solidFill>
              </a:rPr>
              <a:t> of the text when selecting a picture. If needed, crop the picture differently or select another picture.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29" name="Text Placeholder 14">
            <a:extLst>
              <a:ext uri="{FF2B5EF4-FFF2-40B4-BE49-F238E27FC236}">
                <a16:creationId xmlns:a16="http://schemas.microsoft.com/office/drawing/2014/main" id="{0E5A080A-96FA-EC45-B3D3-4E5362CE091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3)</a:t>
            </a:r>
          </a:p>
        </p:txBody>
      </p:sp>
      <p:cxnSp>
        <p:nvCxnSpPr>
          <p:cNvPr id="30" name="Straight Connector 29">
            <a:extLst>
              <a:ext uri="{FF2B5EF4-FFF2-40B4-BE49-F238E27FC236}">
                <a16:creationId xmlns:a16="http://schemas.microsoft.com/office/drawing/2014/main" id="{20F65DD3-D44C-8A23-E83B-FFF512305C5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Pladsholder til tekst 13">
            <a:extLst>
              <a:ext uri="{FF2B5EF4-FFF2-40B4-BE49-F238E27FC236}">
                <a16:creationId xmlns:a16="http://schemas.microsoft.com/office/drawing/2014/main" id="{4B55BAE9-2321-1810-8D49-741B5A560778}"/>
              </a:ext>
            </a:extLst>
          </p:cNvPr>
          <p:cNvSpPr>
            <a:spLocks noGrp="1"/>
          </p:cNvSpPr>
          <p:nvPr>
            <p:ph type="body" sz="quarter" idx="33" hasCustomPrompt="1"/>
          </p:nvPr>
        </p:nvSpPr>
        <p:spPr>
          <a:xfrm>
            <a:off x="540000" y="1000850"/>
            <a:ext cx="5289549" cy="10800"/>
          </a:xfrm>
          <a:solidFill>
            <a:schemeClr val="tx1"/>
          </a:solidFill>
          <a:ln w="3175">
            <a:solidFill>
              <a:schemeClr val="tx1"/>
            </a:solidFill>
            <a:miter lim="800000"/>
          </a:ln>
        </p:spPr>
        <p:txBody>
          <a:bodyPr/>
          <a:lstStyle>
            <a:lvl1pPr marL="0" indent="0">
              <a:buNone/>
              <a:defRPr sz="100"/>
            </a:lvl1pPr>
            <a:lvl2pPr marL="178775" indent="0">
              <a:buNone/>
              <a:defRPr/>
            </a:lvl2pPr>
            <a:lvl3pPr marL="360000" indent="0">
              <a:buNone/>
              <a:defRPr/>
            </a:lvl3pPr>
            <a:lvl4pPr marL="539138" indent="0">
              <a:buNone/>
              <a:defRPr/>
            </a:lvl4pPr>
            <a:lvl5pPr marL="720000" indent="0">
              <a:buNone/>
              <a:defRPr/>
            </a:lvl5pPr>
          </a:lstStyle>
          <a:p>
            <a:pPr lvl="0"/>
            <a:r>
              <a:rPr lang="da-DK"/>
              <a:t> </a:t>
            </a:r>
            <a:endParaRPr lang="en-GB"/>
          </a:p>
        </p:txBody>
      </p:sp>
    </p:spTree>
    <p:extLst>
      <p:ext uri="{BB962C8B-B14F-4D97-AF65-F5344CB8AC3E}">
        <p14:creationId xmlns:p14="http://schemas.microsoft.com/office/powerpoint/2010/main" val="2260457511"/>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content</a:t>
            </a:r>
          </a:p>
        </p:txBody>
      </p:sp>
    </p:spTree>
    <p:extLst>
      <p:ext uri="{BB962C8B-B14F-4D97-AF65-F5344CB8AC3E}">
        <p14:creationId xmlns:p14="http://schemas.microsoft.com/office/powerpoint/2010/main" val="35206465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mp; subtitle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4FD3EBB-921D-433C-8D4A-4A2A96453BB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hasCustomPrompt="1"/>
          </p:nvPr>
        </p:nvSpPr>
        <p:spPr>
          <a:xfrm>
            <a:off x="540000" y="1204913"/>
            <a:ext cx="11111997" cy="4840287"/>
          </a:xfrm>
        </p:spPr>
        <p:txBody>
          <a:bodyPr/>
          <a:lstStyle>
            <a:lvl1pPr>
              <a:defRPr/>
            </a:lvl1pPr>
          </a:lstStyle>
          <a:p>
            <a:pPr lvl="0"/>
            <a:r>
              <a:rPr lang="en-US"/>
              <a:t>Click to add text or use the icons to insert content</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3FF8ABCD-5AF0-C7E1-ED2E-2ACFB77C8083}"/>
              </a:ext>
            </a:extLst>
          </p:cNvPr>
          <p:cNvSpPr>
            <a:spLocks noGrp="1"/>
          </p:cNvSpPr>
          <p:nvPr>
            <p:ph type="title" hasCustomPrompt="1"/>
          </p:nvPr>
        </p:nvSpPr>
        <p:spPr/>
        <p:txBody>
          <a:bodyPr/>
          <a:lstStyle>
            <a:lvl1pPr>
              <a:defRPr/>
            </a:lvl1pPr>
          </a:lstStyle>
          <a:p>
            <a:r>
              <a:rPr lang="en-US"/>
              <a:t>Click to add title – max 1 line</a:t>
            </a:r>
          </a:p>
        </p:txBody>
      </p:sp>
    </p:spTree>
    <p:extLst>
      <p:ext uri="{BB962C8B-B14F-4D97-AF65-F5344CB8AC3E}">
        <p14:creationId xmlns:p14="http://schemas.microsoft.com/office/powerpoint/2010/main" val="168758195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 Title &amp; subtitle + 2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C82D35-38BA-4733-8072-AC0A1C130EB1}"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1 line</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noAutofit/>
          </a:bodyPr>
          <a:lstStyle>
            <a:lvl1pPr marL="0" indent="0">
              <a:buNone/>
              <a:defRPr b="1"/>
            </a:lvl1pPr>
          </a:lstStyle>
          <a:p>
            <a:pPr lvl="0"/>
            <a:r>
              <a:rPr lang="en-US"/>
              <a:t>Click to edit Master text styles</a:t>
            </a:r>
          </a:p>
        </p:txBody>
      </p:sp>
      <p:sp>
        <p:nvSpPr>
          <p:cNvPr id="10" name="Content Placeholder 8">
            <a:extLst>
              <a:ext uri="{FF2B5EF4-FFF2-40B4-BE49-F238E27FC236}">
                <a16:creationId xmlns:a16="http://schemas.microsoft.com/office/drawing/2014/main" id="{A2DA405C-8706-D6A0-A804-4E31612EBBEC}"/>
              </a:ext>
            </a:extLst>
          </p:cNvPr>
          <p:cNvSpPr>
            <a:spLocks noGrp="1"/>
          </p:cNvSpPr>
          <p:nvPr>
            <p:ph sz="quarter" idx="29"/>
          </p:nvPr>
        </p:nvSpPr>
        <p:spPr>
          <a:xfrm>
            <a:off x="540000" y="1666016"/>
            <a:ext cx="5285999" cy="438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no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DBC5536A-7708-7318-4D3F-51D16B72F692}"/>
              </a:ext>
            </a:extLst>
          </p:cNvPr>
          <p:cNvSpPr>
            <a:spLocks noGrp="1"/>
          </p:cNvSpPr>
          <p:nvPr>
            <p:ph sz="quarter" idx="35"/>
          </p:nvPr>
        </p:nvSpPr>
        <p:spPr>
          <a:xfrm>
            <a:off x="6365998" y="1666016"/>
            <a:ext cx="5285999" cy="438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BC0A8268-FAEF-AF38-EFA8-909A0DBF14C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Rectangle 7">
            <a:extLst>
              <a:ext uri="{FF2B5EF4-FFF2-40B4-BE49-F238E27FC236}">
                <a16:creationId xmlns:a16="http://schemas.microsoft.com/office/drawing/2014/main" id="{29965313-D434-0F18-5942-EB32B41AE25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37C98B6E-7E2E-2498-353C-EF8F3AEB977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4624AEC5-8C19-4C3E-511E-2150AE8AB95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two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8F073324-8E4A-93A0-6049-12C5566177C8}"/>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content</a:t>
            </a:r>
          </a:p>
        </p:txBody>
      </p:sp>
      <p:cxnSp>
        <p:nvCxnSpPr>
          <p:cNvPr id="16" name="Straight Connector 15">
            <a:extLst>
              <a:ext uri="{FF2B5EF4-FFF2-40B4-BE49-F238E27FC236}">
                <a16:creationId xmlns:a16="http://schemas.microsoft.com/office/drawing/2014/main" id="{A535999C-CA17-E62C-1CC0-A105713A4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299179"/>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 Title &amp; subtitle + 3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E0D0BD86-3EF5-4E31-A7F4-8C55A94494F8}"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1 line</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no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D71D8E4A-10D7-09A9-F88F-FCA898147C9F}"/>
              </a:ext>
            </a:extLst>
          </p:cNvPr>
          <p:cNvSpPr>
            <a:spLocks noGrp="1"/>
          </p:cNvSpPr>
          <p:nvPr>
            <p:ph sz="quarter" idx="29"/>
          </p:nvPr>
        </p:nvSpPr>
        <p:spPr>
          <a:xfrm>
            <a:off x="540000"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no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02598A2E-56D7-E713-566B-47E4BC1C0AFB}"/>
              </a:ext>
            </a:extLst>
          </p:cNvPr>
          <p:cNvSpPr>
            <a:spLocks noGrp="1"/>
          </p:cNvSpPr>
          <p:nvPr>
            <p:ph sz="quarter" idx="31"/>
          </p:nvPr>
        </p:nvSpPr>
        <p:spPr>
          <a:xfrm>
            <a:off x="4423999"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noAutofit/>
          </a:bodyPr>
          <a:lstStyle>
            <a:lvl1pPr marL="0" indent="0">
              <a:buNone/>
              <a:defRPr b="1"/>
            </a:lvl1pPr>
          </a:lstStyle>
          <a:p>
            <a:pPr lvl="0"/>
            <a:r>
              <a:rPr lang="en-US"/>
              <a:t>Click to edit Master text styles</a:t>
            </a:r>
          </a:p>
        </p:txBody>
      </p:sp>
      <p:sp>
        <p:nvSpPr>
          <p:cNvPr id="20" name="Content Placeholder 8">
            <a:extLst>
              <a:ext uri="{FF2B5EF4-FFF2-40B4-BE49-F238E27FC236}">
                <a16:creationId xmlns:a16="http://schemas.microsoft.com/office/drawing/2014/main" id="{FAC640A2-0195-E324-897E-17CFA2A8BF94}"/>
              </a:ext>
            </a:extLst>
          </p:cNvPr>
          <p:cNvSpPr>
            <a:spLocks noGrp="1"/>
          </p:cNvSpPr>
          <p:nvPr>
            <p:ph sz="quarter" idx="35"/>
          </p:nvPr>
        </p:nvSpPr>
        <p:spPr>
          <a:xfrm>
            <a:off x="8307998"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7DE6A9DC-5EF6-5951-04EC-C8FC55AFA6F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7" name="Rectangle 6">
            <a:extLst>
              <a:ext uri="{FF2B5EF4-FFF2-40B4-BE49-F238E27FC236}">
                <a16:creationId xmlns:a16="http://schemas.microsoft.com/office/drawing/2014/main" id="{BA5EDDF3-19EB-7066-8A87-076AB50EDD7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3E88EAE1-3542-3A7E-6DB8-309E2AA851D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A4B89A6-1502-365A-C6AC-9A17DACEC73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content</a:t>
            </a:r>
          </a:p>
        </p:txBody>
      </p:sp>
      <p:sp>
        <p:nvSpPr>
          <p:cNvPr id="10" name="Text Placeholder 14">
            <a:extLst>
              <a:ext uri="{FF2B5EF4-FFF2-40B4-BE49-F238E27FC236}">
                <a16:creationId xmlns:a16="http://schemas.microsoft.com/office/drawing/2014/main" id="{ACE9DE05-3C7D-E743-889F-6B7E651BFB15}"/>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three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6" name="Straight Connector 15">
            <a:extLst>
              <a:ext uri="{FF2B5EF4-FFF2-40B4-BE49-F238E27FC236}">
                <a16:creationId xmlns:a16="http://schemas.microsoft.com/office/drawing/2014/main" id="{7E280CB7-B326-03C9-51E6-571B8D5ABD9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661395"/>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 Title &amp; subtitle + 4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53875278-6FFE-4FE0-B4AD-82CA49CC656E}"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6"/>
            <a:ext cx="2372999" cy="43807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3452999"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6365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278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1 line</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7">
            <a:extLst>
              <a:ext uri="{FF2B5EF4-FFF2-40B4-BE49-F238E27FC236}">
                <a16:creationId xmlns:a16="http://schemas.microsoft.com/office/drawing/2014/main" id="{DB198B25-2BDD-4E1D-00F9-23AF9DDDFB01}"/>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6" name="Rectangle 15">
            <a:extLst>
              <a:ext uri="{FF2B5EF4-FFF2-40B4-BE49-F238E27FC236}">
                <a16:creationId xmlns:a16="http://schemas.microsoft.com/office/drawing/2014/main" id="{48766355-B0A8-EFF8-3C48-02C74F4FF62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7" name="Content Placeholder 7">
            <a:extLst>
              <a:ext uri="{FF2B5EF4-FFF2-40B4-BE49-F238E27FC236}">
                <a16:creationId xmlns:a16="http://schemas.microsoft.com/office/drawing/2014/main" id="{5533D350-94D5-A063-69CD-43D7D2130A6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8" name="Text Placeholder 14">
            <a:extLst>
              <a:ext uri="{FF2B5EF4-FFF2-40B4-BE49-F238E27FC236}">
                <a16:creationId xmlns:a16="http://schemas.microsoft.com/office/drawing/2014/main" id="{F8B7001A-B966-98D3-2A6C-138B3687DFC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content</a:t>
            </a:r>
          </a:p>
        </p:txBody>
      </p:sp>
      <p:sp>
        <p:nvSpPr>
          <p:cNvPr id="19" name="Text Placeholder 14">
            <a:extLst>
              <a:ext uri="{FF2B5EF4-FFF2-40B4-BE49-F238E27FC236}">
                <a16:creationId xmlns:a16="http://schemas.microsoft.com/office/drawing/2014/main" id="{0F3E3F50-F046-5E93-0C2B-2F04ABA6E4E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four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0" name="Straight Connector 19">
            <a:extLst>
              <a:ext uri="{FF2B5EF4-FFF2-40B4-BE49-F238E27FC236}">
                <a16:creationId xmlns:a16="http://schemas.microsoft.com/office/drawing/2014/main" id="{E3910E0B-75BA-79D1-5019-70D4750B63E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994806"/>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 Title &amp; subtitle + 5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28343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74231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7175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6">
            <a:extLst>
              <a:ext uri="{FF2B5EF4-FFF2-40B4-BE49-F238E27FC236}">
                <a16:creationId xmlns:a16="http://schemas.microsoft.com/office/drawing/2014/main" id="{BA2D3DC5-9629-2C38-7C2F-3AD97B71C73A}"/>
              </a:ext>
            </a:extLst>
          </p:cNvPr>
          <p:cNvSpPr>
            <a:spLocks noGrp="1"/>
          </p:cNvSpPr>
          <p:nvPr>
            <p:ph type="body" sz="quarter" idx="36"/>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6" name="Content Placeholder 8">
            <a:extLst>
              <a:ext uri="{FF2B5EF4-FFF2-40B4-BE49-F238E27FC236}">
                <a16:creationId xmlns:a16="http://schemas.microsoft.com/office/drawing/2014/main" id="{9F4ACD4F-192F-9FB1-E965-6891944E0D59}"/>
              </a:ext>
            </a:extLst>
          </p:cNvPr>
          <p:cNvSpPr>
            <a:spLocks noGrp="1"/>
          </p:cNvSpPr>
          <p:nvPr>
            <p:ph sz="quarter" idx="37"/>
          </p:nvPr>
        </p:nvSpPr>
        <p:spPr>
          <a:xfrm>
            <a:off x="51287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6">
            <a:extLst>
              <a:ext uri="{FF2B5EF4-FFF2-40B4-BE49-F238E27FC236}">
                <a16:creationId xmlns:a16="http://schemas.microsoft.com/office/drawing/2014/main" id="{A19278E8-A303-097D-56D8-9154FA5D9FE3}"/>
              </a:ext>
            </a:extLst>
          </p:cNvPr>
          <p:cNvSpPr>
            <a:spLocks noGrp="1"/>
          </p:cNvSpPr>
          <p:nvPr>
            <p:ph type="title" hasCustomPrompt="1"/>
          </p:nvPr>
        </p:nvSpPr>
        <p:spPr/>
        <p:txBody>
          <a:bodyPr/>
          <a:lstStyle>
            <a:lvl1pPr>
              <a:defRPr/>
            </a:lvl1pPr>
          </a:lstStyle>
          <a:p>
            <a:r>
              <a:rPr lang="en-US"/>
              <a:t>Click to add title – max 1 line</a:t>
            </a:r>
          </a:p>
        </p:txBody>
      </p:sp>
      <p:sp>
        <p:nvSpPr>
          <p:cNvPr id="18" name="Text Placeholder 7">
            <a:extLst>
              <a:ext uri="{FF2B5EF4-FFF2-40B4-BE49-F238E27FC236}">
                <a16:creationId xmlns:a16="http://schemas.microsoft.com/office/drawing/2014/main" id="{0E9A25CD-DC6C-4BA6-CAA2-700D7BF5058A}"/>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0" name="Rectangle 9">
            <a:extLst>
              <a:ext uri="{FF2B5EF4-FFF2-40B4-BE49-F238E27FC236}">
                <a16:creationId xmlns:a16="http://schemas.microsoft.com/office/drawing/2014/main" id="{FCD10875-0F15-C0B9-139B-18DFD2F1D6A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9" name="Content Placeholder 7">
            <a:extLst>
              <a:ext uri="{FF2B5EF4-FFF2-40B4-BE49-F238E27FC236}">
                <a16:creationId xmlns:a16="http://schemas.microsoft.com/office/drawing/2014/main" id="{364D91F1-AE67-3CAF-010F-47D403A3F42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0" name="Text Placeholder 14">
            <a:extLst>
              <a:ext uri="{FF2B5EF4-FFF2-40B4-BE49-F238E27FC236}">
                <a16:creationId xmlns:a16="http://schemas.microsoft.com/office/drawing/2014/main" id="{2453BAFE-6F4F-1D93-B873-86D119ECC71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content</a:t>
            </a:r>
          </a:p>
        </p:txBody>
      </p:sp>
      <p:sp>
        <p:nvSpPr>
          <p:cNvPr id="21" name="Text Placeholder 14">
            <a:extLst>
              <a:ext uri="{FF2B5EF4-FFF2-40B4-BE49-F238E27FC236}">
                <a16:creationId xmlns:a16="http://schemas.microsoft.com/office/drawing/2014/main" id="{CF3E8F93-07CA-E51A-7C5E-07E35DF5158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five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2" name="Straight Connector 21">
            <a:extLst>
              <a:ext uri="{FF2B5EF4-FFF2-40B4-BE49-F238E27FC236}">
                <a16:creationId xmlns:a16="http://schemas.microsoft.com/office/drawing/2014/main" id="{78F5FE41-793C-6000-7AD6-D0757033E530}"/>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951907"/>
      </p:ext>
    </p:extLst>
  </p:cSld>
  <p:clrMapOvr>
    <a:masterClrMapping/>
  </p:clrMapOvr>
  <p:extLst>
    <p:ext uri="{DCECCB84-F9BA-43D5-87BE-67443E8EF086}">
      <p15:sldGuideLst xmlns:p15="http://schemas.microsoft.com/office/powerpoint/2012/main">
        <p15:guide id="3" pos="340">
          <p15:clr>
            <a:srgbClr val="5ACBF0"/>
          </p15:clr>
        </p15:guide>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0" pos="7339">
          <p15:clr>
            <a:srgbClr val="FBAE40"/>
          </p15:clr>
        </p15:guide>
        <p15:guide id="12" pos="7341">
          <p15:clr>
            <a:srgbClr val="FBAE40"/>
          </p15:clr>
        </p15:guide>
        <p15:guide id="13" pos="3230">
          <p15:clr>
            <a:srgbClr val="5ACBF0"/>
          </p15:clr>
        </p15:guide>
        <p15:guide id="14" pos="4449">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pictures</a:t>
            </a:r>
          </a:p>
        </p:txBody>
      </p:sp>
    </p:spTree>
    <p:extLst>
      <p:ext uri="{BB962C8B-B14F-4D97-AF65-F5344CB8AC3E}">
        <p14:creationId xmlns:p14="http://schemas.microsoft.com/office/powerpoint/2010/main" val="2184907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mp; subtitle + slim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5CF0E67C-A8AF-477D-B5A6-DF50AB980D38}"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8199000"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539999" y="1006831"/>
            <a:ext cx="8199000" cy="0"/>
          </a:xfrm>
          <a:prstGeom prst="line">
            <a:avLst/>
          </a:prstGeom>
          <a:ln w="12700">
            <a:solidFill>
              <a:schemeClr val="tx1"/>
            </a:solidFill>
            <a:miter/>
          </a:ln>
        </p:spPr>
        <p:txBody>
          <a:bodyPr lIns="45719" rIns="45719"/>
          <a:lstStyle/>
          <a:p>
            <a:endParaRPr lang="en-US"/>
          </a:p>
        </p:txBody>
      </p:sp>
      <p:sp>
        <p:nvSpPr>
          <p:cNvPr id="9" name="Title 8">
            <a:extLst>
              <a:ext uri="{FF2B5EF4-FFF2-40B4-BE49-F238E27FC236}">
                <a16:creationId xmlns:a16="http://schemas.microsoft.com/office/drawing/2014/main" id="{357B0456-0660-ADC3-0DE7-79DA1941DC9A}"/>
              </a:ext>
            </a:extLst>
          </p:cNvPr>
          <p:cNvSpPr>
            <a:spLocks noGrp="1"/>
          </p:cNvSpPr>
          <p:nvPr>
            <p:ph type="title" hasCustomPrompt="1"/>
          </p:nvPr>
        </p:nvSpPr>
        <p:spPr>
          <a:xfrm>
            <a:off x="539999" y="262800"/>
            <a:ext cx="8199000"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9CD62068-8A16-6BD4-CC28-2A7B40234B02}"/>
              </a:ext>
            </a:extLst>
          </p:cNvPr>
          <p:cNvSpPr>
            <a:spLocks noGrp="1"/>
          </p:cNvSpPr>
          <p:nvPr>
            <p:ph type="body" sz="quarter" idx="14" hasCustomPrompt="1"/>
          </p:nvPr>
        </p:nvSpPr>
        <p:spPr>
          <a:xfrm>
            <a:off x="539998" y="660922"/>
            <a:ext cx="8199000"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Picture Placeholder 8">
            <a:extLst>
              <a:ext uri="{FF2B5EF4-FFF2-40B4-BE49-F238E27FC236}">
                <a16:creationId xmlns:a16="http://schemas.microsoft.com/office/drawing/2014/main" id="{401FC2FE-A3A1-060E-2506-68883377CAC8}"/>
              </a:ext>
            </a:extLst>
          </p:cNvPr>
          <p:cNvSpPr>
            <a:spLocks noGrp="1"/>
          </p:cNvSpPr>
          <p:nvPr>
            <p:ph type="pic" sz="quarter" idx="15"/>
          </p:nvPr>
        </p:nvSpPr>
        <p:spPr>
          <a:xfrm>
            <a:off x="9279000" y="0"/>
            <a:ext cx="2912999" cy="6319838"/>
          </a:xfrm>
          <a:solidFill>
            <a:schemeClr val="bg2"/>
          </a:solidFill>
        </p:spPr>
        <p:txBody>
          <a:bodyPr tIns="2628000"/>
          <a:lstStyle>
            <a:lvl1pPr marL="0" indent="0" algn="ctr">
              <a:buNone/>
              <a:defRPr i="1"/>
            </a:lvl1pPr>
          </a:lstStyle>
          <a:p>
            <a:r>
              <a:rPr lang="en-US"/>
              <a:t>Click icon to add picture</a:t>
            </a:r>
          </a:p>
        </p:txBody>
      </p:sp>
      <p:sp>
        <p:nvSpPr>
          <p:cNvPr id="2" name="Rectangle 1">
            <a:extLst>
              <a:ext uri="{FF2B5EF4-FFF2-40B4-BE49-F238E27FC236}">
                <a16:creationId xmlns:a16="http://schemas.microsoft.com/office/drawing/2014/main" id="{7EEEE384-FAF4-0C0D-97B4-8711ECA19E0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96C2CA3F-9CCA-56A8-5202-687ACC3375B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E088003F-7276-D3C2-2F9A-AA5A5B65FD8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3943F63F-56C1-DF92-B276-701FD3AACC4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right</a:t>
            </a:r>
          </a:p>
        </p:txBody>
      </p:sp>
      <p:cxnSp>
        <p:nvCxnSpPr>
          <p:cNvPr id="14" name="Straight Connector 13">
            <a:extLst>
              <a:ext uri="{FF2B5EF4-FFF2-40B4-BE49-F238E27FC236}">
                <a16:creationId xmlns:a16="http://schemas.microsoft.com/office/drawing/2014/main" id="{E7E0DFC8-2A8B-B46C-AA48-09DB03AB105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848227"/>
      </p:ext>
    </p:extLst>
  </p:cSld>
  <p:clrMapOvr>
    <a:masterClrMapping/>
  </p:clrMapOvr>
  <p:extLst>
    <p:ext uri="{DCECCB84-F9BA-43D5-87BE-67443E8EF086}">
      <p15:sldGuideLst xmlns:p15="http://schemas.microsoft.com/office/powerpoint/2012/main">
        <p15:guide id="1" pos="5505">
          <p15:clr>
            <a:srgbClr val="5ACBF0"/>
          </p15:clr>
        </p15:guide>
        <p15:guide id="2" pos="584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mp; subtitle + slim picture left">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401FC2FE-A3A1-060E-2506-68883377CAC8}"/>
              </a:ext>
            </a:extLst>
          </p:cNvPr>
          <p:cNvSpPr>
            <a:spLocks noGrp="1"/>
          </p:cNvSpPr>
          <p:nvPr>
            <p:ph type="pic" sz="quarter" idx="15"/>
          </p:nvPr>
        </p:nvSpPr>
        <p:spPr>
          <a:xfrm>
            <a:off x="0" y="0"/>
            <a:ext cx="2912999" cy="6319838"/>
          </a:xfrm>
          <a:solidFill>
            <a:schemeClr val="bg2"/>
          </a:solidFill>
        </p:spPr>
        <p:txBody>
          <a:bodyPr tIns="2628000"/>
          <a:lstStyle>
            <a:lvl1pPr marL="0" indent="0" algn="ctr">
              <a:buNone/>
              <a:defRPr i="1"/>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5CF0E67C-A8AF-477D-B5A6-DF50AB980D38}"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3454839" y="1204913"/>
            <a:ext cx="8199000"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3454839" y="1006831"/>
            <a:ext cx="8199000" cy="0"/>
          </a:xfrm>
          <a:prstGeom prst="line">
            <a:avLst/>
          </a:prstGeom>
          <a:ln w="12700">
            <a:solidFill>
              <a:schemeClr val="tx1"/>
            </a:solidFill>
            <a:miter/>
          </a:ln>
        </p:spPr>
        <p:txBody>
          <a:bodyPr lIns="45719" rIns="45719"/>
          <a:lstStyle/>
          <a:p>
            <a:endParaRPr lang="en-US"/>
          </a:p>
        </p:txBody>
      </p:sp>
      <p:sp>
        <p:nvSpPr>
          <p:cNvPr id="9" name="Title 8">
            <a:extLst>
              <a:ext uri="{FF2B5EF4-FFF2-40B4-BE49-F238E27FC236}">
                <a16:creationId xmlns:a16="http://schemas.microsoft.com/office/drawing/2014/main" id="{357B0456-0660-ADC3-0DE7-79DA1941DC9A}"/>
              </a:ext>
            </a:extLst>
          </p:cNvPr>
          <p:cNvSpPr>
            <a:spLocks noGrp="1"/>
          </p:cNvSpPr>
          <p:nvPr>
            <p:ph type="title" hasCustomPrompt="1"/>
          </p:nvPr>
        </p:nvSpPr>
        <p:spPr>
          <a:xfrm>
            <a:off x="3454839" y="262800"/>
            <a:ext cx="8199000"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9CD62068-8A16-6BD4-CC28-2A7B40234B02}"/>
              </a:ext>
            </a:extLst>
          </p:cNvPr>
          <p:cNvSpPr>
            <a:spLocks noGrp="1"/>
          </p:cNvSpPr>
          <p:nvPr>
            <p:ph type="body" sz="quarter" idx="14" hasCustomPrompt="1"/>
          </p:nvPr>
        </p:nvSpPr>
        <p:spPr>
          <a:xfrm>
            <a:off x="3454839" y="660922"/>
            <a:ext cx="8199000"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 name="Rectangle 1">
            <a:extLst>
              <a:ext uri="{FF2B5EF4-FFF2-40B4-BE49-F238E27FC236}">
                <a16:creationId xmlns:a16="http://schemas.microsoft.com/office/drawing/2014/main" id="{5B800433-19C5-20B8-A83C-954F564D4A53}"/>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4889FBC4-AA4D-6CF0-5C19-9748040B0A3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2C9D9A99-61B6-A125-DF5E-2F413D03787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0AB4D71B-61AA-DBEA-EDA1-DB7CA05F3D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left</a:t>
            </a:r>
          </a:p>
        </p:txBody>
      </p:sp>
      <p:cxnSp>
        <p:nvCxnSpPr>
          <p:cNvPr id="14" name="Straight Connector 13">
            <a:extLst>
              <a:ext uri="{FF2B5EF4-FFF2-40B4-BE49-F238E27FC236}">
                <a16:creationId xmlns:a16="http://schemas.microsoft.com/office/drawing/2014/main" id="{8A9F0A93-8635-6635-A00D-A1A805A7A20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35302"/>
      </p:ext>
    </p:extLst>
  </p:cSld>
  <p:clrMapOvr>
    <a:masterClrMapping/>
  </p:clrMapOvr>
  <p:extLst>
    <p:ext uri="{DCECCB84-F9BA-43D5-87BE-67443E8EF086}">
      <p15:sldGuideLst xmlns:p15="http://schemas.microsoft.com/office/powerpoint/2012/main">
        <p15:guide id="1" pos="1835">
          <p15:clr>
            <a:srgbClr val="5ACBF0"/>
          </p15:clr>
        </p15:guide>
        <p15:guide id="2" pos="217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mp; subtitle + wide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982D4414-90DE-4D1E-A014-EA43D727370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5285999"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540000" y="1006831"/>
            <a:ext cx="5285999" cy="0"/>
          </a:xfrm>
          <a:prstGeom prst="line">
            <a:avLst/>
          </a:prstGeom>
          <a:ln w="12700">
            <a:solidFill>
              <a:schemeClr val="tx1"/>
            </a:solidFill>
            <a:miter/>
          </a:ln>
        </p:spPr>
        <p:txBody>
          <a:bodyPr lIns="45719" rIns="45719"/>
          <a:lstStyle/>
          <a:p>
            <a:endParaRPr lang="en-US"/>
          </a:p>
        </p:txBody>
      </p:sp>
      <p:sp>
        <p:nvSpPr>
          <p:cNvPr id="6" name="Title 5">
            <a:extLst>
              <a:ext uri="{FF2B5EF4-FFF2-40B4-BE49-F238E27FC236}">
                <a16:creationId xmlns:a16="http://schemas.microsoft.com/office/drawing/2014/main" id="{0FFCE8F3-6862-6B6D-62B9-CB1467D4EFAA}"/>
              </a:ext>
            </a:extLst>
          </p:cNvPr>
          <p:cNvSpPr>
            <a:spLocks noGrp="1"/>
          </p:cNvSpPr>
          <p:nvPr>
            <p:ph type="title" hasCustomPrompt="1"/>
          </p:nvPr>
        </p:nvSpPr>
        <p:spPr>
          <a:xfrm>
            <a:off x="539999" y="262800"/>
            <a:ext cx="5285999"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6F132D34-B217-A51B-E49D-D3FB9CF7BE69}"/>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 name="Picture Placeholder 8">
            <a:extLst>
              <a:ext uri="{FF2B5EF4-FFF2-40B4-BE49-F238E27FC236}">
                <a16:creationId xmlns:a16="http://schemas.microsoft.com/office/drawing/2014/main" id="{9A6BE8BA-C14C-9E21-3561-5EB4623BE1DD}"/>
              </a:ext>
            </a:extLst>
          </p:cNvPr>
          <p:cNvSpPr>
            <a:spLocks noGrp="1"/>
          </p:cNvSpPr>
          <p:nvPr>
            <p:ph type="pic" sz="quarter" idx="16"/>
          </p:nvPr>
        </p:nvSpPr>
        <p:spPr>
          <a:xfrm>
            <a:off x="6366000" y="0"/>
            <a:ext cx="5826000" cy="6319838"/>
          </a:xfrm>
          <a:solidFill>
            <a:schemeClr val="bg2"/>
          </a:solidFill>
        </p:spPr>
        <p:txBody>
          <a:bodyPr tIns="2628000"/>
          <a:lstStyle>
            <a:lvl1pPr marL="0" indent="0" algn="ctr">
              <a:buNone/>
              <a:defRPr i="1"/>
            </a:lvl1pPr>
          </a:lstStyle>
          <a:p>
            <a:r>
              <a:rPr lang="en-US"/>
              <a:t>Click icon to add picture</a:t>
            </a:r>
          </a:p>
        </p:txBody>
      </p:sp>
      <p:sp>
        <p:nvSpPr>
          <p:cNvPr id="8" name="Rectangle 7">
            <a:extLst>
              <a:ext uri="{FF2B5EF4-FFF2-40B4-BE49-F238E27FC236}">
                <a16:creationId xmlns:a16="http://schemas.microsoft.com/office/drawing/2014/main" id="{84B1C73F-695C-0FA3-5749-FE4BE4F4698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84E4620E-512F-61DB-5863-83788ED2A44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A7B5CE9C-58B7-9E26-A586-3E1A12E85314}"/>
              </a:ext>
            </a:extLst>
          </p:cNvPr>
          <p:cNvSpPr txBox="1">
            <a:spLocks/>
          </p:cNvSpPr>
          <p:nvPr userDrawn="1"/>
        </p:nvSpPr>
        <p:spPr>
          <a:xfrm>
            <a:off x="-1568878" y="133349"/>
            <a:ext cx="1476000" cy="839673"/>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right</a:t>
            </a:r>
          </a:p>
        </p:txBody>
      </p:sp>
      <p:sp>
        <p:nvSpPr>
          <p:cNvPr id="13" name="Text Placeholder 14">
            <a:extLst>
              <a:ext uri="{FF2B5EF4-FFF2-40B4-BE49-F238E27FC236}">
                <a16:creationId xmlns:a16="http://schemas.microsoft.com/office/drawing/2014/main" id="{A8F615D1-6619-0F48-DE1C-17AD299603A2}"/>
              </a:ext>
            </a:extLst>
          </p:cNvPr>
          <p:cNvSpPr txBox="1">
            <a:spLocks/>
          </p:cNvSpPr>
          <p:nvPr userDrawn="1"/>
        </p:nvSpPr>
        <p:spPr>
          <a:xfrm>
            <a:off x="-1584000" y="1103313"/>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4" name="Straight Connector 13">
            <a:extLst>
              <a:ext uri="{FF2B5EF4-FFF2-40B4-BE49-F238E27FC236}">
                <a16:creationId xmlns:a16="http://schemas.microsoft.com/office/drawing/2014/main" id="{11238A71-62DA-223A-6456-6C70EF73EF6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261697"/>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subtitle + wide picture lef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A6BE8BA-C14C-9E21-3561-5EB4623BE1DD}"/>
              </a:ext>
            </a:extLst>
          </p:cNvPr>
          <p:cNvSpPr>
            <a:spLocks noGrp="1"/>
          </p:cNvSpPr>
          <p:nvPr>
            <p:ph type="pic" sz="quarter" idx="16"/>
          </p:nvPr>
        </p:nvSpPr>
        <p:spPr>
          <a:xfrm>
            <a:off x="0" y="0"/>
            <a:ext cx="5826000" cy="6319838"/>
          </a:xfrm>
          <a:solidFill>
            <a:schemeClr val="bg2"/>
          </a:solidFill>
        </p:spPr>
        <p:txBody>
          <a:bodyPr tIns="2628000"/>
          <a:lstStyle>
            <a:lvl1pPr marL="0" indent="0" algn="ctr">
              <a:buNone/>
              <a:defRPr i="1"/>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982D4414-90DE-4D1E-A014-EA43D727370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6367840" y="1204913"/>
            <a:ext cx="5285999"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6367840" y="1006831"/>
            <a:ext cx="5285999" cy="0"/>
          </a:xfrm>
          <a:prstGeom prst="line">
            <a:avLst/>
          </a:prstGeom>
          <a:ln w="12700">
            <a:solidFill>
              <a:schemeClr val="tx1"/>
            </a:solidFill>
            <a:miter/>
          </a:ln>
        </p:spPr>
        <p:txBody>
          <a:bodyPr lIns="45719" rIns="45719"/>
          <a:lstStyle/>
          <a:p>
            <a:endParaRPr lang="en-US"/>
          </a:p>
        </p:txBody>
      </p:sp>
      <p:sp>
        <p:nvSpPr>
          <p:cNvPr id="6" name="Title 5">
            <a:extLst>
              <a:ext uri="{FF2B5EF4-FFF2-40B4-BE49-F238E27FC236}">
                <a16:creationId xmlns:a16="http://schemas.microsoft.com/office/drawing/2014/main" id="{0FFCE8F3-6862-6B6D-62B9-CB1467D4EFAA}"/>
              </a:ext>
            </a:extLst>
          </p:cNvPr>
          <p:cNvSpPr>
            <a:spLocks noGrp="1"/>
          </p:cNvSpPr>
          <p:nvPr>
            <p:ph type="title" hasCustomPrompt="1"/>
          </p:nvPr>
        </p:nvSpPr>
        <p:spPr>
          <a:xfrm>
            <a:off x="6367840" y="262800"/>
            <a:ext cx="5285999"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6F132D34-B217-A51B-E49D-D3FB9CF7BE69}"/>
              </a:ext>
            </a:extLst>
          </p:cNvPr>
          <p:cNvSpPr>
            <a:spLocks noGrp="1"/>
          </p:cNvSpPr>
          <p:nvPr>
            <p:ph type="body" sz="quarter" idx="14" hasCustomPrompt="1"/>
          </p:nvPr>
        </p:nvSpPr>
        <p:spPr>
          <a:xfrm>
            <a:off x="6367840"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Rectangle 7">
            <a:extLst>
              <a:ext uri="{FF2B5EF4-FFF2-40B4-BE49-F238E27FC236}">
                <a16:creationId xmlns:a16="http://schemas.microsoft.com/office/drawing/2014/main" id="{5DFB655C-800B-DDC0-B18D-CBECD2FA525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CAB5EEAE-E2D1-BAF1-DB90-6E245DBAF3D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CA07CA6F-2828-85A9-04CD-351214E5359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4C957DC8-CABD-06DD-E9A7-321D9643651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left</a:t>
            </a:r>
          </a:p>
        </p:txBody>
      </p:sp>
      <p:cxnSp>
        <p:nvCxnSpPr>
          <p:cNvPr id="14" name="Straight Connector 13">
            <a:extLst>
              <a:ext uri="{FF2B5EF4-FFF2-40B4-BE49-F238E27FC236}">
                <a16:creationId xmlns:a16="http://schemas.microsoft.com/office/drawing/2014/main" id="{BEE53B51-7C39-EE8B-7025-24A5E1A7C6F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941323"/>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 Title &amp; subtitle + 2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7C70C4F7-AF5B-4414-B6BA-0846096FBF87}"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1 line</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BC0A8268-FAEF-AF38-EFA8-909A0DBF14C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6" name="Text Placeholder 15">
            <a:extLst>
              <a:ext uri="{FF2B5EF4-FFF2-40B4-BE49-F238E27FC236}">
                <a16:creationId xmlns:a16="http://schemas.microsoft.com/office/drawing/2014/main" id="{B08D07AB-2B9B-C897-404E-3F154936C42C}"/>
              </a:ext>
            </a:extLst>
          </p:cNvPr>
          <p:cNvSpPr>
            <a:spLocks noGrp="1"/>
          </p:cNvSpPr>
          <p:nvPr>
            <p:ph type="body" sz="quarter" idx="38"/>
          </p:nvPr>
        </p:nvSpPr>
        <p:spPr>
          <a:xfrm>
            <a:off x="539750" y="3608998"/>
            <a:ext cx="5285999" cy="243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5">
            <a:extLst>
              <a:ext uri="{FF2B5EF4-FFF2-40B4-BE49-F238E27FC236}">
                <a16:creationId xmlns:a16="http://schemas.microsoft.com/office/drawing/2014/main" id="{167DA1CD-29F9-95FE-CAD9-638DD00D98E3}"/>
              </a:ext>
            </a:extLst>
          </p:cNvPr>
          <p:cNvSpPr>
            <a:spLocks noGrp="1"/>
          </p:cNvSpPr>
          <p:nvPr>
            <p:ph type="body" sz="quarter" idx="39"/>
          </p:nvPr>
        </p:nvSpPr>
        <p:spPr>
          <a:xfrm>
            <a:off x="6365998"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F3ACCC18-7C32-171A-E4C5-B2FD803E56F7}"/>
              </a:ext>
            </a:extLst>
          </p:cNvPr>
          <p:cNvSpPr>
            <a:spLocks noGrp="1"/>
          </p:cNvSpPr>
          <p:nvPr>
            <p:ph type="pic" sz="quarter" idx="36"/>
          </p:nvPr>
        </p:nvSpPr>
        <p:spPr>
          <a:xfrm>
            <a:off x="540000" y="1666016"/>
            <a:ext cx="5285999" cy="1762984"/>
          </a:xfrm>
          <a:solidFill>
            <a:schemeClr val="bg2"/>
          </a:solidFill>
        </p:spPr>
        <p:txBody>
          <a:bodyPr tIns="396000"/>
          <a:lstStyle>
            <a:lvl1pPr marL="0" indent="0" algn="ctr">
              <a:buNone/>
              <a:defRPr i="1"/>
            </a:lvl1pPr>
          </a:lstStyle>
          <a:p>
            <a:r>
              <a:rPr lang="en-US"/>
              <a:t>Click icon to add picture</a:t>
            </a:r>
          </a:p>
        </p:txBody>
      </p:sp>
      <p:sp>
        <p:nvSpPr>
          <p:cNvPr id="10" name="Picture Placeholder 10">
            <a:extLst>
              <a:ext uri="{FF2B5EF4-FFF2-40B4-BE49-F238E27FC236}">
                <a16:creationId xmlns:a16="http://schemas.microsoft.com/office/drawing/2014/main" id="{4F4D7C12-1C2B-22D7-6701-B97EF9369476}"/>
              </a:ext>
            </a:extLst>
          </p:cNvPr>
          <p:cNvSpPr>
            <a:spLocks noGrp="1"/>
          </p:cNvSpPr>
          <p:nvPr>
            <p:ph type="pic" sz="quarter" idx="40"/>
          </p:nvPr>
        </p:nvSpPr>
        <p:spPr>
          <a:xfrm>
            <a:off x="6367840" y="1666016"/>
            <a:ext cx="5285999" cy="1762984"/>
          </a:xfrm>
          <a:solidFill>
            <a:schemeClr val="bg2"/>
          </a:solidFill>
        </p:spPr>
        <p:txBody>
          <a:bodyPr tIns="396000"/>
          <a:lstStyle>
            <a:lvl1pPr marL="0" indent="0" algn="ctr">
              <a:buNone/>
              <a:defRPr i="1"/>
            </a:lvl1pPr>
          </a:lstStyle>
          <a:p>
            <a:r>
              <a:rPr lang="en-US"/>
              <a:t>Click icon to add picture</a:t>
            </a:r>
          </a:p>
        </p:txBody>
      </p:sp>
      <p:sp>
        <p:nvSpPr>
          <p:cNvPr id="11" name="Rectangle 10">
            <a:extLst>
              <a:ext uri="{FF2B5EF4-FFF2-40B4-BE49-F238E27FC236}">
                <a16:creationId xmlns:a16="http://schemas.microsoft.com/office/drawing/2014/main" id="{ABD17864-8059-15A3-26F5-C1FC50C4C4C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2" name="Content Placeholder 7">
            <a:extLst>
              <a:ext uri="{FF2B5EF4-FFF2-40B4-BE49-F238E27FC236}">
                <a16:creationId xmlns:a16="http://schemas.microsoft.com/office/drawing/2014/main" id="{9A15E77B-A0EA-F57F-A044-37C37D06D84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3" name="Text Placeholder 14">
            <a:extLst>
              <a:ext uri="{FF2B5EF4-FFF2-40B4-BE49-F238E27FC236}">
                <a16:creationId xmlns:a16="http://schemas.microsoft.com/office/drawing/2014/main" id="{4CB6A39A-7E9E-E30A-25F3-A9A27A8B1BD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two sections </a:t>
            </a:r>
            <a:br>
              <a:rPr lang="en-US" sz="1050">
                <a:solidFill>
                  <a:schemeClr val="tx1">
                    <a:alpha val="90000"/>
                  </a:schemeClr>
                </a:solidFill>
              </a:rPr>
            </a:br>
            <a:r>
              <a:rPr lang="en-US" sz="1050">
                <a:solidFill>
                  <a:schemeClr val="tx1">
                    <a:alpha val="90000"/>
                  </a:schemeClr>
                </a:solidFill>
              </a:rPr>
              <a:t>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5" name="Text Placeholder 14">
            <a:extLst>
              <a:ext uri="{FF2B5EF4-FFF2-40B4-BE49-F238E27FC236}">
                <a16:creationId xmlns:a16="http://schemas.microsoft.com/office/drawing/2014/main" id="{63B63ED3-70D8-4286-C3E2-A46BAB7C0D3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pictures</a:t>
            </a:r>
          </a:p>
        </p:txBody>
      </p:sp>
      <p:cxnSp>
        <p:nvCxnSpPr>
          <p:cNvPr id="17" name="Straight Connector 16">
            <a:extLst>
              <a:ext uri="{FF2B5EF4-FFF2-40B4-BE49-F238E27FC236}">
                <a16:creationId xmlns:a16="http://schemas.microsoft.com/office/drawing/2014/main" id="{8B919B03-5292-B62C-4D6B-F2917061BE3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2252622"/>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 Title &amp; subtitle + 3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95859245-5432-4453-9B54-6798998A5518}"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1 line</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7DE6A9DC-5EF6-5951-04EC-C8FC55AFA6F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0" name="Text Placeholder 15">
            <a:extLst>
              <a:ext uri="{FF2B5EF4-FFF2-40B4-BE49-F238E27FC236}">
                <a16:creationId xmlns:a16="http://schemas.microsoft.com/office/drawing/2014/main" id="{E0048019-BB1F-364C-C0FD-E0E76B01C99D}"/>
              </a:ext>
            </a:extLst>
          </p:cNvPr>
          <p:cNvSpPr>
            <a:spLocks noGrp="1"/>
          </p:cNvSpPr>
          <p:nvPr>
            <p:ph type="body" sz="quarter" idx="39"/>
          </p:nvPr>
        </p:nvSpPr>
        <p:spPr>
          <a:xfrm>
            <a:off x="53975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CE98B6C1-0C94-BB29-E1C8-3955ABC754DC}"/>
              </a:ext>
            </a:extLst>
          </p:cNvPr>
          <p:cNvSpPr>
            <a:spLocks noGrp="1"/>
          </p:cNvSpPr>
          <p:nvPr>
            <p:ph type="body" sz="quarter" idx="40"/>
          </p:nvPr>
        </p:nvSpPr>
        <p:spPr>
          <a:xfrm>
            <a:off x="442400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5">
            <a:extLst>
              <a:ext uri="{FF2B5EF4-FFF2-40B4-BE49-F238E27FC236}">
                <a16:creationId xmlns:a16="http://schemas.microsoft.com/office/drawing/2014/main" id="{883A7867-CE08-7924-457C-F27331277EB4}"/>
              </a:ext>
            </a:extLst>
          </p:cNvPr>
          <p:cNvSpPr>
            <a:spLocks noGrp="1"/>
          </p:cNvSpPr>
          <p:nvPr>
            <p:ph type="body" sz="quarter" idx="41"/>
          </p:nvPr>
        </p:nvSpPr>
        <p:spPr>
          <a:xfrm>
            <a:off x="8307998"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0">
            <a:extLst>
              <a:ext uri="{FF2B5EF4-FFF2-40B4-BE49-F238E27FC236}">
                <a16:creationId xmlns:a16="http://schemas.microsoft.com/office/drawing/2014/main" id="{A9D992DC-CF8C-3015-EDC6-89F451D2D6C6}"/>
              </a:ext>
            </a:extLst>
          </p:cNvPr>
          <p:cNvSpPr>
            <a:spLocks noGrp="1"/>
          </p:cNvSpPr>
          <p:nvPr>
            <p:ph type="pic" sz="quarter" idx="36"/>
          </p:nvPr>
        </p:nvSpPr>
        <p:spPr>
          <a:xfrm>
            <a:off x="540000"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15" name="Picture Placeholder 10">
            <a:extLst>
              <a:ext uri="{FF2B5EF4-FFF2-40B4-BE49-F238E27FC236}">
                <a16:creationId xmlns:a16="http://schemas.microsoft.com/office/drawing/2014/main" id="{D027F15B-F68A-AAEC-AA89-6DB744131BB5}"/>
              </a:ext>
            </a:extLst>
          </p:cNvPr>
          <p:cNvSpPr>
            <a:spLocks noGrp="1"/>
          </p:cNvSpPr>
          <p:nvPr>
            <p:ph type="pic" sz="quarter" idx="42"/>
          </p:nvPr>
        </p:nvSpPr>
        <p:spPr>
          <a:xfrm>
            <a:off x="4424000"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18" name="Picture Placeholder 10">
            <a:extLst>
              <a:ext uri="{FF2B5EF4-FFF2-40B4-BE49-F238E27FC236}">
                <a16:creationId xmlns:a16="http://schemas.microsoft.com/office/drawing/2014/main" id="{03921C8C-DD79-2ED2-B6AB-C9723B559C46}"/>
              </a:ext>
            </a:extLst>
          </p:cNvPr>
          <p:cNvSpPr>
            <a:spLocks noGrp="1"/>
          </p:cNvSpPr>
          <p:nvPr>
            <p:ph type="pic" sz="quarter" idx="43"/>
          </p:nvPr>
        </p:nvSpPr>
        <p:spPr>
          <a:xfrm>
            <a:off x="8307998"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7" name="Rectangle 6">
            <a:extLst>
              <a:ext uri="{FF2B5EF4-FFF2-40B4-BE49-F238E27FC236}">
                <a16:creationId xmlns:a16="http://schemas.microsoft.com/office/drawing/2014/main" id="{56065C39-C946-60D6-D2BD-E5A4A40F648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3FBD469-B50F-439F-5DBE-65B0EB1978F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67A4813D-E6F3-197C-20FB-CD5F14BB829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three sections 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0" name="Text Placeholder 14">
            <a:extLst>
              <a:ext uri="{FF2B5EF4-FFF2-40B4-BE49-F238E27FC236}">
                <a16:creationId xmlns:a16="http://schemas.microsoft.com/office/drawing/2014/main" id="{A68728F0-2038-B102-6ED1-FD3A303CDA8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pictures</a:t>
            </a:r>
          </a:p>
        </p:txBody>
      </p:sp>
      <p:cxnSp>
        <p:nvCxnSpPr>
          <p:cNvPr id="21" name="Straight Connector 20">
            <a:extLst>
              <a:ext uri="{FF2B5EF4-FFF2-40B4-BE49-F238E27FC236}">
                <a16:creationId xmlns:a16="http://schemas.microsoft.com/office/drawing/2014/main" id="{80059AE8-4B5F-9637-5E16-D91DB48279B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692848"/>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 Title &amp; subtitle + 4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10710258-A92E-485E-A8C3-C9FD50EBAB44}"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1 line</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7">
            <a:extLst>
              <a:ext uri="{FF2B5EF4-FFF2-40B4-BE49-F238E27FC236}">
                <a16:creationId xmlns:a16="http://schemas.microsoft.com/office/drawing/2014/main" id="{DB198B25-2BDD-4E1D-00F9-23AF9DDDFB01}"/>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3452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6365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278998"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968D9100-E89D-643B-5244-677AEFE7E544}"/>
              </a:ext>
            </a:extLst>
          </p:cNvPr>
          <p:cNvSpPr>
            <a:spLocks noGrp="1"/>
          </p:cNvSpPr>
          <p:nvPr>
            <p:ph type="pic" sz="quarter" idx="36"/>
          </p:nvPr>
        </p:nvSpPr>
        <p:spPr>
          <a:xfrm>
            <a:off x="540000"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8" name="Picture Placeholder 10">
            <a:extLst>
              <a:ext uri="{FF2B5EF4-FFF2-40B4-BE49-F238E27FC236}">
                <a16:creationId xmlns:a16="http://schemas.microsoft.com/office/drawing/2014/main" id="{B89B94A3-2A0F-F3B7-659E-C6B2B5ADA04C}"/>
              </a:ext>
            </a:extLst>
          </p:cNvPr>
          <p:cNvSpPr>
            <a:spLocks noGrp="1"/>
          </p:cNvSpPr>
          <p:nvPr>
            <p:ph type="pic" sz="quarter" idx="44"/>
          </p:nvPr>
        </p:nvSpPr>
        <p:spPr>
          <a:xfrm>
            <a:off x="3452999"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1" name="Picture Placeholder 10">
            <a:extLst>
              <a:ext uri="{FF2B5EF4-FFF2-40B4-BE49-F238E27FC236}">
                <a16:creationId xmlns:a16="http://schemas.microsoft.com/office/drawing/2014/main" id="{089DF720-539E-994D-9382-DEB424946724}"/>
              </a:ext>
            </a:extLst>
          </p:cNvPr>
          <p:cNvSpPr>
            <a:spLocks noGrp="1"/>
          </p:cNvSpPr>
          <p:nvPr>
            <p:ph type="pic" sz="quarter" idx="45"/>
          </p:nvPr>
        </p:nvSpPr>
        <p:spPr>
          <a:xfrm>
            <a:off x="6365999"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3" name="Picture Placeholder 10">
            <a:extLst>
              <a:ext uri="{FF2B5EF4-FFF2-40B4-BE49-F238E27FC236}">
                <a16:creationId xmlns:a16="http://schemas.microsoft.com/office/drawing/2014/main" id="{26804564-B192-EF73-2729-BF3649A81B51}"/>
              </a:ext>
            </a:extLst>
          </p:cNvPr>
          <p:cNvSpPr>
            <a:spLocks noGrp="1"/>
          </p:cNvSpPr>
          <p:nvPr>
            <p:ph type="pic" sz="quarter" idx="46"/>
          </p:nvPr>
        </p:nvSpPr>
        <p:spPr>
          <a:xfrm>
            <a:off x="9278998"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6" name="Rectangle 15">
            <a:extLst>
              <a:ext uri="{FF2B5EF4-FFF2-40B4-BE49-F238E27FC236}">
                <a16:creationId xmlns:a16="http://schemas.microsoft.com/office/drawing/2014/main" id="{6221723F-8A83-6CD4-9277-66DAACFE5DF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7" name="Content Placeholder 7">
            <a:extLst>
              <a:ext uri="{FF2B5EF4-FFF2-40B4-BE49-F238E27FC236}">
                <a16:creationId xmlns:a16="http://schemas.microsoft.com/office/drawing/2014/main" id="{830AB8D9-7BB4-1018-6C83-0F016D29D88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8" name="Text Placeholder 14">
            <a:extLst>
              <a:ext uri="{FF2B5EF4-FFF2-40B4-BE49-F238E27FC236}">
                <a16:creationId xmlns:a16="http://schemas.microsoft.com/office/drawing/2014/main" id="{EBB5FA6B-A7D8-08EB-4A7B-9FDCB367691E}"/>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pictures</a:t>
            </a:r>
          </a:p>
        </p:txBody>
      </p:sp>
      <p:sp>
        <p:nvSpPr>
          <p:cNvPr id="19" name="Text Placeholder 14">
            <a:extLst>
              <a:ext uri="{FF2B5EF4-FFF2-40B4-BE49-F238E27FC236}">
                <a16:creationId xmlns:a16="http://schemas.microsoft.com/office/drawing/2014/main" id="{6DB35472-4B97-B6DB-4766-0CA951BE825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four sections of content with picture and header.</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0" name="Straight Connector 19">
            <a:extLst>
              <a:ext uri="{FF2B5EF4-FFF2-40B4-BE49-F238E27FC236}">
                <a16:creationId xmlns:a16="http://schemas.microsoft.com/office/drawing/2014/main" id="{24E43449-C3A3-C087-9CEB-BF2C3AED70E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69017"/>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 Title &amp; subtitle + 5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28341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74230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717547"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1 line</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2834399"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7423198"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717598"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3" name="Text Placeholder 6">
            <a:extLst>
              <a:ext uri="{FF2B5EF4-FFF2-40B4-BE49-F238E27FC236}">
                <a16:creationId xmlns:a16="http://schemas.microsoft.com/office/drawing/2014/main" id="{B199FC84-D1AC-E5CB-21B0-D342328CA6D6}"/>
              </a:ext>
            </a:extLst>
          </p:cNvPr>
          <p:cNvSpPr>
            <a:spLocks noGrp="1"/>
          </p:cNvSpPr>
          <p:nvPr>
            <p:ph type="body" sz="quarter" idx="47"/>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5" name="Text Placeholder 15">
            <a:extLst>
              <a:ext uri="{FF2B5EF4-FFF2-40B4-BE49-F238E27FC236}">
                <a16:creationId xmlns:a16="http://schemas.microsoft.com/office/drawing/2014/main" id="{0FA1DC5B-9B9E-CA25-F9C1-9AF892A54BC3}"/>
              </a:ext>
            </a:extLst>
          </p:cNvPr>
          <p:cNvSpPr>
            <a:spLocks noGrp="1"/>
          </p:cNvSpPr>
          <p:nvPr>
            <p:ph type="body" sz="quarter" idx="48"/>
          </p:nvPr>
        </p:nvSpPr>
        <p:spPr>
          <a:xfrm>
            <a:off x="512864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0">
            <a:extLst>
              <a:ext uri="{FF2B5EF4-FFF2-40B4-BE49-F238E27FC236}">
                <a16:creationId xmlns:a16="http://schemas.microsoft.com/office/drawing/2014/main" id="{8E35BB86-17EE-7439-C9FE-7D245E970A8E}"/>
              </a:ext>
            </a:extLst>
          </p:cNvPr>
          <p:cNvSpPr>
            <a:spLocks noGrp="1"/>
          </p:cNvSpPr>
          <p:nvPr>
            <p:ph type="pic" sz="quarter" idx="49"/>
          </p:nvPr>
        </p:nvSpPr>
        <p:spPr>
          <a:xfrm>
            <a:off x="5128799"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8" name="Text Placeholder 7">
            <a:extLst>
              <a:ext uri="{FF2B5EF4-FFF2-40B4-BE49-F238E27FC236}">
                <a16:creationId xmlns:a16="http://schemas.microsoft.com/office/drawing/2014/main" id="{B2C8485C-FDC5-4AAD-6D09-87DE3B50F1ED}"/>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9" name="Rectangle 18">
            <a:extLst>
              <a:ext uri="{FF2B5EF4-FFF2-40B4-BE49-F238E27FC236}">
                <a16:creationId xmlns:a16="http://schemas.microsoft.com/office/drawing/2014/main" id="{40F492AD-9053-4D93-92FC-CC83B962B2B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0" name="Content Placeholder 7">
            <a:extLst>
              <a:ext uri="{FF2B5EF4-FFF2-40B4-BE49-F238E27FC236}">
                <a16:creationId xmlns:a16="http://schemas.microsoft.com/office/drawing/2014/main" id="{92867768-2BF5-2CC8-E63E-21D4165BBEAA}"/>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5" name="Text Placeholder 14">
            <a:extLst>
              <a:ext uri="{FF2B5EF4-FFF2-40B4-BE49-F238E27FC236}">
                <a16:creationId xmlns:a16="http://schemas.microsoft.com/office/drawing/2014/main" id="{BDF071FE-2D52-ABBC-19D7-5DF88557D1B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pictures</a:t>
            </a:r>
          </a:p>
        </p:txBody>
      </p:sp>
      <p:sp>
        <p:nvSpPr>
          <p:cNvPr id="26" name="Text Placeholder 14">
            <a:extLst>
              <a:ext uri="{FF2B5EF4-FFF2-40B4-BE49-F238E27FC236}">
                <a16:creationId xmlns:a16="http://schemas.microsoft.com/office/drawing/2014/main" id="{4832B150-A754-E4BC-D5C4-B6DE1238607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five sections </a:t>
            </a:r>
            <a:br>
              <a:rPr lang="en-US" sz="1050">
                <a:solidFill>
                  <a:schemeClr val="tx1">
                    <a:alpha val="90000"/>
                  </a:schemeClr>
                </a:solidFill>
              </a:rPr>
            </a:br>
            <a:r>
              <a:rPr lang="en-US" sz="1050">
                <a:solidFill>
                  <a:schemeClr val="tx1">
                    <a:alpha val="90000"/>
                  </a:schemeClr>
                </a:solidFill>
              </a:rPr>
              <a:t>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7" name="Straight Connector 26">
            <a:extLst>
              <a:ext uri="{FF2B5EF4-FFF2-40B4-BE49-F238E27FC236}">
                <a16:creationId xmlns:a16="http://schemas.microsoft.com/office/drawing/2014/main" id="{CFC50D70-E701-7297-A48B-D93536030F4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44495"/>
      </p:ext>
    </p:extLst>
  </p:cSld>
  <p:clrMapOvr>
    <a:masterClrMapping/>
  </p:clrMapOvr>
  <p:extLst>
    <p:ext uri="{DCECCB84-F9BA-43D5-87BE-67443E8EF086}">
      <p15:sldGuideLst xmlns:p15="http://schemas.microsoft.com/office/powerpoint/2012/main">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1" pos="3230">
          <p15:clr>
            <a:srgbClr val="5ACBF0"/>
          </p15:clr>
        </p15:guide>
        <p15:guide id="12" pos="4449">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Statement</a:t>
            </a:r>
          </a:p>
        </p:txBody>
      </p:sp>
    </p:spTree>
    <p:extLst>
      <p:ext uri="{BB962C8B-B14F-4D97-AF65-F5344CB8AC3E}">
        <p14:creationId xmlns:p14="http://schemas.microsoft.com/office/powerpoint/2010/main" val="26477898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  Statement    whit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C9099266-B22D-40D0-AD7A-247DD671312C}"/>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88ACD003-B1D6-4D0F-95CF-57954B515B1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itle 1">
            <a:extLst>
              <a:ext uri="{FF2B5EF4-FFF2-40B4-BE49-F238E27FC236}">
                <a16:creationId xmlns:a16="http://schemas.microsoft.com/office/drawing/2014/main" id="{45793532-A2E6-6685-1408-C17DDE70E234}"/>
              </a:ext>
            </a:extLst>
          </p:cNvPr>
          <p:cNvSpPr>
            <a:spLocks noGrp="1"/>
          </p:cNvSpPr>
          <p:nvPr>
            <p:ph type="title" hasCustomPrompt="1"/>
          </p:nvPr>
        </p:nvSpPr>
        <p:spPr>
          <a:xfrm>
            <a:off x="0" y="1475521"/>
            <a:ext cx="5868000" cy="2267029"/>
          </a:xfrm>
          <a:solidFill>
            <a:schemeClr val="bg1">
              <a:alpha val="80000"/>
            </a:schemeClr>
          </a:solidFill>
        </p:spPr>
        <p:txBody>
          <a:bodyPr lIns="529200" tIns="144000" rIns="529200" bIns="126000" anchor="t">
            <a:spAutoFit/>
          </a:bodyPr>
          <a:lstStyle>
            <a:lvl1pPr>
              <a:defRPr sz="4800">
                <a:solidFill>
                  <a:schemeClr val="tx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17377CA1-860C-9692-833D-F266D1392DC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1F2A00EC-89F2-8C6D-A477-7C47D904B01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D264CE0-ADA5-449A-F673-804773C37DAC}"/>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white</a:t>
            </a:r>
          </a:p>
        </p:txBody>
      </p:sp>
      <p:cxnSp>
        <p:nvCxnSpPr>
          <p:cNvPr id="10" name="Straight Connector 9">
            <a:extLst>
              <a:ext uri="{FF2B5EF4-FFF2-40B4-BE49-F238E27FC236}">
                <a16:creationId xmlns:a16="http://schemas.microsoft.com/office/drawing/2014/main" id="{CC58DF94-32D1-A577-60C2-465866E70E3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C6684595-189E-BFB7-D9E3-E8DE259DDDE7}"/>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white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006600710"/>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  Statement    bla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DCF28FB3-50B7-9598-2DFE-8CEAD2EBE947}"/>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3A1E385-CEE5-40B1-BE06-A2170ADB260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B71A99FF-1348-B954-4D93-10FE1BCF1D10}"/>
              </a:ext>
            </a:extLst>
          </p:cNvPr>
          <p:cNvSpPr>
            <a:spLocks noGrp="1"/>
          </p:cNvSpPr>
          <p:nvPr>
            <p:ph type="title" hasCustomPrompt="1"/>
          </p:nvPr>
        </p:nvSpPr>
        <p:spPr>
          <a:xfrm>
            <a:off x="0" y="1475521"/>
            <a:ext cx="5868000" cy="2267029"/>
          </a:xfrm>
          <a:solidFill>
            <a:schemeClr val="tx1">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2" name="Rectangle 1">
            <a:extLst>
              <a:ext uri="{FF2B5EF4-FFF2-40B4-BE49-F238E27FC236}">
                <a16:creationId xmlns:a16="http://schemas.microsoft.com/office/drawing/2014/main" id="{E1930CBD-E810-83CF-9899-308F93AD016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8EF7CFF1-A506-CDBC-C990-527F07ECA2D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DB483173-6199-18CF-383A-3B5AF4917E1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black</a:t>
            </a:r>
          </a:p>
        </p:txBody>
      </p:sp>
      <p:cxnSp>
        <p:nvCxnSpPr>
          <p:cNvPr id="10" name="Straight Connector 9">
            <a:extLst>
              <a:ext uri="{FF2B5EF4-FFF2-40B4-BE49-F238E27FC236}">
                <a16:creationId xmlns:a16="http://schemas.microsoft.com/office/drawing/2014/main" id="{BF4DDD76-A282-8D3C-7EE6-AE4E9B42950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C003F82-893D-F4B9-4076-22254A7ED06C}"/>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black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353270801"/>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atement turquois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A7041F38-B1A4-C153-5B4F-FED5998CBFE3}"/>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FC280BE-4442-422D-B591-49D2892BD73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7939185-4078-8644-C515-440491B36AF5}"/>
              </a:ext>
            </a:extLst>
          </p:cNvPr>
          <p:cNvSpPr>
            <a:spLocks noGrp="1"/>
          </p:cNvSpPr>
          <p:nvPr>
            <p:ph type="title" hasCustomPrompt="1"/>
          </p:nvPr>
        </p:nvSpPr>
        <p:spPr>
          <a:xfrm>
            <a:off x="0" y="1475521"/>
            <a:ext cx="5868000" cy="2267029"/>
          </a:xfrm>
          <a:solidFill>
            <a:schemeClr val="accent2">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8121493C-0C4C-1EC6-A745-507F578FCE9F}"/>
              </a:ext>
            </a:extLst>
          </p:cNvPr>
          <p:cNvSpPr/>
          <p:nvPr userDrawn="1"/>
        </p:nvSpPr>
        <p:spPr>
          <a:xfrm>
            <a:off x="-1584001" y="720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FBE68E10-83F8-9334-CFC9-F05B441CBC7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E50A98F-DA08-339E-C5B0-39AD2C07010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turquoise</a:t>
            </a:r>
          </a:p>
        </p:txBody>
      </p:sp>
      <p:cxnSp>
        <p:nvCxnSpPr>
          <p:cNvPr id="10" name="Straight Connector 9">
            <a:extLst>
              <a:ext uri="{FF2B5EF4-FFF2-40B4-BE49-F238E27FC236}">
                <a16:creationId xmlns:a16="http://schemas.microsoft.com/office/drawing/2014/main" id="{4369B21C-7C21-E5E3-CAF8-208A691C263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74A3F92E-2AF6-936E-E3E5-B7E0E2E166E3}"/>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turquoise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709043717"/>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Statement     gold">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9A04056-719D-FED8-29F2-3204327192A9}"/>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AEB751A-D419-4C61-A0FC-D70FB7FC12BA}"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9BC075A0-04C1-D65B-1DE1-EADEDAD947BE}"/>
              </a:ext>
            </a:extLst>
          </p:cNvPr>
          <p:cNvSpPr>
            <a:spLocks noGrp="1"/>
          </p:cNvSpPr>
          <p:nvPr>
            <p:ph type="title" hasCustomPrompt="1"/>
          </p:nvPr>
        </p:nvSpPr>
        <p:spPr>
          <a:xfrm>
            <a:off x="0" y="1475521"/>
            <a:ext cx="5868000" cy="2267029"/>
          </a:xfrm>
          <a:solidFill>
            <a:schemeClr val="accent3">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D955BCA7-398C-4338-2280-70F15E7AA9C1}"/>
              </a:ext>
            </a:extLst>
          </p:cNvPr>
          <p:cNvSpPr/>
          <p:nvPr userDrawn="1"/>
        </p:nvSpPr>
        <p:spPr>
          <a:xfrm>
            <a:off x="-15840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DF48BBB3-6315-C639-E3AA-0145063F8868}"/>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2D40AE1B-DD2B-9CE2-543F-643A39D1B27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gold</a:t>
            </a:r>
          </a:p>
        </p:txBody>
      </p:sp>
      <p:cxnSp>
        <p:nvCxnSpPr>
          <p:cNvPr id="10" name="Straight Connector 9">
            <a:extLst>
              <a:ext uri="{FF2B5EF4-FFF2-40B4-BE49-F238E27FC236}">
                <a16:creationId xmlns:a16="http://schemas.microsoft.com/office/drawing/2014/main" id="{19C33E70-27E4-3624-301C-BBAC2937710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F0FB6BC4-AE20-4D3A-9358-90D8113BBEFB}"/>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gold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817890767"/>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Statement   copper">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6983F132-113C-3540-B521-3061708E3D0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F7C17A99-D8A9-4C9C-AD15-2626DF3515BC}"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697B897-67A4-8811-FAA4-D38FAD3B2D2E}"/>
              </a:ext>
            </a:extLst>
          </p:cNvPr>
          <p:cNvSpPr>
            <a:spLocks noGrp="1"/>
          </p:cNvSpPr>
          <p:nvPr>
            <p:ph type="title" hasCustomPrompt="1"/>
          </p:nvPr>
        </p:nvSpPr>
        <p:spPr>
          <a:xfrm>
            <a:off x="0" y="1475521"/>
            <a:ext cx="5868000" cy="2267029"/>
          </a:xfrm>
          <a:solidFill>
            <a:schemeClr val="accent4">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B107F799-CB4D-3F46-EB19-F4BE750EB0C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C25A3392-016D-AB7F-E9D5-42F20C6815F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8AC7E12A-65F6-B11C-F60F-0ACFF7D91D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copper</a:t>
            </a:r>
          </a:p>
        </p:txBody>
      </p:sp>
      <p:cxnSp>
        <p:nvCxnSpPr>
          <p:cNvPr id="10" name="Straight Connector 9">
            <a:extLst>
              <a:ext uri="{FF2B5EF4-FFF2-40B4-BE49-F238E27FC236}">
                <a16:creationId xmlns:a16="http://schemas.microsoft.com/office/drawing/2014/main" id="{A4136B7A-44CF-EDAC-FD02-40C1116C094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67B54C8-F358-729A-1CA1-C03323DF951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copper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923186070"/>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    Statement   moss">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BDB03BE-C20C-D289-E5A1-168CDF54CDB7}"/>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36A352F5-FC93-490A-A2C4-7D98228F4846}"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624EA5D7-9E6E-93A4-0317-88252D4D2855}"/>
              </a:ext>
            </a:extLst>
          </p:cNvPr>
          <p:cNvSpPr>
            <a:spLocks noGrp="1"/>
          </p:cNvSpPr>
          <p:nvPr>
            <p:ph type="title" hasCustomPrompt="1"/>
          </p:nvPr>
        </p:nvSpPr>
        <p:spPr>
          <a:xfrm>
            <a:off x="0" y="1475521"/>
            <a:ext cx="5868000" cy="2267029"/>
          </a:xfrm>
          <a:solidFill>
            <a:schemeClr val="accent5">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1169086C-E819-1488-5839-828DF97190F2}"/>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61B3BC37-83C7-8D99-D5B7-6EB45AA05B31}"/>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3F9ABDF9-12D8-D198-17F0-475C6B2760A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moss</a:t>
            </a:r>
          </a:p>
        </p:txBody>
      </p:sp>
      <p:cxnSp>
        <p:nvCxnSpPr>
          <p:cNvPr id="10" name="Straight Connector 9">
            <a:extLst>
              <a:ext uri="{FF2B5EF4-FFF2-40B4-BE49-F238E27FC236}">
                <a16:creationId xmlns:a16="http://schemas.microsoft.com/office/drawing/2014/main" id="{6289840D-D8A5-4FFF-37F7-4273FAA37C9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B7AC1E5-F301-CD41-6DAC-8D6A5A418F19}"/>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moss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4224047375"/>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    Statement   bri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D11804F9-BCE5-1D01-F53A-E38D5A182FA6}"/>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BFEA8F3D-30CD-440E-9BED-2660774D18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40D423E6-A47A-9FCC-D958-2918153CE1C6}"/>
              </a:ext>
            </a:extLst>
          </p:cNvPr>
          <p:cNvSpPr>
            <a:spLocks noGrp="1"/>
          </p:cNvSpPr>
          <p:nvPr>
            <p:ph type="title" hasCustomPrompt="1"/>
          </p:nvPr>
        </p:nvSpPr>
        <p:spPr>
          <a:xfrm>
            <a:off x="0" y="1475521"/>
            <a:ext cx="5868000" cy="2267029"/>
          </a:xfrm>
          <a:solidFill>
            <a:schemeClr val="accent6">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70283109-523D-435F-B01D-B49F35E09A6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0C22DB7-4CD6-F373-47BF-DF4D84B40D8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AC74FBCC-FA93-EF77-8D0E-6E88F03A3CC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brick</a:t>
            </a:r>
          </a:p>
        </p:txBody>
      </p:sp>
      <p:cxnSp>
        <p:nvCxnSpPr>
          <p:cNvPr id="10" name="Straight Connector 9">
            <a:extLst>
              <a:ext uri="{FF2B5EF4-FFF2-40B4-BE49-F238E27FC236}">
                <a16:creationId xmlns:a16="http://schemas.microsoft.com/office/drawing/2014/main" id="{A818C500-F56D-81D5-A4D4-9E54FD7ECE3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304355F-E40D-6E2A-5642-2E4F1B08091C}"/>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brick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868066021"/>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    Statement   green">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5B003FC-43AC-F08C-0225-88CDA57E0E8C}"/>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AF518E8-2883-44C0-A44D-85D71A7A19A7}"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EBC7644B-07A5-5E66-6048-E522015017EC}"/>
              </a:ext>
            </a:extLst>
          </p:cNvPr>
          <p:cNvSpPr>
            <a:spLocks noGrp="1"/>
          </p:cNvSpPr>
          <p:nvPr>
            <p:ph type="title" hasCustomPrompt="1"/>
          </p:nvPr>
        </p:nvSpPr>
        <p:spPr>
          <a:xfrm>
            <a:off x="0" y="1475521"/>
            <a:ext cx="5868000" cy="2267029"/>
          </a:xfrm>
          <a:solidFill>
            <a:srgbClr val="72B86B">
              <a:alpha val="80000"/>
            </a:srgb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4ACF0FD3-8F67-C00F-BE74-B30BC106A6F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1D9CDAE-3F84-12ED-7C1C-500C10D3D21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01E1A569-EDCD-7BD0-3FC9-9836AB28AB4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green</a:t>
            </a:r>
          </a:p>
        </p:txBody>
      </p:sp>
      <p:cxnSp>
        <p:nvCxnSpPr>
          <p:cNvPr id="10" name="Straight Connector 9">
            <a:extLst>
              <a:ext uri="{FF2B5EF4-FFF2-40B4-BE49-F238E27FC236}">
                <a16:creationId xmlns:a16="http://schemas.microsoft.com/office/drawing/2014/main" id="{666769CC-6EB9-0D1D-5943-EDADA6716CE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A3BD5F27-E2CB-E3C1-E56B-D3023C3612E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green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360250451"/>
      </p:ext>
    </p:extLst>
  </p:cSld>
  <p:clrMapOvr>
    <a:masterClrMapping/>
  </p:clrMapOvr>
  <p:extLst>
    <p:ext uri="{DCECCB84-F9BA-43D5-87BE-67443E8EF086}">
      <p15:sldGuideLst xmlns:p15="http://schemas.microsoft.com/office/powerpoint/2012/main">
        <p15:guide id="1" pos="385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No content</a:t>
            </a:r>
          </a:p>
        </p:txBody>
      </p:sp>
    </p:spTree>
    <p:extLst>
      <p:ext uri="{BB962C8B-B14F-4D97-AF65-F5344CB8AC3E}">
        <p14:creationId xmlns:p14="http://schemas.microsoft.com/office/powerpoint/2010/main" val="27495616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A44DB0-0405-CA6C-E055-F59491388805}"/>
              </a:ext>
            </a:extLst>
          </p:cNvPr>
          <p:cNvSpPr>
            <a:spLocks noGrp="1"/>
          </p:cNvSpPr>
          <p:nvPr>
            <p:ph type="dt" sz="half" idx="10"/>
          </p:nvPr>
        </p:nvSpPr>
        <p:spPr/>
        <p:txBody>
          <a:bodyPr/>
          <a:lstStyle/>
          <a:p>
            <a:fld id="{F66D1A21-DA7F-43FD-8BC0-CF1F1BBA6459}" type="datetime4">
              <a:rPr lang="en-US" smtClean="0"/>
              <a:t>March 3, 2026</a:t>
            </a:fld>
            <a:endParaRPr lang="en-US"/>
          </a:p>
        </p:txBody>
      </p:sp>
      <p:sp>
        <p:nvSpPr>
          <p:cNvPr id="3" name="Footer Placeholder 2">
            <a:extLst>
              <a:ext uri="{FF2B5EF4-FFF2-40B4-BE49-F238E27FC236}">
                <a16:creationId xmlns:a16="http://schemas.microsoft.com/office/drawing/2014/main" id="{AD3E1D6E-514F-0376-5C07-A1927A317128}"/>
              </a:ext>
            </a:extLst>
          </p:cNvPr>
          <p:cNvSpPr>
            <a:spLocks noGrp="1"/>
          </p:cNvSpPr>
          <p:nvPr>
            <p:ph type="ftr" sz="quarter" idx="11"/>
          </p:nvPr>
        </p:nvSpPr>
        <p:spPr/>
        <p:txBody>
          <a:bodyPr/>
          <a:lstStyle/>
          <a:p>
            <a:r>
              <a:rPr lang="en-US"/>
              <a:t>TRELLEBORG GROUP</a:t>
            </a:r>
          </a:p>
        </p:txBody>
      </p:sp>
      <p:sp>
        <p:nvSpPr>
          <p:cNvPr id="4" name="Slide Number Placeholder 3">
            <a:extLst>
              <a:ext uri="{FF2B5EF4-FFF2-40B4-BE49-F238E27FC236}">
                <a16:creationId xmlns:a16="http://schemas.microsoft.com/office/drawing/2014/main" id="{43C702A6-A533-4456-45FD-CCFAE4F9C481}"/>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5" name="Rectangle 4">
            <a:extLst>
              <a:ext uri="{FF2B5EF4-FFF2-40B4-BE49-F238E27FC236}">
                <a16:creationId xmlns:a16="http://schemas.microsoft.com/office/drawing/2014/main" id="{54A77557-55C0-6A1C-3A01-0BCC1D3493FF}"/>
              </a:ext>
            </a:extLst>
          </p:cNvPr>
          <p:cNvSpPr/>
          <p:nvPr userDrawn="1"/>
        </p:nvSpPr>
        <p:spPr>
          <a:xfrm>
            <a:off x="-15696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6" name="Text Placeholder 14">
            <a:extLst>
              <a:ext uri="{FF2B5EF4-FFF2-40B4-BE49-F238E27FC236}">
                <a16:creationId xmlns:a16="http://schemas.microsoft.com/office/drawing/2014/main" id="{057444A0-DE7D-CD1B-F66E-26A5BC99FAE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Plain</a:t>
            </a:r>
          </a:p>
        </p:txBody>
      </p:sp>
      <p:sp>
        <p:nvSpPr>
          <p:cNvPr id="7" name="Text Placeholder 14">
            <a:extLst>
              <a:ext uri="{FF2B5EF4-FFF2-40B4-BE49-F238E27FC236}">
                <a16:creationId xmlns:a16="http://schemas.microsoft.com/office/drawing/2014/main" id="{D70EBC8C-299E-B40A-B9CC-2A45E85C4FE2}"/>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a:t>
            </a:r>
            <a:endParaRPr lang="en-US" sz="1050">
              <a:solidFill>
                <a:srgbClr val="FF0000">
                  <a:alpha val="90000"/>
                </a:srgbClr>
              </a:solidFill>
            </a:endParaRPr>
          </a:p>
          <a:p>
            <a:endParaRPr lang="en-US" sz="1050">
              <a:solidFill>
                <a:srgbClr val="FF0000">
                  <a:alpha val="90000"/>
                </a:srgbClr>
              </a:solidFill>
            </a:endParaRPr>
          </a:p>
        </p:txBody>
      </p:sp>
      <p:cxnSp>
        <p:nvCxnSpPr>
          <p:cNvPr id="8" name="Straight Connector 7">
            <a:extLst>
              <a:ext uri="{FF2B5EF4-FFF2-40B4-BE49-F238E27FC236}">
                <a16:creationId xmlns:a16="http://schemas.microsoft.com/office/drawing/2014/main" id="{DC7B7E1F-1B70-2806-2329-66A51E94992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59350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4D296B-A402-35B3-A1C1-8356F7AAEA40}"/>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3" name="Content Placeholder 7">
            <a:extLst>
              <a:ext uri="{FF2B5EF4-FFF2-40B4-BE49-F238E27FC236}">
                <a16:creationId xmlns:a16="http://schemas.microsoft.com/office/drawing/2014/main" id="{E3073EC3-DFE6-8312-195C-DCCA607195E6}"/>
              </a:ext>
            </a:extLst>
          </p:cNvPr>
          <p:cNvSpPr txBox="1">
            <a:spLocks/>
          </p:cNvSpPr>
          <p:nvPr userDrawn="1"/>
        </p:nvSpPr>
        <p:spPr>
          <a:xfrm>
            <a:off x="-1466969" y="1008000"/>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4" name="Text Placeholder 14">
            <a:extLst>
              <a:ext uri="{FF2B5EF4-FFF2-40B4-BE49-F238E27FC236}">
                <a16:creationId xmlns:a16="http://schemas.microsoft.com/office/drawing/2014/main" id="{D3665545-73D1-26F7-8C89-987DFC145B98}"/>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Blank</a:t>
            </a:r>
          </a:p>
        </p:txBody>
      </p:sp>
      <p:sp>
        <p:nvSpPr>
          <p:cNvPr id="5" name="Text Placeholder 14">
            <a:extLst>
              <a:ext uri="{FF2B5EF4-FFF2-40B4-BE49-F238E27FC236}">
                <a16:creationId xmlns:a16="http://schemas.microsoft.com/office/drawing/2014/main" id="{332D4527-3E3C-92C2-3E54-B7AF44F752A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a:t>
            </a:r>
            <a:r>
              <a:rPr lang="en-US" sz="1050" b="0">
                <a:solidFill>
                  <a:srgbClr val="FF0000">
                    <a:alpha val="90000"/>
                  </a:srgbClr>
                </a:solidFill>
              </a:rPr>
              <a:t>.</a:t>
            </a:r>
            <a:endParaRPr lang="en-US" sz="1050">
              <a:solidFill>
                <a:srgbClr val="FF0000">
                  <a:alpha val="90000"/>
                </a:srgbClr>
              </a:solidFill>
            </a:endParaRPr>
          </a:p>
          <a:p>
            <a:pPr>
              <a:lnSpc>
                <a:spcPct val="100000"/>
              </a:lnSpc>
              <a:spcBef>
                <a:spcPts val="600"/>
              </a:spcBef>
              <a:spcAft>
                <a:spcPts val="600"/>
              </a:spcAft>
            </a:pPr>
            <a:endParaRPr lang="en-US" sz="1050">
              <a:solidFill>
                <a:srgbClr val="FF0000">
                  <a:alpha val="90000"/>
                </a:srgbClr>
              </a:solidFill>
            </a:endParaRPr>
          </a:p>
          <a:p>
            <a:endParaRPr lang="en-US" sz="1050">
              <a:solidFill>
                <a:srgbClr val="FF0000">
                  <a:alpha val="90000"/>
                </a:srgbClr>
              </a:solidFill>
            </a:endParaRPr>
          </a:p>
        </p:txBody>
      </p:sp>
      <p:cxnSp>
        <p:nvCxnSpPr>
          <p:cNvPr id="6" name="Straight Connector 5">
            <a:extLst>
              <a:ext uri="{FF2B5EF4-FFF2-40B4-BE49-F238E27FC236}">
                <a16:creationId xmlns:a16="http://schemas.microsoft.com/office/drawing/2014/main" id="{6D928EE9-9E04-D3E8-0C2E-C7FA2DD6D2C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1587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End layout</a:t>
            </a:r>
          </a:p>
        </p:txBody>
      </p:sp>
    </p:spTree>
    <p:extLst>
      <p:ext uri="{BB962C8B-B14F-4D97-AF65-F5344CB8AC3E}">
        <p14:creationId xmlns:p14="http://schemas.microsoft.com/office/powerpoint/2010/main" val="33784000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End layout">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4B86CA7E-B351-304C-B84A-7D72E7DF7AA2}"/>
              </a:ext>
            </a:extLst>
          </p:cNvPr>
          <p:cNvSpPr>
            <a:spLocks/>
          </p:cNvSpPr>
          <p:nvPr userDrawn="1"/>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BB660A0-08E0-5735-7C3F-6B6BB5EA274E}"/>
              </a:ext>
            </a:extLst>
          </p:cNvPr>
          <p:cNvSpPr txBox="1"/>
          <p:nvPr userDrawn="1"/>
        </p:nvSpPr>
        <p:spPr>
          <a:xfrm>
            <a:off x="0" y="4403514"/>
            <a:ext cx="12208324" cy="400110"/>
          </a:xfrm>
          <a:prstGeom prst="rect">
            <a:avLst/>
          </a:prstGeom>
          <a:noFill/>
        </p:spPr>
        <p:txBody>
          <a:bodyPr wrap="square">
            <a:spAutoFit/>
          </a:bodyPr>
          <a:lstStyle/>
          <a:p>
            <a:pPr algn="ctr"/>
            <a:r>
              <a:rPr lang="en-US" sz="2000" b="1" kern="2400">
                <a:solidFill>
                  <a:srgbClr val="998242"/>
                </a:solidFill>
                <a:latin typeface="Arial"/>
                <a:ea typeface="ＭＳ Ｐゴシック" charset="0"/>
                <a:cs typeface="Arial"/>
              </a:rPr>
              <a:t>www.trelleborg.com</a:t>
            </a:r>
            <a:endParaRPr lang="en-US" sz="2000" b="1">
              <a:solidFill>
                <a:srgbClr val="998242"/>
              </a:solidFill>
            </a:endParaRPr>
          </a:p>
        </p:txBody>
      </p:sp>
      <p:sp>
        <p:nvSpPr>
          <p:cNvPr id="3" name="Footer Placeholder 2">
            <a:extLst>
              <a:ext uri="{FF2B5EF4-FFF2-40B4-BE49-F238E27FC236}">
                <a16:creationId xmlns:a16="http://schemas.microsoft.com/office/drawing/2014/main" id="{74BCC4B3-3BF2-53A1-C224-45500A28CCA1}"/>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85CE5580-71D1-F9D8-4FA6-18FFE7D466F2}"/>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B78B1337-2405-2098-B79C-F595478908C9}"/>
              </a:ext>
            </a:extLst>
          </p:cNvPr>
          <p:cNvSpPr>
            <a:spLocks noGrp="1"/>
          </p:cNvSpPr>
          <p:nvPr>
            <p:ph type="dt" sz="half" idx="12"/>
          </p:nvPr>
        </p:nvSpPr>
        <p:spPr/>
        <p:txBody>
          <a:bodyPr/>
          <a:lstStyle/>
          <a:p>
            <a:fld id="{E53CAF16-5AB2-4305-959C-E17B059163E1}" type="datetime4">
              <a:rPr lang="en-US" smtClean="0"/>
              <a:t>March 3, 2026</a:t>
            </a:fld>
            <a:endParaRPr lang="en-US"/>
          </a:p>
        </p:txBody>
      </p:sp>
      <p:pic>
        <p:nvPicPr>
          <p:cNvPr id="8" name="Graphic 7">
            <a:extLst>
              <a:ext uri="{FF2B5EF4-FFF2-40B4-BE49-F238E27FC236}">
                <a16:creationId xmlns:a16="http://schemas.microsoft.com/office/drawing/2014/main" id="{2FE5CE02-FE7B-90AB-1884-6713580439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5790" b="35791"/>
          <a:stretch/>
        </p:blipFill>
        <p:spPr>
          <a:xfrm>
            <a:off x="2835272" y="1515015"/>
            <a:ext cx="6521456" cy="2622771"/>
          </a:xfrm>
          <a:prstGeom prst="rect">
            <a:avLst/>
          </a:prstGeom>
        </p:spPr>
      </p:pic>
    </p:spTree>
    <p:extLst>
      <p:ext uri="{BB962C8B-B14F-4D97-AF65-F5344CB8AC3E}">
        <p14:creationId xmlns:p14="http://schemas.microsoft.com/office/powerpoint/2010/main" val="4266557473"/>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9FB4E-823E-413B-B741-B28844C666F8}"/>
              </a:ext>
            </a:extLst>
          </p:cNvPr>
          <p:cNvSpPr>
            <a:spLocks/>
          </p:cNvSpPr>
          <p:nvPr userDrawn="1"/>
        </p:nvSpPr>
        <p:spPr>
          <a:xfrm>
            <a:off x="449580" y="778164"/>
            <a:ext cx="11292840" cy="2659190"/>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Do not use layouts after this (if any) </a:t>
            </a:r>
          </a:p>
        </p:txBody>
      </p:sp>
      <p:sp>
        <p:nvSpPr>
          <p:cNvPr id="10" name="Rectangle 9">
            <a:extLst>
              <a:ext uri="{FF2B5EF4-FFF2-40B4-BE49-F238E27FC236}">
                <a16:creationId xmlns:a16="http://schemas.microsoft.com/office/drawing/2014/main" id="{0F0BA21A-F948-D87E-FA9F-CAC0573B54B4}"/>
              </a:ext>
            </a:extLst>
          </p:cNvPr>
          <p:cNvSpPr>
            <a:spLocks/>
          </p:cNvSpPr>
          <p:nvPr userDrawn="1"/>
        </p:nvSpPr>
        <p:spPr>
          <a:xfrm>
            <a:off x="1011382" y="3628090"/>
            <a:ext cx="10169236" cy="1475001"/>
          </a:xfrm>
          <a:prstGeom prst="rect">
            <a:avLst/>
          </a:prstGeom>
          <a:noFill/>
          <a:ln w="9525" cap="flat">
            <a:noFill/>
            <a:prstDash val="solid"/>
            <a:miter/>
          </a:ln>
        </p:spPr>
        <p:txBody>
          <a:bodyPr rot="0" spcFirstLastPara="0" vertOverflow="overflow" horzOverflow="overflow" vert="horz" wrap="square" lIns="396000" tIns="72000" rIns="180000" bIns="72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Due to how PowerPoint works, more layouts may appear after this one. </a:t>
            </a:r>
          </a:p>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These layouts are duplicates from other templates and should not be used.</a:t>
            </a:r>
          </a:p>
        </p:txBody>
      </p:sp>
    </p:spTree>
    <p:extLst>
      <p:ext uri="{BB962C8B-B14F-4D97-AF65-F5344CB8AC3E}">
        <p14:creationId xmlns:p14="http://schemas.microsoft.com/office/powerpoint/2010/main" val="8532303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theme" Target="../theme/theme2.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45" Type="http://schemas.openxmlformats.org/officeDocument/2006/relationships/image" Target="../media/image1.emf"/><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oleObject" Target="../embeddings/oleObject2.bin"/><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tags" Target="../tags/tag3.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 Id="rId20" Type="http://schemas.openxmlformats.org/officeDocument/2006/relationships/slideLayout" Target="../slideLayouts/slideLayout61.xml"/><Relationship Id="rId41"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30B406A-BFCE-F837-88A3-85108C2A4FB5}"/>
              </a:ext>
            </a:extLst>
          </p:cNvPr>
          <p:cNvGraphicFramePr>
            <a:graphicFrameLocks noChangeAspect="1"/>
          </p:cNvGraphicFramePr>
          <p:nvPr userDrawn="1">
            <p:custDataLst>
              <p:tags r:id="rId43"/>
            </p:custDataLst>
            <p:extLst>
              <p:ext uri="{D42A27DB-BD31-4B8C-83A1-F6EECF244321}">
                <p14:modId xmlns:p14="http://schemas.microsoft.com/office/powerpoint/2010/main" val="1836978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276" imgH="275" progId="TCLayout.ActiveDocument.1">
                  <p:embed/>
                </p:oleObj>
              </mc:Choice>
              <mc:Fallback>
                <p:oleObj name="think-cell Slide" r:id="rId44" imgW="276" imgH="275" progId="TCLayout.ActiveDocument.1">
                  <p:embed/>
                  <p:pic>
                    <p:nvPicPr>
                      <p:cNvPr id="8" name="think-cell data - do not delete" hidden="1">
                        <a:extLst>
                          <a:ext uri="{FF2B5EF4-FFF2-40B4-BE49-F238E27FC236}">
                            <a16:creationId xmlns:a16="http://schemas.microsoft.com/office/drawing/2014/main" id="{930B406A-BFCE-F837-88A3-85108C2A4FB5}"/>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9" name="Rectangle 10">
            <a:extLst>
              <a:ext uri="{FF2B5EF4-FFF2-40B4-BE49-F238E27FC236}">
                <a16:creationId xmlns:a16="http://schemas.microsoft.com/office/drawing/2014/main" id="{78FC0C7A-FDB3-9D5F-2DF2-A4E0633FD6FC}"/>
              </a:ext>
            </a:extLst>
          </p:cNvPr>
          <p:cNvSpPr>
            <a:spLocks/>
          </p:cNvSpPr>
          <p:nvPr/>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539999" y="262800"/>
            <a:ext cx="11113839" cy="664797"/>
          </a:xfrm>
          <a:prstGeom prst="rect">
            <a:avLst/>
          </a:prstGeom>
        </p:spPr>
        <p:txBody>
          <a:bodyPr vert="horz" wrap="square"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540000" y="1204913"/>
            <a:ext cx="11113839" cy="4840287"/>
          </a:xfrm>
          <a:prstGeom prst="rect">
            <a:avLst/>
          </a:prstGeom>
          <a:ln w="12700">
            <a:noFill/>
          </a:ln>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CCE736D-4E9C-5699-7C27-31DFFD7CCF9C}"/>
              </a:ext>
            </a:extLst>
          </p:cNvPr>
          <p:cNvSpPr>
            <a:spLocks noGrp="1"/>
          </p:cNvSpPr>
          <p:nvPr>
            <p:ph type="ftr" sz="quarter" idx="3"/>
          </p:nvPr>
        </p:nvSpPr>
        <p:spPr>
          <a:xfrm flipH="1">
            <a:off x="766637" y="6518751"/>
            <a:ext cx="2754011" cy="138499"/>
          </a:xfrm>
          <a:prstGeom prst="rect">
            <a:avLst/>
          </a:prstGeom>
        </p:spPr>
        <p:txBody>
          <a:bodyPr vert="horz" wrap="square" lIns="0" tIns="0" rIns="0" bIns="0" rtlCol="0" anchor="ctr">
            <a:spAutoFit/>
          </a:bodyPr>
          <a:lstStyle>
            <a:lvl1pPr algn="l">
              <a:defRPr sz="900" cap="all" baseline="0">
                <a:solidFill>
                  <a:schemeClr val="bg1"/>
                </a:solidFill>
              </a:defRPr>
            </a:lvl1pPr>
          </a:lstStyle>
          <a:p>
            <a:r>
              <a:rPr lang="en-US"/>
              <a:t>TRELLEBORG GROUP</a:t>
            </a:r>
          </a:p>
        </p:txBody>
      </p:sp>
      <p:sp>
        <p:nvSpPr>
          <p:cNvPr id="6" name="Slide Number Placeholder 5">
            <a:extLst>
              <a:ext uri="{FF2B5EF4-FFF2-40B4-BE49-F238E27FC236}">
                <a16:creationId xmlns:a16="http://schemas.microsoft.com/office/drawing/2014/main" id="{72C63773-9819-C11B-FCDA-874739360018}"/>
              </a:ext>
            </a:extLst>
          </p:cNvPr>
          <p:cNvSpPr>
            <a:spLocks noGrp="1"/>
          </p:cNvSpPr>
          <p:nvPr>
            <p:ph type="sldNum" sz="quarter" idx="4"/>
          </p:nvPr>
        </p:nvSpPr>
        <p:spPr>
          <a:xfrm>
            <a:off x="539209" y="6518751"/>
            <a:ext cx="210885" cy="138499"/>
          </a:xfrm>
          <a:prstGeom prst="rect">
            <a:avLst/>
          </a:prstGeom>
        </p:spPr>
        <p:txBody>
          <a:bodyPr vert="horz" wrap="square" lIns="0" tIns="0" rIns="0" bIns="0" rtlCol="0" anchor="ctr">
            <a:spAutoFit/>
          </a:bodyPr>
          <a:lstStyle>
            <a:lvl1pPr algn="l">
              <a:defRPr sz="900">
                <a:solidFill>
                  <a:schemeClr val="bg1"/>
                </a:solidFill>
              </a:defRPr>
            </a:lvl1pPr>
          </a:lstStyle>
          <a:p>
            <a:fld id="{5EA29875-719B-4A39-A51C-7BDD87443D68}" type="slidenum">
              <a:rPr lang="en-US" smtClean="0"/>
              <a:pPr/>
              <a:t>‹#›</a:t>
            </a:fld>
            <a:endParaRPr lang="en-US"/>
          </a:p>
        </p:txBody>
      </p:sp>
      <p:sp>
        <p:nvSpPr>
          <p:cNvPr id="4" name="Date Placeholder 3">
            <a:extLst>
              <a:ext uri="{FF2B5EF4-FFF2-40B4-BE49-F238E27FC236}">
                <a16:creationId xmlns:a16="http://schemas.microsoft.com/office/drawing/2014/main" id="{6E1CD961-B06F-DCCD-4BBA-1B1343B74090}"/>
              </a:ext>
            </a:extLst>
          </p:cNvPr>
          <p:cNvSpPr>
            <a:spLocks noGrp="1"/>
          </p:cNvSpPr>
          <p:nvPr>
            <p:ph type="dt" sz="half" idx="2"/>
          </p:nvPr>
        </p:nvSpPr>
        <p:spPr>
          <a:xfrm>
            <a:off x="5196000" y="6518751"/>
            <a:ext cx="1800000" cy="138499"/>
          </a:xfrm>
          <a:prstGeom prst="rect">
            <a:avLst/>
          </a:prstGeom>
        </p:spPr>
        <p:txBody>
          <a:bodyPr vert="horz" wrap="square" lIns="0" tIns="0" rIns="0" bIns="0" rtlCol="0" anchor="ctr">
            <a:spAutoFit/>
          </a:bodyPr>
          <a:lstStyle>
            <a:lvl1pPr algn="ctr">
              <a:defRPr sz="900" cap="all" baseline="0">
                <a:solidFill>
                  <a:schemeClr val="bg1"/>
                </a:solidFill>
              </a:defRPr>
            </a:lvl1pPr>
          </a:lstStyle>
          <a:p>
            <a:fld id="{F66D1A21-DA7F-43FD-8BC0-CF1F1BBA6459}" type="datetime4">
              <a:rPr lang="en-US" smtClean="0"/>
              <a:t>March 3, 2026</a:t>
            </a:fld>
            <a:endParaRPr lang="en-US"/>
          </a:p>
        </p:txBody>
      </p:sp>
      <p:grpSp>
        <p:nvGrpSpPr>
          <p:cNvPr id="30" name="Group 29">
            <a:extLst>
              <a:ext uri="{FF2B5EF4-FFF2-40B4-BE49-F238E27FC236}">
                <a16:creationId xmlns:a16="http://schemas.microsoft.com/office/drawing/2014/main" id="{B7467DED-36C4-2232-7CC5-7925DA4D4319}"/>
              </a:ext>
            </a:extLst>
          </p:cNvPr>
          <p:cNvGrpSpPr>
            <a:grpSpLocks/>
          </p:cNvGrpSpPr>
          <p:nvPr/>
        </p:nvGrpSpPr>
        <p:grpSpPr>
          <a:xfrm>
            <a:off x="10952333" y="6443734"/>
            <a:ext cx="693917" cy="288532"/>
            <a:chOff x="3591717" y="6426680"/>
            <a:chExt cx="442855" cy="184140"/>
          </a:xfrm>
        </p:grpSpPr>
        <p:grpSp>
          <p:nvGrpSpPr>
            <p:cNvPr id="17" name="Graphic 14">
              <a:extLst>
                <a:ext uri="{FF2B5EF4-FFF2-40B4-BE49-F238E27FC236}">
                  <a16:creationId xmlns:a16="http://schemas.microsoft.com/office/drawing/2014/main" id="{4716F08F-D540-EB26-A85F-2D52972561D6}"/>
                </a:ext>
              </a:extLst>
            </p:cNvPr>
            <p:cNvGrpSpPr/>
            <p:nvPr/>
          </p:nvGrpSpPr>
          <p:grpSpPr>
            <a:xfrm>
              <a:off x="3699827" y="6426680"/>
              <a:ext cx="226739" cy="101444"/>
              <a:chOff x="3699827" y="6426680"/>
              <a:chExt cx="226739" cy="101444"/>
            </a:xfrm>
            <a:solidFill>
              <a:srgbClr val="998242"/>
            </a:solidFill>
          </p:grpSpPr>
          <p:sp>
            <p:nvSpPr>
              <p:cNvPr id="18" name="Freeform: Shape 17">
                <a:extLst>
                  <a:ext uri="{FF2B5EF4-FFF2-40B4-BE49-F238E27FC236}">
                    <a16:creationId xmlns:a16="http://schemas.microsoft.com/office/drawing/2014/main" id="{C6A09024-4F7B-6443-0F06-C616D6866BB4}"/>
                  </a:ext>
                </a:extLst>
              </p:cNvPr>
              <p:cNvSpPr/>
              <p:nvPr/>
            </p:nvSpPr>
            <p:spPr>
              <a:xfrm>
                <a:off x="3734822" y="6440532"/>
                <a:ext cx="56450" cy="52076"/>
              </a:xfrm>
              <a:custGeom>
                <a:avLst/>
                <a:gdLst>
                  <a:gd name="connsiteX0" fmla="*/ 0 w 56450"/>
                  <a:gd name="connsiteY0" fmla="*/ 0 h 52076"/>
                  <a:gd name="connsiteX1" fmla="*/ 0 w 56450"/>
                  <a:gd name="connsiteY1" fmla="*/ 8228 h 52076"/>
                  <a:gd name="connsiteX2" fmla="*/ 24059 w 56450"/>
                  <a:gd name="connsiteY2" fmla="*/ 8228 h 52076"/>
                  <a:gd name="connsiteX3" fmla="*/ 24059 w 56450"/>
                  <a:gd name="connsiteY3" fmla="*/ 52076 h 52076"/>
                  <a:gd name="connsiteX4" fmla="*/ 32287 w 56450"/>
                  <a:gd name="connsiteY4" fmla="*/ 52076 h 52076"/>
                  <a:gd name="connsiteX5" fmla="*/ 32287 w 56450"/>
                  <a:gd name="connsiteY5" fmla="*/ 8228 h 52076"/>
                  <a:gd name="connsiteX6" fmla="*/ 56451 w 56450"/>
                  <a:gd name="connsiteY6" fmla="*/ 8228 h 52076"/>
                  <a:gd name="connsiteX7" fmla="*/ 56451 w 56450"/>
                  <a:gd name="connsiteY7" fmla="*/ 0 h 5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0" h="52076">
                    <a:moveTo>
                      <a:pt x="0" y="0"/>
                    </a:moveTo>
                    <a:lnTo>
                      <a:pt x="0" y="8228"/>
                    </a:lnTo>
                    <a:lnTo>
                      <a:pt x="24059" y="8228"/>
                    </a:lnTo>
                    <a:lnTo>
                      <a:pt x="24059" y="52076"/>
                    </a:lnTo>
                    <a:lnTo>
                      <a:pt x="32287" y="52076"/>
                    </a:lnTo>
                    <a:lnTo>
                      <a:pt x="32287" y="8228"/>
                    </a:lnTo>
                    <a:lnTo>
                      <a:pt x="56451" y="8228"/>
                    </a:lnTo>
                    <a:lnTo>
                      <a:pt x="56451" y="0"/>
                    </a:lnTo>
                    <a:close/>
                  </a:path>
                </a:pathLst>
              </a:custGeom>
              <a:solidFill>
                <a:srgbClr val="998242"/>
              </a:solidFill>
              <a:ln w="1041" cap="flat">
                <a:noFill/>
                <a:prstDash val="solid"/>
                <a:miter/>
              </a:ln>
            </p:spPr>
            <p:txBody>
              <a:bodyPr rtlCol="0" anchor="ctr"/>
              <a:lstStyle/>
              <a:p>
                <a:endParaRPr lang="da-DK"/>
              </a:p>
            </p:txBody>
          </p:sp>
          <p:sp>
            <p:nvSpPr>
              <p:cNvPr id="19" name="Freeform: Shape 18">
                <a:extLst>
                  <a:ext uri="{FF2B5EF4-FFF2-40B4-BE49-F238E27FC236}">
                    <a16:creationId xmlns:a16="http://schemas.microsoft.com/office/drawing/2014/main" id="{72AFCC20-0889-811D-5457-9FE4E253F5CD}"/>
                  </a:ext>
                </a:extLst>
              </p:cNvPr>
              <p:cNvSpPr/>
              <p:nvPr/>
            </p:nvSpPr>
            <p:spPr>
              <a:xfrm>
                <a:off x="3699827" y="6426680"/>
                <a:ext cx="226739" cy="101444"/>
              </a:xfrm>
              <a:custGeom>
                <a:avLst/>
                <a:gdLst>
                  <a:gd name="connsiteX0" fmla="*/ 163519 w 226739"/>
                  <a:gd name="connsiteY0" fmla="*/ 101444 h 101444"/>
                  <a:gd name="connsiteX1" fmla="*/ 226739 w 226739"/>
                  <a:gd name="connsiteY1" fmla="*/ 0 h 101444"/>
                  <a:gd name="connsiteX2" fmla="*/ 0 w 226739"/>
                  <a:gd name="connsiteY2" fmla="*/ 0 h 101444"/>
                  <a:gd name="connsiteX3" fmla="*/ 63220 w 226739"/>
                  <a:gd name="connsiteY3" fmla="*/ 101444 h 101444"/>
                  <a:gd name="connsiteX4" fmla="*/ 79885 w 226739"/>
                  <a:gd name="connsiteY4" fmla="*/ 74677 h 101444"/>
                  <a:gd name="connsiteX5" fmla="*/ 96966 w 226739"/>
                  <a:gd name="connsiteY5" fmla="*/ 101444 h 101444"/>
                  <a:gd name="connsiteX6" fmla="*/ 113630 w 226739"/>
                  <a:gd name="connsiteY6" fmla="*/ 74677 h 101444"/>
                  <a:gd name="connsiteX7" fmla="*/ 130294 w 226739"/>
                  <a:gd name="connsiteY7" fmla="*/ 101444 h 101444"/>
                  <a:gd name="connsiteX8" fmla="*/ 146855 w 226739"/>
                  <a:gd name="connsiteY8" fmla="*/ 74781 h 101444"/>
                  <a:gd name="connsiteX9" fmla="*/ 163519 w 226739"/>
                  <a:gd name="connsiteY9" fmla="*/ 101444 h 101444"/>
                  <a:gd name="connsiteX10" fmla="*/ 210075 w 226739"/>
                  <a:gd name="connsiteY10" fmla="*/ 9270 h 101444"/>
                  <a:gd name="connsiteX11" fmla="*/ 163519 w 226739"/>
                  <a:gd name="connsiteY11" fmla="*/ 83947 h 101444"/>
                  <a:gd name="connsiteX12" fmla="*/ 152375 w 226739"/>
                  <a:gd name="connsiteY12" fmla="*/ 66033 h 101444"/>
                  <a:gd name="connsiteX13" fmla="*/ 187682 w 226739"/>
                  <a:gd name="connsiteY13" fmla="*/ 9374 h 101444"/>
                  <a:gd name="connsiteX14" fmla="*/ 210075 w 226739"/>
                  <a:gd name="connsiteY14" fmla="*/ 9270 h 101444"/>
                  <a:gd name="connsiteX15" fmla="*/ 210075 w 226739"/>
                  <a:gd name="connsiteY15" fmla="*/ 9270 h 101444"/>
                  <a:gd name="connsiteX16" fmla="*/ 63220 w 226739"/>
                  <a:gd name="connsiteY16" fmla="*/ 83947 h 101444"/>
                  <a:gd name="connsiteX17" fmla="*/ 16873 w 226739"/>
                  <a:gd name="connsiteY17" fmla="*/ 9270 h 101444"/>
                  <a:gd name="connsiteX18" fmla="*/ 31037 w 226739"/>
                  <a:gd name="connsiteY18" fmla="*/ 9270 h 101444"/>
                  <a:gd name="connsiteX19" fmla="*/ 109777 w 226739"/>
                  <a:gd name="connsiteY19" fmla="*/ 9270 h 101444"/>
                  <a:gd name="connsiteX20" fmla="*/ 63220 w 226739"/>
                  <a:gd name="connsiteY20" fmla="*/ 83947 h 101444"/>
                  <a:gd name="connsiteX21" fmla="*/ 85405 w 226739"/>
                  <a:gd name="connsiteY21" fmla="*/ 65824 h 101444"/>
                  <a:gd name="connsiteX22" fmla="*/ 120608 w 226739"/>
                  <a:gd name="connsiteY22" fmla="*/ 9374 h 101444"/>
                  <a:gd name="connsiteX23" fmla="*/ 143522 w 226739"/>
                  <a:gd name="connsiteY23" fmla="*/ 9374 h 101444"/>
                  <a:gd name="connsiteX24" fmla="*/ 96966 w 226739"/>
                  <a:gd name="connsiteY24" fmla="*/ 84051 h 101444"/>
                  <a:gd name="connsiteX25" fmla="*/ 85405 w 226739"/>
                  <a:gd name="connsiteY25" fmla="*/ 65824 h 101444"/>
                  <a:gd name="connsiteX26" fmla="*/ 119150 w 226739"/>
                  <a:gd name="connsiteY26" fmla="*/ 65824 h 101444"/>
                  <a:gd name="connsiteX27" fmla="*/ 154354 w 226739"/>
                  <a:gd name="connsiteY27" fmla="*/ 9374 h 101444"/>
                  <a:gd name="connsiteX28" fmla="*/ 176746 w 226739"/>
                  <a:gd name="connsiteY28" fmla="*/ 9374 h 101444"/>
                  <a:gd name="connsiteX29" fmla="*/ 130190 w 226739"/>
                  <a:gd name="connsiteY29" fmla="*/ 84051 h 101444"/>
                  <a:gd name="connsiteX30" fmla="*/ 119150 w 226739"/>
                  <a:gd name="connsiteY30" fmla="*/ 65824 h 10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739" h="101444">
                    <a:moveTo>
                      <a:pt x="163519" y="101444"/>
                    </a:moveTo>
                    <a:lnTo>
                      <a:pt x="226739" y="0"/>
                    </a:lnTo>
                    <a:lnTo>
                      <a:pt x="0" y="0"/>
                    </a:lnTo>
                    <a:lnTo>
                      <a:pt x="63220" y="101444"/>
                    </a:lnTo>
                    <a:lnTo>
                      <a:pt x="79885" y="74677"/>
                    </a:lnTo>
                    <a:lnTo>
                      <a:pt x="96966" y="101444"/>
                    </a:lnTo>
                    <a:lnTo>
                      <a:pt x="113630" y="74677"/>
                    </a:lnTo>
                    <a:lnTo>
                      <a:pt x="130294" y="101444"/>
                    </a:lnTo>
                    <a:lnTo>
                      <a:pt x="146855" y="74781"/>
                    </a:lnTo>
                    <a:lnTo>
                      <a:pt x="163519" y="101444"/>
                    </a:lnTo>
                    <a:close/>
                    <a:moveTo>
                      <a:pt x="210075" y="9270"/>
                    </a:moveTo>
                    <a:lnTo>
                      <a:pt x="163519" y="83947"/>
                    </a:lnTo>
                    <a:lnTo>
                      <a:pt x="152375" y="66033"/>
                    </a:lnTo>
                    <a:lnTo>
                      <a:pt x="187682" y="9374"/>
                    </a:lnTo>
                    <a:lnTo>
                      <a:pt x="210075" y="9270"/>
                    </a:lnTo>
                    <a:lnTo>
                      <a:pt x="210075" y="9270"/>
                    </a:lnTo>
                    <a:close/>
                    <a:moveTo>
                      <a:pt x="63220" y="83947"/>
                    </a:moveTo>
                    <a:lnTo>
                      <a:pt x="16873" y="9270"/>
                    </a:lnTo>
                    <a:lnTo>
                      <a:pt x="31037" y="9270"/>
                    </a:lnTo>
                    <a:lnTo>
                      <a:pt x="109777" y="9270"/>
                    </a:lnTo>
                    <a:lnTo>
                      <a:pt x="63220" y="83947"/>
                    </a:lnTo>
                    <a:close/>
                    <a:moveTo>
                      <a:pt x="85405" y="65824"/>
                    </a:moveTo>
                    <a:lnTo>
                      <a:pt x="120608" y="9374"/>
                    </a:lnTo>
                    <a:lnTo>
                      <a:pt x="143522" y="9374"/>
                    </a:lnTo>
                    <a:lnTo>
                      <a:pt x="96966" y="84051"/>
                    </a:lnTo>
                    <a:lnTo>
                      <a:pt x="85405" y="65824"/>
                    </a:lnTo>
                    <a:close/>
                    <a:moveTo>
                      <a:pt x="119150" y="65824"/>
                    </a:moveTo>
                    <a:lnTo>
                      <a:pt x="154354" y="9374"/>
                    </a:lnTo>
                    <a:lnTo>
                      <a:pt x="176746" y="9374"/>
                    </a:lnTo>
                    <a:lnTo>
                      <a:pt x="130190" y="84051"/>
                    </a:lnTo>
                    <a:lnTo>
                      <a:pt x="119150" y="65824"/>
                    </a:lnTo>
                    <a:close/>
                  </a:path>
                </a:pathLst>
              </a:custGeom>
              <a:solidFill>
                <a:srgbClr val="998242"/>
              </a:solidFill>
              <a:ln w="1041" cap="flat">
                <a:noFill/>
                <a:prstDash val="solid"/>
                <a:miter/>
              </a:ln>
            </p:spPr>
            <p:txBody>
              <a:bodyPr rtlCol="0" anchor="ctr"/>
              <a:lstStyle/>
              <a:p>
                <a:endParaRPr lang="da-DK"/>
              </a:p>
            </p:txBody>
          </p:sp>
        </p:grpSp>
        <p:sp>
          <p:nvSpPr>
            <p:cNvPr id="20" name="Freeform: Shape 19">
              <a:extLst>
                <a:ext uri="{FF2B5EF4-FFF2-40B4-BE49-F238E27FC236}">
                  <a16:creationId xmlns:a16="http://schemas.microsoft.com/office/drawing/2014/main" id="{656BDD16-D07C-23D8-ECD0-22B66F86EA4C}"/>
                </a:ext>
              </a:extLst>
            </p:cNvPr>
            <p:cNvSpPr/>
            <p:nvPr/>
          </p:nvSpPr>
          <p:spPr>
            <a:xfrm>
              <a:off x="3591717" y="6545309"/>
              <a:ext cx="39577" cy="64261"/>
            </a:xfrm>
            <a:custGeom>
              <a:avLst/>
              <a:gdLst>
                <a:gd name="connsiteX0" fmla="*/ 0 w 39577"/>
                <a:gd name="connsiteY0" fmla="*/ 8332 h 64261"/>
                <a:gd name="connsiteX1" fmla="*/ 5103 w 39577"/>
                <a:gd name="connsiteY1" fmla="*/ 5833 h 64261"/>
                <a:gd name="connsiteX2" fmla="*/ 16039 w 39577"/>
                <a:gd name="connsiteY2" fmla="*/ 5833 h 64261"/>
                <a:gd name="connsiteX3" fmla="*/ 16039 w 39577"/>
                <a:gd name="connsiteY3" fmla="*/ 59263 h 64261"/>
                <a:gd name="connsiteX4" fmla="*/ 14061 w 39577"/>
                <a:gd name="connsiteY4" fmla="*/ 64262 h 64261"/>
                <a:gd name="connsiteX5" fmla="*/ 25517 w 39577"/>
                <a:gd name="connsiteY5" fmla="*/ 64262 h 64261"/>
                <a:gd name="connsiteX6" fmla="*/ 23538 w 39577"/>
                <a:gd name="connsiteY6" fmla="*/ 59263 h 64261"/>
                <a:gd name="connsiteX7" fmla="*/ 23538 w 39577"/>
                <a:gd name="connsiteY7" fmla="*/ 5728 h 64261"/>
                <a:gd name="connsiteX8" fmla="*/ 34579 w 39577"/>
                <a:gd name="connsiteY8" fmla="*/ 5728 h 64261"/>
                <a:gd name="connsiteX9" fmla="*/ 39578 w 39577"/>
                <a:gd name="connsiteY9" fmla="*/ 8228 h 64261"/>
                <a:gd name="connsiteX10" fmla="*/ 39578 w 39577"/>
                <a:gd name="connsiteY10" fmla="*/ 0 h 64261"/>
                <a:gd name="connsiteX11" fmla="*/ 0 w 39577"/>
                <a:gd name="connsiteY11" fmla="*/ 0 h 64261"/>
                <a:gd name="connsiteX12" fmla="*/ 0 w 39577"/>
                <a:gd name="connsiteY12" fmla="*/ 8332 h 6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77" h="64261">
                  <a:moveTo>
                    <a:pt x="0" y="8332"/>
                  </a:moveTo>
                  <a:cubicBezTo>
                    <a:pt x="1146" y="7082"/>
                    <a:pt x="1250" y="5833"/>
                    <a:pt x="5103" y="5833"/>
                  </a:cubicBezTo>
                  <a:lnTo>
                    <a:pt x="16039" y="5833"/>
                  </a:lnTo>
                  <a:lnTo>
                    <a:pt x="16039" y="59263"/>
                  </a:lnTo>
                  <a:cubicBezTo>
                    <a:pt x="16039" y="62700"/>
                    <a:pt x="15519" y="63116"/>
                    <a:pt x="14061" y="64262"/>
                  </a:cubicBezTo>
                  <a:lnTo>
                    <a:pt x="25517" y="64262"/>
                  </a:lnTo>
                  <a:cubicBezTo>
                    <a:pt x="24059" y="63116"/>
                    <a:pt x="23538" y="62700"/>
                    <a:pt x="23538" y="59263"/>
                  </a:cubicBezTo>
                  <a:lnTo>
                    <a:pt x="23538" y="5728"/>
                  </a:lnTo>
                  <a:lnTo>
                    <a:pt x="34579" y="5728"/>
                  </a:lnTo>
                  <a:cubicBezTo>
                    <a:pt x="38432" y="5728"/>
                    <a:pt x="38432" y="7082"/>
                    <a:pt x="39578" y="8228"/>
                  </a:cubicBezTo>
                  <a:lnTo>
                    <a:pt x="39578" y="0"/>
                  </a:lnTo>
                  <a:lnTo>
                    <a:pt x="0" y="0"/>
                  </a:lnTo>
                  <a:lnTo>
                    <a:pt x="0" y="8332"/>
                  </a:lnTo>
                  <a:close/>
                </a:path>
              </a:pathLst>
            </a:custGeom>
            <a:solidFill>
              <a:srgbClr val="FFFFFF"/>
            </a:solidFill>
            <a:ln w="1041" cap="flat">
              <a:noFill/>
              <a:prstDash val="solid"/>
              <a:miter/>
            </a:ln>
          </p:spPr>
          <p:txBody>
            <a:bodyPr rtlCol="0" anchor="ctr"/>
            <a:lstStyle/>
            <a:p>
              <a:endParaRPr lang="da-DK"/>
            </a:p>
          </p:txBody>
        </p:sp>
        <p:sp>
          <p:nvSpPr>
            <p:cNvPr id="21" name="Freeform: Shape 20">
              <a:extLst>
                <a:ext uri="{FF2B5EF4-FFF2-40B4-BE49-F238E27FC236}">
                  <a16:creationId xmlns:a16="http://schemas.microsoft.com/office/drawing/2014/main" id="{73522D4A-C207-373D-0ECB-C70402668CE5}"/>
                </a:ext>
              </a:extLst>
            </p:cNvPr>
            <p:cNvSpPr/>
            <p:nvPr/>
          </p:nvSpPr>
          <p:spPr>
            <a:xfrm>
              <a:off x="3635773"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765" y="62700"/>
                    <a:pt x="39370" y="58950"/>
                  </a:cubicBezTo>
                  <a:close/>
                </a:path>
              </a:pathLst>
            </a:custGeom>
            <a:solidFill>
              <a:srgbClr val="FFFFFF"/>
            </a:solidFill>
            <a:ln w="1041" cap="flat">
              <a:noFill/>
              <a:prstDash val="solid"/>
              <a:miter/>
            </a:ln>
          </p:spPr>
          <p:txBody>
            <a:bodyPr rtlCol="0" anchor="ctr"/>
            <a:lstStyle/>
            <a:p>
              <a:endParaRPr lang="da-DK"/>
            </a:p>
          </p:txBody>
        </p:sp>
        <p:sp>
          <p:nvSpPr>
            <p:cNvPr id="22" name="Freeform: Shape 21">
              <a:extLst>
                <a:ext uri="{FF2B5EF4-FFF2-40B4-BE49-F238E27FC236}">
                  <a16:creationId xmlns:a16="http://schemas.microsoft.com/office/drawing/2014/main" id="{EA047F0C-DEAB-BB35-90AE-16895CA11E0F}"/>
                </a:ext>
              </a:extLst>
            </p:cNvPr>
            <p:cNvSpPr/>
            <p:nvPr/>
          </p:nvSpPr>
          <p:spPr>
            <a:xfrm>
              <a:off x="3939898"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661" y="62700"/>
                    <a:pt x="39370" y="58950"/>
                  </a:cubicBezTo>
                  <a:close/>
                </a:path>
              </a:pathLst>
            </a:custGeom>
            <a:solidFill>
              <a:srgbClr val="FFFFFF"/>
            </a:solidFill>
            <a:ln w="1041" cap="flat">
              <a:noFill/>
              <a:prstDash val="solid"/>
              <a:miter/>
            </a:ln>
          </p:spPr>
          <p:txBody>
            <a:bodyPr rtlCol="0" anchor="ctr"/>
            <a:lstStyle/>
            <a:p>
              <a:endParaRPr lang="da-DK"/>
            </a:p>
          </p:txBody>
        </p:sp>
        <p:sp>
          <p:nvSpPr>
            <p:cNvPr id="23" name="Freeform: Shape 22">
              <a:extLst>
                <a:ext uri="{FF2B5EF4-FFF2-40B4-BE49-F238E27FC236}">
                  <a16:creationId xmlns:a16="http://schemas.microsoft.com/office/drawing/2014/main" id="{52C78186-0C51-B1F5-D4E0-07FA8AE2632B}"/>
                </a:ext>
              </a:extLst>
            </p:cNvPr>
            <p:cNvSpPr/>
            <p:nvPr/>
          </p:nvSpPr>
          <p:spPr>
            <a:xfrm>
              <a:off x="3683892" y="6545518"/>
              <a:ext cx="34161" cy="63949"/>
            </a:xfrm>
            <a:custGeom>
              <a:avLst/>
              <a:gdLst>
                <a:gd name="connsiteX0" fmla="*/ 1979 w 34161"/>
                <a:gd name="connsiteY0" fmla="*/ 4999 h 63949"/>
                <a:gd name="connsiteX1" fmla="*/ 1979 w 34161"/>
                <a:gd name="connsiteY1" fmla="*/ 58950 h 63949"/>
                <a:gd name="connsiteX2" fmla="*/ 0 w 34161"/>
                <a:gd name="connsiteY2" fmla="*/ 63949 h 63949"/>
                <a:gd name="connsiteX3" fmla="*/ 34162 w 34161"/>
                <a:gd name="connsiteY3" fmla="*/ 63949 h 63949"/>
                <a:gd name="connsiteX4" fmla="*/ 34162 w 34161"/>
                <a:gd name="connsiteY4" fmla="*/ 55617 h 63949"/>
                <a:gd name="connsiteX5" fmla="*/ 29058 w 34161"/>
                <a:gd name="connsiteY5" fmla="*/ 58221 h 63949"/>
                <a:gd name="connsiteX6" fmla="*/ 9478 w 34161"/>
                <a:gd name="connsiteY6" fmla="*/ 58221 h 63949"/>
                <a:gd name="connsiteX7" fmla="*/ 9478 w 34161"/>
                <a:gd name="connsiteY7" fmla="*/ 31662 h 63949"/>
                <a:gd name="connsiteX8" fmla="*/ 23226 w 34161"/>
                <a:gd name="connsiteY8" fmla="*/ 31975 h 63949"/>
                <a:gd name="connsiteX9" fmla="*/ 27913 w 34161"/>
                <a:gd name="connsiteY9" fmla="*/ 33849 h 63949"/>
                <a:gd name="connsiteX10" fmla="*/ 27913 w 34161"/>
                <a:gd name="connsiteY10" fmla="*/ 24372 h 63949"/>
                <a:gd name="connsiteX11" fmla="*/ 23018 w 34161"/>
                <a:gd name="connsiteY11" fmla="*/ 26246 h 63949"/>
                <a:gd name="connsiteX12" fmla="*/ 9478 w 34161"/>
                <a:gd name="connsiteY12" fmla="*/ 25934 h 63949"/>
                <a:gd name="connsiteX13" fmla="*/ 9478 w 34161"/>
                <a:gd name="connsiteY13" fmla="*/ 5728 h 63949"/>
                <a:gd name="connsiteX14" fmla="*/ 29058 w 34161"/>
                <a:gd name="connsiteY14" fmla="*/ 5728 h 63949"/>
                <a:gd name="connsiteX15" fmla="*/ 34162 w 34161"/>
                <a:gd name="connsiteY15" fmla="*/ 8332 h 63949"/>
                <a:gd name="connsiteX16" fmla="*/ 34162 w 34161"/>
                <a:gd name="connsiteY16" fmla="*/ 0 h 63949"/>
                <a:gd name="connsiteX17" fmla="*/ 0 w 34161"/>
                <a:gd name="connsiteY17" fmla="*/ 0 h 63949"/>
                <a:gd name="connsiteX18" fmla="*/ 1979 w 34161"/>
                <a:gd name="connsiteY18" fmla="*/ 4999 h 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949">
                  <a:moveTo>
                    <a:pt x="1979" y="4999"/>
                  </a:moveTo>
                  <a:lnTo>
                    <a:pt x="1979" y="58950"/>
                  </a:lnTo>
                  <a:cubicBezTo>
                    <a:pt x="1979" y="62387"/>
                    <a:pt x="1458" y="62804"/>
                    <a:pt x="0" y="63949"/>
                  </a:cubicBezTo>
                  <a:lnTo>
                    <a:pt x="34162" y="63949"/>
                  </a:lnTo>
                  <a:lnTo>
                    <a:pt x="34162" y="55617"/>
                  </a:lnTo>
                  <a:cubicBezTo>
                    <a:pt x="33225" y="56763"/>
                    <a:pt x="33120" y="58221"/>
                    <a:pt x="29058" y="58221"/>
                  </a:cubicBezTo>
                  <a:lnTo>
                    <a:pt x="9478" y="58221"/>
                  </a:lnTo>
                  <a:lnTo>
                    <a:pt x="9478" y="31662"/>
                  </a:lnTo>
                  <a:lnTo>
                    <a:pt x="23226" y="31975"/>
                  </a:lnTo>
                  <a:cubicBezTo>
                    <a:pt x="27184" y="31975"/>
                    <a:pt x="27184" y="32912"/>
                    <a:pt x="27913" y="33849"/>
                  </a:cubicBezTo>
                  <a:lnTo>
                    <a:pt x="27913" y="24372"/>
                  </a:lnTo>
                  <a:cubicBezTo>
                    <a:pt x="26975" y="25517"/>
                    <a:pt x="26871" y="26246"/>
                    <a:pt x="23018" y="26246"/>
                  </a:cubicBezTo>
                  <a:lnTo>
                    <a:pt x="9478" y="25934"/>
                  </a:lnTo>
                  <a:lnTo>
                    <a:pt x="9478" y="5728"/>
                  </a:lnTo>
                  <a:lnTo>
                    <a:pt x="29058" y="5728"/>
                  </a:lnTo>
                  <a:cubicBezTo>
                    <a:pt x="33120" y="5728"/>
                    <a:pt x="33433" y="7395"/>
                    <a:pt x="34162" y="8332"/>
                  </a:cubicBezTo>
                  <a:lnTo>
                    <a:pt x="34162" y="0"/>
                  </a:lnTo>
                  <a:lnTo>
                    <a:pt x="0" y="0"/>
                  </a:lnTo>
                  <a:cubicBezTo>
                    <a:pt x="1458" y="1146"/>
                    <a:pt x="1979" y="1562"/>
                    <a:pt x="1979" y="4999"/>
                  </a:cubicBezTo>
                  <a:close/>
                </a:path>
              </a:pathLst>
            </a:custGeom>
            <a:solidFill>
              <a:srgbClr val="FFFFFF"/>
            </a:solidFill>
            <a:ln w="1041" cap="flat">
              <a:noFill/>
              <a:prstDash val="solid"/>
              <a:miter/>
            </a:ln>
          </p:spPr>
          <p:txBody>
            <a:bodyPr rtlCol="0" anchor="ctr"/>
            <a:lstStyle/>
            <a:p>
              <a:endParaRPr lang="da-DK"/>
            </a:p>
          </p:txBody>
        </p:sp>
        <p:sp>
          <p:nvSpPr>
            <p:cNvPr id="24" name="Freeform: Shape 23">
              <a:extLst>
                <a:ext uri="{FF2B5EF4-FFF2-40B4-BE49-F238E27FC236}">
                  <a16:creationId xmlns:a16="http://schemas.microsoft.com/office/drawing/2014/main" id="{4ECAA7BB-C0DA-5D7C-9470-8E72890AF0CD}"/>
                </a:ext>
              </a:extLst>
            </p:cNvPr>
            <p:cNvSpPr/>
            <p:nvPr/>
          </p:nvSpPr>
          <p:spPr>
            <a:xfrm>
              <a:off x="3724094" y="6545309"/>
              <a:ext cx="29266" cy="64157"/>
            </a:xfrm>
            <a:custGeom>
              <a:avLst/>
              <a:gdLst>
                <a:gd name="connsiteX0" fmla="*/ 24267 w 29266"/>
                <a:gd name="connsiteY0" fmla="*/ 58429 h 64157"/>
                <a:gd name="connsiteX1" fmla="*/ 9478 w 29266"/>
                <a:gd name="connsiteY1" fmla="*/ 58429 h 64157"/>
                <a:gd name="connsiteX2" fmla="*/ 9478 w 29266"/>
                <a:gd name="connsiteY2" fmla="*/ 4999 h 64157"/>
                <a:gd name="connsiteX3" fmla="*/ 11457 w 29266"/>
                <a:gd name="connsiteY3" fmla="*/ 0 h 64157"/>
                <a:gd name="connsiteX4" fmla="*/ 0 w 29266"/>
                <a:gd name="connsiteY4" fmla="*/ 0 h 64157"/>
                <a:gd name="connsiteX5" fmla="*/ 1979 w 29266"/>
                <a:gd name="connsiteY5" fmla="*/ 4999 h 64157"/>
                <a:gd name="connsiteX6" fmla="*/ 1979 w 29266"/>
                <a:gd name="connsiteY6" fmla="*/ 59158 h 64157"/>
                <a:gd name="connsiteX7" fmla="*/ 0 w 29266"/>
                <a:gd name="connsiteY7" fmla="*/ 64158 h 64157"/>
                <a:gd name="connsiteX8" fmla="*/ 29267 w 29266"/>
                <a:gd name="connsiteY8" fmla="*/ 64158 h 64157"/>
                <a:gd name="connsiteX9" fmla="*/ 29267 w 29266"/>
                <a:gd name="connsiteY9" fmla="*/ 55826 h 64157"/>
                <a:gd name="connsiteX10" fmla="*/ 24267 w 29266"/>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66" h="64157">
                  <a:moveTo>
                    <a:pt x="24267"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9267" y="64158"/>
                  </a:lnTo>
                  <a:lnTo>
                    <a:pt x="29267" y="55826"/>
                  </a:lnTo>
                  <a:cubicBezTo>
                    <a:pt x="28434" y="56763"/>
                    <a:pt x="28225" y="58429"/>
                    <a:pt x="24267" y="58429"/>
                  </a:cubicBezTo>
                  <a:close/>
                </a:path>
              </a:pathLst>
            </a:custGeom>
            <a:solidFill>
              <a:srgbClr val="FFFFFF"/>
            </a:solidFill>
            <a:ln w="1041" cap="flat">
              <a:noFill/>
              <a:prstDash val="solid"/>
              <a:miter/>
            </a:ln>
          </p:spPr>
          <p:txBody>
            <a:bodyPr rtlCol="0" anchor="ctr"/>
            <a:lstStyle/>
            <a:p>
              <a:endParaRPr lang="da-DK"/>
            </a:p>
          </p:txBody>
        </p:sp>
        <p:sp>
          <p:nvSpPr>
            <p:cNvPr id="25" name="Freeform: Shape 24">
              <a:extLst>
                <a:ext uri="{FF2B5EF4-FFF2-40B4-BE49-F238E27FC236}">
                  <a16:creationId xmlns:a16="http://schemas.microsoft.com/office/drawing/2014/main" id="{FCADB1A2-0263-5836-82D2-AD2EB43C50E5}"/>
                </a:ext>
              </a:extLst>
            </p:cNvPr>
            <p:cNvSpPr/>
            <p:nvPr/>
          </p:nvSpPr>
          <p:spPr>
            <a:xfrm>
              <a:off x="3758465" y="6545309"/>
              <a:ext cx="28329" cy="64157"/>
            </a:xfrm>
            <a:custGeom>
              <a:avLst/>
              <a:gdLst>
                <a:gd name="connsiteX0" fmla="*/ 23226 w 28329"/>
                <a:gd name="connsiteY0" fmla="*/ 58429 h 64157"/>
                <a:gd name="connsiteX1" fmla="*/ 9478 w 28329"/>
                <a:gd name="connsiteY1" fmla="*/ 58429 h 64157"/>
                <a:gd name="connsiteX2" fmla="*/ 9478 w 28329"/>
                <a:gd name="connsiteY2" fmla="*/ 4999 h 64157"/>
                <a:gd name="connsiteX3" fmla="*/ 11457 w 28329"/>
                <a:gd name="connsiteY3" fmla="*/ 0 h 64157"/>
                <a:gd name="connsiteX4" fmla="*/ 0 w 28329"/>
                <a:gd name="connsiteY4" fmla="*/ 0 h 64157"/>
                <a:gd name="connsiteX5" fmla="*/ 1979 w 28329"/>
                <a:gd name="connsiteY5" fmla="*/ 4999 h 64157"/>
                <a:gd name="connsiteX6" fmla="*/ 1979 w 28329"/>
                <a:gd name="connsiteY6" fmla="*/ 59158 h 64157"/>
                <a:gd name="connsiteX7" fmla="*/ 0 w 28329"/>
                <a:gd name="connsiteY7" fmla="*/ 64158 h 64157"/>
                <a:gd name="connsiteX8" fmla="*/ 28329 w 28329"/>
                <a:gd name="connsiteY8" fmla="*/ 64158 h 64157"/>
                <a:gd name="connsiteX9" fmla="*/ 28329 w 28329"/>
                <a:gd name="connsiteY9" fmla="*/ 55826 h 64157"/>
                <a:gd name="connsiteX10" fmla="*/ 23226 w 28329"/>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329" h="64157">
                  <a:moveTo>
                    <a:pt x="23226"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8329" y="64158"/>
                  </a:lnTo>
                  <a:lnTo>
                    <a:pt x="28329" y="55826"/>
                  </a:lnTo>
                  <a:cubicBezTo>
                    <a:pt x="27392" y="56763"/>
                    <a:pt x="27184" y="58429"/>
                    <a:pt x="23226" y="58429"/>
                  </a:cubicBezTo>
                  <a:close/>
                </a:path>
              </a:pathLst>
            </a:custGeom>
            <a:solidFill>
              <a:srgbClr val="FFFFFF"/>
            </a:solidFill>
            <a:ln w="1041" cap="flat">
              <a:noFill/>
              <a:prstDash val="solid"/>
              <a:miter/>
            </a:ln>
          </p:spPr>
          <p:txBody>
            <a:bodyPr rtlCol="0" anchor="ctr"/>
            <a:lstStyle/>
            <a:p>
              <a:endParaRPr lang="da-DK"/>
            </a:p>
          </p:txBody>
        </p:sp>
        <p:sp>
          <p:nvSpPr>
            <p:cNvPr id="26" name="Freeform: Shape 25">
              <a:extLst>
                <a:ext uri="{FF2B5EF4-FFF2-40B4-BE49-F238E27FC236}">
                  <a16:creationId xmlns:a16="http://schemas.microsoft.com/office/drawing/2014/main" id="{F239AD06-2420-D200-F661-84624A3B313E}"/>
                </a:ext>
              </a:extLst>
            </p:cNvPr>
            <p:cNvSpPr/>
            <p:nvPr/>
          </p:nvSpPr>
          <p:spPr>
            <a:xfrm>
              <a:off x="3792210" y="6546038"/>
              <a:ext cx="34161" cy="63324"/>
            </a:xfrm>
            <a:custGeom>
              <a:avLst/>
              <a:gdLst>
                <a:gd name="connsiteX0" fmla="*/ 1979 w 34161"/>
                <a:gd name="connsiteY0" fmla="*/ 8436 h 63324"/>
                <a:gd name="connsiteX1" fmla="*/ 1979 w 34161"/>
                <a:gd name="connsiteY1" fmla="*/ 61658 h 63324"/>
                <a:gd name="connsiteX2" fmla="*/ 0 w 34161"/>
                <a:gd name="connsiteY2" fmla="*/ 63325 h 63324"/>
                <a:gd name="connsiteX3" fmla="*/ 34162 w 34161"/>
                <a:gd name="connsiteY3" fmla="*/ 63325 h 63324"/>
                <a:gd name="connsiteX4" fmla="*/ 34162 w 34161"/>
                <a:gd name="connsiteY4" fmla="*/ 54992 h 63324"/>
                <a:gd name="connsiteX5" fmla="*/ 29058 w 34161"/>
                <a:gd name="connsiteY5" fmla="*/ 57596 h 63324"/>
                <a:gd name="connsiteX6" fmla="*/ 9478 w 34161"/>
                <a:gd name="connsiteY6" fmla="*/ 57596 h 63324"/>
                <a:gd name="connsiteX7" fmla="*/ 9478 w 34161"/>
                <a:gd name="connsiteY7" fmla="*/ 30621 h 63324"/>
                <a:gd name="connsiteX8" fmla="*/ 24059 w 34161"/>
                <a:gd name="connsiteY8" fmla="*/ 30933 h 63324"/>
                <a:gd name="connsiteX9" fmla="*/ 28746 w 34161"/>
                <a:gd name="connsiteY9" fmla="*/ 32808 h 63324"/>
                <a:gd name="connsiteX10" fmla="*/ 28746 w 34161"/>
                <a:gd name="connsiteY10" fmla="*/ 23330 h 63324"/>
                <a:gd name="connsiteX11" fmla="*/ 23851 w 34161"/>
                <a:gd name="connsiteY11" fmla="*/ 25205 h 63324"/>
                <a:gd name="connsiteX12" fmla="*/ 9478 w 34161"/>
                <a:gd name="connsiteY12" fmla="*/ 24892 h 63324"/>
                <a:gd name="connsiteX13" fmla="*/ 9478 w 34161"/>
                <a:gd name="connsiteY13" fmla="*/ 5728 h 63324"/>
                <a:gd name="connsiteX14" fmla="*/ 29058 w 34161"/>
                <a:gd name="connsiteY14" fmla="*/ 5728 h 63324"/>
                <a:gd name="connsiteX15" fmla="*/ 34162 w 34161"/>
                <a:gd name="connsiteY15" fmla="*/ 8332 h 63324"/>
                <a:gd name="connsiteX16" fmla="*/ 34162 w 34161"/>
                <a:gd name="connsiteY16" fmla="*/ 0 h 63324"/>
                <a:gd name="connsiteX17" fmla="*/ 0 w 34161"/>
                <a:gd name="connsiteY17" fmla="*/ 0 h 63324"/>
                <a:gd name="connsiteX18" fmla="*/ 1979 w 34161"/>
                <a:gd name="connsiteY18" fmla="*/ 8436 h 6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324">
                  <a:moveTo>
                    <a:pt x="1979" y="8436"/>
                  </a:moveTo>
                  <a:lnTo>
                    <a:pt x="1979" y="61658"/>
                  </a:lnTo>
                  <a:cubicBezTo>
                    <a:pt x="1979" y="61762"/>
                    <a:pt x="1458" y="62179"/>
                    <a:pt x="0" y="63325"/>
                  </a:cubicBezTo>
                  <a:lnTo>
                    <a:pt x="34162" y="63325"/>
                  </a:lnTo>
                  <a:lnTo>
                    <a:pt x="34162" y="54992"/>
                  </a:lnTo>
                  <a:cubicBezTo>
                    <a:pt x="33225" y="56138"/>
                    <a:pt x="33120" y="57596"/>
                    <a:pt x="29058" y="57596"/>
                  </a:cubicBezTo>
                  <a:lnTo>
                    <a:pt x="9478" y="57596"/>
                  </a:lnTo>
                  <a:lnTo>
                    <a:pt x="9478" y="30621"/>
                  </a:lnTo>
                  <a:lnTo>
                    <a:pt x="24059" y="30933"/>
                  </a:lnTo>
                  <a:cubicBezTo>
                    <a:pt x="28017" y="30933"/>
                    <a:pt x="28017" y="31871"/>
                    <a:pt x="28746" y="32808"/>
                  </a:cubicBezTo>
                  <a:lnTo>
                    <a:pt x="28746" y="23330"/>
                  </a:lnTo>
                  <a:cubicBezTo>
                    <a:pt x="27809" y="24476"/>
                    <a:pt x="27705" y="25205"/>
                    <a:pt x="23851" y="25205"/>
                  </a:cubicBezTo>
                  <a:lnTo>
                    <a:pt x="9478" y="24892"/>
                  </a:lnTo>
                  <a:lnTo>
                    <a:pt x="9478" y="5728"/>
                  </a:lnTo>
                  <a:lnTo>
                    <a:pt x="29058" y="5728"/>
                  </a:lnTo>
                  <a:cubicBezTo>
                    <a:pt x="33120" y="5728"/>
                    <a:pt x="33433" y="7395"/>
                    <a:pt x="34162" y="8332"/>
                  </a:cubicBezTo>
                  <a:lnTo>
                    <a:pt x="34162" y="0"/>
                  </a:lnTo>
                  <a:lnTo>
                    <a:pt x="0" y="0"/>
                  </a:lnTo>
                  <a:cubicBezTo>
                    <a:pt x="1458" y="1250"/>
                    <a:pt x="1979" y="1666"/>
                    <a:pt x="1979" y="8436"/>
                  </a:cubicBezTo>
                  <a:close/>
                </a:path>
              </a:pathLst>
            </a:custGeom>
            <a:solidFill>
              <a:srgbClr val="FFFFFF"/>
            </a:solidFill>
            <a:ln w="1041" cap="flat">
              <a:noFill/>
              <a:prstDash val="solid"/>
              <a:miter/>
            </a:ln>
          </p:spPr>
          <p:txBody>
            <a:bodyPr rtlCol="0" anchor="ctr"/>
            <a:lstStyle/>
            <a:p>
              <a:endParaRPr lang="da-DK"/>
            </a:p>
          </p:txBody>
        </p:sp>
        <p:sp>
          <p:nvSpPr>
            <p:cNvPr id="27" name="Freeform: Shape 26">
              <a:extLst>
                <a:ext uri="{FF2B5EF4-FFF2-40B4-BE49-F238E27FC236}">
                  <a16:creationId xmlns:a16="http://schemas.microsoft.com/office/drawing/2014/main" id="{6BACD652-2771-4558-DB56-C6F5C430DF85}"/>
                </a:ext>
              </a:extLst>
            </p:cNvPr>
            <p:cNvSpPr/>
            <p:nvPr/>
          </p:nvSpPr>
          <p:spPr>
            <a:xfrm>
              <a:off x="3832621" y="6546143"/>
              <a:ext cx="41556" cy="63220"/>
            </a:xfrm>
            <a:custGeom>
              <a:avLst/>
              <a:gdLst>
                <a:gd name="connsiteX0" fmla="*/ 27288 w 41556"/>
                <a:gd name="connsiteY0" fmla="*/ 29267 h 63220"/>
                <a:gd name="connsiteX1" fmla="*/ 27288 w 41556"/>
                <a:gd name="connsiteY1" fmla="*/ 29059 h 63220"/>
                <a:gd name="connsiteX2" fmla="*/ 38120 w 41556"/>
                <a:gd name="connsiteY2" fmla="*/ 14790 h 63220"/>
                <a:gd name="connsiteX3" fmla="*/ 15935 w 41556"/>
                <a:gd name="connsiteY3" fmla="*/ 0 h 63220"/>
                <a:gd name="connsiteX4" fmla="*/ 0 w 41556"/>
                <a:gd name="connsiteY4" fmla="*/ 0 h 63220"/>
                <a:gd name="connsiteX5" fmla="*/ 1979 w 41556"/>
                <a:gd name="connsiteY5" fmla="*/ 4999 h 63220"/>
                <a:gd name="connsiteX6" fmla="*/ 1979 w 41556"/>
                <a:gd name="connsiteY6" fmla="*/ 58221 h 63220"/>
                <a:gd name="connsiteX7" fmla="*/ 0 w 41556"/>
                <a:gd name="connsiteY7" fmla="*/ 63220 h 63220"/>
                <a:gd name="connsiteX8" fmla="*/ 15935 w 41556"/>
                <a:gd name="connsiteY8" fmla="*/ 63220 h 63220"/>
                <a:gd name="connsiteX9" fmla="*/ 41557 w 41556"/>
                <a:gd name="connsiteY9" fmla="*/ 45619 h 63220"/>
                <a:gd name="connsiteX10" fmla="*/ 27288 w 41556"/>
                <a:gd name="connsiteY10" fmla="*/ 29267 h 63220"/>
                <a:gd name="connsiteX11" fmla="*/ 15935 w 41556"/>
                <a:gd name="connsiteY11" fmla="*/ 57596 h 63220"/>
                <a:gd name="connsiteX12" fmla="*/ 9478 w 41556"/>
                <a:gd name="connsiteY12" fmla="*/ 57596 h 63220"/>
                <a:gd name="connsiteX13" fmla="*/ 9478 w 41556"/>
                <a:gd name="connsiteY13" fmla="*/ 28225 h 63220"/>
                <a:gd name="connsiteX14" fmla="*/ 9478 w 41556"/>
                <a:gd name="connsiteY14" fmla="*/ 5833 h 63220"/>
                <a:gd name="connsiteX15" fmla="*/ 15935 w 41556"/>
                <a:gd name="connsiteY15" fmla="*/ 5833 h 63220"/>
                <a:gd name="connsiteX16" fmla="*/ 30621 w 41556"/>
                <a:gd name="connsiteY16" fmla="*/ 15623 h 63220"/>
                <a:gd name="connsiteX17" fmla="*/ 16144 w 41556"/>
                <a:gd name="connsiteY17" fmla="*/ 28642 h 63220"/>
                <a:gd name="connsiteX18" fmla="*/ 16144 w 41556"/>
                <a:gd name="connsiteY18" fmla="*/ 30412 h 63220"/>
                <a:gd name="connsiteX19" fmla="*/ 34058 w 41556"/>
                <a:gd name="connsiteY19" fmla="*/ 45410 h 63220"/>
                <a:gd name="connsiteX20" fmla="*/ 15935 w 41556"/>
                <a:gd name="connsiteY20" fmla="*/ 57596 h 6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556" h="63220">
                  <a:moveTo>
                    <a:pt x="27288" y="29267"/>
                  </a:moveTo>
                  <a:lnTo>
                    <a:pt x="27288" y="29059"/>
                  </a:lnTo>
                  <a:cubicBezTo>
                    <a:pt x="32079" y="28225"/>
                    <a:pt x="38120" y="24059"/>
                    <a:pt x="38120" y="14790"/>
                  </a:cubicBezTo>
                  <a:cubicBezTo>
                    <a:pt x="38120" y="1354"/>
                    <a:pt x="26559" y="0"/>
                    <a:pt x="15935" y="0"/>
                  </a:cubicBezTo>
                  <a:lnTo>
                    <a:pt x="0" y="0"/>
                  </a:lnTo>
                  <a:cubicBezTo>
                    <a:pt x="1458" y="1146"/>
                    <a:pt x="1979" y="1562"/>
                    <a:pt x="1979" y="4999"/>
                  </a:cubicBezTo>
                  <a:lnTo>
                    <a:pt x="1979" y="58221"/>
                  </a:lnTo>
                  <a:cubicBezTo>
                    <a:pt x="1979" y="61658"/>
                    <a:pt x="1458" y="62075"/>
                    <a:pt x="0" y="63220"/>
                  </a:cubicBezTo>
                  <a:lnTo>
                    <a:pt x="15935" y="63220"/>
                  </a:lnTo>
                  <a:cubicBezTo>
                    <a:pt x="25830" y="63220"/>
                    <a:pt x="41557" y="62179"/>
                    <a:pt x="41557" y="45619"/>
                  </a:cubicBezTo>
                  <a:cubicBezTo>
                    <a:pt x="41453" y="33849"/>
                    <a:pt x="32600" y="29267"/>
                    <a:pt x="27288" y="29267"/>
                  </a:cubicBezTo>
                  <a:close/>
                  <a:moveTo>
                    <a:pt x="15935" y="57596"/>
                  </a:moveTo>
                  <a:lnTo>
                    <a:pt x="9478" y="57596"/>
                  </a:lnTo>
                  <a:lnTo>
                    <a:pt x="9478" y="28225"/>
                  </a:lnTo>
                  <a:lnTo>
                    <a:pt x="9478" y="5833"/>
                  </a:lnTo>
                  <a:lnTo>
                    <a:pt x="15935" y="5833"/>
                  </a:lnTo>
                  <a:cubicBezTo>
                    <a:pt x="22705" y="5833"/>
                    <a:pt x="30621" y="6041"/>
                    <a:pt x="30621" y="15623"/>
                  </a:cubicBezTo>
                  <a:cubicBezTo>
                    <a:pt x="30308" y="23226"/>
                    <a:pt x="27705" y="28642"/>
                    <a:pt x="16144" y="28642"/>
                  </a:cubicBezTo>
                  <a:cubicBezTo>
                    <a:pt x="16144" y="28642"/>
                    <a:pt x="13227" y="30412"/>
                    <a:pt x="16144" y="30412"/>
                  </a:cubicBezTo>
                  <a:cubicBezTo>
                    <a:pt x="25517" y="30412"/>
                    <a:pt x="34058" y="34683"/>
                    <a:pt x="34058" y="45410"/>
                  </a:cubicBezTo>
                  <a:cubicBezTo>
                    <a:pt x="34058" y="56451"/>
                    <a:pt x="24372" y="57596"/>
                    <a:pt x="15935" y="57596"/>
                  </a:cubicBezTo>
                  <a:close/>
                </a:path>
              </a:pathLst>
            </a:custGeom>
            <a:solidFill>
              <a:srgbClr val="FFFFFF"/>
            </a:solidFill>
            <a:ln w="1041" cap="flat">
              <a:noFill/>
              <a:prstDash val="solid"/>
              <a:miter/>
            </a:ln>
          </p:spPr>
          <p:txBody>
            <a:bodyPr rtlCol="0" anchor="ctr"/>
            <a:lstStyle/>
            <a:p>
              <a:endParaRPr lang="da-DK"/>
            </a:p>
          </p:txBody>
        </p:sp>
        <p:sp>
          <p:nvSpPr>
            <p:cNvPr id="28" name="Freeform: Shape 27">
              <a:extLst>
                <a:ext uri="{FF2B5EF4-FFF2-40B4-BE49-F238E27FC236}">
                  <a16:creationId xmlns:a16="http://schemas.microsoft.com/office/drawing/2014/main" id="{1F01C75F-1798-5D8C-6ABD-AB2224DE47F0}"/>
                </a:ext>
              </a:extLst>
            </p:cNvPr>
            <p:cNvSpPr/>
            <p:nvPr/>
          </p:nvSpPr>
          <p:spPr>
            <a:xfrm>
              <a:off x="3877719" y="6545309"/>
              <a:ext cx="57596" cy="65511"/>
            </a:xfrm>
            <a:custGeom>
              <a:avLst/>
              <a:gdLst>
                <a:gd name="connsiteX0" fmla="*/ 29058 w 57596"/>
                <a:gd name="connsiteY0" fmla="*/ 0 h 65511"/>
                <a:gd name="connsiteX1" fmla="*/ 0 w 57596"/>
                <a:gd name="connsiteY1" fmla="*/ 33016 h 65511"/>
                <a:gd name="connsiteX2" fmla="*/ 28850 w 57596"/>
                <a:gd name="connsiteY2" fmla="*/ 65512 h 65511"/>
                <a:gd name="connsiteX3" fmla="*/ 57596 w 57596"/>
                <a:gd name="connsiteY3" fmla="*/ 33016 h 65511"/>
                <a:gd name="connsiteX4" fmla="*/ 29058 w 57596"/>
                <a:gd name="connsiteY4" fmla="*/ 0 h 65511"/>
                <a:gd name="connsiteX5" fmla="*/ 28954 w 57596"/>
                <a:gd name="connsiteY5" fmla="*/ 58950 h 65511"/>
                <a:gd name="connsiteX6" fmla="*/ 8124 w 57596"/>
                <a:gd name="connsiteY6" fmla="*/ 32808 h 65511"/>
                <a:gd name="connsiteX7" fmla="*/ 29058 w 57596"/>
                <a:gd name="connsiteY7" fmla="*/ 6457 h 65511"/>
                <a:gd name="connsiteX8" fmla="*/ 49576 w 57596"/>
                <a:gd name="connsiteY8" fmla="*/ 32808 h 65511"/>
                <a:gd name="connsiteX9" fmla="*/ 28954 w 57596"/>
                <a:gd name="connsiteY9" fmla="*/ 58950 h 6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596" h="65511">
                  <a:moveTo>
                    <a:pt x="29058" y="0"/>
                  </a:moveTo>
                  <a:cubicBezTo>
                    <a:pt x="11457" y="0"/>
                    <a:pt x="0" y="15727"/>
                    <a:pt x="0" y="33016"/>
                  </a:cubicBezTo>
                  <a:cubicBezTo>
                    <a:pt x="0" y="50306"/>
                    <a:pt x="12082" y="65512"/>
                    <a:pt x="28850" y="65512"/>
                  </a:cubicBezTo>
                  <a:cubicBezTo>
                    <a:pt x="46556" y="65512"/>
                    <a:pt x="57596" y="49264"/>
                    <a:pt x="57596" y="33016"/>
                  </a:cubicBezTo>
                  <a:cubicBezTo>
                    <a:pt x="57596" y="15415"/>
                    <a:pt x="45931" y="0"/>
                    <a:pt x="29058" y="0"/>
                  </a:cubicBezTo>
                  <a:close/>
                  <a:moveTo>
                    <a:pt x="28954" y="58950"/>
                  </a:moveTo>
                  <a:cubicBezTo>
                    <a:pt x="16039" y="58950"/>
                    <a:pt x="8124" y="45827"/>
                    <a:pt x="8124" y="32808"/>
                  </a:cubicBezTo>
                  <a:cubicBezTo>
                    <a:pt x="8124" y="19164"/>
                    <a:pt x="16144" y="6457"/>
                    <a:pt x="29058" y="6457"/>
                  </a:cubicBezTo>
                  <a:cubicBezTo>
                    <a:pt x="41036" y="6457"/>
                    <a:pt x="49576" y="18643"/>
                    <a:pt x="49576" y="32808"/>
                  </a:cubicBezTo>
                  <a:cubicBezTo>
                    <a:pt x="49472" y="45515"/>
                    <a:pt x="41869" y="58950"/>
                    <a:pt x="28954" y="58950"/>
                  </a:cubicBezTo>
                  <a:close/>
                </a:path>
              </a:pathLst>
            </a:custGeom>
            <a:solidFill>
              <a:srgbClr val="FFFFFF"/>
            </a:solidFill>
            <a:ln w="1041" cap="flat">
              <a:noFill/>
              <a:prstDash val="solid"/>
              <a:miter/>
            </a:ln>
          </p:spPr>
          <p:txBody>
            <a:bodyPr rtlCol="0" anchor="ctr"/>
            <a:lstStyle/>
            <a:p>
              <a:endParaRPr lang="da-DK"/>
            </a:p>
          </p:txBody>
        </p:sp>
        <p:sp>
          <p:nvSpPr>
            <p:cNvPr id="29" name="Freeform: Shape 28">
              <a:extLst>
                <a:ext uri="{FF2B5EF4-FFF2-40B4-BE49-F238E27FC236}">
                  <a16:creationId xmlns:a16="http://schemas.microsoft.com/office/drawing/2014/main" id="{DC748165-B783-841D-3F84-F245A9EE7358}"/>
                </a:ext>
              </a:extLst>
            </p:cNvPr>
            <p:cNvSpPr/>
            <p:nvPr/>
          </p:nvSpPr>
          <p:spPr>
            <a:xfrm>
              <a:off x="3984371" y="6544372"/>
              <a:ext cx="50201" cy="66344"/>
            </a:xfrm>
            <a:custGeom>
              <a:avLst/>
              <a:gdLst>
                <a:gd name="connsiteX0" fmla="*/ 34787 w 50201"/>
                <a:gd name="connsiteY0" fmla="*/ 30204 h 66344"/>
                <a:gd name="connsiteX1" fmla="*/ 29892 w 50201"/>
                <a:gd name="connsiteY1" fmla="*/ 28329 h 66344"/>
                <a:gd name="connsiteX2" fmla="*/ 29892 w 50201"/>
                <a:gd name="connsiteY2" fmla="*/ 37807 h 66344"/>
                <a:gd name="connsiteX3" fmla="*/ 34579 w 50201"/>
                <a:gd name="connsiteY3" fmla="*/ 35933 h 66344"/>
                <a:gd name="connsiteX4" fmla="*/ 41557 w 50201"/>
                <a:gd name="connsiteY4" fmla="*/ 35933 h 66344"/>
                <a:gd name="connsiteX5" fmla="*/ 41557 w 50201"/>
                <a:gd name="connsiteY5" fmla="*/ 35933 h 66344"/>
                <a:gd name="connsiteX6" fmla="*/ 41557 w 50201"/>
                <a:gd name="connsiteY6" fmla="*/ 57180 h 66344"/>
                <a:gd name="connsiteX7" fmla="*/ 30308 w 50201"/>
                <a:gd name="connsiteY7" fmla="*/ 59888 h 66344"/>
                <a:gd name="connsiteX8" fmla="*/ 8540 w 50201"/>
                <a:gd name="connsiteY8" fmla="*/ 33745 h 66344"/>
                <a:gd name="connsiteX9" fmla="*/ 30829 w 50201"/>
                <a:gd name="connsiteY9" fmla="*/ 6562 h 66344"/>
                <a:gd name="connsiteX10" fmla="*/ 48222 w 50201"/>
                <a:gd name="connsiteY10" fmla="*/ 16144 h 66344"/>
                <a:gd name="connsiteX11" fmla="*/ 48222 w 50201"/>
                <a:gd name="connsiteY11" fmla="*/ 3854 h 66344"/>
                <a:gd name="connsiteX12" fmla="*/ 46244 w 50201"/>
                <a:gd name="connsiteY12" fmla="*/ 4791 h 66344"/>
                <a:gd name="connsiteX13" fmla="*/ 29683 w 50201"/>
                <a:gd name="connsiteY13" fmla="*/ 0 h 66344"/>
                <a:gd name="connsiteX14" fmla="*/ 0 w 50201"/>
                <a:gd name="connsiteY14" fmla="*/ 33849 h 66344"/>
                <a:gd name="connsiteX15" fmla="*/ 29683 w 50201"/>
                <a:gd name="connsiteY15" fmla="*/ 66345 h 66344"/>
                <a:gd name="connsiteX16" fmla="*/ 50201 w 50201"/>
                <a:gd name="connsiteY16" fmla="*/ 60200 h 66344"/>
                <a:gd name="connsiteX17" fmla="*/ 50201 w 50201"/>
                <a:gd name="connsiteY17" fmla="*/ 30100 h 66344"/>
                <a:gd name="connsiteX18" fmla="*/ 34787 w 50201"/>
                <a:gd name="connsiteY18" fmla="*/ 30204 h 6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1" h="66344">
                  <a:moveTo>
                    <a:pt x="34787" y="30204"/>
                  </a:moveTo>
                  <a:cubicBezTo>
                    <a:pt x="30933" y="30204"/>
                    <a:pt x="30725" y="29475"/>
                    <a:pt x="29892" y="28329"/>
                  </a:cubicBezTo>
                  <a:lnTo>
                    <a:pt x="29892" y="37807"/>
                  </a:lnTo>
                  <a:cubicBezTo>
                    <a:pt x="30621" y="36870"/>
                    <a:pt x="30621" y="35933"/>
                    <a:pt x="34579" y="35933"/>
                  </a:cubicBezTo>
                  <a:lnTo>
                    <a:pt x="41557" y="35933"/>
                  </a:lnTo>
                  <a:lnTo>
                    <a:pt x="41557" y="35933"/>
                  </a:lnTo>
                  <a:lnTo>
                    <a:pt x="41557" y="57180"/>
                  </a:lnTo>
                  <a:cubicBezTo>
                    <a:pt x="37807" y="59054"/>
                    <a:pt x="34266" y="59888"/>
                    <a:pt x="30308" y="59888"/>
                  </a:cubicBezTo>
                  <a:cubicBezTo>
                    <a:pt x="16769" y="59888"/>
                    <a:pt x="8540" y="48222"/>
                    <a:pt x="8540" y="33745"/>
                  </a:cubicBezTo>
                  <a:cubicBezTo>
                    <a:pt x="8540" y="18122"/>
                    <a:pt x="17914" y="6562"/>
                    <a:pt x="30829" y="6562"/>
                  </a:cubicBezTo>
                  <a:cubicBezTo>
                    <a:pt x="41348" y="6562"/>
                    <a:pt x="47389" y="15415"/>
                    <a:pt x="48222" y="16144"/>
                  </a:cubicBezTo>
                  <a:lnTo>
                    <a:pt x="48222" y="3854"/>
                  </a:lnTo>
                  <a:cubicBezTo>
                    <a:pt x="47389" y="4479"/>
                    <a:pt x="46973" y="4791"/>
                    <a:pt x="46244" y="4791"/>
                  </a:cubicBezTo>
                  <a:cubicBezTo>
                    <a:pt x="43536" y="4791"/>
                    <a:pt x="39786" y="0"/>
                    <a:pt x="29683" y="0"/>
                  </a:cubicBezTo>
                  <a:cubicBezTo>
                    <a:pt x="12915" y="0"/>
                    <a:pt x="0" y="14061"/>
                    <a:pt x="0" y="33849"/>
                  </a:cubicBezTo>
                  <a:cubicBezTo>
                    <a:pt x="0" y="53430"/>
                    <a:pt x="11873" y="66345"/>
                    <a:pt x="29683" y="66345"/>
                  </a:cubicBezTo>
                  <a:cubicBezTo>
                    <a:pt x="36870" y="66345"/>
                    <a:pt x="44994" y="63741"/>
                    <a:pt x="50201" y="60200"/>
                  </a:cubicBezTo>
                  <a:lnTo>
                    <a:pt x="50201" y="30100"/>
                  </a:lnTo>
                  <a:lnTo>
                    <a:pt x="34787" y="30204"/>
                  </a:lnTo>
                  <a:close/>
                </a:path>
              </a:pathLst>
            </a:custGeom>
            <a:solidFill>
              <a:srgbClr val="FFFFFF"/>
            </a:solidFill>
            <a:ln w="1041" cap="flat">
              <a:noFill/>
              <a:prstDash val="solid"/>
              <a:miter/>
            </a:ln>
          </p:spPr>
          <p:txBody>
            <a:bodyPr rtlCol="0" anchor="ctr"/>
            <a:lstStyle/>
            <a:p>
              <a:endParaRPr lang="da-DK"/>
            </a:p>
          </p:txBody>
        </p:sp>
      </p:grpSp>
      <p:sp>
        <p:nvSpPr>
          <p:cNvPr id="10" name="TextBox 9">
            <a:extLst>
              <a:ext uri="{FF2B5EF4-FFF2-40B4-BE49-F238E27FC236}">
                <a16:creationId xmlns:a16="http://schemas.microsoft.com/office/drawing/2014/main" id="{C46A44CF-3ED3-3E6A-FE65-0456FC616E60}"/>
              </a:ext>
            </a:extLst>
          </p:cNvPr>
          <p:cNvSpPr txBox="1"/>
          <p:nvPr userDrawn="1">
            <p:extLst>
              <p:ext uri="{1162E1C5-73C7-4A58-AE30-91384D911F3F}">
                <p184:classification xmlns:p184="http://schemas.microsoft.com/office/powerpoint/2018/4/main" val="ftr"/>
              </p:ext>
            </p:extLst>
          </p:nvPr>
        </p:nvSpPr>
        <p:spPr>
          <a:xfrm>
            <a:off x="5336350" y="6565900"/>
            <a:ext cx="1557337" cy="228600"/>
          </a:xfrm>
          <a:prstGeom prst="rect">
            <a:avLst/>
          </a:prstGeom>
        </p:spPr>
        <p:txBody>
          <a:bodyPr horzOverflow="overflow" lIns="0" tIns="0" rIns="0" bIns="0">
            <a:spAutoFit/>
          </a:bodyPr>
          <a:lstStyle/>
          <a:p>
            <a:pPr algn="l"/>
            <a:r>
              <a:rPr lang="fr-FR" sz="1500">
                <a:solidFill>
                  <a:srgbClr val="000000">
                    <a:alpha val="50000"/>
                  </a:srgbClr>
                </a:solidFill>
                <a:latin typeface="Aptos" panose="020B0004020202020204" pitchFamily="34" charset="0"/>
              </a:rPr>
              <a:t>Internal document</a:t>
            </a:r>
          </a:p>
        </p:txBody>
      </p:sp>
    </p:spTree>
    <p:extLst>
      <p:ext uri="{BB962C8B-B14F-4D97-AF65-F5344CB8AC3E}">
        <p14:creationId xmlns:p14="http://schemas.microsoft.com/office/powerpoint/2010/main" val="3092273724"/>
      </p:ext>
    </p:extLst>
  </p:cSld>
  <p:clrMap bg1="lt1" tx1="dk1" bg2="lt2" tx2="dk2" accent1="accent1" accent2="accent2" accent3="accent3" accent4="accent4" accent5="accent5" accent6="accent6" hlink="hlink" folHlink="folHlink"/>
  <p:sldLayoutIdLst>
    <p:sldLayoutId id="2147484157" r:id="rId1"/>
    <p:sldLayoutId id="2147484240" r:id="rId2"/>
    <p:sldLayoutId id="2147484159" r:id="rId3"/>
    <p:sldLayoutId id="2147484160" r:id="rId4"/>
    <p:sldLayoutId id="2147484238"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 id="2147484182" r:id="rId27"/>
    <p:sldLayoutId id="2147484183" r:id="rId28"/>
    <p:sldLayoutId id="2147484184" r:id="rId29"/>
    <p:sldLayoutId id="2147484185" r:id="rId30"/>
    <p:sldLayoutId id="2147484186" r:id="rId31"/>
    <p:sldLayoutId id="2147484187" r:id="rId32"/>
    <p:sldLayoutId id="2147484188" r:id="rId33"/>
    <p:sldLayoutId id="2147484189" r:id="rId34"/>
    <p:sldLayoutId id="2147484190" r:id="rId35"/>
    <p:sldLayoutId id="2147484191" r:id="rId36"/>
    <p:sldLayoutId id="2147484192" r:id="rId37"/>
    <p:sldLayoutId id="2147484193" r:id="rId38"/>
    <p:sldLayoutId id="2147484194" r:id="rId39"/>
    <p:sldLayoutId id="2147484195" r:id="rId40"/>
    <p:sldLayoutId id="2147484196" r:id="rId41"/>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39">
          <p15:clr>
            <a:srgbClr val="F26B43"/>
          </p15:clr>
        </p15:guide>
        <p15:guide id="7" pos="7341">
          <p15:clr>
            <a:srgbClr val="F26B43"/>
          </p15:clr>
        </p15:guide>
        <p15:guide id="8" orient="horz" pos="3808">
          <p15:clr>
            <a:srgbClr val="F26B43"/>
          </p15:clr>
        </p15:guide>
        <p15:guide id="9" orient="horz" pos="759">
          <p15:clr>
            <a:srgbClr val="F26B43"/>
          </p15:clr>
        </p15:guide>
        <p15:guide id="11" orient="horz" pos="58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1F95D7E-4B23-4652-0DFB-30B84247D938}"/>
              </a:ext>
            </a:extLst>
          </p:cNvPr>
          <p:cNvGraphicFramePr>
            <a:graphicFrameLocks noChangeAspect="1"/>
          </p:cNvGraphicFramePr>
          <p:nvPr userDrawn="1">
            <p:custDataLst>
              <p:tags r:id="rId43"/>
            </p:custDataLst>
            <p:extLst>
              <p:ext uri="{D42A27DB-BD31-4B8C-83A1-F6EECF244321}">
                <p14:modId xmlns:p14="http://schemas.microsoft.com/office/powerpoint/2010/main" val="2969622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276" imgH="275" progId="TCLayout.ActiveDocument.1">
                  <p:embed/>
                </p:oleObj>
              </mc:Choice>
              <mc:Fallback>
                <p:oleObj name="think-cell Slide" r:id="rId44" imgW="276" imgH="275" progId="TCLayout.ActiveDocument.1">
                  <p:embed/>
                  <p:pic>
                    <p:nvPicPr>
                      <p:cNvPr id="8" name="think-cell data - do not delete" hidden="1">
                        <a:extLst>
                          <a:ext uri="{FF2B5EF4-FFF2-40B4-BE49-F238E27FC236}">
                            <a16:creationId xmlns:a16="http://schemas.microsoft.com/office/drawing/2014/main" id="{61F95D7E-4B23-4652-0DFB-30B84247D938}"/>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9" name="Rectangle 10">
            <a:extLst>
              <a:ext uri="{FF2B5EF4-FFF2-40B4-BE49-F238E27FC236}">
                <a16:creationId xmlns:a16="http://schemas.microsoft.com/office/drawing/2014/main" id="{78FC0C7A-FDB3-9D5F-2DF2-A4E0633FD6FC}"/>
              </a:ext>
            </a:extLst>
          </p:cNvPr>
          <p:cNvSpPr>
            <a:spLocks/>
          </p:cNvSpPr>
          <p:nvPr/>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539999" y="262800"/>
            <a:ext cx="11113839" cy="332399"/>
          </a:xfrm>
          <a:prstGeom prst="rect">
            <a:avLst/>
          </a:prstGeom>
        </p:spPr>
        <p:txBody>
          <a:bodyPr vert="horz" wrap="square"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540000" y="1204913"/>
            <a:ext cx="11113839" cy="4840287"/>
          </a:xfrm>
          <a:prstGeom prst="rect">
            <a:avLst/>
          </a:prstGeom>
          <a:ln w="12700">
            <a:noFill/>
          </a:ln>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CCE736D-4E9C-5699-7C27-31DFFD7CCF9C}"/>
              </a:ext>
            </a:extLst>
          </p:cNvPr>
          <p:cNvSpPr>
            <a:spLocks noGrp="1"/>
          </p:cNvSpPr>
          <p:nvPr>
            <p:ph type="ftr" sz="quarter" idx="3"/>
          </p:nvPr>
        </p:nvSpPr>
        <p:spPr>
          <a:xfrm flipH="1">
            <a:off x="766637" y="6518751"/>
            <a:ext cx="2754011" cy="138499"/>
          </a:xfrm>
          <a:prstGeom prst="rect">
            <a:avLst/>
          </a:prstGeom>
        </p:spPr>
        <p:txBody>
          <a:bodyPr vert="horz" wrap="square" lIns="0" tIns="0" rIns="0" bIns="0" rtlCol="0" anchor="ctr">
            <a:spAutoFit/>
          </a:bodyPr>
          <a:lstStyle>
            <a:lvl1pPr algn="l">
              <a:defRPr sz="900" cap="all" baseline="0">
                <a:solidFill>
                  <a:schemeClr val="bg1"/>
                </a:solidFill>
              </a:defRPr>
            </a:lvl1pPr>
          </a:lstStyle>
          <a:p>
            <a:r>
              <a:rPr lang="en-US"/>
              <a:t>TRELLEBORG GROUP</a:t>
            </a:r>
          </a:p>
        </p:txBody>
      </p:sp>
      <p:sp>
        <p:nvSpPr>
          <p:cNvPr id="6" name="Slide Number Placeholder 5">
            <a:extLst>
              <a:ext uri="{FF2B5EF4-FFF2-40B4-BE49-F238E27FC236}">
                <a16:creationId xmlns:a16="http://schemas.microsoft.com/office/drawing/2014/main" id="{72C63773-9819-C11B-FCDA-874739360018}"/>
              </a:ext>
            </a:extLst>
          </p:cNvPr>
          <p:cNvSpPr>
            <a:spLocks noGrp="1"/>
          </p:cNvSpPr>
          <p:nvPr>
            <p:ph type="sldNum" sz="quarter" idx="4"/>
          </p:nvPr>
        </p:nvSpPr>
        <p:spPr>
          <a:xfrm>
            <a:off x="539209" y="6518751"/>
            <a:ext cx="210885" cy="138499"/>
          </a:xfrm>
          <a:prstGeom prst="rect">
            <a:avLst/>
          </a:prstGeom>
        </p:spPr>
        <p:txBody>
          <a:bodyPr vert="horz" wrap="square" lIns="0" tIns="0" rIns="0" bIns="0" rtlCol="0" anchor="ctr">
            <a:spAutoFit/>
          </a:bodyPr>
          <a:lstStyle>
            <a:lvl1pPr algn="l">
              <a:defRPr sz="900">
                <a:solidFill>
                  <a:schemeClr val="bg1"/>
                </a:solidFill>
              </a:defRPr>
            </a:lvl1pPr>
          </a:lstStyle>
          <a:p>
            <a:fld id="{5EA29875-719B-4A39-A51C-7BDD87443D68}" type="slidenum">
              <a:rPr lang="en-US" smtClean="0"/>
              <a:pPr/>
              <a:t>‹#›</a:t>
            </a:fld>
            <a:endParaRPr lang="en-US"/>
          </a:p>
        </p:txBody>
      </p:sp>
      <p:sp>
        <p:nvSpPr>
          <p:cNvPr id="4" name="Date Placeholder 3">
            <a:extLst>
              <a:ext uri="{FF2B5EF4-FFF2-40B4-BE49-F238E27FC236}">
                <a16:creationId xmlns:a16="http://schemas.microsoft.com/office/drawing/2014/main" id="{6E1CD961-B06F-DCCD-4BBA-1B1343B74090}"/>
              </a:ext>
            </a:extLst>
          </p:cNvPr>
          <p:cNvSpPr>
            <a:spLocks noGrp="1"/>
          </p:cNvSpPr>
          <p:nvPr>
            <p:ph type="dt" sz="half" idx="2"/>
          </p:nvPr>
        </p:nvSpPr>
        <p:spPr>
          <a:xfrm>
            <a:off x="5196000" y="6518751"/>
            <a:ext cx="1800000" cy="138499"/>
          </a:xfrm>
          <a:prstGeom prst="rect">
            <a:avLst/>
          </a:prstGeom>
        </p:spPr>
        <p:txBody>
          <a:bodyPr vert="horz" wrap="square" lIns="0" tIns="0" rIns="0" bIns="0" rtlCol="0" anchor="ctr">
            <a:spAutoFit/>
          </a:bodyPr>
          <a:lstStyle>
            <a:lvl1pPr algn="ctr">
              <a:defRPr sz="900" cap="all" baseline="0">
                <a:solidFill>
                  <a:schemeClr val="bg1"/>
                </a:solidFill>
              </a:defRPr>
            </a:lvl1pPr>
          </a:lstStyle>
          <a:p>
            <a:fld id="{F66D1A21-DA7F-43FD-8BC0-CF1F1BBA6459}" type="datetime4">
              <a:rPr lang="en-US" smtClean="0"/>
              <a:t>March 3, 2026</a:t>
            </a:fld>
            <a:endParaRPr lang="en-US"/>
          </a:p>
        </p:txBody>
      </p:sp>
      <p:grpSp>
        <p:nvGrpSpPr>
          <p:cNvPr id="30" name="Group 29">
            <a:extLst>
              <a:ext uri="{FF2B5EF4-FFF2-40B4-BE49-F238E27FC236}">
                <a16:creationId xmlns:a16="http://schemas.microsoft.com/office/drawing/2014/main" id="{B7467DED-36C4-2232-7CC5-7925DA4D4319}"/>
              </a:ext>
            </a:extLst>
          </p:cNvPr>
          <p:cNvGrpSpPr>
            <a:grpSpLocks/>
          </p:cNvGrpSpPr>
          <p:nvPr/>
        </p:nvGrpSpPr>
        <p:grpSpPr>
          <a:xfrm>
            <a:off x="10952333" y="6443734"/>
            <a:ext cx="693917" cy="288532"/>
            <a:chOff x="3591717" y="6426680"/>
            <a:chExt cx="442855" cy="184140"/>
          </a:xfrm>
        </p:grpSpPr>
        <p:grpSp>
          <p:nvGrpSpPr>
            <p:cNvPr id="17" name="Graphic 14">
              <a:extLst>
                <a:ext uri="{FF2B5EF4-FFF2-40B4-BE49-F238E27FC236}">
                  <a16:creationId xmlns:a16="http://schemas.microsoft.com/office/drawing/2014/main" id="{4716F08F-D540-EB26-A85F-2D52972561D6}"/>
                </a:ext>
              </a:extLst>
            </p:cNvPr>
            <p:cNvGrpSpPr/>
            <p:nvPr/>
          </p:nvGrpSpPr>
          <p:grpSpPr>
            <a:xfrm>
              <a:off x="3699827" y="6426680"/>
              <a:ext cx="226739" cy="101444"/>
              <a:chOff x="3699827" y="6426680"/>
              <a:chExt cx="226739" cy="101444"/>
            </a:xfrm>
            <a:solidFill>
              <a:srgbClr val="998242"/>
            </a:solidFill>
          </p:grpSpPr>
          <p:sp>
            <p:nvSpPr>
              <p:cNvPr id="18" name="Freeform: Shape 17">
                <a:extLst>
                  <a:ext uri="{FF2B5EF4-FFF2-40B4-BE49-F238E27FC236}">
                    <a16:creationId xmlns:a16="http://schemas.microsoft.com/office/drawing/2014/main" id="{C6A09024-4F7B-6443-0F06-C616D6866BB4}"/>
                  </a:ext>
                </a:extLst>
              </p:cNvPr>
              <p:cNvSpPr/>
              <p:nvPr/>
            </p:nvSpPr>
            <p:spPr>
              <a:xfrm>
                <a:off x="3734822" y="6440532"/>
                <a:ext cx="56450" cy="52076"/>
              </a:xfrm>
              <a:custGeom>
                <a:avLst/>
                <a:gdLst>
                  <a:gd name="connsiteX0" fmla="*/ 0 w 56450"/>
                  <a:gd name="connsiteY0" fmla="*/ 0 h 52076"/>
                  <a:gd name="connsiteX1" fmla="*/ 0 w 56450"/>
                  <a:gd name="connsiteY1" fmla="*/ 8228 h 52076"/>
                  <a:gd name="connsiteX2" fmla="*/ 24059 w 56450"/>
                  <a:gd name="connsiteY2" fmla="*/ 8228 h 52076"/>
                  <a:gd name="connsiteX3" fmla="*/ 24059 w 56450"/>
                  <a:gd name="connsiteY3" fmla="*/ 52076 h 52076"/>
                  <a:gd name="connsiteX4" fmla="*/ 32287 w 56450"/>
                  <a:gd name="connsiteY4" fmla="*/ 52076 h 52076"/>
                  <a:gd name="connsiteX5" fmla="*/ 32287 w 56450"/>
                  <a:gd name="connsiteY5" fmla="*/ 8228 h 52076"/>
                  <a:gd name="connsiteX6" fmla="*/ 56451 w 56450"/>
                  <a:gd name="connsiteY6" fmla="*/ 8228 h 52076"/>
                  <a:gd name="connsiteX7" fmla="*/ 56451 w 56450"/>
                  <a:gd name="connsiteY7" fmla="*/ 0 h 5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0" h="52076">
                    <a:moveTo>
                      <a:pt x="0" y="0"/>
                    </a:moveTo>
                    <a:lnTo>
                      <a:pt x="0" y="8228"/>
                    </a:lnTo>
                    <a:lnTo>
                      <a:pt x="24059" y="8228"/>
                    </a:lnTo>
                    <a:lnTo>
                      <a:pt x="24059" y="52076"/>
                    </a:lnTo>
                    <a:lnTo>
                      <a:pt x="32287" y="52076"/>
                    </a:lnTo>
                    <a:lnTo>
                      <a:pt x="32287" y="8228"/>
                    </a:lnTo>
                    <a:lnTo>
                      <a:pt x="56451" y="8228"/>
                    </a:lnTo>
                    <a:lnTo>
                      <a:pt x="56451" y="0"/>
                    </a:lnTo>
                    <a:close/>
                  </a:path>
                </a:pathLst>
              </a:custGeom>
              <a:solidFill>
                <a:srgbClr val="998242"/>
              </a:solidFill>
              <a:ln w="1041" cap="flat">
                <a:noFill/>
                <a:prstDash val="solid"/>
                <a:miter/>
              </a:ln>
            </p:spPr>
            <p:txBody>
              <a:bodyPr rtlCol="0" anchor="ctr"/>
              <a:lstStyle/>
              <a:p>
                <a:endParaRPr lang="da-DK"/>
              </a:p>
            </p:txBody>
          </p:sp>
          <p:sp>
            <p:nvSpPr>
              <p:cNvPr id="19" name="Freeform: Shape 18">
                <a:extLst>
                  <a:ext uri="{FF2B5EF4-FFF2-40B4-BE49-F238E27FC236}">
                    <a16:creationId xmlns:a16="http://schemas.microsoft.com/office/drawing/2014/main" id="{72AFCC20-0889-811D-5457-9FE4E253F5CD}"/>
                  </a:ext>
                </a:extLst>
              </p:cNvPr>
              <p:cNvSpPr/>
              <p:nvPr/>
            </p:nvSpPr>
            <p:spPr>
              <a:xfrm>
                <a:off x="3699827" y="6426680"/>
                <a:ext cx="226739" cy="101444"/>
              </a:xfrm>
              <a:custGeom>
                <a:avLst/>
                <a:gdLst>
                  <a:gd name="connsiteX0" fmla="*/ 163519 w 226739"/>
                  <a:gd name="connsiteY0" fmla="*/ 101444 h 101444"/>
                  <a:gd name="connsiteX1" fmla="*/ 226739 w 226739"/>
                  <a:gd name="connsiteY1" fmla="*/ 0 h 101444"/>
                  <a:gd name="connsiteX2" fmla="*/ 0 w 226739"/>
                  <a:gd name="connsiteY2" fmla="*/ 0 h 101444"/>
                  <a:gd name="connsiteX3" fmla="*/ 63220 w 226739"/>
                  <a:gd name="connsiteY3" fmla="*/ 101444 h 101444"/>
                  <a:gd name="connsiteX4" fmla="*/ 79885 w 226739"/>
                  <a:gd name="connsiteY4" fmla="*/ 74677 h 101444"/>
                  <a:gd name="connsiteX5" fmla="*/ 96966 w 226739"/>
                  <a:gd name="connsiteY5" fmla="*/ 101444 h 101444"/>
                  <a:gd name="connsiteX6" fmla="*/ 113630 w 226739"/>
                  <a:gd name="connsiteY6" fmla="*/ 74677 h 101444"/>
                  <a:gd name="connsiteX7" fmla="*/ 130294 w 226739"/>
                  <a:gd name="connsiteY7" fmla="*/ 101444 h 101444"/>
                  <a:gd name="connsiteX8" fmla="*/ 146855 w 226739"/>
                  <a:gd name="connsiteY8" fmla="*/ 74781 h 101444"/>
                  <a:gd name="connsiteX9" fmla="*/ 163519 w 226739"/>
                  <a:gd name="connsiteY9" fmla="*/ 101444 h 101444"/>
                  <a:gd name="connsiteX10" fmla="*/ 210075 w 226739"/>
                  <a:gd name="connsiteY10" fmla="*/ 9270 h 101444"/>
                  <a:gd name="connsiteX11" fmla="*/ 163519 w 226739"/>
                  <a:gd name="connsiteY11" fmla="*/ 83947 h 101444"/>
                  <a:gd name="connsiteX12" fmla="*/ 152375 w 226739"/>
                  <a:gd name="connsiteY12" fmla="*/ 66033 h 101444"/>
                  <a:gd name="connsiteX13" fmla="*/ 187682 w 226739"/>
                  <a:gd name="connsiteY13" fmla="*/ 9374 h 101444"/>
                  <a:gd name="connsiteX14" fmla="*/ 210075 w 226739"/>
                  <a:gd name="connsiteY14" fmla="*/ 9270 h 101444"/>
                  <a:gd name="connsiteX15" fmla="*/ 210075 w 226739"/>
                  <a:gd name="connsiteY15" fmla="*/ 9270 h 101444"/>
                  <a:gd name="connsiteX16" fmla="*/ 63220 w 226739"/>
                  <a:gd name="connsiteY16" fmla="*/ 83947 h 101444"/>
                  <a:gd name="connsiteX17" fmla="*/ 16873 w 226739"/>
                  <a:gd name="connsiteY17" fmla="*/ 9270 h 101444"/>
                  <a:gd name="connsiteX18" fmla="*/ 31037 w 226739"/>
                  <a:gd name="connsiteY18" fmla="*/ 9270 h 101444"/>
                  <a:gd name="connsiteX19" fmla="*/ 109777 w 226739"/>
                  <a:gd name="connsiteY19" fmla="*/ 9270 h 101444"/>
                  <a:gd name="connsiteX20" fmla="*/ 63220 w 226739"/>
                  <a:gd name="connsiteY20" fmla="*/ 83947 h 101444"/>
                  <a:gd name="connsiteX21" fmla="*/ 85405 w 226739"/>
                  <a:gd name="connsiteY21" fmla="*/ 65824 h 101444"/>
                  <a:gd name="connsiteX22" fmla="*/ 120608 w 226739"/>
                  <a:gd name="connsiteY22" fmla="*/ 9374 h 101444"/>
                  <a:gd name="connsiteX23" fmla="*/ 143522 w 226739"/>
                  <a:gd name="connsiteY23" fmla="*/ 9374 h 101444"/>
                  <a:gd name="connsiteX24" fmla="*/ 96966 w 226739"/>
                  <a:gd name="connsiteY24" fmla="*/ 84051 h 101444"/>
                  <a:gd name="connsiteX25" fmla="*/ 85405 w 226739"/>
                  <a:gd name="connsiteY25" fmla="*/ 65824 h 101444"/>
                  <a:gd name="connsiteX26" fmla="*/ 119150 w 226739"/>
                  <a:gd name="connsiteY26" fmla="*/ 65824 h 101444"/>
                  <a:gd name="connsiteX27" fmla="*/ 154354 w 226739"/>
                  <a:gd name="connsiteY27" fmla="*/ 9374 h 101444"/>
                  <a:gd name="connsiteX28" fmla="*/ 176746 w 226739"/>
                  <a:gd name="connsiteY28" fmla="*/ 9374 h 101444"/>
                  <a:gd name="connsiteX29" fmla="*/ 130190 w 226739"/>
                  <a:gd name="connsiteY29" fmla="*/ 84051 h 101444"/>
                  <a:gd name="connsiteX30" fmla="*/ 119150 w 226739"/>
                  <a:gd name="connsiteY30" fmla="*/ 65824 h 10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739" h="101444">
                    <a:moveTo>
                      <a:pt x="163519" y="101444"/>
                    </a:moveTo>
                    <a:lnTo>
                      <a:pt x="226739" y="0"/>
                    </a:lnTo>
                    <a:lnTo>
                      <a:pt x="0" y="0"/>
                    </a:lnTo>
                    <a:lnTo>
                      <a:pt x="63220" y="101444"/>
                    </a:lnTo>
                    <a:lnTo>
                      <a:pt x="79885" y="74677"/>
                    </a:lnTo>
                    <a:lnTo>
                      <a:pt x="96966" y="101444"/>
                    </a:lnTo>
                    <a:lnTo>
                      <a:pt x="113630" y="74677"/>
                    </a:lnTo>
                    <a:lnTo>
                      <a:pt x="130294" y="101444"/>
                    </a:lnTo>
                    <a:lnTo>
                      <a:pt x="146855" y="74781"/>
                    </a:lnTo>
                    <a:lnTo>
                      <a:pt x="163519" y="101444"/>
                    </a:lnTo>
                    <a:close/>
                    <a:moveTo>
                      <a:pt x="210075" y="9270"/>
                    </a:moveTo>
                    <a:lnTo>
                      <a:pt x="163519" y="83947"/>
                    </a:lnTo>
                    <a:lnTo>
                      <a:pt x="152375" y="66033"/>
                    </a:lnTo>
                    <a:lnTo>
                      <a:pt x="187682" y="9374"/>
                    </a:lnTo>
                    <a:lnTo>
                      <a:pt x="210075" y="9270"/>
                    </a:lnTo>
                    <a:lnTo>
                      <a:pt x="210075" y="9270"/>
                    </a:lnTo>
                    <a:close/>
                    <a:moveTo>
                      <a:pt x="63220" y="83947"/>
                    </a:moveTo>
                    <a:lnTo>
                      <a:pt x="16873" y="9270"/>
                    </a:lnTo>
                    <a:lnTo>
                      <a:pt x="31037" y="9270"/>
                    </a:lnTo>
                    <a:lnTo>
                      <a:pt x="109777" y="9270"/>
                    </a:lnTo>
                    <a:lnTo>
                      <a:pt x="63220" y="83947"/>
                    </a:lnTo>
                    <a:close/>
                    <a:moveTo>
                      <a:pt x="85405" y="65824"/>
                    </a:moveTo>
                    <a:lnTo>
                      <a:pt x="120608" y="9374"/>
                    </a:lnTo>
                    <a:lnTo>
                      <a:pt x="143522" y="9374"/>
                    </a:lnTo>
                    <a:lnTo>
                      <a:pt x="96966" y="84051"/>
                    </a:lnTo>
                    <a:lnTo>
                      <a:pt x="85405" y="65824"/>
                    </a:lnTo>
                    <a:close/>
                    <a:moveTo>
                      <a:pt x="119150" y="65824"/>
                    </a:moveTo>
                    <a:lnTo>
                      <a:pt x="154354" y="9374"/>
                    </a:lnTo>
                    <a:lnTo>
                      <a:pt x="176746" y="9374"/>
                    </a:lnTo>
                    <a:lnTo>
                      <a:pt x="130190" y="84051"/>
                    </a:lnTo>
                    <a:lnTo>
                      <a:pt x="119150" y="65824"/>
                    </a:lnTo>
                    <a:close/>
                  </a:path>
                </a:pathLst>
              </a:custGeom>
              <a:solidFill>
                <a:srgbClr val="998242"/>
              </a:solidFill>
              <a:ln w="1041" cap="flat">
                <a:noFill/>
                <a:prstDash val="solid"/>
                <a:miter/>
              </a:ln>
            </p:spPr>
            <p:txBody>
              <a:bodyPr rtlCol="0" anchor="ctr"/>
              <a:lstStyle/>
              <a:p>
                <a:endParaRPr lang="da-DK"/>
              </a:p>
            </p:txBody>
          </p:sp>
        </p:grpSp>
        <p:sp>
          <p:nvSpPr>
            <p:cNvPr id="20" name="Freeform: Shape 19">
              <a:extLst>
                <a:ext uri="{FF2B5EF4-FFF2-40B4-BE49-F238E27FC236}">
                  <a16:creationId xmlns:a16="http://schemas.microsoft.com/office/drawing/2014/main" id="{656BDD16-D07C-23D8-ECD0-22B66F86EA4C}"/>
                </a:ext>
              </a:extLst>
            </p:cNvPr>
            <p:cNvSpPr/>
            <p:nvPr/>
          </p:nvSpPr>
          <p:spPr>
            <a:xfrm>
              <a:off x="3591717" y="6545309"/>
              <a:ext cx="39577" cy="64261"/>
            </a:xfrm>
            <a:custGeom>
              <a:avLst/>
              <a:gdLst>
                <a:gd name="connsiteX0" fmla="*/ 0 w 39577"/>
                <a:gd name="connsiteY0" fmla="*/ 8332 h 64261"/>
                <a:gd name="connsiteX1" fmla="*/ 5103 w 39577"/>
                <a:gd name="connsiteY1" fmla="*/ 5833 h 64261"/>
                <a:gd name="connsiteX2" fmla="*/ 16039 w 39577"/>
                <a:gd name="connsiteY2" fmla="*/ 5833 h 64261"/>
                <a:gd name="connsiteX3" fmla="*/ 16039 w 39577"/>
                <a:gd name="connsiteY3" fmla="*/ 59263 h 64261"/>
                <a:gd name="connsiteX4" fmla="*/ 14061 w 39577"/>
                <a:gd name="connsiteY4" fmla="*/ 64262 h 64261"/>
                <a:gd name="connsiteX5" fmla="*/ 25517 w 39577"/>
                <a:gd name="connsiteY5" fmla="*/ 64262 h 64261"/>
                <a:gd name="connsiteX6" fmla="*/ 23538 w 39577"/>
                <a:gd name="connsiteY6" fmla="*/ 59263 h 64261"/>
                <a:gd name="connsiteX7" fmla="*/ 23538 w 39577"/>
                <a:gd name="connsiteY7" fmla="*/ 5728 h 64261"/>
                <a:gd name="connsiteX8" fmla="*/ 34579 w 39577"/>
                <a:gd name="connsiteY8" fmla="*/ 5728 h 64261"/>
                <a:gd name="connsiteX9" fmla="*/ 39578 w 39577"/>
                <a:gd name="connsiteY9" fmla="*/ 8228 h 64261"/>
                <a:gd name="connsiteX10" fmla="*/ 39578 w 39577"/>
                <a:gd name="connsiteY10" fmla="*/ 0 h 64261"/>
                <a:gd name="connsiteX11" fmla="*/ 0 w 39577"/>
                <a:gd name="connsiteY11" fmla="*/ 0 h 64261"/>
                <a:gd name="connsiteX12" fmla="*/ 0 w 39577"/>
                <a:gd name="connsiteY12" fmla="*/ 8332 h 6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77" h="64261">
                  <a:moveTo>
                    <a:pt x="0" y="8332"/>
                  </a:moveTo>
                  <a:cubicBezTo>
                    <a:pt x="1146" y="7082"/>
                    <a:pt x="1250" y="5833"/>
                    <a:pt x="5103" y="5833"/>
                  </a:cubicBezTo>
                  <a:lnTo>
                    <a:pt x="16039" y="5833"/>
                  </a:lnTo>
                  <a:lnTo>
                    <a:pt x="16039" y="59263"/>
                  </a:lnTo>
                  <a:cubicBezTo>
                    <a:pt x="16039" y="62700"/>
                    <a:pt x="15519" y="63116"/>
                    <a:pt x="14061" y="64262"/>
                  </a:cubicBezTo>
                  <a:lnTo>
                    <a:pt x="25517" y="64262"/>
                  </a:lnTo>
                  <a:cubicBezTo>
                    <a:pt x="24059" y="63116"/>
                    <a:pt x="23538" y="62700"/>
                    <a:pt x="23538" y="59263"/>
                  </a:cubicBezTo>
                  <a:lnTo>
                    <a:pt x="23538" y="5728"/>
                  </a:lnTo>
                  <a:lnTo>
                    <a:pt x="34579" y="5728"/>
                  </a:lnTo>
                  <a:cubicBezTo>
                    <a:pt x="38432" y="5728"/>
                    <a:pt x="38432" y="7082"/>
                    <a:pt x="39578" y="8228"/>
                  </a:cubicBezTo>
                  <a:lnTo>
                    <a:pt x="39578" y="0"/>
                  </a:lnTo>
                  <a:lnTo>
                    <a:pt x="0" y="0"/>
                  </a:lnTo>
                  <a:lnTo>
                    <a:pt x="0" y="8332"/>
                  </a:lnTo>
                  <a:close/>
                </a:path>
              </a:pathLst>
            </a:custGeom>
            <a:solidFill>
              <a:srgbClr val="FFFFFF"/>
            </a:solidFill>
            <a:ln w="1041" cap="flat">
              <a:noFill/>
              <a:prstDash val="solid"/>
              <a:miter/>
            </a:ln>
          </p:spPr>
          <p:txBody>
            <a:bodyPr rtlCol="0" anchor="ctr"/>
            <a:lstStyle/>
            <a:p>
              <a:endParaRPr lang="da-DK"/>
            </a:p>
          </p:txBody>
        </p:sp>
        <p:sp>
          <p:nvSpPr>
            <p:cNvPr id="21" name="Freeform: Shape 20">
              <a:extLst>
                <a:ext uri="{FF2B5EF4-FFF2-40B4-BE49-F238E27FC236}">
                  <a16:creationId xmlns:a16="http://schemas.microsoft.com/office/drawing/2014/main" id="{73522D4A-C207-373D-0ECB-C70402668CE5}"/>
                </a:ext>
              </a:extLst>
            </p:cNvPr>
            <p:cNvSpPr/>
            <p:nvPr/>
          </p:nvSpPr>
          <p:spPr>
            <a:xfrm>
              <a:off x="3635773"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765" y="62700"/>
                    <a:pt x="39370" y="58950"/>
                  </a:cubicBezTo>
                  <a:close/>
                </a:path>
              </a:pathLst>
            </a:custGeom>
            <a:solidFill>
              <a:srgbClr val="FFFFFF"/>
            </a:solidFill>
            <a:ln w="1041" cap="flat">
              <a:noFill/>
              <a:prstDash val="solid"/>
              <a:miter/>
            </a:ln>
          </p:spPr>
          <p:txBody>
            <a:bodyPr rtlCol="0" anchor="ctr"/>
            <a:lstStyle/>
            <a:p>
              <a:endParaRPr lang="da-DK"/>
            </a:p>
          </p:txBody>
        </p:sp>
        <p:sp>
          <p:nvSpPr>
            <p:cNvPr id="22" name="Freeform: Shape 21">
              <a:extLst>
                <a:ext uri="{FF2B5EF4-FFF2-40B4-BE49-F238E27FC236}">
                  <a16:creationId xmlns:a16="http://schemas.microsoft.com/office/drawing/2014/main" id="{EA047F0C-DEAB-BB35-90AE-16895CA11E0F}"/>
                </a:ext>
              </a:extLst>
            </p:cNvPr>
            <p:cNvSpPr/>
            <p:nvPr/>
          </p:nvSpPr>
          <p:spPr>
            <a:xfrm>
              <a:off x="3939898"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661" y="62700"/>
                    <a:pt x="39370" y="58950"/>
                  </a:cubicBezTo>
                  <a:close/>
                </a:path>
              </a:pathLst>
            </a:custGeom>
            <a:solidFill>
              <a:srgbClr val="FFFFFF"/>
            </a:solidFill>
            <a:ln w="1041" cap="flat">
              <a:noFill/>
              <a:prstDash val="solid"/>
              <a:miter/>
            </a:ln>
          </p:spPr>
          <p:txBody>
            <a:bodyPr rtlCol="0" anchor="ctr"/>
            <a:lstStyle/>
            <a:p>
              <a:endParaRPr lang="da-DK"/>
            </a:p>
          </p:txBody>
        </p:sp>
        <p:sp>
          <p:nvSpPr>
            <p:cNvPr id="23" name="Freeform: Shape 22">
              <a:extLst>
                <a:ext uri="{FF2B5EF4-FFF2-40B4-BE49-F238E27FC236}">
                  <a16:creationId xmlns:a16="http://schemas.microsoft.com/office/drawing/2014/main" id="{52C78186-0C51-B1F5-D4E0-07FA8AE2632B}"/>
                </a:ext>
              </a:extLst>
            </p:cNvPr>
            <p:cNvSpPr/>
            <p:nvPr/>
          </p:nvSpPr>
          <p:spPr>
            <a:xfrm>
              <a:off x="3683892" y="6545518"/>
              <a:ext cx="34161" cy="63949"/>
            </a:xfrm>
            <a:custGeom>
              <a:avLst/>
              <a:gdLst>
                <a:gd name="connsiteX0" fmla="*/ 1979 w 34161"/>
                <a:gd name="connsiteY0" fmla="*/ 4999 h 63949"/>
                <a:gd name="connsiteX1" fmla="*/ 1979 w 34161"/>
                <a:gd name="connsiteY1" fmla="*/ 58950 h 63949"/>
                <a:gd name="connsiteX2" fmla="*/ 0 w 34161"/>
                <a:gd name="connsiteY2" fmla="*/ 63949 h 63949"/>
                <a:gd name="connsiteX3" fmla="*/ 34162 w 34161"/>
                <a:gd name="connsiteY3" fmla="*/ 63949 h 63949"/>
                <a:gd name="connsiteX4" fmla="*/ 34162 w 34161"/>
                <a:gd name="connsiteY4" fmla="*/ 55617 h 63949"/>
                <a:gd name="connsiteX5" fmla="*/ 29058 w 34161"/>
                <a:gd name="connsiteY5" fmla="*/ 58221 h 63949"/>
                <a:gd name="connsiteX6" fmla="*/ 9478 w 34161"/>
                <a:gd name="connsiteY6" fmla="*/ 58221 h 63949"/>
                <a:gd name="connsiteX7" fmla="*/ 9478 w 34161"/>
                <a:gd name="connsiteY7" fmla="*/ 31662 h 63949"/>
                <a:gd name="connsiteX8" fmla="*/ 23226 w 34161"/>
                <a:gd name="connsiteY8" fmla="*/ 31975 h 63949"/>
                <a:gd name="connsiteX9" fmla="*/ 27913 w 34161"/>
                <a:gd name="connsiteY9" fmla="*/ 33849 h 63949"/>
                <a:gd name="connsiteX10" fmla="*/ 27913 w 34161"/>
                <a:gd name="connsiteY10" fmla="*/ 24372 h 63949"/>
                <a:gd name="connsiteX11" fmla="*/ 23018 w 34161"/>
                <a:gd name="connsiteY11" fmla="*/ 26246 h 63949"/>
                <a:gd name="connsiteX12" fmla="*/ 9478 w 34161"/>
                <a:gd name="connsiteY12" fmla="*/ 25934 h 63949"/>
                <a:gd name="connsiteX13" fmla="*/ 9478 w 34161"/>
                <a:gd name="connsiteY13" fmla="*/ 5728 h 63949"/>
                <a:gd name="connsiteX14" fmla="*/ 29058 w 34161"/>
                <a:gd name="connsiteY14" fmla="*/ 5728 h 63949"/>
                <a:gd name="connsiteX15" fmla="*/ 34162 w 34161"/>
                <a:gd name="connsiteY15" fmla="*/ 8332 h 63949"/>
                <a:gd name="connsiteX16" fmla="*/ 34162 w 34161"/>
                <a:gd name="connsiteY16" fmla="*/ 0 h 63949"/>
                <a:gd name="connsiteX17" fmla="*/ 0 w 34161"/>
                <a:gd name="connsiteY17" fmla="*/ 0 h 63949"/>
                <a:gd name="connsiteX18" fmla="*/ 1979 w 34161"/>
                <a:gd name="connsiteY18" fmla="*/ 4999 h 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949">
                  <a:moveTo>
                    <a:pt x="1979" y="4999"/>
                  </a:moveTo>
                  <a:lnTo>
                    <a:pt x="1979" y="58950"/>
                  </a:lnTo>
                  <a:cubicBezTo>
                    <a:pt x="1979" y="62387"/>
                    <a:pt x="1458" y="62804"/>
                    <a:pt x="0" y="63949"/>
                  </a:cubicBezTo>
                  <a:lnTo>
                    <a:pt x="34162" y="63949"/>
                  </a:lnTo>
                  <a:lnTo>
                    <a:pt x="34162" y="55617"/>
                  </a:lnTo>
                  <a:cubicBezTo>
                    <a:pt x="33225" y="56763"/>
                    <a:pt x="33120" y="58221"/>
                    <a:pt x="29058" y="58221"/>
                  </a:cubicBezTo>
                  <a:lnTo>
                    <a:pt x="9478" y="58221"/>
                  </a:lnTo>
                  <a:lnTo>
                    <a:pt x="9478" y="31662"/>
                  </a:lnTo>
                  <a:lnTo>
                    <a:pt x="23226" y="31975"/>
                  </a:lnTo>
                  <a:cubicBezTo>
                    <a:pt x="27184" y="31975"/>
                    <a:pt x="27184" y="32912"/>
                    <a:pt x="27913" y="33849"/>
                  </a:cubicBezTo>
                  <a:lnTo>
                    <a:pt x="27913" y="24372"/>
                  </a:lnTo>
                  <a:cubicBezTo>
                    <a:pt x="26975" y="25517"/>
                    <a:pt x="26871" y="26246"/>
                    <a:pt x="23018" y="26246"/>
                  </a:cubicBezTo>
                  <a:lnTo>
                    <a:pt x="9478" y="25934"/>
                  </a:lnTo>
                  <a:lnTo>
                    <a:pt x="9478" y="5728"/>
                  </a:lnTo>
                  <a:lnTo>
                    <a:pt x="29058" y="5728"/>
                  </a:lnTo>
                  <a:cubicBezTo>
                    <a:pt x="33120" y="5728"/>
                    <a:pt x="33433" y="7395"/>
                    <a:pt x="34162" y="8332"/>
                  </a:cubicBezTo>
                  <a:lnTo>
                    <a:pt x="34162" y="0"/>
                  </a:lnTo>
                  <a:lnTo>
                    <a:pt x="0" y="0"/>
                  </a:lnTo>
                  <a:cubicBezTo>
                    <a:pt x="1458" y="1146"/>
                    <a:pt x="1979" y="1562"/>
                    <a:pt x="1979" y="4999"/>
                  </a:cubicBezTo>
                  <a:close/>
                </a:path>
              </a:pathLst>
            </a:custGeom>
            <a:solidFill>
              <a:srgbClr val="FFFFFF"/>
            </a:solidFill>
            <a:ln w="1041" cap="flat">
              <a:noFill/>
              <a:prstDash val="solid"/>
              <a:miter/>
            </a:ln>
          </p:spPr>
          <p:txBody>
            <a:bodyPr rtlCol="0" anchor="ctr"/>
            <a:lstStyle/>
            <a:p>
              <a:endParaRPr lang="da-DK"/>
            </a:p>
          </p:txBody>
        </p:sp>
        <p:sp>
          <p:nvSpPr>
            <p:cNvPr id="24" name="Freeform: Shape 23">
              <a:extLst>
                <a:ext uri="{FF2B5EF4-FFF2-40B4-BE49-F238E27FC236}">
                  <a16:creationId xmlns:a16="http://schemas.microsoft.com/office/drawing/2014/main" id="{4ECAA7BB-C0DA-5D7C-9470-8E72890AF0CD}"/>
                </a:ext>
              </a:extLst>
            </p:cNvPr>
            <p:cNvSpPr/>
            <p:nvPr/>
          </p:nvSpPr>
          <p:spPr>
            <a:xfrm>
              <a:off x="3724094" y="6545309"/>
              <a:ext cx="29266" cy="64157"/>
            </a:xfrm>
            <a:custGeom>
              <a:avLst/>
              <a:gdLst>
                <a:gd name="connsiteX0" fmla="*/ 24267 w 29266"/>
                <a:gd name="connsiteY0" fmla="*/ 58429 h 64157"/>
                <a:gd name="connsiteX1" fmla="*/ 9478 w 29266"/>
                <a:gd name="connsiteY1" fmla="*/ 58429 h 64157"/>
                <a:gd name="connsiteX2" fmla="*/ 9478 w 29266"/>
                <a:gd name="connsiteY2" fmla="*/ 4999 h 64157"/>
                <a:gd name="connsiteX3" fmla="*/ 11457 w 29266"/>
                <a:gd name="connsiteY3" fmla="*/ 0 h 64157"/>
                <a:gd name="connsiteX4" fmla="*/ 0 w 29266"/>
                <a:gd name="connsiteY4" fmla="*/ 0 h 64157"/>
                <a:gd name="connsiteX5" fmla="*/ 1979 w 29266"/>
                <a:gd name="connsiteY5" fmla="*/ 4999 h 64157"/>
                <a:gd name="connsiteX6" fmla="*/ 1979 w 29266"/>
                <a:gd name="connsiteY6" fmla="*/ 59158 h 64157"/>
                <a:gd name="connsiteX7" fmla="*/ 0 w 29266"/>
                <a:gd name="connsiteY7" fmla="*/ 64158 h 64157"/>
                <a:gd name="connsiteX8" fmla="*/ 29267 w 29266"/>
                <a:gd name="connsiteY8" fmla="*/ 64158 h 64157"/>
                <a:gd name="connsiteX9" fmla="*/ 29267 w 29266"/>
                <a:gd name="connsiteY9" fmla="*/ 55826 h 64157"/>
                <a:gd name="connsiteX10" fmla="*/ 24267 w 29266"/>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66" h="64157">
                  <a:moveTo>
                    <a:pt x="24267"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9267" y="64158"/>
                  </a:lnTo>
                  <a:lnTo>
                    <a:pt x="29267" y="55826"/>
                  </a:lnTo>
                  <a:cubicBezTo>
                    <a:pt x="28434" y="56763"/>
                    <a:pt x="28225" y="58429"/>
                    <a:pt x="24267" y="58429"/>
                  </a:cubicBezTo>
                  <a:close/>
                </a:path>
              </a:pathLst>
            </a:custGeom>
            <a:solidFill>
              <a:srgbClr val="FFFFFF"/>
            </a:solidFill>
            <a:ln w="1041" cap="flat">
              <a:noFill/>
              <a:prstDash val="solid"/>
              <a:miter/>
            </a:ln>
          </p:spPr>
          <p:txBody>
            <a:bodyPr rtlCol="0" anchor="ctr"/>
            <a:lstStyle/>
            <a:p>
              <a:endParaRPr lang="da-DK"/>
            </a:p>
          </p:txBody>
        </p:sp>
        <p:sp>
          <p:nvSpPr>
            <p:cNvPr id="25" name="Freeform: Shape 24">
              <a:extLst>
                <a:ext uri="{FF2B5EF4-FFF2-40B4-BE49-F238E27FC236}">
                  <a16:creationId xmlns:a16="http://schemas.microsoft.com/office/drawing/2014/main" id="{FCADB1A2-0263-5836-82D2-AD2EB43C50E5}"/>
                </a:ext>
              </a:extLst>
            </p:cNvPr>
            <p:cNvSpPr/>
            <p:nvPr/>
          </p:nvSpPr>
          <p:spPr>
            <a:xfrm>
              <a:off x="3758465" y="6545309"/>
              <a:ext cx="28329" cy="64157"/>
            </a:xfrm>
            <a:custGeom>
              <a:avLst/>
              <a:gdLst>
                <a:gd name="connsiteX0" fmla="*/ 23226 w 28329"/>
                <a:gd name="connsiteY0" fmla="*/ 58429 h 64157"/>
                <a:gd name="connsiteX1" fmla="*/ 9478 w 28329"/>
                <a:gd name="connsiteY1" fmla="*/ 58429 h 64157"/>
                <a:gd name="connsiteX2" fmla="*/ 9478 w 28329"/>
                <a:gd name="connsiteY2" fmla="*/ 4999 h 64157"/>
                <a:gd name="connsiteX3" fmla="*/ 11457 w 28329"/>
                <a:gd name="connsiteY3" fmla="*/ 0 h 64157"/>
                <a:gd name="connsiteX4" fmla="*/ 0 w 28329"/>
                <a:gd name="connsiteY4" fmla="*/ 0 h 64157"/>
                <a:gd name="connsiteX5" fmla="*/ 1979 w 28329"/>
                <a:gd name="connsiteY5" fmla="*/ 4999 h 64157"/>
                <a:gd name="connsiteX6" fmla="*/ 1979 w 28329"/>
                <a:gd name="connsiteY6" fmla="*/ 59158 h 64157"/>
                <a:gd name="connsiteX7" fmla="*/ 0 w 28329"/>
                <a:gd name="connsiteY7" fmla="*/ 64158 h 64157"/>
                <a:gd name="connsiteX8" fmla="*/ 28329 w 28329"/>
                <a:gd name="connsiteY8" fmla="*/ 64158 h 64157"/>
                <a:gd name="connsiteX9" fmla="*/ 28329 w 28329"/>
                <a:gd name="connsiteY9" fmla="*/ 55826 h 64157"/>
                <a:gd name="connsiteX10" fmla="*/ 23226 w 28329"/>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329" h="64157">
                  <a:moveTo>
                    <a:pt x="23226"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8329" y="64158"/>
                  </a:lnTo>
                  <a:lnTo>
                    <a:pt x="28329" y="55826"/>
                  </a:lnTo>
                  <a:cubicBezTo>
                    <a:pt x="27392" y="56763"/>
                    <a:pt x="27184" y="58429"/>
                    <a:pt x="23226" y="58429"/>
                  </a:cubicBezTo>
                  <a:close/>
                </a:path>
              </a:pathLst>
            </a:custGeom>
            <a:solidFill>
              <a:srgbClr val="FFFFFF"/>
            </a:solidFill>
            <a:ln w="1041" cap="flat">
              <a:noFill/>
              <a:prstDash val="solid"/>
              <a:miter/>
            </a:ln>
          </p:spPr>
          <p:txBody>
            <a:bodyPr rtlCol="0" anchor="ctr"/>
            <a:lstStyle/>
            <a:p>
              <a:endParaRPr lang="da-DK"/>
            </a:p>
          </p:txBody>
        </p:sp>
        <p:sp>
          <p:nvSpPr>
            <p:cNvPr id="26" name="Freeform: Shape 25">
              <a:extLst>
                <a:ext uri="{FF2B5EF4-FFF2-40B4-BE49-F238E27FC236}">
                  <a16:creationId xmlns:a16="http://schemas.microsoft.com/office/drawing/2014/main" id="{F239AD06-2420-D200-F661-84624A3B313E}"/>
                </a:ext>
              </a:extLst>
            </p:cNvPr>
            <p:cNvSpPr/>
            <p:nvPr/>
          </p:nvSpPr>
          <p:spPr>
            <a:xfrm>
              <a:off x="3792210" y="6546038"/>
              <a:ext cx="34161" cy="63324"/>
            </a:xfrm>
            <a:custGeom>
              <a:avLst/>
              <a:gdLst>
                <a:gd name="connsiteX0" fmla="*/ 1979 w 34161"/>
                <a:gd name="connsiteY0" fmla="*/ 8436 h 63324"/>
                <a:gd name="connsiteX1" fmla="*/ 1979 w 34161"/>
                <a:gd name="connsiteY1" fmla="*/ 61658 h 63324"/>
                <a:gd name="connsiteX2" fmla="*/ 0 w 34161"/>
                <a:gd name="connsiteY2" fmla="*/ 63325 h 63324"/>
                <a:gd name="connsiteX3" fmla="*/ 34162 w 34161"/>
                <a:gd name="connsiteY3" fmla="*/ 63325 h 63324"/>
                <a:gd name="connsiteX4" fmla="*/ 34162 w 34161"/>
                <a:gd name="connsiteY4" fmla="*/ 54992 h 63324"/>
                <a:gd name="connsiteX5" fmla="*/ 29058 w 34161"/>
                <a:gd name="connsiteY5" fmla="*/ 57596 h 63324"/>
                <a:gd name="connsiteX6" fmla="*/ 9478 w 34161"/>
                <a:gd name="connsiteY6" fmla="*/ 57596 h 63324"/>
                <a:gd name="connsiteX7" fmla="*/ 9478 w 34161"/>
                <a:gd name="connsiteY7" fmla="*/ 30621 h 63324"/>
                <a:gd name="connsiteX8" fmla="*/ 24059 w 34161"/>
                <a:gd name="connsiteY8" fmla="*/ 30933 h 63324"/>
                <a:gd name="connsiteX9" fmla="*/ 28746 w 34161"/>
                <a:gd name="connsiteY9" fmla="*/ 32808 h 63324"/>
                <a:gd name="connsiteX10" fmla="*/ 28746 w 34161"/>
                <a:gd name="connsiteY10" fmla="*/ 23330 h 63324"/>
                <a:gd name="connsiteX11" fmla="*/ 23851 w 34161"/>
                <a:gd name="connsiteY11" fmla="*/ 25205 h 63324"/>
                <a:gd name="connsiteX12" fmla="*/ 9478 w 34161"/>
                <a:gd name="connsiteY12" fmla="*/ 24892 h 63324"/>
                <a:gd name="connsiteX13" fmla="*/ 9478 w 34161"/>
                <a:gd name="connsiteY13" fmla="*/ 5728 h 63324"/>
                <a:gd name="connsiteX14" fmla="*/ 29058 w 34161"/>
                <a:gd name="connsiteY14" fmla="*/ 5728 h 63324"/>
                <a:gd name="connsiteX15" fmla="*/ 34162 w 34161"/>
                <a:gd name="connsiteY15" fmla="*/ 8332 h 63324"/>
                <a:gd name="connsiteX16" fmla="*/ 34162 w 34161"/>
                <a:gd name="connsiteY16" fmla="*/ 0 h 63324"/>
                <a:gd name="connsiteX17" fmla="*/ 0 w 34161"/>
                <a:gd name="connsiteY17" fmla="*/ 0 h 63324"/>
                <a:gd name="connsiteX18" fmla="*/ 1979 w 34161"/>
                <a:gd name="connsiteY18" fmla="*/ 8436 h 6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324">
                  <a:moveTo>
                    <a:pt x="1979" y="8436"/>
                  </a:moveTo>
                  <a:lnTo>
                    <a:pt x="1979" y="61658"/>
                  </a:lnTo>
                  <a:cubicBezTo>
                    <a:pt x="1979" y="61762"/>
                    <a:pt x="1458" y="62179"/>
                    <a:pt x="0" y="63325"/>
                  </a:cubicBezTo>
                  <a:lnTo>
                    <a:pt x="34162" y="63325"/>
                  </a:lnTo>
                  <a:lnTo>
                    <a:pt x="34162" y="54992"/>
                  </a:lnTo>
                  <a:cubicBezTo>
                    <a:pt x="33225" y="56138"/>
                    <a:pt x="33120" y="57596"/>
                    <a:pt x="29058" y="57596"/>
                  </a:cubicBezTo>
                  <a:lnTo>
                    <a:pt x="9478" y="57596"/>
                  </a:lnTo>
                  <a:lnTo>
                    <a:pt x="9478" y="30621"/>
                  </a:lnTo>
                  <a:lnTo>
                    <a:pt x="24059" y="30933"/>
                  </a:lnTo>
                  <a:cubicBezTo>
                    <a:pt x="28017" y="30933"/>
                    <a:pt x="28017" y="31871"/>
                    <a:pt x="28746" y="32808"/>
                  </a:cubicBezTo>
                  <a:lnTo>
                    <a:pt x="28746" y="23330"/>
                  </a:lnTo>
                  <a:cubicBezTo>
                    <a:pt x="27809" y="24476"/>
                    <a:pt x="27705" y="25205"/>
                    <a:pt x="23851" y="25205"/>
                  </a:cubicBezTo>
                  <a:lnTo>
                    <a:pt x="9478" y="24892"/>
                  </a:lnTo>
                  <a:lnTo>
                    <a:pt x="9478" y="5728"/>
                  </a:lnTo>
                  <a:lnTo>
                    <a:pt x="29058" y="5728"/>
                  </a:lnTo>
                  <a:cubicBezTo>
                    <a:pt x="33120" y="5728"/>
                    <a:pt x="33433" y="7395"/>
                    <a:pt x="34162" y="8332"/>
                  </a:cubicBezTo>
                  <a:lnTo>
                    <a:pt x="34162" y="0"/>
                  </a:lnTo>
                  <a:lnTo>
                    <a:pt x="0" y="0"/>
                  </a:lnTo>
                  <a:cubicBezTo>
                    <a:pt x="1458" y="1250"/>
                    <a:pt x="1979" y="1666"/>
                    <a:pt x="1979" y="8436"/>
                  </a:cubicBezTo>
                  <a:close/>
                </a:path>
              </a:pathLst>
            </a:custGeom>
            <a:solidFill>
              <a:srgbClr val="FFFFFF"/>
            </a:solidFill>
            <a:ln w="1041" cap="flat">
              <a:noFill/>
              <a:prstDash val="solid"/>
              <a:miter/>
            </a:ln>
          </p:spPr>
          <p:txBody>
            <a:bodyPr rtlCol="0" anchor="ctr"/>
            <a:lstStyle/>
            <a:p>
              <a:endParaRPr lang="da-DK"/>
            </a:p>
          </p:txBody>
        </p:sp>
        <p:sp>
          <p:nvSpPr>
            <p:cNvPr id="27" name="Freeform: Shape 26">
              <a:extLst>
                <a:ext uri="{FF2B5EF4-FFF2-40B4-BE49-F238E27FC236}">
                  <a16:creationId xmlns:a16="http://schemas.microsoft.com/office/drawing/2014/main" id="{6BACD652-2771-4558-DB56-C6F5C430DF85}"/>
                </a:ext>
              </a:extLst>
            </p:cNvPr>
            <p:cNvSpPr/>
            <p:nvPr/>
          </p:nvSpPr>
          <p:spPr>
            <a:xfrm>
              <a:off x="3832621" y="6546143"/>
              <a:ext cx="41556" cy="63220"/>
            </a:xfrm>
            <a:custGeom>
              <a:avLst/>
              <a:gdLst>
                <a:gd name="connsiteX0" fmla="*/ 27288 w 41556"/>
                <a:gd name="connsiteY0" fmla="*/ 29267 h 63220"/>
                <a:gd name="connsiteX1" fmla="*/ 27288 w 41556"/>
                <a:gd name="connsiteY1" fmla="*/ 29059 h 63220"/>
                <a:gd name="connsiteX2" fmla="*/ 38120 w 41556"/>
                <a:gd name="connsiteY2" fmla="*/ 14790 h 63220"/>
                <a:gd name="connsiteX3" fmla="*/ 15935 w 41556"/>
                <a:gd name="connsiteY3" fmla="*/ 0 h 63220"/>
                <a:gd name="connsiteX4" fmla="*/ 0 w 41556"/>
                <a:gd name="connsiteY4" fmla="*/ 0 h 63220"/>
                <a:gd name="connsiteX5" fmla="*/ 1979 w 41556"/>
                <a:gd name="connsiteY5" fmla="*/ 4999 h 63220"/>
                <a:gd name="connsiteX6" fmla="*/ 1979 w 41556"/>
                <a:gd name="connsiteY6" fmla="*/ 58221 h 63220"/>
                <a:gd name="connsiteX7" fmla="*/ 0 w 41556"/>
                <a:gd name="connsiteY7" fmla="*/ 63220 h 63220"/>
                <a:gd name="connsiteX8" fmla="*/ 15935 w 41556"/>
                <a:gd name="connsiteY8" fmla="*/ 63220 h 63220"/>
                <a:gd name="connsiteX9" fmla="*/ 41557 w 41556"/>
                <a:gd name="connsiteY9" fmla="*/ 45619 h 63220"/>
                <a:gd name="connsiteX10" fmla="*/ 27288 w 41556"/>
                <a:gd name="connsiteY10" fmla="*/ 29267 h 63220"/>
                <a:gd name="connsiteX11" fmla="*/ 15935 w 41556"/>
                <a:gd name="connsiteY11" fmla="*/ 57596 h 63220"/>
                <a:gd name="connsiteX12" fmla="*/ 9478 w 41556"/>
                <a:gd name="connsiteY12" fmla="*/ 57596 h 63220"/>
                <a:gd name="connsiteX13" fmla="*/ 9478 w 41556"/>
                <a:gd name="connsiteY13" fmla="*/ 28225 h 63220"/>
                <a:gd name="connsiteX14" fmla="*/ 9478 w 41556"/>
                <a:gd name="connsiteY14" fmla="*/ 5833 h 63220"/>
                <a:gd name="connsiteX15" fmla="*/ 15935 w 41556"/>
                <a:gd name="connsiteY15" fmla="*/ 5833 h 63220"/>
                <a:gd name="connsiteX16" fmla="*/ 30621 w 41556"/>
                <a:gd name="connsiteY16" fmla="*/ 15623 h 63220"/>
                <a:gd name="connsiteX17" fmla="*/ 16144 w 41556"/>
                <a:gd name="connsiteY17" fmla="*/ 28642 h 63220"/>
                <a:gd name="connsiteX18" fmla="*/ 16144 w 41556"/>
                <a:gd name="connsiteY18" fmla="*/ 30412 h 63220"/>
                <a:gd name="connsiteX19" fmla="*/ 34058 w 41556"/>
                <a:gd name="connsiteY19" fmla="*/ 45410 h 63220"/>
                <a:gd name="connsiteX20" fmla="*/ 15935 w 41556"/>
                <a:gd name="connsiteY20" fmla="*/ 57596 h 6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556" h="63220">
                  <a:moveTo>
                    <a:pt x="27288" y="29267"/>
                  </a:moveTo>
                  <a:lnTo>
                    <a:pt x="27288" y="29059"/>
                  </a:lnTo>
                  <a:cubicBezTo>
                    <a:pt x="32079" y="28225"/>
                    <a:pt x="38120" y="24059"/>
                    <a:pt x="38120" y="14790"/>
                  </a:cubicBezTo>
                  <a:cubicBezTo>
                    <a:pt x="38120" y="1354"/>
                    <a:pt x="26559" y="0"/>
                    <a:pt x="15935" y="0"/>
                  </a:cubicBezTo>
                  <a:lnTo>
                    <a:pt x="0" y="0"/>
                  </a:lnTo>
                  <a:cubicBezTo>
                    <a:pt x="1458" y="1146"/>
                    <a:pt x="1979" y="1562"/>
                    <a:pt x="1979" y="4999"/>
                  </a:cubicBezTo>
                  <a:lnTo>
                    <a:pt x="1979" y="58221"/>
                  </a:lnTo>
                  <a:cubicBezTo>
                    <a:pt x="1979" y="61658"/>
                    <a:pt x="1458" y="62075"/>
                    <a:pt x="0" y="63220"/>
                  </a:cubicBezTo>
                  <a:lnTo>
                    <a:pt x="15935" y="63220"/>
                  </a:lnTo>
                  <a:cubicBezTo>
                    <a:pt x="25830" y="63220"/>
                    <a:pt x="41557" y="62179"/>
                    <a:pt x="41557" y="45619"/>
                  </a:cubicBezTo>
                  <a:cubicBezTo>
                    <a:pt x="41453" y="33849"/>
                    <a:pt x="32600" y="29267"/>
                    <a:pt x="27288" y="29267"/>
                  </a:cubicBezTo>
                  <a:close/>
                  <a:moveTo>
                    <a:pt x="15935" y="57596"/>
                  </a:moveTo>
                  <a:lnTo>
                    <a:pt x="9478" y="57596"/>
                  </a:lnTo>
                  <a:lnTo>
                    <a:pt x="9478" y="28225"/>
                  </a:lnTo>
                  <a:lnTo>
                    <a:pt x="9478" y="5833"/>
                  </a:lnTo>
                  <a:lnTo>
                    <a:pt x="15935" y="5833"/>
                  </a:lnTo>
                  <a:cubicBezTo>
                    <a:pt x="22705" y="5833"/>
                    <a:pt x="30621" y="6041"/>
                    <a:pt x="30621" y="15623"/>
                  </a:cubicBezTo>
                  <a:cubicBezTo>
                    <a:pt x="30308" y="23226"/>
                    <a:pt x="27705" y="28642"/>
                    <a:pt x="16144" y="28642"/>
                  </a:cubicBezTo>
                  <a:cubicBezTo>
                    <a:pt x="16144" y="28642"/>
                    <a:pt x="13227" y="30412"/>
                    <a:pt x="16144" y="30412"/>
                  </a:cubicBezTo>
                  <a:cubicBezTo>
                    <a:pt x="25517" y="30412"/>
                    <a:pt x="34058" y="34683"/>
                    <a:pt x="34058" y="45410"/>
                  </a:cubicBezTo>
                  <a:cubicBezTo>
                    <a:pt x="34058" y="56451"/>
                    <a:pt x="24372" y="57596"/>
                    <a:pt x="15935" y="57596"/>
                  </a:cubicBezTo>
                  <a:close/>
                </a:path>
              </a:pathLst>
            </a:custGeom>
            <a:solidFill>
              <a:srgbClr val="FFFFFF"/>
            </a:solidFill>
            <a:ln w="1041" cap="flat">
              <a:noFill/>
              <a:prstDash val="solid"/>
              <a:miter/>
            </a:ln>
          </p:spPr>
          <p:txBody>
            <a:bodyPr rtlCol="0" anchor="ctr"/>
            <a:lstStyle/>
            <a:p>
              <a:endParaRPr lang="da-DK"/>
            </a:p>
          </p:txBody>
        </p:sp>
        <p:sp>
          <p:nvSpPr>
            <p:cNvPr id="28" name="Freeform: Shape 27">
              <a:extLst>
                <a:ext uri="{FF2B5EF4-FFF2-40B4-BE49-F238E27FC236}">
                  <a16:creationId xmlns:a16="http://schemas.microsoft.com/office/drawing/2014/main" id="{1F01C75F-1798-5D8C-6ABD-AB2224DE47F0}"/>
                </a:ext>
              </a:extLst>
            </p:cNvPr>
            <p:cNvSpPr/>
            <p:nvPr/>
          </p:nvSpPr>
          <p:spPr>
            <a:xfrm>
              <a:off x="3877719" y="6545309"/>
              <a:ext cx="57596" cy="65511"/>
            </a:xfrm>
            <a:custGeom>
              <a:avLst/>
              <a:gdLst>
                <a:gd name="connsiteX0" fmla="*/ 29058 w 57596"/>
                <a:gd name="connsiteY0" fmla="*/ 0 h 65511"/>
                <a:gd name="connsiteX1" fmla="*/ 0 w 57596"/>
                <a:gd name="connsiteY1" fmla="*/ 33016 h 65511"/>
                <a:gd name="connsiteX2" fmla="*/ 28850 w 57596"/>
                <a:gd name="connsiteY2" fmla="*/ 65512 h 65511"/>
                <a:gd name="connsiteX3" fmla="*/ 57596 w 57596"/>
                <a:gd name="connsiteY3" fmla="*/ 33016 h 65511"/>
                <a:gd name="connsiteX4" fmla="*/ 29058 w 57596"/>
                <a:gd name="connsiteY4" fmla="*/ 0 h 65511"/>
                <a:gd name="connsiteX5" fmla="*/ 28954 w 57596"/>
                <a:gd name="connsiteY5" fmla="*/ 58950 h 65511"/>
                <a:gd name="connsiteX6" fmla="*/ 8124 w 57596"/>
                <a:gd name="connsiteY6" fmla="*/ 32808 h 65511"/>
                <a:gd name="connsiteX7" fmla="*/ 29058 w 57596"/>
                <a:gd name="connsiteY7" fmla="*/ 6457 h 65511"/>
                <a:gd name="connsiteX8" fmla="*/ 49576 w 57596"/>
                <a:gd name="connsiteY8" fmla="*/ 32808 h 65511"/>
                <a:gd name="connsiteX9" fmla="*/ 28954 w 57596"/>
                <a:gd name="connsiteY9" fmla="*/ 58950 h 6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596" h="65511">
                  <a:moveTo>
                    <a:pt x="29058" y="0"/>
                  </a:moveTo>
                  <a:cubicBezTo>
                    <a:pt x="11457" y="0"/>
                    <a:pt x="0" y="15727"/>
                    <a:pt x="0" y="33016"/>
                  </a:cubicBezTo>
                  <a:cubicBezTo>
                    <a:pt x="0" y="50306"/>
                    <a:pt x="12082" y="65512"/>
                    <a:pt x="28850" y="65512"/>
                  </a:cubicBezTo>
                  <a:cubicBezTo>
                    <a:pt x="46556" y="65512"/>
                    <a:pt x="57596" y="49264"/>
                    <a:pt x="57596" y="33016"/>
                  </a:cubicBezTo>
                  <a:cubicBezTo>
                    <a:pt x="57596" y="15415"/>
                    <a:pt x="45931" y="0"/>
                    <a:pt x="29058" y="0"/>
                  </a:cubicBezTo>
                  <a:close/>
                  <a:moveTo>
                    <a:pt x="28954" y="58950"/>
                  </a:moveTo>
                  <a:cubicBezTo>
                    <a:pt x="16039" y="58950"/>
                    <a:pt x="8124" y="45827"/>
                    <a:pt x="8124" y="32808"/>
                  </a:cubicBezTo>
                  <a:cubicBezTo>
                    <a:pt x="8124" y="19164"/>
                    <a:pt x="16144" y="6457"/>
                    <a:pt x="29058" y="6457"/>
                  </a:cubicBezTo>
                  <a:cubicBezTo>
                    <a:pt x="41036" y="6457"/>
                    <a:pt x="49576" y="18643"/>
                    <a:pt x="49576" y="32808"/>
                  </a:cubicBezTo>
                  <a:cubicBezTo>
                    <a:pt x="49472" y="45515"/>
                    <a:pt x="41869" y="58950"/>
                    <a:pt x="28954" y="58950"/>
                  </a:cubicBezTo>
                  <a:close/>
                </a:path>
              </a:pathLst>
            </a:custGeom>
            <a:solidFill>
              <a:srgbClr val="FFFFFF"/>
            </a:solidFill>
            <a:ln w="1041" cap="flat">
              <a:noFill/>
              <a:prstDash val="solid"/>
              <a:miter/>
            </a:ln>
          </p:spPr>
          <p:txBody>
            <a:bodyPr rtlCol="0" anchor="ctr"/>
            <a:lstStyle/>
            <a:p>
              <a:endParaRPr lang="da-DK"/>
            </a:p>
          </p:txBody>
        </p:sp>
        <p:sp>
          <p:nvSpPr>
            <p:cNvPr id="29" name="Freeform: Shape 28">
              <a:extLst>
                <a:ext uri="{FF2B5EF4-FFF2-40B4-BE49-F238E27FC236}">
                  <a16:creationId xmlns:a16="http://schemas.microsoft.com/office/drawing/2014/main" id="{DC748165-B783-841D-3F84-F245A9EE7358}"/>
                </a:ext>
              </a:extLst>
            </p:cNvPr>
            <p:cNvSpPr/>
            <p:nvPr/>
          </p:nvSpPr>
          <p:spPr>
            <a:xfrm>
              <a:off x="3984371" y="6544372"/>
              <a:ext cx="50201" cy="66344"/>
            </a:xfrm>
            <a:custGeom>
              <a:avLst/>
              <a:gdLst>
                <a:gd name="connsiteX0" fmla="*/ 34787 w 50201"/>
                <a:gd name="connsiteY0" fmla="*/ 30204 h 66344"/>
                <a:gd name="connsiteX1" fmla="*/ 29892 w 50201"/>
                <a:gd name="connsiteY1" fmla="*/ 28329 h 66344"/>
                <a:gd name="connsiteX2" fmla="*/ 29892 w 50201"/>
                <a:gd name="connsiteY2" fmla="*/ 37807 h 66344"/>
                <a:gd name="connsiteX3" fmla="*/ 34579 w 50201"/>
                <a:gd name="connsiteY3" fmla="*/ 35933 h 66344"/>
                <a:gd name="connsiteX4" fmla="*/ 41557 w 50201"/>
                <a:gd name="connsiteY4" fmla="*/ 35933 h 66344"/>
                <a:gd name="connsiteX5" fmla="*/ 41557 w 50201"/>
                <a:gd name="connsiteY5" fmla="*/ 35933 h 66344"/>
                <a:gd name="connsiteX6" fmla="*/ 41557 w 50201"/>
                <a:gd name="connsiteY6" fmla="*/ 57180 h 66344"/>
                <a:gd name="connsiteX7" fmla="*/ 30308 w 50201"/>
                <a:gd name="connsiteY7" fmla="*/ 59888 h 66344"/>
                <a:gd name="connsiteX8" fmla="*/ 8540 w 50201"/>
                <a:gd name="connsiteY8" fmla="*/ 33745 h 66344"/>
                <a:gd name="connsiteX9" fmla="*/ 30829 w 50201"/>
                <a:gd name="connsiteY9" fmla="*/ 6562 h 66344"/>
                <a:gd name="connsiteX10" fmla="*/ 48222 w 50201"/>
                <a:gd name="connsiteY10" fmla="*/ 16144 h 66344"/>
                <a:gd name="connsiteX11" fmla="*/ 48222 w 50201"/>
                <a:gd name="connsiteY11" fmla="*/ 3854 h 66344"/>
                <a:gd name="connsiteX12" fmla="*/ 46244 w 50201"/>
                <a:gd name="connsiteY12" fmla="*/ 4791 h 66344"/>
                <a:gd name="connsiteX13" fmla="*/ 29683 w 50201"/>
                <a:gd name="connsiteY13" fmla="*/ 0 h 66344"/>
                <a:gd name="connsiteX14" fmla="*/ 0 w 50201"/>
                <a:gd name="connsiteY14" fmla="*/ 33849 h 66344"/>
                <a:gd name="connsiteX15" fmla="*/ 29683 w 50201"/>
                <a:gd name="connsiteY15" fmla="*/ 66345 h 66344"/>
                <a:gd name="connsiteX16" fmla="*/ 50201 w 50201"/>
                <a:gd name="connsiteY16" fmla="*/ 60200 h 66344"/>
                <a:gd name="connsiteX17" fmla="*/ 50201 w 50201"/>
                <a:gd name="connsiteY17" fmla="*/ 30100 h 66344"/>
                <a:gd name="connsiteX18" fmla="*/ 34787 w 50201"/>
                <a:gd name="connsiteY18" fmla="*/ 30204 h 6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1" h="66344">
                  <a:moveTo>
                    <a:pt x="34787" y="30204"/>
                  </a:moveTo>
                  <a:cubicBezTo>
                    <a:pt x="30933" y="30204"/>
                    <a:pt x="30725" y="29475"/>
                    <a:pt x="29892" y="28329"/>
                  </a:cubicBezTo>
                  <a:lnTo>
                    <a:pt x="29892" y="37807"/>
                  </a:lnTo>
                  <a:cubicBezTo>
                    <a:pt x="30621" y="36870"/>
                    <a:pt x="30621" y="35933"/>
                    <a:pt x="34579" y="35933"/>
                  </a:cubicBezTo>
                  <a:lnTo>
                    <a:pt x="41557" y="35933"/>
                  </a:lnTo>
                  <a:lnTo>
                    <a:pt x="41557" y="35933"/>
                  </a:lnTo>
                  <a:lnTo>
                    <a:pt x="41557" y="57180"/>
                  </a:lnTo>
                  <a:cubicBezTo>
                    <a:pt x="37807" y="59054"/>
                    <a:pt x="34266" y="59888"/>
                    <a:pt x="30308" y="59888"/>
                  </a:cubicBezTo>
                  <a:cubicBezTo>
                    <a:pt x="16769" y="59888"/>
                    <a:pt x="8540" y="48222"/>
                    <a:pt x="8540" y="33745"/>
                  </a:cubicBezTo>
                  <a:cubicBezTo>
                    <a:pt x="8540" y="18122"/>
                    <a:pt x="17914" y="6562"/>
                    <a:pt x="30829" y="6562"/>
                  </a:cubicBezTo>
                  <a:cubicBezTo>
                    <a:pt x="41348" y="6562"/>
                    <a:pt x="47389" y="15415"/>
                    <a:pt x="48222" y="16144"/>
                  </a:cubicBezTo>
                  <a:lnTo>
                    <a:pt x="48222" y="3854"/>
                  </a:lnTo>
                  <a:cubicBezTo>
                    <a:pt x="47389" y="4479"/>
                    <a:pt x="46973" y="4791"/>
                    <a:pt x="46244" y="4791"/>
                  </a:cubicBezTo>
                  <a:cubicBezTo>
                    <a:pt x="43536" y="4791"/>
                    <a:pt x="39786" y="0"/>
                    <a:pt x="29683" y="0"/>
                  </a:cubicBezTo>
                  <a:cubicBezTo>
                    <a:pt x="12915" y="0"/>
                    <a:pt x="0" y="14061"/>
                    <a:pt x="0" y="33849"/>
                  </a:cubicBezTo>
                  <a:cubicBezTo>
                    <a:pt x="0" y="53430"/>
                    <a:pt x="11873" y="66345"/>
                    <a:pt x="29683" y="66345"/>
                  </a:cubicBezTo>
                  <a:cubicBezTo>
                    <a:pt x="36870" y="66345"/>
                    <a:pt x="44994" y="63741"/>
                    <a:pt x="50201" y="60200"/>
                  </a:cubicBezTo>
                  <a:lnTo>
                    <a:pt x="50201" y="30100"/>
                  </a:lnTo>
                  <a:lnTo>
                    <a:pt x="34787" y="30204"/>
                  </a:lnTo>
                  <a:close/>
                </a:path>
              </a:pathLst>
            </a:custGeom>
            <a:solidFill>
              <a:srgbClr val="FFFFFF"/>
            </a:solidFill>
            <a:ln w="1041" cap="flat">
              <a:noFill/>
              <a:prstDash val="solid"/>
              <a:miter/>
            </a:ln>
          </p:spPr>
          <p:txBody>
            <a:bodyPr rtlCol="0" anchor="ctr"/>
            <a:lstStyle/>
            <a:p>
              <a:endParaRPr lang="da-DK"/>
            </a:p>
          </p:txBody>
        </p:sp>
      </p:grpSp>
      <p:sp>
        <p:nvSpPr>
          <p:cNvPr id="10" name="TextBox 9">
            <a:extLst>
              <a:ext uri="{FF2B5EF4-FFF2-40B4-BE49-F238E27FC236}">
                <a16:creationId xmlns:a16="http://schemas.microsoft.com/office/drawing/2014/main" id="{23337208-8E7F-4EAD-BAB4-2BC625858F47}"/>
              </a:ext>
            </a:extLst>
          </p:cNvPr>
          <p:cNvSpPr txBox="1"/>
          <p:nvPr userDrawn="1">
            <p:extLst>
              <p:ext uri="{1162E1C5-73C7-4A58-AE30-91384D911F3F}">
                <p184:classification xmlns:p184="http://schemas.microsoft.com/office/powerpoint/2018/4/main" val="ftr"/>
              </p:ext>
            </p:extLst>
          </p:nvPr>
        </p:nvSpPr>
        <p:spPr>
          <a:xfrm>
            <a:off x="5336350" y="6565900"/>
            <a:ext cx="1557337" cy="228600"/>
          </a:xfrm>
          <a:prstGeom prst="rect">
            <a:avLst/>
          </a:prstGeom>
        </p:spPr>
        <p:txBody>
          <a:bodyPr horzOverflow="overflow" lIns="0" tIns="0" rIns="0" bIns="0">
            <a:spAutoFit/>
          </a:bodyPr>
          <a:lstStyle/>
          <a:p>
            <a:pPr algn="l"/>
            <a:r>
              <a:rPr lang="fr-FR" sz="1500">
                <a:solidFill>
                  <a:srgbClr val="000000">
                    <a:alpha val="50000"/>
                  </a:srgbClr>
                </a:solidFill>
                <a:latin typeface="Aptos" panose="020B0004020202020204" pitchFamily="34" charset="0"/>
              </a:rPr>
              <a:t>Internal document</a:t>
            </a:r>
          </a:p>
        </p:txBody>
      </p:sp>
    </p:spTree>
    <p:extLst>
      <p:ext uri="{BB962C8B-B14F-4D97-AF65-F5344CB8AC3E}">
        <p14:creationId xmlns:p14="http://schemas.microsoft.com/office/powerpoint/2010/main" val="1668012693"/>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39" r:id="rId5"/>
    <p:sldLayoutId id="2147484201" r:id="rId6"/>
    <p:sldLayoutId id="2147484202" r:id="rId7"/>
    <p:sldLayoutId id="2147484203" r:id="rId8"/>
    <p:sldLayoutId id="2147484204" r:id="rId9"/>
    <p:sldLayoutId id="2147484205" r:id="rId10"/>
    <p:sldLayoutId id="2147484206" r:id="rId11"/>
    <p:sldLayoutId id="2147484207" r:id="rId12"/>
    <p:sldLayoutId id="2147484208" r:id="rId13"/>
    <p:sldLayoutId id="2147484209" r:id="rId14"/>
    <p:sldLayoutId id="2147484210" r:id="rId15"/>
    <p:sldLayoutId id="2147484211" r:id="rId16"/>
    <p:sldLayoutId id="2147484212" r:id="rId17"/>
    <p:sldLayoutId id="2147484213" r:id="rId18"/>
    <p:sldLayoutId id="2147484214" r:id="rId19"/>
    <p:sldLayoutId id="2147484215" r:id="rId20"/>
    <p:sldLayoutId id="2147484216" r:id="rId21"/>
    <p:sldLayoutId id="2147484217" r:id="rId22"/>
    <p:sldLayoutId id="2147484218" r:id="rId23"/>
    <p:sldLayoutId id="2147484219" r:id="rId24"/>
    <p:sldLayoutId id="2147484220" r:id="rId25"/>
    <p:sldLayoutId id="2147484221" r:id="rId26"/>
    <p:sldLayoutId id="2147484222" r:id="rId27"/>
    <p:sldLayoutId id="2147484223" r:id="rId28"/>
    <p:sldLayoutId id="2147484224" r:id="rId29"/>
    <p:sldLayoutId id="2147484225" r:id="rId30"/>
    <p:sldLayoutId id="2147484226" r:id="rId31"/>
    <p:sldLayoutId id="2147484227" r:id="rId32"/>
    <p:sldLayoutId id="2147484228" r:id="rId33"/>
    <p:sldLayoutId id="2147484229" r:id="rId34"/>
    <p:sldLayoutId id="2147484230" r:id="rId35"/>
    <p:sldLayoutId id="2147484231" r:id="rId36"/>
    <p:sldLayoutId id="2147484232" r:id="rId37"/>
    <p:sldLayoutId id="2147484233" r:id="rId38"/>
    <p:sldLayoutId id="2147484234" r:id="rId39"/>
    <p:sldLayoutId id="2147484235" r:id="rId40"/>
    <p:sldLayoutId id="2147484236" r:id="rId41"/>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39">
          <p15:clr>
            <a:srgbClr val="F26B43"/>
          </p15:clr>
        </p15:guide>
        <p15:guide id="7" pos="7341">
          <p15:clr>
            <a:srgbClr val="F26B43"/>
          </p15:clr>
        </p15:guide>
        <p15:guide id="8" orient="horz" pos="3808">
          <p15:clr>
            <a:srgbClr val="F26B43"/>
          </p15:clr>
        </p15:guide>
        <p15:guide id="9" orient="horz" pos="759">
          <p15:clr>
            <a:srgbClr val="F26B43"/>
          </p15:clr>
        </p15:guide>
        <p15:guide id="11" orient="horz" pos="58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H 101"/>
          <p:cNvSpPr>
            <a:spLocks noGrp="1"/>
          </p:cNvSpPr>
          <p:nvPr>
            <p:ph type="title"/>
          </p:nvPr>
        </p:nvSpPr>
        <p:spPr/>
        <p:txBody>
          <a:bodyPr/>
          <a:lstStyle/>
          <a:p>
            <a:pPr/>
            <a:r>
              <a:rPr lang="en-US" sz="3100" dirty="0">
                <a:solidFill>
                  <a:srgbClr val="FFFFFF"/>
                </a:solidFill>
                <a:latin typeface="Arial"/>
                <a:cs typeface="Arial"/>
              </a:rPr>
              <a:t>ERP Metadata for AI</a:t>
            </a:r>
            <a:endParaRPr lang="en-US" dirty="0"/>
          </a:p>
        </p:txBody>
      </p:sp>
      <p:sp>
        <p:nvSpPr>
          <p:cNvPr id="101" name="PH 102"/>
          <p:cNvSpPr>
            <a:spLocks noGrp="1"/>
          </p:cNvSpPr>
          <p:nvPr>
            <p:ph idx="13"/>
          </p:nvPr>
        </p:nvSpPr>
        <p:spPr/>
        <p:txBody>
          <a:bodyPr/>
          <a:lstStyle/>
          <a:p>
            <a:pPr/>
            <a:r>
              <a:rPr lang="en-US" sz="1700" b="1" dirty="0">
                <a:solidFill>
                  <a:srgbClr val="FFFFFF"/>
                </a:solidFill>
                <a:latin typeface="Arial"/>
                <a:cs typeface="Arial"/>
              </a:rPr>
              <a:t>Teaching a language model the shape of our systems — without ever showing it our data</a:t>
            </a:r>
            <a:endParaRPr lang="en-US" dirty="0"/>
          </a:p>
        </p:txBody>
      </p:sp>
      <p:sp>
        <p:nvSpPr>
          <p:cNvPr id="102" name="PH 103"/>
          <p:cNvSpPr>
            <a:spLocks noGrp="1"/>
          </p:cNvSpPr>
          <p:nvPr>
            <p:ph idx="14"/>
          </p:nvPr>
        </p:nvSpPr>
        <p:spPr/>
        <p:txBody>
          <a:bodyPr/>
          <a:lstStyle/>
          <a:p>
            <a:pPr/>
            <a:r>
              <a:rPr lang="en-US" sz="1300" dirty="0">
                <a:solidFill>
                  <a:srgbClr val="FFFFFF"/>
                </a:solidFill>
                <a:latin typeface="Arial"/>
                <a:cs typeface="Arial"/>
              </a:rPr>
              <a:t>Why metadata · the architecture · what the traces add · and why the same pattern fits any ERP or database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H 123"/>
          <p:cNvSpPr>
            <a:spLocks noGrp="1"/>
          </p:cNvSpPr>
          <p:nvPr>
            <p:ph type="title"/>
          </p:nvPr>
        </p:nvSpPr>
        <p:spPr/>
        <p:txBody>
          <a:bodyPr/>
          <a:lstStyle/>
          <a:p>
            <a:pPr/>
            <a:r>
              <a:rPr lang="en-US" sz="1800" b="1" dirty="0">
                <a:solidFill>
                  <a:srgbClr val="000000"/>
                </a:solidFill>
                <a:latin typeface="Arial"/>
                <a:cs typeface="Arial"/>
              </a:rPr>
              <a:t>Agenda</a:t>
            </a:r>
            <a:endParaRPr lang="en-US" dirty="0"/>
          </a:p>
        </p:txBody>
      </p:sp>
      <p:sp>
        <p:nvSpPr>
          <p:cNvPr id="103" name="TextBox 104"/>
          <p:cNvSpPr txBox="1"/>
          <p:nvPr/>
        </p:nvSpPr>
        <p:spPr>
          <a:xfrm>
            <a:off x="539496" y="141732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01</a:t>
            </a:r>
            <a:endParaRPr lang="en-US" dirty="0"/>
          </a:p>
        </p:txBody>
      </p:sp>
      <p:sp>
        <p:nvSpPr>
          <p:cNvPr id="104" name="TextBox 105"/>
          <p:cNvSpPr txBox="1"/>
          <p:nvPr/>
        </p:nvSpPr>
        <p:spPr>
          <a:xfrm>
            <a:off x="1325880" y="141732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Why — metadata, language models and MCP</a:t>
            </a:r>
            <a:endParaRPr lang="en-US" dirty="0"/>
          </a:p>
        </p:txBody>
      </p:sp>
      <p:sp>
        <p:nvSpPr>
          <p:cNvPr id="105" name="TextBox 106"/>
          <p:cNvSpPr txBox="1"/>
          <p:nvPr/>
        </p:nvSpPr>
        <p:spPr>
          <a:xfrm>
            <a:off x="1325880" y="1636776"/>
            <a:ext cx="10241280" cy="402336"/>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What ERP metadata is, why it decides answer quality, what a token costs, and how a model reaches a tool</a:t>
            </a:r>
            <a:endParaRPr lang="en-US" dirty="0"/>
          </a:p>
        </p:txBody>
      </p:sp>
      <p:sp>
        <p:nvSpPr>
          <p:cNvPr id="106" name="Line 107"/>
          <p:cNvSpPr/>
          <p:nvPr/>
        </p:nvSpPr>
        <p:spPr>
          <a:xfrm>
            <a:off x="539496" y="2194560"/>
            <a:ext cx="10789920" cy="0"/>
          </a:xfrm>
          <a:prstGeom prst="line">
            <a:avLst/>
          </a:prstGeom>
          <a:ln w="6350">
            <a:solidFill>
              <a:srgbClr val="CCCCCC"/>
            </a:solidFill>
          </a:ln>
        </p:spPr>
      </p:sp>
      <p:sp>
        <p:nvSpPr>
          <p:cNvPr id="107" name="TextBox 108"/>
          <p:cNvSpPr txBox="1"/>
          <p:nvPr/>
        </p:nvSpPr>
        <p:spPr>
          <a:xfrm>
            <a:off x="539496" y="2258568"/>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02</a:t>
            </a:r>
            <a:endParaRPr lang="en-US" dirty="0"/>
          </a:p>
        </p:txBody>
      </p:sp>
      <p:sp>
        <p:nvSpPr>
          <p:cNvPr id="108" name="TextBox 109"/>
          <p:cNvSpPr txBox="1"/>
          <p:nvPr/>
        </p:nvSpPr>
        <p:spPr>
          <a:xfrm>
            <a:off x="1325880" y="2258568"/>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How — the architecture</a:t>
            </a:r>
            <a:endParaRPr lang="en-US" dirty="0"/>
          </a:p>
        </p:txBody>
      </p:sp>
      <p:sp>
        <p:nvSpPr>
          <p:cNvPr id="109" name="TextBox 110"/>
          <p:cNvSpPr txBox="1"/>
          <p:nvPr/>
        </p:nvSpPr>
        <p:spPr>
          <a:xfrm>
            <a:off x="1325880" y="2478024"/>
            <a:ext cx="10241280" cy="402336"/>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From the application object tree to an answer: the Azure services, the languages, the databases, and why each was chosen</a:t>
            </a:r>
            <a:endParaRPr lang="en-US" dirty="0"/>
          </a:p>
        </p:txBody>
      </p:sp>
      <p:sp>
        <p:nvSpPr>
          <p:cNvPr id="110" name="Line 111"/>
          <p:cNvSpPr/>
          <p:nvPr/>
        </p:nvSpPr>
        <p:spPr>
          <a:xfrm>
            <a:off x="539496" y="3035808"/>
            <a:ext cx="10789920" cy="0"/>
          </a:xfrm>
          <a:prstGeom prst="line">
            <a:avLst/>
          </a:prstGeom>
          <a:ln w="6350">
            <a:solidFill>
              <a:srgbClr val="CCCCCC"/>
            </a:solidFill>
          </a:ln>
        </p:spPr>
      </p:sp>
      <p:sp>
        <p:nvSpPr>
          <p:cNvPr id="111" name="TextBox 112"/>
          <p:cNvSpPr txBox="1"/>
          <p:nvPr/>
        </p:nvSpPr>
        <p:spPr>
          <a:xfrm>
            <a:off x="539496" y="3099816"/>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03</a:t>
            </a:r>
            <a:endParaRPr lang="en-US" dirty="0"/>
          </a:p>
        </p:txBody>
      </p:sp>
      <p:sp>
        <p:nvSpPr>
          <p:cNvPr id="112" name="TextBox 113"/>
          <p:cNvSpPr txBox="1"/>
          <p:nvPr/>
        </p:nvSpPr>
        <p:spPr>
          <a:xfrm>
            <a:off x="1325880" y="3099816"/>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Hosted and local</a:t>
            </a:r>
            <a:endParaRPr lang="en-US" dirty="0"/>
          </a:p>
        </p:txBody>
      </p:sp>
      <p:sp>
        <p:nvSpPr>
          <p:cNvPr id="113" name="TextBox 114"/>
          <p:cNvSpPr txBox="1"/>
          <p:nvPr/>
        </p:nvSpPr>
        <p:spPr>
          <a:xfrm>
            <a:off x="1325880" y="3319272"/>
            <a:ext cx="10241280" cy="402336"/>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same code as a cloud service for everyone and as a local server for developers — and how both stay current</a:t>
            </a:r>
            <a:endParaRPr lang="en-US" dirty="0"/>
          </a:p>
        </p:txBody>
      </p:sp>
      <p:sp>
        <p:nvSpPr>
          <p:cNvPr id="114" name="Line 115"/>
          <p:cNvSpPr/>
          <p:nvPr/>
        </p:nvSpPr>
        <p:spPr>
          <a:xfrm>
            <a:off x="539496" y="3877056"/>
            <a:ext cx="10789920" cy="0"/>
          </a:xfrm>
          <a:prstGeom prst="line">
            <a:avLst/>
          </a:prstGeom>
          <a:ln w="6350">
            <a:solidFill>
              <a:srgbClr val="CCCCCC"/>
            </a:solidFill>
          </a:ln>
        </p:spPr>
      </p:sp>
      <p:sp>
        <p:nvSpPr>
          <p:cNvPr id="115" name="TextBox 116"/>
          <p:cNvSpPr txBox="1"/>
          <p:nvPr/>
        </p:nvSpPr>
        <p:spPr>
          <a:xfrm>
            <a:off x="539496" y="3941064"/>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04</a:t>
            </a:r>
            <a:endParaRPr lang="en-US" dirty="0"/>
          </a:p>
        </p:txBody>
      </p:sp>
      <p:sp>
        <p:nvSpPr>
          <p:cNvPr id="116" name="TextBox 117"/>
          <p:cNvSpPr txBox="1"/>
          <p:nvPr/>
        </p:nvSpPr>
        <p:spPr>
          <a:xfrm>
            <a:off x="1325880" y="3941064"/>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Traces — the system learning from itself</a:t>
            </a:r>
            <a:endParaRPr lang="en-US" dirty="0"/>
          </a:p>
        </p:txBody>
      </p:sp>
      <p:sp>
        <p:nvSpPr>
          <p:cNvPr id="117" name="TextBox 118"/>
          <p:cNvSpPr txBox="1"/>
          <p:nvPr/>
        </p:nvSpPr>
        <p:spPr>
          <a:xfrm>
            <a:off x="1325880" y="4160520"/>
            <a:ext cx="10241280" cy="402336"/>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Every investigation is recorded, and a service built on those records makes the next one cheaper and better</a:t>
            </a:r>
            <a:endParaRPr lang="en-US" dirty="0"/>
          </a:p>
        </p:txBody>
      </p:sp>
      <p:sp>
        <p:nvSpPr>
          <p:cNvPr id="118" name="Line 119"/>
          <p:cNvSpPr/>
          <p:nvPr/>
        </p:nvSpPr>
        <p:spPr>
          <a:xfrm>
            <a:off x="539496" y="4718304"/>
            <a:ext cx="10789920" cy="0"/>
          </a:xfrm>
          <a:prstGeom prst="line">
            <a:avLst/>
          </a:prstGeom>
          <a:ln w="6350">
            <a:solidFill>
              <a:srgbClr val="CCCCCC"/>
            </a:solidFill>
          </a:ln>
        </p:spPr>
      </p:sp>
      <p:sp>
        <p:nvSpPr>
          <p:cNvPr id="119" name="TextBox 120"/>
          <p:cNvSpPr txBox="1"/>
          <p:nvPr/>
        </p:nvSpPr>
        <p:spPr>
          <a:xfrm>
            <a:off x="539496" y="4782312"/>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05</a:t>
            </a:r>
            <a:endParaRPr lang="en-US" dirty="0"/>
          </a:p>
        </p:txBody>
      </p:sp>
      <p:sp>
        <p:nvSpPr>
          <p:cNvPr id="120" name="TextBox 121"/>
          <p:cNvSpPr txBox="1"/>
          <p:nvPr/>
        </p:nvSpPr>
        <p:spPr>
          <a:xfrm>
            <a:off x="1325880" y="4782312"/>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Beyond D365 F&amp;O</a:t>
            </a:r>
            <a:endParaRPr lang="en-US" dirty="0"/>
          </a:p>
        </p:txBody>
      </p:sp>
      <p:sp>
        <p:nvSpPr>
          <p:cNvPr id="121" name="TextBox 122"/>
          <p:cNvSpPr txBox="1"/>
          <p:nvPr/>
        </p:nvSpPr>
        <p:spPr>
          <a:xfrm>
            <a:off x="1325880" y="5001768"/>
            <a:ext cx="10241280" cy="402336"/>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same pattern on another ERP or a plain database, and the vocabulary that lets a model see what they have in common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H 124"/>
          <p:cNvSpPr>
            <a:spLocks noGrp="1"/>
          </p:cNvSpPr>
          <p:nvPr>
            <p:ph type="title"/>
          </p:nvPr>
        </p:nvSpPr>
        <p:spPr/>
        <p:txBody>
          <a:bodyPr/>
          <a:lstStyle/>
          <a:p>
            <a:pPr/>
            <a:r>
              <a:rPr lang="en-US" sz="1800" b="1" dirty="0">
                <a:solidFill>
                  <a:srgbClr val="000000"/>
                </a:solidFill>
                <a:latin typeface="Arial"/>
                <a:cs typeface="Arial"/>
              </a:rPr>
              <a:t>Why: metadata, language models and MCP</a:t>
            </a:r>
            <a:endParaRPr lang="en-US" dirty="0"/>
          </a:p>
        </p:txBody>
      </p:sp>
      <p:sp>
        <p:nvSpPr>
          <p:cNvPr id="124" name="Rect 125"/>
          <p:cNvSpPr/>
          <p:nvPr/>
        </p:nvSpPr>
        <p:spPr>
          <a:xfrm>
            <a:off x="539496" y="1920240"/>
            <a:ext cx="1417320" cy="1417320"/>
          </a:xfrm>
          <a:prstGeom prst="roundRect">
            <a:avLst>
              <a:gd name="adj" fmla="val 8000"/>
            </a:avLst>
          </a:prstGeom>
          <a:solidFill>
            <a:srgbClr val="6DC1C9"/>
          </a:solidFill>
          <a:ln>
            <a:noFill/>
          </a:ln>
        </p:spPr>
      </p:sp>
      <p:sp>
        <p:nvSpPr>
          <p:cNvPr id="125" name="TextBox 126"/>
          <p:cNvSpPr txBox="1"/>
          <p:nvPr/>
        </p:nvSpPr>
        <p:spPr>
          <a:xfrm>
            <a:off x="539496" y="1920240"/>
            <a:ext cx="1417320" cy="1417320"/>
          </a:xfrm>
          <a:prstGeom prst="rect">
            <a:avLst/>
          </a:prstGeom>
          <a:noFill/>
          <a:ln>
            <a:noFill/>
          </a:ln>
        </p:spPr>
        <p:txBody>
          <a:bodyPr wrap="square" anchor="ctr" lIns="91440" tIns="45720" rIns="91440" bIns="45720"/>
          <a:lstStyle/>
          <a:p>
            <a:pPr algn="ctr"/>
            <a:r>
              <a:rPr lang="en-US" sz="4000" b="1" dirty="0">
                <a:solidFill>
                  <a:srgbClr val="FFFFFF"/>
                </a:solidFill>
                <a:latin typeface="Arial"/>
                <a:cs typeface="Arial"/>
              </a:rPr>
              <a:t>01</a:t>
            </a:r>
            <a:endParaRPr lang="en-US" dirty="0"/>
          </a:p>
        </p:txBody>
      </p:sp>
      <p:sp>
        <p:nvSpPr>
          <p:cNvPr id="126" name="TextBox 127"/>
          <p:cNvSpPr txBox="1"/>
          <p:nvPr/>
        </p:nvSpPr>
        <p:spPr>
          <a:xfrm>
            <a:off x="2331720" y="2148840"/>
            <a:ext cx="9052560" cy="1097280"/>
          </a:xfrm>
          <a:prstGeom prst="rect">
            <a:avLst/>
          </a:prstGeom>
          <a:noFill/>
          <a:ln>
            <a:noFill/>
          </a:ln>
        </p:spPr>
        <p:txBody>
          <a:bodyPr wrap="square" anchor="t" lIns="91440" tIns="45720" rIns="91440" bIns="45720"/>
          <a:lstStyle/>
          <a:p>
            <a:pPr>
              <a:lnSpc>
                <a:spcPct val="118000"/>
              </a:lnSpc>
            </a:pPr>
            <a:r>
              <a:rPr lang="en-US" sz="1250" dirty="0">
                <a:solidFill>
                  <a:srgbClr val="333333"/>
                </a:solidFill>
                <a:latin typeface="Arial"/>
                <a:cs typeface="Arial"/>
              </a:rPr>
              <a:t>The starting point is a distinction most discussions about AI in ERP skip: the difference between the data a system holds and the description of how that system is built. Everything here rests on the second one.</a:t>
            </a:r>
            <a:endParaRPr lang="en-US" dirty="0"/>
          </a:p>
        </p:txBody>
      </p:sp>
      <p:sp>
        <p:nvSpPr>
          <p:cNvPr id="127" name="Line 128"/>
          <p:cNvSpPr/>
          <p:nvPr/>
        </p:nvSpPr>
        <p:spPr>
          <a:xfrm>
            <a:off x="539496" y="3657600"/>
            <a:ext cx="10881360" cy="0"/>
          </a:xfrm>
          <a:prstGeom prst="line">
            <a:avLst/>
          </a:prstGeom>
          <a:ln w="19050">
            <a:solidFill>
              <a:srgbClr val="6DC1C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H 140"/>
          <p:cNvSpPr>
            <a:spLocks noGrp="1"/>
          </p:cNvSpPr>
          <p:nvPr>
            <p:ph type="title"/>
          </p:nvPr>
        </p:nvSpPr>
        <p:spPr/>
        <p:txBody>
          <a:bodyPr/>
          <a:lstStyle/>
          <a:p>
            <a:pPr/>
            <a:r>
              <a:rPr lang="en-US" sz="1800" b="1" dirty="0">
                <a:solidFill>
                  <a:srgbClr val="000000"/>
                </a:solidFill>
                <a:latin typeface="Arial"/>
                <a:cs typeface="Arial"/>
              </a:rPr>
              <a:t>Data versus metadata</a:t>
            </a:r>
            <a:endParaRPr lang="en-US" dirty="0"/>
          </a:p>
        </p:txBody>
      </p:sp>
      <p:sp>
        <p:nvSpPr>
          <p:cNvPr id="128" name="TextBox 129"/>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An ERP holds business records. It also holds a complete description of itself — the tables, fields, types, relations, labels, permissions and code that make those records possible. That description is the metadata, and it is what we work with.</a:t>
            </a:r>
            <a:endParaRPr lang="en-US" dirty="0"/>
          </a:p>
        </p:txBody>
      </p:sp>
      <p:sp>
        <p:nvSpPr>
          <p:cNvPr id="129" name="Rect 130"/>
          <p:cNvSpPr/>
          <p:nvPr/>
        </p:nvSpPr>
        <p:spPr>
          <a:xfrm>
            <a:off x="539496" y="1691640"/>
            <a:ext cx="5394960" cy="329184"/>
          </a:xfrm>
          <a:prstGeom prst="roundRect">
            <a:avLst>
              <a:gd name="adj" fmla="val 4000"/>
            </a:avLst>
          </a:prstGeom>
          <a:solidFill>
            <a:srgbClr val="813341"/>
          </a:solidFill>
          <a:ln>
            <a:noFill/>
          </a:ln>
        </p:spPr>
      </p:sp>
      <p:sp>
        <p:nvSpPr>
          <p:cNvPr id="130" name="TextBox 131"/>
          <p:cNvSpPr txBox="1"/>
          <p:nvPr/>
        </p:nvSpPr>
        <p:spPr>
          <a:xfrm>
            <a:off x="539496" y="169164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Business data — never used here</a:t>
            </a:r>
            <a:endParaRPr lang="en-US" dirty="0"/>
          </a:p>
        </p:txBody>
      </p:sp>
      <p:sp>
        <p:nvSpPr>
          <p:cNvPr id="131" name="Rect 132"/>
          <p:cNvSpPr/>
          <p:nvPr/>
        </p:nvSpPr>
        <p:spPr>
          <a:xfrm>
            <a:off x="539496" y="2020824"/>
            <a:ext cx="5394960" cy="1911096"/>
          </a:xfrm>
          <a:prstGeom prst="rect">
            <a:avLst/>
          </a:prstGeom>
          <a:solidFill>
            <a:srgbClr val="FFFFFF"/>
          </a:solidFill>
          <a:ln w="6350">
            <a:solidFill>
              <a:srgbClr val="813341"/>
            </a:solidFill>
          </a:ln>
        </p:spPr>
      </p:sp>
      <p:sp>
        <p:nvSpPr>
          <p:cNvPr id="132" name="TextBox 133"/>
          <p:cNvSpPr txBox="1"/>
          <p:nvPr/>
        </p:nvSpPr>
        <p:spPr>
          <a:xfrm>
            <a:off x="585216" y="2057400"/>
            <a:ext cx="5303520" cy="183794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813341"/>
                </a:solidFill>
                <a:latin typeface="Arial"/>
                <a:cs typeface="Arial"/>
              </a:rPr>
              <a:t>Customer and vendor records. </a:t>
            </a:r>
            <a:r>
              <a:rPr lang="en-US" sz="830" dirty="0">
                <a:solidFill>
                  <a:srgbClr val="333333"/>
                </a:solidFill>
                <a:latin typeface="Arial"/>
                <a:cs typeface="Arial"/>
              </a:rPr>
              <a:t>Names, addresses, bank details, contacts.</a:t>
            </a:r>
            <a:endParaRPr lang="en-US" dirty="0"/>
          </a:p>
          <a:p>
            <a:pPr indent="-114300" marL="114300">
              <a:spcBef>
                <a:spcPts val="350"/>
              </a:spcBef>
              <a:lnSpc>
                <a:spcPct val="112000"/>
              </a:lnSpc>
              <a:buChar char="•"/>
            </a:pPr>
            <a:r>
              <a:rPr lang="en-US" sz="830" b="1" dirty="0">
                <a:solidFill>
                  <a:srgbClr val="813341"/>
                </a:solidFill>
                <a:latin typeface="Arial"/>
                <a:cs typeface="Arial"/>
              </a:rPr>
              <a:t>Transactions. </a:t>
            </a:r>
            <a:r>
              <a:rPr lang="en-US" sz="830" dirty="0">
                <a:solidFill>
                  <a:srgbClr val="333333"/>
                </a:solidFill>
                <a:latin typeface="Arial"/>
                <a:cs typeface="Arial"/>
              </a:rPr>
              <a:t>Orders, invoices, payments, journals — every posted value.</a:t>
            </a:r>
            <a:endParaRPr lang="en-US" dirty="0"/>
          </a:p>
          <a:p>
            <a:pPr indent="-114300" marL="114300">
              <a:spcBef>
                <a:spcPts val="350"/>
              </a:spcBef>
              <a:lnSpc>
                <a:spcPct val="112000"/>
              </a:lnSpc>
              <a:buChar char="•"/>
            </a:pPr>
            <a:r>
              <a:rPr lang="en-US" sz="830" b="1" dirty="0">
                <a:solidFill>
                  <a:srgbClr val="813341"/>
                </a:solidFill>
                <a:latin typeface="Arial"/>
                <a:cs typeface="Arial"/>
              </a:rPr>
              <a:t>Personal data. </a:t>
            </a:r>
            <a:r>
              <a:rPr lang="en-US" sz="830" dirty="0">
                <a:solidFill>
                  <a:srgbClr val="333333"/>
                </a:solidFill>
                <a:latin typeface="Arial"/>
                <a:cs typeface="Arial"/>
              </a:rPr>
              <a:t>Anything identifying a real person or company.</a:t>
            </a:r>
            <a:endParaRPr lang="en-US" dirty="0"/>
          </a:p>
          <a:p>
            <a:pPr indent="-114300" marL="114300">
              <a:spcBef>
                <a:spcPts val="350"/>
              </a:spcBef>
              <a:lnSpc>
                <a:spcPct val="112000"/>
              </a:lnSpc>
              <a:buChar char="•"/>
            </a:pPr>
            <a:r>
              <a:rPr lang="en-US" sz="830" b="1" dirty="0">
                <a:solidFill>
                  <a:srgbClr val="813341"/>
                </a:solidFill>
                <a:latin typeface="Arial"/>
                <a:cs typeface="Arial"/>
              </a:rPr>
              <a:t>Why it stays out. </a:t>
            </a:r>
            <a:r>
              <a:rPr lang="en-US" sz="830" dirty="0">
                <a:solidFill>
                  <a:srgbClr val="333333"/>
                </a:solidFill>
                <a:latin typeface="Arial"/>
                <a:cs typeface="Arial"/>
              </a:rPr>
              <a:t>It is confidential, it changes every minute, and it answers none of the questions an assistant is asked about how the system works.</a:t>
            </a:r>
            <a:endParaRPr lang="en-US" dirty="0"/>
          </a:p>
        </p:txBody>
      </p:sp>
      <p:sp>
        <p:nvSpPr>
          <p:cNvPr id="133" name="Rect 134"/>
          <p:cNvSpPr/>
          <p:nvPr/>
        </p:nvSpPr>
        <p:spPr>
          <a:xfrm>
            <a:off x="6254496" y="1691640"/>
            <a:ext cx="5394960" cy="329184"/>
          </a:xfrm>
          <a:prstGeom prst="roundRect">
            <a:avLst>
              <a:gd name="adj" fmla="val 4000"/>
            </a:avLst>
          </a:prstGeom>
          <a:solidFill>
            <a:srgbClr val="6DC1C9"/>
          </a:solidFill>
          <a:ln>
            <a:noFill/>
          </a:ln>
        </p:spPr>
      </p:sp>
      <p:sp>
        <p:nvSpPr>
          <p:cNvPr id="134" name="TextBox 135"/>
          <p:cNvSpPr txBox="1"/>
          <p:nvPr/>
        </p:nvSpPr>
        <p:spPr>
          <a:xfrm>
            <a:off x="6254496" y="169164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Metadata — the whole working surface</a:t>
            </a:r>
            <a:endParaRPr lang="en-US" dirty="0"/>
          </a:p>
        </p:txBody>
      </p:sp>
      <p:sp>
        <p:nvSpPr>
          <p:cNvPr id="135" name="Rect 136"/>
          <p:cNvSpPr/>
          <p:nvPr/>
        </p:nvSpPr>
        <p:spPr>
          <a:xfrm>
            <a:off x="6254496" y="2020824"/>
            <a:ext cx="5394960" cy="1911096"/>
          </a:xfrm>
          <a:prstGeom prst="rect">
            <a:avLst/>
          </a:prstGeom>
          <a:solidFill>
            <a:srgbClr val="FFFFFF"/>
          </a:solidFill>
          <a:ln w="6350">
            <a:solidFill>
              <a:srgbClr val="6DC1C9"/>
            </a:solidFill>
          </a:ln>
        </p:spPr>
      </p:sp>
      <p:sp>
        <p:nvSpPr>
          <p:cNvPr id="136" name="TextBox 137"/>
          <p:cNvSpPr txBox="1"/>
          <p:nvPr/>
        </p:nvSpPr>
        <p:spPr>
          <a:xfrm>
            <a:off x="6300216" y="2057400"/>
            <a:ext cx="5303520" cy="183794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6DC1C9"/>
                </a:solidFill>
                <a:latin typeface="Arial"/>
                <a:cs typeface="Arial"/>
              </a:rPr>
              <a:t>Structure. </a:t>
            </a:r>
            <a:r>
              <a:rPr lang="en-US" sz="830" dirty="0">
                <a:solidFill>
                  <a:srgbClr val="333333"/>
                </a:solidFill>
                <a:latin typeface="Arial"/>
                <a:cs typeface="Arial"/>
              </a:rPr>
              <a:t>Tables, fields, data types, keys, indexes, relations between them.</a:t>
            </a:r>
            <a:endParaRPr lang="en-US" dirty="0"/>
          </a:p>
          <a:p>
            <a:pPr indent="-114300" marL="114300">
              <a:spcBef>
                <a:spcPts val="350"/>
              </a:spcBef>
              <a:lnSpc>
                <a:spcPct val="112000"/>
              </a:lnSpc>
              <a:buChar char="•"/>
            </a:pPr>
            <a:r>
              <a:rPr lang="en-US" sz="830" b="1" dirty="0">
                <a:solidFill>
                  <a:srgbClr val="6DC1C9"/>
                </a:solidFill>
                <a:latin typeface="Arial"/>
                <a:cs typeface="Arial"/>
              </a:rPr>
              <a:t>Meaning. </a:t>
            </a:r>
            <a:r>
              <a:rPr lang="en-US" sz="830" dirty="0">
                <a:solidFill>
                  <a:srgbClr val="333333"/>
                </a:solidFill>
                <a:latin typeface="Arial"/>
                <a:cs typeface="Arial"/>
              </a:rPr>
              <a:t>Labels and developer descriptions in every shipped language.</a:t>
            </a:r>
            <a:endParaRPr lang="en-US" dirty="0"/>
          </a:p>
          <a:p>
            <a:pPr indent="-114300" marL="114300">
              <a:spcBef>
                <a:spcPts val="350"/>
              </a:spcBef>
              <a:lnSpc>
                <a:spcPct val="112000"/>
              </a:lnSpc>
              <a:buChar char="•"/>
            </a:pPr>
            <a:r>
              <a:rPr lang="en-US" sz="830" b="1" dirty="0">
                <a:solidFill>
                  <a:srgbClr val="6DC1C9"/>
                </a:solidFill>
                <a:latin typeface="Arial"/>
                <a:cs typeface="Arial"/>
              </a:rPr>
              <a:t>Behaviour. </a:t>
            </a:r>
            <a:r>
              <a:rPr lang="en-US" sz="830" dirty="0">
                <a:solidFill>
                  <a:srgbClr val="333333"/>
                </a:solidFill>
                <a:latin typeface="Arial"/>
                <a:cs typeface="Arial"/>
              </a:rPr>
              <a:t>Classes, methods, extension points, events — how the system reacts.</a:t>
            </a:r>
            <a:endParaRPr lang="en-US" dirty="0"/>
          </a:p>
          <a:p>
            <a:pPr indent="-114300" marL="114300">
              <a:spcBef>
                <a:spcPts val="350"/>
              </a:spcBef>
              <a:lnSpc>
                <a:spcPct val="112000"/>
              </a:lnSpc>
              <a:buChar char="•"/>
            </a:pPr>
            <a:r>
              <a:rPr lang="en-US" sz="830" b="1" dirty="0">
                <a:solidFill>
                  <a:srgbClr val="6DC1C9"/>
                </a:solidFill>
                <a:latin typeface="Arial"/>
                <a:cs typeface="Arial"/>
              </a:rPr>
              <a:t>Rules and access. </a:t>
            </a:r>
            <a:r>
              <a:rPr lang="en-US" sz="830" dirty="0">
                <a:solidFill>
                  <a:srgbClr val="333333"/>
                </a:solidFill>
                <a:latin typeface="Arial"/>
                <a:cs typeface="Arial"/>
              </a:rPr>
              <a:t>Roles, duties, privileges, configuration keys, data entities.</a:t>
            </a:r>
            <a:endParaRPr lang="en-US" dirty="0"/>
          </a:p>
        </p:txBody>
      </p:sp>
      <p:sp>
        <p:nvSpPr>
          <p:cNvPr id="137" name="Rect 138"/>
          <p:cNvSpPr/>
          <p:nvPr/>
        </p:nvSpPr>
        <p:spPr>
          <a:xfrm>
            <a:off x="539496" y="4096512"/>
            <a:ext cx="11109960" cy="1481328"/>
          </a:xfrm>
          <a:prstGeom prst="roundRect">
            <a:avLst>
              <a:gd name="adj" fmla="val 4000"/>
            </a:avLst>
          </a:prstGeom>
          <a:solidFill>
            <a:srgbClr val="E0F3F5"/>
          </a:solidFill>
          <a:ln>
            <a:noFill/>
          </a:ln>
        </p:spPr>
      </p:sp>
      <p:sp>
        <p:nvSpPr>
          <p:cNvPr id="138" name="TextBox 139"/>
          <p:cNvSpPr txBox="1"/>
          <p:nvPr/>
        </p:nvSpPr>
        <p:spPr>
          <a:xfrm>
            <a:off x="676656" y="4151376"/>
            <a:ext cx="10835640" cy="1371600"/>
          </a:xfrm>
          <a:prstGeom prst="rect">
            <a:avLst/>
          </a:prstGeom>
          <a:noFill/>
          <a:ln>
            <a:noFill/>
          </a:ln>
        </p:spPr>
        <p:txBody>
          <a:bodyPr wrap="square" anchor="t" lIns="91440" tIns="45720" rIns="91440" bIns="45720"/>
          <a:lstStyle/>
          <a:p>
            <a:pPr/>
            <a:r>
              <a:rPr lang="en-US" sz="950" b="1" dirty="0">
                <a:solidFill>
                  <a:srgbClr val="647772"/>
                </a:solidFill>
                <a:latin typeface="Arial"/>
                <a:cs typeface="Arial"/>
              </a:rPr>
              <a:t>The consequence that makes this possible at all</a:t>
            </a:r>
            <a:endParaRPr lang="en-US" dirty="0"/>
          </a:p>
          <a:p>
            <a:pPr>
              <a:spcBef>
                <a:spcPts val="300"/>
              </a:spcBef>
              <a:lnSpc>
                <a:spcPct val="118000"/>
              </a:lnSpc>
            </a:pPr>
            <a:r>
              <a:rPr lang="en-US" sz="880" dirty="0">
                <a:solidFill>
                  <a:srgbClr val="333333"/>
                </a:solidFill>
                <a:latin typeface="Arial"/>
                <a:cs typeface="Arial"/>
              </a:rPr>
              <a:t>Metadata is not confidential in the way business data is, it is stable for weeks rather than seconds, and it is small enough to index completely. That is why an assistant can be given the entire description of the system and still never be shown a single customer record. Nothing that identifies a customer, a vendor or a person ever leaves the company through this path.</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H 150"/>
          <p:cNvSpPr>
            <a:spLocks noGrp="1"/>
          </p:cNvSpPr>
          <p:nvPr>
            <p:ph type="title"/>
          </p:nvPr>
        </p:nvSpPr>
        <p:spPr/>
        <p:txBody>
          <a:bodyPr/>
          <a:lstStyle/>
          <a:p>
            <a:pPr/>
            <a:r>
              <a:rPr lang="en-US" sz="1800" b="1" dirty="0">
                <a:solidFill>
                  <a:srgbClr val="000000"/>
                </a:solidFill>
                <a:latin typeface="Arial"/>
                <a:cs typeface="Arial"/>
              </a:rPr>
              <a:t>Why metadata decides the quality of an answer</a:t>
            </a:r>
            <a:endParaRPr lang="en-US" dirty="0"/>
          </a:p>
        </p:txBody>
      </p:sp>
      <p:sp>
        <p:nvSpPr>
          <p:cNvPr id="140" name="TextBox 141"/>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A language model has read a great deal about ERP systems in general. It has never seen ours. The gap between the two is where wrong answers come from — and metadata is exactly what closes it.</a:t>
            </a:r>
            <a:endParaRPr lang="en-US" dirty="0"/>
          </a:p>
        </p:txBody>
      </p:sp>
      <p:sp>
        <p:nvSpPr>
          <p:cNvPr id="141" name="TextBox 142"/>
          <p:cNvSpPr txBox="1"/>
          <p:nvPr/>
        </p:nvSpPr>
        <p:spPr>
          <a:xfrm>
            <a:off x="539496" y="1645920"/>
            <a:ext cx="5394960" cy="274320"/>
          </a:xfrm>
          <a:prstGeom prst="rect">
            <a:avLst/>
          </a:prstGeom>
          <a:noFill/>
          <a:ln>
            <a:noFill/>
          </a:ln>
        </p:spPr>
        <p:txBody>
          <a:bodyPr wrap="square" anchor="t" lIns="91440" tIns="45720" rIns="91440" bIns="45720"/>
          <a:lstStyle/>
          <a:p>
            <a:pPr/>
            <a:r>
              <a:rPr lang="en-US" sz="950" b="1" dirty="0">
                <a:solidFill>
                  <a:srgbClr val="813341"/>
                </a:solidFill>
                <a:latin typeface="Arial"/>
                <a:cs typeface="Arial"/>
              </a:rPr>
              <a:t>Asked without the metadata</a:t>
            </a:r>
            <a:endParaRPr lang="en-US" dirty="0"/>
          </a:p>
        </p:txBody>
      </p:sp>
      <p:sp>
        <p:nvSpPr>
          <p:cNvPr id="142" name="Rect 143"/>
          <p:cNvSpPr/>
          <p:nvPr/>
        </p:nvSpPr>
        <p:spPr>
          <a:xfrm>
            <a:off x="539496" y="1938528"/>
            <a:ext cx="5394960" cy="2057400"/>
          </a:xfrm>
          <a:prstGeom prst="roundRect">
            <a:avLst>
              <a:gd name="adj" fmla="val 4000"/>
            </a:avLst>
          </a:prstGeom>
          <a:solidFill>
            <a:srgbClr val="FFEBEE"/>
          </a:solidFill>
          <a:ln>
            <a:noFill/>
          </a:ln>
        </p:spPr>
      </p:sp>
      <p:sp>
        <p:nvSpPr>
          <p:cNvPr id="143" name="TextBox 144"/>
          <p:cNvSpPr txBox="1"/>
          <p:nvPr/>
        </p:nvSpPr>
        <p:spPr>
          <a:xfrm>
            <a:off x="630936" y="1984248"/>
            <a:ext cx="5212080" cy="196596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813341"/>
                </a:solidFill>
                <a:latin typeface="Arial"/>
                <a:cs typeface="Arial"/>
              </a:rPr>
              <a:t>It answers from the general case. </a:t>
            </a:r>
            <a:r>
              <a:rPr lang="en-US" sz="830" dirty="0">
                <a:solidFill>
                  <a:srgbClr val="333333"/>
                </a:solidFill>
                <a:latin typeface="Arial"/>
                <a:cs typeface="Arial"/>
              </a:rPr>
              <a:t>A field name that is right for a standard installation, or right for the previous product generation.</a:t>
            </a:r>
            <a:endParaRPr lang="en-US" dirty="0"/>
          </a:p>
          <a:p>
            <a:pPr indent="-114300" marL="114300">
              <a:spcBef>
                <a:spcPts val="350"/>
              </a:spcBef>
              <a:lnSpc>
                <a:spcPct val="112000"/>
              </a:lnSpc>
              <a:buChar char="•"/>
            </a:pPr>
            <a:r>
              <a:rPr lang="en-US" sz="830" b="1" dirty="0">
                <a:solidFill>
                  <a:srgbClr val="813341"/>
                </a:solidFill>
                <a:latin typeface="Arial"/>
                <a:cs typeface="Arial"/>
              </a:rPr>
              <a:t>It cannot see our changes. </a:t>
            </a:r>
            <a:r>
              <a:rPr lang="en-US" sz="830" dirty="0">
                <a:solidFill>
                  <a:srgbClr val="333333"/>
                </a:solidFill>
                <a:latin typeface="Arial"/>
                <a:cs typeface="Arial"/>
              </a:rPr>
              <a:t>Our own extensions, the vendor add-ons and the fields created in the user interface are invisible to it.</a:t>
            </a:r>
            <a:endParaRPr lang="en-US" dirty="0"/>
          </a:p>
          <a:p>
            <a:pPr indent="-114300" marL="114300">
              <a:spcBef>
                <a:spcPts val="350"/>
              </a:spcBef>
              <a:lnSpc>
                <a:spcPct val="112000"/>
              </a:lnSpc>
              <a:buChar char="•"/>
            </a:pPr>
            <a:r>
              <a:rPr lang="en-US" sz="830" b="1" dirty="0">
                <a:solidFill>
                  <a:srgbClr val="813341"/>
                </a:solidFill>
                <a:latin typeface="Arial"/>
                <a:cs typeface="Arial"/>
              </a:rPr>
              <a:t>It sounds equally certain either way. </a:t>
            </a:r>
            <a:r>
              <a:rPr lang="en-US" sz="830" dirty="0">
                <a:solidFill>
                  <a:srgbClr val="333333"/>
                </a:solidFill>
                <a:latin typeface="Arial"/>
                <a:cs typeface="Arial"/>
              </a:rPr>
              <a:t>Nothing in the answer distinguishes a verified fact from a plausible invention.</a:t>
            </a:r>
            <a:endParaRPr lang="en-US" dirty="0"/>
          </a:p>
          <a:p>
            <a:pPr indent="-114300" marL="114300">
              <a:spcBef>
                <a:spcPts val="350"/>
              </a:spcBef>
              <a:lnSpc>
                <a:spcPct val="112000"/>
              </a:lnSpc>
              <a:buChar char="•"/>
            </a:pPr>
            <a:r>
              <a:rPr lang="en-US" sz="830" b="1" dirty="0">
                <a:solidFill>
                  <a:srgbClr val="813341"/>
                </a:solidFill>
                <a:latin typeface="Arial"/>
                <a:cs typeface="Arial"/>
              </a:rPr>
              <a:t>Someone has to check every line. </a:t>
            </a:r>
            <a:r>
              <a:rPr lang="en-US" sz="830" dirty="0">
                <a:solidFill>
                  <a:srgbClr val="333333"/>
                </a:solidFill>
                <a:latin typeface="Arial"/>
                <a:cs typeface="Arial"/>
              </a:rPr>
              <a:t>Which is the work the assistant was supposed to save.</a:t>
            </a:r>
            <a:endParaRPr lang="en-US" dirty="0"/>
          </a:p>
        </p:txBody>
      </p:sp>
      <p:sp>
        <p:nvSpPr>
          <p:cNvPr id="144" name="TextBox 145"/>
          <p:cNvSpPr txBox="1"/>
          <p:nvPr/>
        </p:nvSpPr>
        <p:spPr>
          <a:xfrm>
            <a:off x="6254496" y="1645920"/>
            <a:ext cx="5394960" cy="274320"/>
          </a:xfrm>
          <a:prstGeom prst="rect">
            <a:avLst/>
          </a:prstGeom>
          <a:noFill/>
          <a:ln>
            <a:noFill/>
          </a:ln>
        </p:spPr>
        <p:txBody>
          <a:bodyPr wrap="square" anchor="t" lIns="91440" tIns="45720" rIns="91440" bIns="45720"/>
          <a:lstStyle/>
          <a:p>
            <a:pPr/>
            <a:r>
              <a:rPr lang="en-US" sz="950" b="1" dirty="0">
                <a:solidFill>
                  <a:srgbClr val="2E7D32"/>
                </a:solidFill>
                <a:latin typeface="Arial"/>
                <a:cs typeface="Arial"/>
              </a:rPr>
              <a:t>Asked with the metadata</a:t>
            </a:r>
            <a:endParaRPr lang="en-US" dirty="0"/>
          </a:p>
        </p:txBody>
      </p:sp>
      <p:sp>
        <p:nvSpPr>
          <p:cNvPr id="145" name="Rect 146"/>
          <p:cNvSpPr/>
          <p:nvPr/>
        </p:nvSpPr>
        <p:spPr>
          <a:xfrm>
            <a:off x="6254496" y="1938528"/>
            <a:ext cx="5394960" cy="2057400"/>
          </a:xfrm>
          <a:prstGeom prst="roundRect">
            <a:avLst>
              <a:gd name="adj" fmla="val 4000"/>
            </a:avLst>
          </a:prstGeom>
          <a:solidFill>
            <a:srgbClr val="E8F5E9"/>
          </a:solidFill>
          <a:ln>
            <a:noFill/>
          </a:ln>
        </p:spPr>
      </p:sp>
      <p:sp>
        <p:nvSpPr>
          <p:cNvPr id="146" name="TextBox 147"/>
          <p:cNvSpPr txBox="1"/>
          <p:nvPr/>
        </p:nvSpPr>
        <p:spPr>
          <a:xfrm>
            <a:off x="6345936" y="1984248"/>
            <a:ext cx="5212080" cy="196596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2E7D32"/>
                </a:solidFill>
                <a:latin typeface="Arial"/>
                <a:cs typeface="Arial"/>
              </a:rPr>
              <a:t>It looks the answer up. </a:t>
            </a:r>
            <a:r>
              <a:rPr lang="en-US" sz="830" dirty="0">
                <a:solidFill>
                  <a:srgbClr val="333333"/>
                </a:solidFill>
                <a:latin typeface="Arial"/>
                <a:cs typeface="Arial"/>
              </a:rPr>
              <a:t>Names, types, relations, labels and permissions come from a snapshot of our own environment.</a:t>
            </a:r>
            <a:endParaRPr lang="en-US" dirty="0"/>
          </a:p>
          <a:p>
            <a:pPr indent="-114300" marL="114300">
              <a:spcBef>
                <a:spcPts val="350"/>
              </a:spcBef>
              <a:lnSpc>
                <a:spcPct val="112000"/>
              </a:lnSpc>
              <a:buChar char="•"/>
            </a:pPr>
            <a:r>
              <a:rPr lang="en-US" sz="830" b="1" dirty="0">
                <a:solidFill>
                  <a:srgbClr val="2E7D32"/>
                </a:solidFill>
                <a:latin typeface="Arial"/>
                <a:cs typeface="Arial"/>
              </a:rPr>
              <a:t>It sees everything we built. </a:t>
            </a:r>
            <a:r>
              <a:rPr lang="en-US" sz="830" dirty="0">
                <a:solidFill>
                  <a:srgbClr val="333333"/>
                </a:solidFill>
                <a:latin typeface="Arial"/>
                <a:cs typeface="Arial"/>
              </a:rPr>
              <a:t>Standard, vendor and custom layers, each marked with where it came from.</a:t>
            </a:r>
            <a:endParaRPr lang="en-US" dirty="0"/>
          </a:p>
          <a:p>
            <a:pPr indent="-114300" marL="114300">
              <a:spcBef>
                <a:spcPts val="350"/>
              </a:spcBef>
              <a:lnSpc>
                <a:spcPct val="112000"/>
              </a:lnSpc>
              <a:buChar char="•"/>
            </a:pPr>
            <a:r>
              <a:rPr lang="en-US" sz="830" b="1" dirty="0">
                <a:solidFill>
                  <a:srgbClr val="2E7D32"/>
                </a:solidFill>
                <a:latin typeface="Arial"/>
                <a:cs typeface="Arial"/>
              </a:rPr>
              <a:t>It states its limits. </a:t>
            </a:r>
            <a:r>
              <a:rPr lang="en-US" sz="830" dirty="0">
                <a:solidFill>
                  <a:srgbClr val="333333"/>
                </a:solidFill>
                <a:latin typeface="Arial"/>
                <a:cs typeface="Arial"/>
              </a:rPr>
              <a:t>Every answer carries the date of the snapshot and a line saying what it does not cover.</a:t>
            </a:r>
            <a:endParaRPr lang="en-US" dirty="0"/>
          </a:p>
          <a:p>
            <a:pPr indent="-114300" marL="114300">
              <a:spcBef>
                <a:spcPts val="350"/>
              </a:spcBef>
              <a:lnSpc>
                <a:spcPct val="112000"/>
              </a:lnSpc>
              <a:buChar char="•"/>
            </a:pPr>
            <a:r>
              <a:rPr lang="en-US" sz="830" b="1" dirty="0">
                <a:solidFill>
                  <a:srgbClr val="2E7D32"/>
                </a:solidFill>
                <a:latin typeface="Arial"/>
                <a:cs typeface="Arial"/>
              </a:rPr>
              <a:t>It is reproducible. </a:t>
            </a:r>
            <a:r>
              <a:rPr lang="en-US" sz="830" dirty="0">
                <a:solidFill>
                  <a:srgbClr val="333333"/>
                </a:solidFill>
                <a:latin typeface="Arial"/>
                <a:cs typeface="Arial"/>
              </a:rPr>
              <a:t>The same question against the same snapshot gives the same facts — which is what makes it auditable.</a:t>
            </a:r>
            <a:endParaRPr lang="en-US" dirty="0"/>
          </a:p>
        </p:txBody>
      </p:sp>
      <p:sp>
        <p:nvSpPr>
          <p:cNvPr id="147" name="Rect 148"/>
          <p:cNvSpPr/>
          <p:nvPr/>
        </p:nvSpPr>
        <p:spPr>
          <a:xfrm>
            <a:off x="539496" y="4160520"/>
            <a:ext cx="11109960" cy="960120"/>
          </a:xfrm>
          <a:prstGeom prst="roundRect">
            <a:avLst>
              <a:gd name="adj" fmla="val 4000"/>
            </a:avLst>
          </a:prstGeom>
          <a:solidFill>
            <a:srgbClr val="F5F5F5"/>
          </a:solidFill>
          <a:ln>
            <a:noFill/>
          </a:ln>
        </p:spPr>
      </p:sp>
      <p:sp>
        <p:nvSpPr>
          <p:cNvPr id="148" name="TextBox 149"/>
          <p:cNvSpPr txBox="1"/>
          <p:nvPr/>
        </p:nvSpPr>
        <p:spPr>
          <a:xfrm>
            <a:off x="676656" y="4206240"/>
            <a:ext cx="10835640" cy="868680"/>
          </a:xfrm>
          <a:prstGeom prst="rect">
            <a:avLst/>
          </a:prstGeom>
          <a:noFill/>
          <a:ln>
            <a:noFill/>
          </a:ln>
        </p:spPr>
        <p:txBody>
          <a:bodyPr wrap="square" anchor="t" lIns="91440" tIns="45720" rIns="91440" bIns="45720"/>
          <a:lstStyle/>
          <a:p>
            <a:pPr>
              <a:lnSpc>
                <a:spcPct val="118000"/>
              </a:lnSpc>
            </a:pPr>
            <a:r>
              <a:rPr lang="en-US" sz="900" b="1" dirty="0">
                <a:solidFill>
                  <a:srgbClr val="6DC1C9"/>
                </a:solidFill>
                <a:latin typeface="Arial"/>
                <a:cs typeface="Arial"/>
              </a:rPr>
              <a:t>The rule the whole system is built on: </a:t>
            </a:r>
            <a:r>
              <a:rPr lang="en-US" sz="900" dirty="0">
                <a:solidFill>
                  <a:srgbClr val="333333"/>
                </a:solidFill>
                <a:latin typeface="Arial"/>
                <a:cs typeface="Arial"/>
              </a:rPr>
              <a:t>verify before you assert. A name is checked before it appears in an answer, a change is checked against the real extension points before it is proposed, and a result that covers only part of the ground says so. An assistant that admits a gap is worth more than one that fills it convincingly.</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H 166"/>
          <p:cNvSpPr>
            <a:spLocks noGrp="1"/>
          </p:cNvSpPr>
          <p:nvPr>
            <p:ph type="title"/>
          </p:nvPr>
        </p:nvSpPr>
        <p:spPr/>
        <p:txBody>
          <a:bodyPr/>
          <a:lstStyle/>
          <a:p>
            <a:pPr/>
            <a:r>
              <a:rPr lang="en-US" sz="1800" b="1" dirty="0">
                <a:solidFill>
                  <a:srgbClr val="000000"/>
                </a:solidFill>
                <a:latin typeface="Arial"/>
                <a:cs typeface="Arial"/>
              </a:rPr>
              <a:t>What a language model is, and what a token costs</a:t>
            </a:r>
            <a:endParaRPr lang="en-US" dirty="0"/>
          </a:p>
        </p:txBody>
      </p:sp>
      <p:sp>
        <p:nvSpPr>
          <p:cNvPr id="150" name="TextBox 151"/>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Three ideas are enough to follow the rest of this deck: what the model actually does, what a token is, and why the cost of a conversation grows with every turn.</a:t>
            </a:r>
            <a:endParaRPr lang="en-US" dirty="0"/>
          </a:p>
        </p:txBody>
      </p:sp>
      <p:sp>
        <p:nvSpPr>
          <p:cNvPr id="151" name="Rect 152"/>
          <p:cNvSpPr/>
          <p:nvPr/>
        </p:nvSpPr>
        <p:spPr>
          <a:xfrm>
            <a:off x="539496" y="1645920"/>
            <a:ext cx="3611880" cy="329184"/>
          </a:xfrm>
          <a:prstGeom prst="roundRect">
            <a:avLst>
              <a:gd name="adj" fmla="val 4000"/>
            </a:avLst>
          </a:prstGeom>
          <a:solidFill>
            <a:srgbClr val="647772"/>
          </a:solidFill>
          <a:ln>
            <a:noFill/>
          </a:ln>
        </p:spPr>
      </p:sp>
      <p:sp>
        <p:nvSpPr>
          <p:cNvPr id="152" name="TextBox 153"/>
          <p:cNvSpPr txBox="1"/>
          <p:nvPr/>
        </p:nvSpPr>
        <p:spPr>
          <a:xfrm>
            <a:off x="539496" y="1645920"/>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The model</a:t>
            </a:r>
            <a:endParaRPr lang="en-US" dirty="0"/>
          </a:p>
        </p:txBody>
      </p:sp>
      <p:sp>
        <p:nvSpPr>
          <p:cNvPr id="153" name="Rect 154"/>
          <p:cNvSpPr/>
          <p:nvPr/>
        </p:nvSpPr>
        <p:spPr>
          <a:xfrm>
            <a:off x="539496" y="1975104"/>
            <a:ext cx="3611880" cy="1819656"/>
          </a:xfrm>
          <a:prstGeom prst="rect">
            <a:avLst/>
          </a:prstGeom>
          <a:solidFill>
            <a:srgbClr val="FFFFFF"/>
          </a:solidFill>
          <a:ln w="6350">
            <a:solidFill>
              <a:srgbClr val="647772"/>
            </a:solidFill>
          </a:ln>
        </p:spPr>
      </p:sp>
      <p:sp>
        <p:nvSpPr>
          <p:cNvPr id="154" name="TextBox 155"/>
          <p:cNvSpPr txBox="1"/>
          <p:nvPr/>
        </p:nvSpPr>
        <p:spPr>
          <a:xfrm>
            <a:off x="585216" y="2011680"/>
            <a:ext cx="3520440" cy="174650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dirty="0">
                <a:solidFill>
                  <a:srgbClr val="333333"/>
                </a:solidFill>
                <a:latin typeface="Arial"/>
                <a:cs typeface="Arial"/>
              </a:rPr>
              <a:t>A language model predicts the next piece of text, one small piece at a time, from everything it has been given so far.</a:t>
            </a:r>
            <a:endParaRPr lang="en-US" dirty="0"/>
          </a:p>
          <a:p>
            <a:pPr indent="-114300" marL="114300">
              <a:spcBef>
                <a:spcPts val="350"/>
              </a:spcBef>
              <a:lnSpc>
                <a:spcPct val="112000"/>
              </a:lnSpc>
              <a:buChar char="•"/>
            </a:pPr>
            <a:r>
              <a:rPr lang="en-US" sz="830" dirty="0">
                <a:solidFill>
                  <a:srgbClr val="333333"/>
                </a:solidFill>
                <a:latin typeface="Arial"/>
                <a:cs typeface="Arial"/>
              </a:rPr>
              <a:t>It has no memory between conversations and no connection to any system of ours.</a:t>
            </a:r>
            <a:endParaRPr lang="en-US" dirty="0"/>
          </a:p>
          <a:p>
            <a:pPr indent="-114300" marL="114300">
              <a:spcBef>
                <a:spcPts val="350"/>
              </a:spcBef>
              <a:lnSpc>
                <a:spcPct val="112000"/>
              </a:lnSpc>
              <a:buChar char="•"/>
            </a:pPr>
            <a:r>
              <a:rPr lang="en-US" sz="830" dirty="0">
                <a:solidFill>
                  <a:srgbClr val="333333"/>
                </a:solidFill>
                <a:latin typeface="Arial"/>
                <a:cs typeface="Arial"/>
              </a:rPr>
              <a:t>Everything it knows about a task must be inside the conversation — which is why what we put there matters so much.</a:t>
            </a:r>
            <a:endParaRPr lang="en-US" dirty="0"/>
          </a:p>
        </p:txBody>
      </p:sp>
      <p:sp>
        <p:nvSpPr>
          <p:cNvPr id="155" name="Rect 156"/>
          <p:cNvSpPr/>
          <p:nvPr/>
        </p:nvSpPr>
        <p:spPr>
          <a:xfrm>
            <a:off x="4288536" y="1645920"/>
            <a:ext cx="3611880" cy="329184"/>
          </a:xfrm>
          <a:prstGeom prst="roundRect">
            <a:avLst>
              <a:gd name="adj" fmla="val 4000"/>
            </a:avLst>
          </a:prstGeom>
          <a:solidFill>
            <a:srgbClr val="AD9B68"/>
          </a:solidFill>
          <a:ln>
            <a:noFill/>
          </a:ln>
        </p:spPr>
      </p:sp>
      <p:sp>
        <p:nvSpPr>
          <p:cNvPr id="156" name="TextBox 157"/>
          <p:cNvSpPr txBox="1"/>
          <p:nvPr/>
        </p:nvSpPr>
        <p:spPr>
          <a:xfrm>
            <a:off x="4288536" y="1645920"/>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The token</a:t>
            </a:r>
            <a:endParaRPr lang="en-US" dirty="0"/>
          </a:p>
        </p:txBody>
      </p:sp>
      <p:sp>
        <p:nvSpPr>
          <p:cNvPr id="157" name="Rect 158"/>
          <p:cNvSpPr/>
          <p:nvPr/>
        </p:nvSpPr>
        <p:spPr>
          <a:xfrm>
            <a:off x="4288536" y="1975104"/>
            <a:ext cx="3611880" cy="1819656"/>
          </a:xfrm>
          <a:prstGeom prst="rect">
            <a:avLst/>
          </a:prstGeom>
          <a:solidFill>
            <a:srgbClr val="FFFFFF"/>
          </a:solidFill>
          <a:ln w="6350">
            <a:solidFill>
              <a:srgbClr val="AD9B68"/>
            </a:solidFill>
          </a:ln>
        </p:spPr>
      </p:sp>
      <p:sp>
        <p:nvSpPr>
          <p:cNvPr id="158" name="TextBox 159"/>
          <p:cNvSpPr txBox="1"/>
          <p:nvPr/>
        </p:nvSpPr>
        <p:spPr>
          <a:xfrm>
            <a:off x="4334256" y="2011680"/>
            <a:ext cx="3520440" cy="174650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dirty="0">
                <a:solidFill>
                  <a:srgbClr val="333333"/>
                </a:solidFill>
                <a:latin typeface="Arial"/>
                <a:cs typeface="Arial"/>
              </a:rPr>
              <a:t>Text is cut into tokens: roughly four characters, or three quarters of an average word.</a:t>
            </a:r>
            <a:endParaRPr lang="en-US" dirty="0"/>
          </a:p>
          <a:p>
            <a:pPr indent="-114300" marL="114300">
              <a:spcBef>
                <a:spcPts val="350"/>
              </a:spcBef>
              <a:lnSpc>
                <a:spcPct val="112000"/>
              </a:lnSpc>
              <a:buChar char="•"/>
            </a:pPr>
            <a:r>
              <a:rPr lang="en-US" sz="830" dirty="0">
                <a:solidFill>
                  <a:srgbClr val="333333"/>
                </a:solidFill>
                <a:latin typeface="Arial"/>
                <a:cs typeface="Arial"/>
              </a:rPr>
              <a:t>A short question is tens of tokens. A full table description can be thousands.</a:t>
            </a:r>
            <a:endParaRPr lang="en-US" dirty="0"/>
          </a:p>
          <a:p>
            <a:pPr indent="-114300" marL="114300">
              <a:spcBef>
                <a:spcPts val="350"/>
              </a:spcBef>
              <a:lnSpc>
                <a:spcPct val="112000"/>
              </a:lnSpc>
              <a:buChar char="•"/>
            </a:pPr>
            <a:r>
              <a:rPr lang="en-US" sz="830" dirty="0">
                <a:solidFill>
                  <a:srgbClr val="333333"/>
                </a:solidFill>
                <a:latin typeface="Arial"/>
                <a:cs typeface="Arial"/>
              </a:rPr>
              <a:t>Everything counts: the question, the answer, the documents, and the description of every tool the model may call.</a:t>
            </a:r>
            <a:endParaRPr lang="en-US" dirty="0"/>
          </a:p>
        </p:txBody>
      </p:sp>
      <p:sp>
        <p:nvSpPr>
          <p:cNvPr id="159" name="Rect 160"/>
          <p:cNvSpPr/>
          <p:nvPr/>
        </p:nvSpPr>
        <p:spPr>
          <a:xfrm>
            <a:off x="8037576" y="1645920"/>
            <a:ext cx="3611880" cy="329184"/>
          </a:xfrm>
          <a:prstGeom prst="roundRect">
            <a:avLst>
              <a:gd name="adj" fmla="val 4000"/>
            </a:avLst>
          </a:prstGeom>
          <a:solidFill>
            <a:srgbClr val="B77133"/>
          </a:solidFill>
          <a:ln>
            <a:noFill/>
          </a:ln>
        </p:spPr>
      </p:sp>
      <p:sp>
        <p:nvSpPr>
          <p:cNvPr id="160" name="TextBox 161"/>
          <p:cNvSpPr txBox="1"/>
          <p:nvPr/>
        </p:nvSpPr>
        <p:spPr>
          <a:xfrm>
            <a:off x="8037576" y="1645920"/>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The bill</a:t>
            </a:r>
            <a:endParaRPr lang="en-US" dirty="0"/>
          </a:p>
        </p:txBody>
      </p:sp>
      <p:sp>
        <p:nvSpPr>
          <p:cNvPr id="161" name="Rect 162"/>
          <p:cNvSpPr/>
          <p:nvPr/>
        </p:nvSpPr>
        <p:spPr>
          <a:xfrm>
            <a:off x="8037576" y="1975104"/>
            <a:ext cx="3611880" cy="1819656"/>
          </a:xfrm>
          <a:prstGeom prst="rect">
            <a:avLst/>
          </a:prstGeom>
          <a:solidFill>
            <a:srgbClr val="FFFFFF"/>
          </a:solidFill>
          <a:ln w="6350">
            <a:solidFill>
              <a:srgbClr val="B77133"/>
            </a:solidFill>
          </a:ln>
        </p:spPr>
      </p:sp>
      <p:sp>
        <p:nvSpPr>
          <p:cNvPr id="162" name="TextBox 163"/>
          <p:cNvSpPr txBox="1"/>
          <p:nvPr/>
        </p:nvSpPr>
        <p:spPr>
          <a:xfrm>
            <a:off x="8083296" y="2011680"/>
            <a:ext cx="3520440" cy="174650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dirty="0">
                <a:solidFill>
                  <a:srgbClr val="333333"/>
                </a:solidFill>
                <a:latin typeface="Arial"/>
                <a:cs typeface="Arial"/>
              </a:rPr>
              <a:t>Tokens sent in are cheap, tokens written out are the expensive ones — around fifty times a cached read in our own measurements.</a:t>
            </a:r>
            <a:endParaRPr lang="en-US" dirty="0"/>
          </a:p>
          <a:p>
            <a:pPr indent="-114300" marL="114300">
              <a:spcBef>
                <a:spcPts val="350"/>
              </a:spcBef>
              <a:lnSpc>
                <a:spcPct val="112000"/>
              </a:lnSpc>
              <a:buChar char="•"/>
            </a:pPr>
            <a:r>
              <a:rPr lang="en-US" sz="830" dirty="0">
                <a:solidFill>
                  <a:srgbClr val="333333"/>
                </a:solidFill>
                <a:latin typeface="Arial"/>
                <a:cs typeface="Arial"/>
              </a:rPr>
              <a:t>A conversation carries its whole history forward, so every token added is paid again on every later turn.</a:t>
            </a:r>
            <a:endParaRPr lang="en-US" dirty="0"/>
          </a:p>
          <a:p>
            <a:pPr indent="-114300" marL="114300">
              <a:spcBef>
                <a:spcPts val="350"/>
              </a:spcBef>
              <a:lnSpc>
                <a:spcPct val="112000"/>
              </a:lnSpc>
              <a:buChar char="•"/>
            </a:pPr>
            <a:r>
              <a:rPr lang="en-US" sz="830" dirty="0">
                <a:solidFill>
                  <a:srgbClr val="333333"/>
                </a:solidFill>
                <a:latin typeface="Arial"/>
                <a:cs typeface="Arial"/>
              </a:rPr>
              <a:t>Measured here: a single turn costs roughly ten cents before doing any work once the conversation is large.</a:t>
            </a:r>
            <a:endParaRPr lang="en-US" dirty="0"/>
          </a:p>
        </p:txBody>
      </p:sp>
      <p:sp>
        <p:nvSpPr>
          <p:cNvPr id="163" name="Rect 164"/>
          <p:cNvSpPr/>
          <p:nvPr/>
        </p:nvSpPr>
        <p:spPr>
          <a:xfrm>
            <a:off x="539496" y="3977640"/>
            <a:ext cx="11109960" cy="1143000"/>
          </a:xfrm>
          <a:prstGeom prst="roundRect">
            <a:avLst>
              <a:gd name="adj" fmla="val 4000"/>
            </a:avLst>
          </a:prstGeom>
          <a:solidFill>
            <a:srgbClr val="F3EEE1"/>
          </a:solidFill>
          <a:ln>
            <a:noFill/>
          </a:ln>
        </p:spPr>
      </p:sp>
      <p:sp>
        <p:nvSpPr>
          <p:cNvPr id="164" name="TextBox 165"/>
          <p:cNvSpPr txBox="1"/>
          <p:nvPr/>
        </p:nvSpPr>
        <p:spPr>
          <a:xfrm>
            <a:off x="676656" y="4023360"/>
            <a:ext cx="10835640" cy="1051560"/>
          </a:xfrm>
          <a:prstGeom prst="rect">
            <a:avLst/>
          </a:prstGeom>
          <a:noFill/>
          <a:ln>
            <a:noFill/>
          </a:ln>
        </p:spPr>
        <p:txBody>
          <a:bodyPr wrap="square" anchor="t" lIns="91440" tIns="45720" rIns="91440" bIns="45720"/>
          <a:lstStyle/>
          <a:p>
            <a:pPr/>
            <a:r>
              <a:rPr lang="en-US" sz="950" b="1" dirty="0">
                <a:solidFill>
                  <a:srgbClr val="B77133"/>
                </a:solidFill>
                <a:latin typeface="Arial"/>
                <a:cs typeface="Arial"/>
              </a:rPr>
              <a:t>Why this shapes the engineering, not just the invoice</a:t>
            </a:r>
            <a:endParaRPr lang="en-US" dirty="0"/>
          </a:p>
          <a:p>
            <a:pPr>
              <a:spcBef>
                <a:spcPts val="300"/>
              </a:spcBef>
              <a:lnSpc>
                <a:spcPct val="118000"/>
              </a:lnSpc>
            </a:pPr>
            <a:r>
              <a:rPr lang="en-US" sz="880" dirty="0">
                <a:solidFill>
                  <a:srgbClr val="333333"/>
                </a:solidFill>
                <a:latin typeface="Arial"/>
                <a:cs typeface="Arial"/>
              </a:rPr>
              <a:t>If an answer needs one precise lookup instead of five exploratory ones, and if that lookup returns three hundred tokens instead of twelve thousand, the same question costs a fraction and the model has less irrelevant material to be distracted by. Cheaper and better are the same lever here, not a trade-off. That is why every tool in this system is measured, and why the measurements are kept in the repository next to the code.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H 184"/>
          <p:cNvSpPr>
            <a:spLocks noGrp="1"/>
          </p:cNvSpPr>
          <p:nvPr>
            <p:ph type="title"/>
          </p:nvPr>
        </p:nvSpPr>
        <p:spPr/>
        <p:txBody>
          <a:bodyPr/>
          <a:lstStyle/>
          <a:p>
            <a:pPr/>
            <a:r>
              <a:rPr lang="en-US" sz="1800" b="1" dirty="0">
                <a:solidFill>
                  <a:srgbClr val="000000"/>
                </a:solidFill>
                <a:latin typeface="Arial"/>
                <a:cs typeface="Arial"/>
              </a:rPr>
              <a:t>What MCP is, and how a model uses one</a:t>
            </a:r>
            <a:endParaRPr lang="en-US" dirty="0"/>
          </a:p>
        </p:txBody>
      </p:sp>
      <p:sp>
        <p:nvSpPr>
          <p:cNvPr id="166" name="TextBox 167"/>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The Model Context Protocol is an open standard for connecting an assistant to a source of information or an action. It replaces one integration per assistant and per system with one server that any compliant client can use.</a:t>
            </a:r>
            <a:endParaRPr lang="en-US" dirty="0"/>
          </a:p>
        </p:txBody>
      </p:sp>
      <p:sp>
        <p:nvSpPr>
          <p:cNvPr id="167" name="Rect 168"/>
          <p:cNvSpPr/>
          <p:nvPr/>
        </p:nvSpPr>
        <p:spPr>
          <a:xfrm>
            <a:off x="539496" y="1691640"/>
            <a:ext cx="2331720" cy="1051560"/>
          </a:xfrm>
          <a:prstGeom prst="roundRect">
            <a:avLst>
              <a:gd name="adj" fmla="val 4000"/>
            </a:avLst>
          </a:prstGeom>
          <a:solidFill>
            <a:srgbClr val="FFFFFF"/>
          </a:solidFill>
          <a:ln w="9525">
            <a:solidFill>
              <a:srgbClr val="647772"/>
            </a:solidFill>
          </a:ln>
        </p:spPr>
      </p:sp>
      <p:sp>
        <p:nvSpPr>
          <p:cNvPr id="168" name="TextBox 169"/>
          <p:cNvSpPr txBox="1"/>
          <p:nvPr/>
        </p:nvSpPr>
        <p:spPr>
          <a:xfrm>
            <a:off x="585216" y="1728216"/>
            <a:ext cx="2240280" cy="978408"/>
          </a:xfrm>
          <a:prstGeom prst="rect">
            <a:avLst/>
          </a:prstGeom>
          <a:noFill/>
          <a:ln>
            <a:noFill/>
          </a:ln>
        </p:spPr>
        <p:txBody>
          <a:bodyPr wrap="square" anchor="ctr" lIns="91440" tIns="45720" rIns="91440" bIns="45720"/>
          <a:lstStyle/>
          <a:p>
            <a:pPr algn="ctr"/>
            <a:r>
              <a:rPr lang="en-US" sz="850" b="1" dirty="0">
                <a:solidFill>
                  <a:srgbClr val="647772"/>
                </a:solidFill>
                <a:latin typeface="Arial"/>
                <a:cs typeface="Arial"/>
              </a:rPr>
              <a:t>The person</a:t>
            </a:r>
            <a:endParaRPr lang="en-US" dirty="0"/>
          </a:p>
          <a:p>
            <a:pPr algn="ctr">
              <a:spcBef>
                <a:spcPts val="200"/>
              </a:spcBef>
              <a:lnSpc>
                <a:spcPct val="106000"/>
              </a:lnSpc>
            </a:pPr>
            <a:r>
              <a:rPr lang="en-US" sz="720" dirty="0">
                <a:solidFill>
                  <a:srgbClr val="666666"/>
                </a:solidFill>
                <a:latin typeface="Arial"/>
                <a:cs typeface="Arial"/>
              </a:rPr>
              <a:t>asks a question in plain language</a:t>
            </a:r>
            <a:endParaRPr lang="en-US" dirty="0"/>
          </a:p>
        </p:txBody>
      </p:sp>
      <p:sp>
        <p:nvSpPr>
          <p:cNvPr id="169" name="Arrow 170"/>
          <p:cNvSpPr/>
          <p:nvPr/>
        </p:nvSpPr>
        <p:spPr>
          <a:xfrm>
            <a:off x="2926080" y="2212848"/>
            <a:ext cx="502920" cy="0"/>
          </a:xfrm>
          <a:prstGeom prst="line">
            <a:avLst/>
          </a:prstGeom>
          <a:ln w="15875">
            <a:solidFill>
              <a:srgbClr val="666666"/>
            </a:solidFill>
            <a:tailEnd type="triangle" w="med" len="med"/>
          </a:ln>
        </p:spPr>
      </p:sp>
      <p:sp>
        <p:nvSpPr>
          <p:cNvPr id="170" name="Rect 171"/>
          <p:cNvSpPr/>
          <p:nvPr/>
        </p:nvSpPr>
        <p:spPr>
          <a:xfrm>
            <a:off x="3493008" y="1691640"/>
            <a:ext cx="2331720" cy="1051560"/>
          </a:xfrm>
          <a:prstGeom prst="roundRect">
            <a:avLst>
              <a:gd name="adj" fmla="val 4000"/>
            </a:avLst>
          </a:prstGeom>
          <a:solidFill>
            <a:srgbClr val="E0F3F5"/>
          </a:solidFill>
          <a:ln w="9525">
            <a:solidFill>
              <a:srgbClr val="6DC1C9"/>
            </a:solidFill>
          </a:ln>
        </p:spPr>
      </p:sp>
      <p:sp>
        <p:nvSpPr>
          <p:cNvPr id="171" name="TextBox 172"/>
          <p:cNvSpPr txBox="1"/>
          <p:nvPr/>
        </p:nvSpPr>
        <p:spPr>
          <a:xfrm>
            <a:off x="3538728" y="1728216"/>
            <a:ext cx="2240280" cy="978408"/>
          </a:xfrm>
          <a:prstGeom prst="rect">
            <a:avLst/>
          </a:prstGeom>
          <a:noFill/>
          <a:ln>
            <a:noFill/>
          </a:ln>
        </p:spPr>
        <p:txBody>
          <a:bodyPr wrap="square" anchor="ctr" lIns="91440" tIns="45720" rIns="91440" bIns="45720"/>
          <a:lstStyle/>
          <a:p>
            <a:pPr algn="ctr"/>
            <a:r>
              <a:rPr lang="en-US" sz="850" b="1" dirty="0">
                <a:solidFill>
                  <a:srgbClr val="6DC1C9"/>
                </a:solidFill>
                <a:latin typeface="Arial"/>
                <a:cs typeface="Arial"/>
              </a:rPr>
              <a:t>The assistant</a:t>
            </a:r>
            <a:endParaRPr lang="en-US" dirty="0"/>
          </a:p>
          <a:p>
            <a:pPr algn="ctr">
              <a:spcBef>
                <a:spcPts val="200"/>
              </a:spcBef>
              <a:lnSpc>
                <a:spcPct val="106000"/>
              </a:lnSpc>
            </a:pPr>
            <a:r>
              <a:rPr lang="en-US" sz="720" dirty="0">
                <a:solidFill>
                  <a:srgbClr val="666666"/>
                </a:solidFill>
                <a:latin typeface="Arial"/>
                <a:cs typeface="Arial"/>
              </a:rPr>
              <a:t>decides which tool answers it</a:t>
            </a:r>
            <a:endParaRPr lang="en-US" dirty="0"/>
          </a:p>
        </p:txBody>
      </p:sp>
      <p:sp>
        <p:nvSpPr>
          <p:cNvPr id="172" name="Arrow 173"/>
          <p:cNvSpPr/>
          <p:nvPr/>
        </p:nvSpPr>
        <p:spPr>
          <a:xfrm>
            <a:off x="5888736" y="2212848"/>
            <a:ext cx="502920" cy="0"/>
          </a:xfrm>
          <a:prstGeom prst="line">
            <a:avLst/>
          </a:prstGeom>
          <a:ln w="15875">
            <a:solidFill>
              <a:srgbClr val="666666"/>
            </a:solidFill>
            <a:tailEnd type="triangle" w="med" len="med"/>
          </a:ln>
        </p:spPr>
      </p:sp>
      <p:sp>
        <p:nvSpPr>
          <p:cNvPr id="173" name="Rect 174"/>
          <p:cNvSpPr/>
          <p:nvPr/>
        </p:nvSpPr>
        <p:spPr>
          <a:xfrm>
            <a:off x="6455664" y="1691640"/>
            <a:ext cx="2331720" cy="1051560"/>
          </a:xfrm>
          <a:prstGeom prst="roundRect">
            <a:avLst>
              <a:gd name="adj" fmla="val 4000"/>
            </a:avLst>
          </a:prstGeom>
          <a:solidFill>
            <a:srgbClr val="FFFFFF"/>
          </a:solidFill>
          <a:ln w="9525">
            <a:solidFill>
              <a:srgbClr val="AD9B68"/>
            </a:solidFill>
          </a:ln>
        </p:spPr>
      </p:sp>
      <p:sp>
        <p:nvSpPr>
          <p:cNvPr id="174" name="TextBox 175"/>
          <p:cNvSpPr txBox="1"/>
          <p:nvPr/>
        </p:nvSpPr>
        <p:spPr>
          <a:xfrm>
            <a:off x="6501384" y="1728216"/>
            <a:ext cx="2240280" cy="978408"/>
          </a:xfrm>
          <a:prstGeom prst="rect">
            <a:avLst/>
          </a:prstGeom>
          <a:noFill/>
          <a:ln>
            <a:noFill/>
          </a:ln>
        </p:spPr>
        <p:txBody>
          <a:bodyPr wrap="square" anchor="ctr" lIns="91440" tIns="45720" rIns="91440" bIns="45720"/>
          <a:lstStyle/>
          <a:p>
            <a:pPr algn="ctr"/>
            <a:r>
              <a:rPr lang="en-US" sz="850" b="1" dirty="0">
                <a:solidFill>
                  <a:srgbClr val="AD9B68"/>
                </a:solidFill>
                <a:latin typeface="Arial"/>
                <a:cs typeface="Arial"/>
              </a:rPr>
              <a:t>The MCP server</a:t>
            </a:r>
            <a:endParaRPr lang="en-US" dirty="0"/>
          </a:p>
          <a:p>
            <a:pPr algn="ctr">
              <a:spcBef>
                <a:spcPts val="200"/>
              </a:spcBef>
              <a:lnSpc>
                <a:spcPct val="106000"/>
              </a:lnSpc>
            </a:pPr>
            <a:r>
              <a:rPr lang="en-US" sz="720" dirty="0">
                <a:solidFill>
                  <a:srgbClr val="666666"/>
                </a:solidFill>
                <a:latin typeface="Arial"/>
                <a:cs typeface="Arial"/>
              </a:rPr>
              <a:t>offers a list of named tools</a:t>
            </a:r>
            <a:endParaRPr lang="en-US" dirty="0"/>
          </a:p>
        </p:txBody>
      </p:sp>
      <p:sp>
        <p:nvSpPr>
          <p:cNvPr id="175" name="Arrow 176"/>
          <p:cNvSpPr/>
          <p:nvPr/>
        </p:nvSpPr>
        <p:spPr>
          <a:xfrm>
            <a:off x="8851392" y="2212848"/>
            <a:ext cx="502920" cy="0"/>
          </a:xfrm>
          <a:prstGeom prst="line">
            <a:avLst/>
          </a:prstGeom>
          <a:ln w="15875">
            <a:solidFill>
              <a:srgbClr val="666666"/>
            </a:solidFill>
            <a:tailEnd type="triangle" w="med" len="med"/>
          </a:ln>
        </p:spPr>
      </p:sp>
      <p:sp>
        <p:nvSpPr>
          <p:cNvPr id="176" name="Rect 177"/>
          <p:cNvSpPr/>
          <p:nvPr/>
        </p:nvSpPr>
        <p:spPr>
          <a:xfrm>
            <a:off x="9418320" y="1691640"/>
            <a:ext cx="2231136" cy="1051560"/>
          </a:xfrm>
          <a:prstGeom prst="roundRect">
            <a:avLst>
              <a:gd name="adj" fmla="val 4000"/>
            </a:avLst>
          </a:prstGeom>
          <a:solidFill>
            <a:srgbClr val="E9ECEB"/>
          </a:solidFill>
          <a:ln w="9525">
            <a:solidFill>
              <a:srgbClr val="647772"/>
            </a:solidFill>
          </a:ln>
        </p:spPr>
      </p:sp>
      <p:sp>
        <p:nvSpPr>
          <p:cNvPr id="177" name="TextBox 178"/>
          <p:cNvSpPr txBox="1"/>
          <p:nvPr/>
        </p:nvSpPr>
        <p:spPr>
          <a:xfrm>
            <a:off x="9464040" y="1728216"/>
            <a:ext cx="2139696" cy="978408"/>
          </a:xfrm>
          <a:prstGeom prst="rect">
            <a:avLst/>
          </a:prstGeom>
          <a:noFill/>
          <a:ln>
            <a:noFill/>
          </a:ln>
        </p:spPr>
        <p:txBody>
          <a:bodyPr wrap="square" anchor="ctr" lIns="91440" tIns="45720" rIns="91440" bIns="45720"/>
          <a:lstStyle/>
          <a:p>
            <a:pPr algn="ctr"/>
            <a:r>
              <a:rPr lang="en-US" sz="850" b="1" dirty="0">
                <a:solidFill>
                  <a:srgbClr val="647772"/>
                </a:solidFill>
                <a:latin typeface="Arial"/>
                <a:cs typeface="Arial"/>
              </a:rPr>
              <a:t>The metadata</a:t>
            </a:r>
            <a:endParaRPr lang="en-US" dirty="0"/>
          </a:p>
          <a:p>
            <a:pPr algn="ctr">
              <a:spcBef>
                <a:spcPts val="200"/>
              </a:spcBef>
              <a:lnSpc>
                <a:spcPct val="106000"/>
              </a:lnSpc>
            </a:pPr>
            <a:r>
              <a:rPr lang="en-US" sz="720" dirty="0">
                <a:solidFill>
                  <a:srgbClr val="666666"/>
                </a:solidFill>
                <a:latin typeface="Arial"/>
                <a:cs typeface="Arial"/>
              </a:rPr>
              <a:t>a dated snapshot, read only</a:t>
            </a:r>
            <a:endParaRPr lang="en-US" dirty="0"/>
          </a:p>
        </p:txBody>
      </p:sp>
      <p:sp>
        <p:nvSpPr>
          <p:cNvPr id="178" name="TextBox 179"/>
          <p:cNvSpPr txBox="1"/>
          <p:nvPr/>
        </p:nvSpPr>
        <p:spPr>
          <a:xfrm>
            <a:off x="539496" y="2880360"/>
            <a:ext cx="11109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What happens on a single question</a:t>
            </a:r>
            <a:endParaRPr lang="en-US" dirty="0"/>
          </a:p>
        </p:txBody>
      </p:sp>
      <p:sp>
        <p:nvSpPr>
          <p:cNvPr id="179" name="Rect 180"/>
          <p:cNvSpPr/>
          <p:nvPr/>
        </p:nvSpPr>
        <p:spPr>
          <a:xfrm>
            <a:off x="539496" y="3163824"/>
            <a:ext cx="11109960" cy="960120"/>
          </a:xfrm>
          <a:prstGeom prst="roundRect">
            <a:avLst>
              <a:gd name="adj" fmla="val 4000"/>
            </a:avLst>
          </a:prstGeom>
          <a:solidFill>
            <a:srgbClr val="FFFFFF"/>
          </a:solidFill>
          <a:ln w="6350">
            <a:solidFill>
              <a:srgbClr val="CCCCCC"/>
            </a:solidFill>
          </a:ln>
        </p:spPr>
      </p:sp>
      <p:sp>
        <p:nvSpPr>
          <p:cNvPr id="180" name="TextBox 181"/>
          <p:cNvSpPr txBox="1"/>
          <p:nvPr/>
        </p:nvSpPr>
        <p:spPr>
          <a:xfrm>
            <a:off x="649224" y="3200400"/>
            <a:ext cx="10890504" cy="88696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6DC1C9"/>
                </a:solidFill>
                <a:latin typeface="Arial"/>
                <a:cs typeface="Arial"/>
              </a:rPr>
              <a:t>The server announces what it can do. </a:t>
            </a:r>
            <a:r>
              <a:rPr lang="en-US" sz="820" dirty="0">
                <a:solidFill>
                  <a:srgbClr val="333333"/>
                </a:solidFill>
                <a:latin typeface="Arial"/>
                <a:cs typeface="Arial"/>
              </a:rPr>
              <a:t>Each tool has a name, a description and a precise shape for its inputs and outputs. The assistant reads that list at the start of every request.</a:t>
            </a:r>
            <a:endParaRPr lang="en-US" dirty="0"/>
          </a:p>
          <a:p>
            <a:pPr indent="-114300" marL="114300">
              <a:spcBef>
                <a:spcPts val="350"/>
              </a:spcBef>
              <a:lnSpc>
                <a:spcPct val="112000"/>
              </a:lnSpc>
              <a:buChar char="•"/>
            </a:pPr>
            <a:r>
              <a:rPr lang="en-US" sz="820" b="1" dirty="0">
                <a:solidFill>
                  <a:srgbClr val="6DC1C9"/>
                </a:solidFill>
                <a:latin typeface="Arial"/>
                <a:cs typeface="Arial"/>
              </a:rPr>
              <a:t>The assistant chooses and calls. </a:t>
            </a:r>
            <a:r>
              <a:rPr lang="en-US" sz="820" dirty="0">
                <a:solidFill>
                  <a:srgbClr val="333333"/>
                </a:solidFill>
                <a:latin typeface="Arial"/>
                <a:cs typeface="Arial"/>
              </a:rPr>
              <a:t>It sends a structured call — not a sentence — and receives a structured answer it can rely on rather than parse.</a:t>
            </a:r>
            <a:endParaRPr lang="en-US" dirty="0"/>
          </a:p>
          <a:p>
            <a:pPr indent="-114300" marL="114300">
              <a:spcBef>
                <a:spcPts val="350"/>
              </a:spcBef>
              <a:lnSpc>
                <a:spcPct val="112000"/>
              </a:lnSpc>
              <a:buChar char="•"/>
            </a:pPr>
            <a:r>
              <a:rPr lang="en-US" sz="820" b="1" dirty="0">
                <a:solidFill>
                  <a:srgbClr val="6DC1C9"/>
                </a:solidFill>
                <a:latin typeface="Arial"/>
                <a:cs typeface="Arial"/>
              </a:rPr>
              <a:t>Nothing is executed on its own. </a:t>
            </a:r>
            <a:r>
              <a:rPr lang="en-US" sz="820" dirty="0">
                <a:solidFill>
                  <a:srgbClr val="333333"/>
                </a:solidFill>
                <a:latin typeface="Arial"/>
                <a:cs typeface="Arial"/>
              </a:rPr>
              <a:t>Our tools only read. They cannot change the ERP, and the assistant cannot reach anything the server does not expose.</a:t>
            </a:r>
            <a:endParaRPr lang="en-US" dirty="0"/>
          </a:p>
        </p:txBody>
      </p:sp>
      <p:sp>
        <p:nvSpPr>
          <p:cNvPr id="181" name="Rect 182"/>
          <p:cNvSpPr/>
          <p:nvPr/>
        </p:nvSpPr>
        <p:spPr>
          <a:xfrm>
            <a:off x="539496" y="4261104"/>
            <a:ext cx="11109960" cy="1234440"/>
          </a:xfrm>
          <a:prstGeom prst="roundRect">
            <a:avLst>
              <a:gd name="adj" fmla="val 4000"/>
            </a:avLst>
          </a:prstGeom>
          <a:solidFill>
            <a:srgbClr val="E0F3F5"/>
          </a:solidFill>
          <a:ln>
            <a:noFill/>
          </a:ln>
        </p:spPr>
      </p:sp>
      <p:sp>
        <p:nvSpPr>
          <p:cNvPr id="182" name="TextBox 183"/>
          <p:cNvSpPr txBox="1"/>
          <p:nvPr/>
        </p:nvSpPr>
        <p:spPr>
          <a:xfrm>
            <a:off x="676656" y="4306824"/>
            <a:ext cx="10835640" cy="1143000"/>
          </a:xfrm>
          <a:prstGeom prst="rect">
            <a:avLst/>
          </a:prstGeom>
          <a:noFill/>
          <a:ln>
            <a:noFill/>
          </a:ln>
        </p:spPr>
        <p:txBody>
          <a:bodyPr wrap="square" anchor="t" lIns="91440" tIns="45720" rIns="91440" bIns="45720"/>
          <a:lstStyle/>
          <a:p>
            <a:pPr/>
            <a:r>
              <a:rPr lang="en-US" sz="900" b="1" dirty="0">
                <a:solidFill>
                  <a:srgbClr val="647772"/>
                </a:solidFill>
                <a:latin typeface="Arial"/>
                <a:cs typeface="Arial"/>
              </a:rPr>
              <a:t>The part that is easy to underestimate</a:t>
            </a:r>
            <a:endParaRPr lang="en-US" dirty="0"/>
          </a:p>
          <a:p>
            <a:pPr>
              <a:spcBef>
                <a:spcPts val="300"/>
              </a:spcBef>
              <a:lnSpc>
                <a:spcPct val="116000"/>
              </a:lnSpc>
            </a:pPr>
            <a:r>
              <a:rPr lang="en-US" sz="870" dirty="0">
                <a:solidFill>
                  <a:srgbClr val="333333"/>
                </a:solidFill>
                <a:latin typeface="Arial"/>
                <a:cs typeface="Arial"/>
              </a:rPr>
              <a:t>That list of tools is sent to the model on every single request, before any work happens. Ours describes seventy-seven tools across five services and weighs about forty-nine thousand tokens — roughly one euro over a working session, paid whether the tools are used or not. It is the only cost no filter can reduce afterwards, so the tool descriptions are written, measured and trimmed as carefully as the code. A reduced profile for clients that need fewer tools cuts it by fifty-nine per cent.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H 185"/>
          <p:cNvSpPr>
            <a:spLocks noGrp="1"/>
          </p:cNvSpPr>
          <p:nvPr>
            <p:ph type="title"/>
          </p:nvPr>
        </p:nvSpPr>
        <p:spPr/>
        <p:txBody>
          <a:bodyPr/>
          <a:lstStyle/>
          <a:p>
            <a:pPr/>
            <a:r>
              <a:rPr lang="en-US" sz="1800" b="1" dirty="0">
                <a:solidFill>
                  <a:srgbClr val="000000"/>
                </a:solidFill>
                <a:latin typeface="Arial"/>
                <a:cs typeface="Arial"/>
              </a:rPr>
              <a:t>How it is built</a:t>
            </a:r>
            <a:endParaRPr lang="en-US" dirty="0"/>
          </a:p>
        </p:txBody>
      </p:sp>
      <p:sp>
        <p:nvSpPr>
          <p:cNvPr id="185" name="Rect 186"/>
          <p:cNvSpPr/>
          <p:nvPr/>
        </p:nvSpPr>
        <p:spPr>
          <a:xfrm>
            <a:off x="539496" y="1920240"/>
            <a:ext cx="1417320" cy="1417320"/>
          </a:xfrm>
          <a:prstGeom prst="roundRect">
            <a:avLst>
              <a:gd name="adj" fmla="val 8000"/>
            </a:avLst>
          </a:prstGeom>
          <a:solidFill>
            <a:srgbClr val="6DC1C9"/>
          </a:solidFill>
          <a:ln>
            <a:noFill/>
          </a:ln>
        </p:spPr>
      </p:sp>
      <p:sp>
        <p:nvSpPr>
          <p:cNvPr id="186" name="TextBox 187"/>
          <p:cNvSpPr txBox="1"/>
          <p:nvPr/>
        </p:nvSpPr>
        <p:spPr>
          <a:xfrm>
            <a:off x="539496" y="1920240"/>
            <a:ext cx="1417320" cy="1417320"/>
          </a:xfrm>
          <a:prstGeom prst="rect">
            <a:avLst/>
          </a:prstGeom>
          <a:noFill/>
          <a:ln>
            <a:noFill/>
          </a:ln>
        </p:spPr>
        <p:txBody>
          <a:bodyPr wrap="square" anchor="ctr" lIns="91440" tIns="45720" rIns="91440" bIns="45720"/>
          <a:lstStyle/>
          <a:p>
            <a:pPr algn="ctr"/>
            <a:r>
              <a:rPr lang="en-US" sz="4000" b="1" dirty="0">
                <a:solidFill>
                  <a:srgbClr val="FFFFFF"/>
                </a:solidFill>
                <a:latin typeface="Arial"/>
                <a:cs typeface="Arial"/>
              </a:rPr>
              <a:t>02</a:t>
            </a:r>
            <a:endParaRPr lang="en-US" dirty="0"/>
          </a:p>
        </p:txBody>
      </p:sp>
      <p:sp>
        <p:nvSpPr>
          <p:cNvPr id="187" name="TextBox 188"/>
          <p:cNvSpPr txBox="1"/>
          <p:nvPr/>
        </p:nvSpPr>
        <p:spPr>
          <a:xfrm>
            <a:off x="2331720" y="2148840"/>
            <a:ext cx="9052560" cy="1097280"/>
          </a:xfrm>
          <a:prstGeom prst="rect">
            <a:avLst/>
          </a:prstGeom>
          <a:noFill/>
          <a:ln>
            <a:noFill/>
          </a:ln>
        </p:spPr>
        <p:txBody>
          <a:bodyPr wrap="square" anchor="t" lIns="91440" tIns="45720" rIns="91440" bIns="45720"/>
          <a:lstStyle/>
          <a:p>
            <a:pPr>
              <a:lnSpc>
                <a:spcPct val="118000"/>
              </a:lnSpc>
            </a:pPr>
            <a:r>
              <a:rPr lang="en-US" sz="1250" dirty="0">
                <a:solidFill>
                  <a:srgbClr val="333333"/>
                </a:solidFill>
                <a:latin typeface="Arial"/>
                <a:cs typeface="Arial"/>
              </a:rPr>
              <a:t>One pipeline turns the description of the ERP into something a model can query in milliseconds, one code base serves it two ways, and a small set of Azure services carries it — each chosen for a reason worth stating.</a:t>
            </a:r>
            <a:endParaRPr lang="en-US" dirty="0"/>
          </a:p>
        </p:txBody>
      </p:sp>
      <p:sp>
        <p:nvSpPr>
          <p:cNvPr id="188" name="Line 189"/>
          <p:cNvSpPr/>
          <p:nvPr/>
        </p:nvSpPr>
        <p:spPr>
          <a:xfrm>
            <a:off x="539496" y="3657600"/>
            <a:ext cx="10881360" cy="0"/>
          </a:xfrm>
          <a:prstGeom prst="line">
            <a:avLst/>
          </a:prstGeom>
          <a:ln w="19050">
            <a:solidFill>
              <a:srgbClr val="6DC1C9"/>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H 220"/>
          <p:cNvSpPr>
            <a:spLocks noGrp="1"/>
          </p:cNvSpPr>
          <p:nvPr>
            <p:ph type="title"/>
          </p:nvPr>
        </p:nvSpPr>
        <p:spPr/>
        <p:txBody>
          <a:bodyPr/>
          <a:lstStyle/>
          <a:p>
            <a:pPr/>
            <a:r>
              <a:rPr lang="en-US" sz="1800" b="1" dirty="0">
                <a:solidFill>
                  <a:srgbClr val="000000"/>
                </a:solidFill>
                <a:latin typeface="Arial"/>
                <a:cs typeface="Arial"/>
              </a:rPr>
              <a:t>The global concept: from the system to an answer</a:t>
            </a:r>
            <a:endParaRPr lang="en-US" dirty="0"/>
          </a:p>
        </p:txBody>
      </p:sp>
      <p:sp>
        <p:nvSpPr>
          <p:cNvPr id="189" name="TextBox 190"/>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Four stages. The first two run on a schedule and produce a file; the last two run in a second and produce an answer. Nothing in the chain ever touches the live business database.</a:t>
            </a:r>
            <a:endParaRPr lang="en-US" dirty="0"/>
          </a:p>
        </p:txBody>
      </p:sp>
      <p:sp>
        <p:nvSpPr>
          <p:cNvPr id="190" name="Rect 191"/>
          <p:cNvSpPr/>
          <p:nvPr/>
        </p:nvSpPr>
        <p:spPr>
          <a:xfrm>
            <a:off x="539496" y="1664208"/>
            <a:ext cx="2606040" cy="1188720"/>
          </a:xfrm>
          <a:prstGeom prst="roundRect">
            <a:avLst>
              <a:gd name="adj" fmla="val 4000"/>
            </a:avLst>
          </a:prstGeom>
          <a:solidFill>
            <a:srgbClr val="FFFFFF"/>
          </a:solidFill>
          <a:ln w="9525">
            <a:solidFill>
              <a:srgbClr val="647772"/>
            </a:solidFill>
          </a:ln>
        </p:spPr>
      </p:sp>
      <p:sp>
        <p:nvSpPr>
          <p:cNvPr id="191" name="TextBox 192"/>
          <p:cNvSpPr txBox="1"/>
          <p:nvPr/>
        </p:nvSpPr>
        <p:spPr>
          <a:xfrm>
            <a:off x="585216" y="1700784"/>
            <a:ext cx="2514600" cy="1115568"/>
          </a:xfrm>
          <a:prstGeom prst="rect">
            <a:avLst/>
          </a:prstGeom>
          <a:noFill/>
          <a:ln>
            <a:noFill/>
          </a:ln>
        </p:spPr>
        <p:txBody>
          <a:bodyPr wrap="square" anchor="ctr" lIns="91440" tIns="45720" rIns="91440" bIns="45720"/>
          <a:lstStyle/>
          <a:p>
            <a:pPr algn="ctr"/>
            <a:r>
              <a:rPr lang="en-US" sz="850" b="1" dirty="0">
                <a:solidFill>
                  <a:srgbClr val="647772"/>
                </a:solidFill>
                <a:latin typeface="Arial"/>
                <a:cs typeface="Arial"/>
              </a:rPr>
              <a:t>The ERP describes itself</a:t>
            </a:r>
            <a:endParaRPr lang="en-US" dirty="0"/>
          </a:p>
          <a:p>
            <a:pPr algn="ctr">
              <a:spcBef>
                <a:spcPts val="200"/>
              </a:spcBef>
              <a:lnSpc>
                <a:spcPct val="106000"/>
              </a:lnSpc>
            </a:pPr>
            <a:r>
              <a:rPr lang="en-US" sz="720" dirty="0">
                <a:solidFill>
                  <a:srgbClr val="666666"/>
                </a:solidFill>
                <a:latin typeface="Arial"/>
                <a:cs typeface="Arial"/>
              </a:rPr>
              <a:t>the application object tree, the compiler cross-references, the security export</a:t>
            </a:r>
            <a:endParaRPr lang="en-US" dirty="0"/>
          </a:p>
        </p:txBody>
      </p:sp>
      <p:sp>
        <p:nvSpPr>
          <p:cNvPr id="192" name="Arrow 193"/>
          <p:cNvSpPr/>
          <p:nvPr/>
        </p:nvSpPr>
        <p:spPr>
          <a:xfrm>
            <a:off x="3218688" y="2240280"/>
            <a:ext cx="457200" cy="0"/>
          </a:xfrm>
          <a:prstGeom prst="line">
            <a:avLst/>
          </a:prstGeom>
          <a:ln w="15875">
            <a:solidFill>
              <a:srgbClr val="666666"/>
            </a:solidFill>
            <a:tailEnd type="triangle" w="med" len="med"/>
          </a:ln>
        </p:spPr>
      </p:sp>
      <p:sp>
        <p:nvSpPr>
          <p:cNvPr id="193" name="Rect 194"/>
          <p:cNvSpPr/>
          <p:nvPr/>
        </p:nvSpPr>
        <p:spPr>
          <a:xfrm>
            <a:off x="3739896" y="1664208"/>
            <a:ext cx="2606040" cy="1188720"/>
          </a:xfrm>
          <a:prstGeom prst="roundRect">
            <a:avLst>
              <a:gd name="adj" fmla="val 4000"/>
            </a:avLst>
          </a:prstGeom>
          <a:solidFill>
            <a:srgbClr val="F3EEE1"/>
          </a:solidFill>
          <a:ln w="9525">
            <a:solidFill>
              <a:srgbClr val="AD9B68"/>
            </a:solidFill>
          </a:ln>
        </p:spPr>
      </p:sp>
      <p:sp>
        <p:nvSpPr>
          <p:cNvPr id="194" name="TextBox 195"/>
          <p:cNvSpPr txBox="1"/>
          <p:nvPr/>
        </p:nvSpPr>
        <p:spPr>
          <a:xfrm>
            <a:off x="3785616" y="1700784"/>
            <a:ext cx="2514600" cy="1115568"/>
          </a:xfrm>
          <a:prstGeom prst="rect">
            <a:avLst/>
          </a:prstGeom>
          <a:noFill/>
          <a:ln>
            <a:noFill/>
          </a:ln>
        </p:spPr>
        <p:txBody>
          <a:bodyPr wrap="square" anchor="ctr" lIns="91440" tIns="45720" rIns="91440" bIns="45720"/>
          <a:lstStyle/>
          <a:p>
            <a:pPr algn="ctr"/>
            <a:r>
              <a:rPr lang="en-US" sz="850" b="1" dirty="0">
                <a:solidFill>
                  <a:srgbClr val="AD9B68"/>
                </a:solidFill>
                <a:latin typeface="Arial"/>
                <a:cs typeface="Arial"/>
              </a:rPr>
              <a:t>A build reads it</a:t>
            </a:r>
            <a:endParaRPr lang="en-US" dirty="0"/>
          </a:p>
          <a:p>
            <a:pPr algn="ctr">
              <a:spcBef>
                <a:spcPts val="200"/>
              </a:spcBef>
              <a:lnSpc>
                <a:spcPct val="106000"/>
              </a:lnSpc>
            </a:pPr>
            <a:r>
              <a:rPr lang="en-US" sz="720" dirty="0">
                <a:solidFill>
                  <a:srgbClr val="666666"/>
                </a:solidFill>
                <a:latin typeface="Arial"/>
                <a:cs typeface="Arial"/>
              </a:rPr>
              <a:t>parsers walk every model and write the facts into compact databases</a:t>
            </a:r>
            <a:endParaRPr lang="en-US" dirty="0"/>
          </a:p>
        </p:txBody>
      </p:sp>
      <p:sp>
        <p:nvSpPr>
          <p:cNvPr id="195" name="Arrow 196"/>
          <p:cNvSpPr/>
          <p:nvPr/>
        </p:nvSpPr>
        <p:spPr>
          <a:xfrm>
            <a:off x="6501384" y="2240280"/>
            <a:ext cx="457200" cy="0"/>
          </a:xfrm>
          <a:prstGeom prst="line">
            <a:avLst/>
          </a:prstGeom>
          <a:ln w="15875">
            <a:solidFill>
              <a:srgbClr val="666666"/>
            </a:solidFill>
            <a:tailEnd type="triangle" w="med" len="med"/>
          </a:ln>
        </p:spPr>
      </p:sp>
      <p:sp>
        <p:nvSpPr>
          <p:cNvPr id="196" name="Rect 197"/>
          <p:cNvSpPr/>
          <p:nvPr/>
        </p:nvSpPr>
        <p:spPr>
          <a:xfrm>
            <a:off x="7022592" y="1664208"/>
            <a:ext cx="2606040" cy="1188720"/>
          </a:xfrm>
          <a:prstGeom prst="roundRect">
            <a:avLst>
              <a:gd name="adj" fmla="val 4000"/>
            </a:avLst>
          </a:prstGeom>
          <a:solidFill>
            <a:srgbClr val="E0F3F5"/>
          </a:solidFill>
          <a:ln w="9525">
            <a:solidFill>
              <a:srgbClr val="6DC1C9"/>
            </a:solidFill>
          </a:ln>
        </p:spPr>
      </p:sp>
      <p:sp>
        <p:nvSpPr>
          <p:cNvPr id="197" name="TextBox 198"/>
          <p:cNvSpPr txBox="1"/>
          <p:nvPr/>
        </p:nvSpPr>
        <p:spPr>
          <a:xfrm>
            <a:off x="7068312" y="1700784"/>
            <a:ext cx="2514600" cy="1115568"/>
          </a:xfrm>
          <a:prstGeom prst="rect">
            <a:avLst/>
          </a:prstGeom>
          <a:noFill/>
          <a:ln>
            <a:noFill/>
          </a:ln>
        </p:spPr>
        <p:txBody>
          <a:bodyPr wrap="square" anchor="ctr" lIns="91440" tIns="45720" rIns="91440" bIns="45720"/>
          <a:lstStyle/>
          <a:p>
            <a:pPr algn="ctr"/>
            <a:r>
              <a:rPr lang="en-US" sz="850" b="1" dirty="0">
                <a:solidFill>
                  <a:srgbClr val="6DC1C9"/>
                </a:solidFill>
                <a:latin typeface="Arial"/>
                <a:cs typeface="Arial"/>
              </a:rPr>
              <a:t>Services answer questions</a:t>
            </a:r>
            <a:endParaRPr lang="en-US" dirty="0"/>
          </a:p>
          <a:p>
            <a:pPr algn="ctr">
              <a:spcBef>
                <a:spcPts val="200"/>
              </a:spcBef>
              <a:lnSpc>
                <a:spcPct val="106000"/>
              </a:lnSpc>
            </a:pPr>
            <a:r>
              <a:rPr lang="en-US" sz="720" dirty="0">
                <a:solidFill>
                  <a:srgbClr val="666666"/>
                </a:solidFill>
                <a:latin typeface="Arial"/>
                <a:cs typeface="Arial"/>
              </a:rPr>
              <a:t>seventy-seven read-only tools over those databases</a:t>
            </a:r>
            <a:endParaRPr lang="en-US" dirty="0"/>
          </a:p>
        </p:txBody>
      </p:sp>
      <p:sp>
        <p:nvSpPr>
          <p:cNvPr id="198" name="Arrow 199"/>
          <p:cNvSpPr/>
          <p:nvPr/>
        </p:nvSpPr>
        <p:spPr>
          <a:xfrm>
            <a:off x="9784080" y="2240280"/>
            <a:ext cx="457200" cy="0"/>
          </a:xfrm>
          <a:prstGeom prst="line">
            <a:avLst/>
          </a:prstGeom>
          <a:ln w="15875">
            <a:solidFill>
              <a:srgbClr val="666666"/>
            </a:solidFill>
            <a:tailEnd type="triangle" w="med" len="med"/>
          </a:ln>
        </p:spPr>
      </p:sp>
      <p:sp>
        <p:nvSpPr>
          <p:cNvPr id="199" name="Rect 200"/>
          <p:cNvSpPr/>
          <p:nvPr/>
        </p:nvSpPr>
        <p:spPr>
          <a:xfrm>
            <a:off x="10305288" y="1664208"/>
            <a:ext cx="1344168" cy="1188720"/>
          </a:xfrm>
          <a:prstGeom prst="roundRect">
            <a:avLst>
              <a:gd name="adj" fmla="val 4000"/>
            </a:avLst>
          </a:prstGeom>
          <a:solidFill>
            <a:srgbClr val="FFFFFF"/>
          </a:solidFill>
          <a:ln w="9525">
            <a:solidFill>
              <a:srgbClr val="B77133"/>
            </a:solidFill>
          </a:ln>
        </p:spPr>
      </p:sp>
      <p:sp>
        <p:nvSpPr>
          <p:cNvPr id="200" name="TextBox 201"/>
          <p:cNvSpPr txBox="1"/>
          <p:nvPr/>
        </p:nvSpPr>
        <p:spPr>
          <a:xfrm>
            <a:off x="10351008" y="1700784"/>
            <a:ext cx="1252728" cy="1115568"/>
          </a:xfrm>
          <a:prstGeom prst="rect">
            <a:avLst/>
          </a:prstGeom>
          <a:noFill/>
          <a:ln>
            <a:noFill/>
          </a:ln>
        </p:spPr>
        <p:txBody>
          <a:bodyPr wrap="square" anchor="ctr" lIns="91440" tIns="45720" rIns="91440" bIns="45720"/>
          <a:lstStyle/>
          <a:p>
            <a:pPr algn="ctr"/>
            <a:r>
              <a:rPr lang="en-US" sz="800" b="1" dirty="0">
                <a:solidFill>
                  <a:srgbClr val="B77133"/>
                </a:solidFill>
                <a:latin typeface="Arial"/>
                <a:cs typeface="Arial"/>
              </a:rPr>
              <a:t>The assistant</a:t>
            </a:r>
            <a:endParaRPr lang="en-US" dirty="0"/>
          </a:p>
          <a:p>
            <a:pPr algn="ctr">
              <a:spcBef>
                <a:spcPts val="200"/>
              </a:spcBef>
              <a:lnSpc>
                <a:spcPct val="106000"/>
              </a:lnSpc>
            </a:pPr>
            <a:r>
              <a:rPr lang="en-US" sz="720" dirty="0">
                <a:solidFill>
                  <a:srgbClr val="666666"/>
                </a:solidFill>
                <a:latin typeface="Arial"/>
                <a:cs typeface="Arial"/>
              </a:rPr>
              <a:t>checks, then answers</a:t>
            </a:r>
            <a:endParaRPr lang="en-US" dirty="0"/>
          </a:p>
        </p:txBody>
      </p:sp>
      <p:sp>
        <p:nvSpPr>
          <p:cNvPr id="201" name="TextBox 202"/>
          <p:cNvSpPr txBox="1"/>
          <p:nvPr/>
        </p:nvSpPr>
        <p:spPr>
          <a:xfrm>
            <a:off x="539496" y="2999232"/>
            <a:ext cx="11109960" cy="27432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What the five services hold</a:t>
            </a:r>
            <a:endParaRPr lang="en-US" dirty="0"/>
          </a:p>
        </p:txBody>
      </p:sp>
      <p:sp>
        <p:nvSpPr>
          <p:cNvPr id="202" name="Rect 203"/>
          <p:cNvSpPr/>
          <p:nvPr/>
        </p:nvSpPr>
        <p:spPr>
          <a:xfrm>
            <a:off x="539496" y="3291840"/>
            <a:ext cx="2103120" cy="1463040"/>
          </a:xfrm>
          <a:prstGeom prst="roundRect">
            <a:avLst>
              <a:gd name="adj" fmla="val 4000"/>
            </a:avLst>
          </a:prstGeom>
          <a:solidFill>
            <a:srgbClr val="FFFFFF"/>
          </a:solidFill>
          <a:ln w="9525">
            <a:solidFill>
              <a:srgbClr val="6DC1C9"/>
            </a:solidFill>
          </a:ln>
        </p:spPr>
      </p:sp>
      <p:sp>
        <p:nvSpPr>
          <p:cNvPr id="203" name="TextBox 204"/>
          <p:cNvSpPr txBox="1"/>
          <p:nvPr/>
        </p:nvSpPr>
        <p:spPr>
          <a:xfrm>
            <a:off x="594360" y="3328416"/>
            <a:ext cx="1993392" cy="310896"/>
          </a:xfrm>
          <a:prstGeom prst="rect">
            <a:avLst/>
          </a:prstGeom>
          <a:noFill/>
          <a:ln>
            <a:noFill/>
          </a:ln>
        </p:spPr>
        <p:txBody>
          <a:bodyPr wrap="square" anchor="t" lIns="91440" tIns="45720" rIns="91440" bIns="45720"/>
          <a:lstStyle/>
          <a:p>
            <a:pPr algn="ctr"/>
            <a:r>
              <a:rPr lang="en-US" sz="830" b="1" dirty="0">
                <a:solidFill>
                  <a:srgbClr val="6DC1C9"/>
                </a:solidFill>
                <a:latin typeface="Arial"/>
                <a:cs typeface="Arial"/>
              </a:rPr>
              <a:t>Knowledge base</a:t>
            </a:r>
            <a:endParaRPr lang="en-US" dirty="0"/>
          </a:p>
        </p:txBody>
      </p:sp>
      <p:sp>
        <p:nvSpPr>
          <p:cNvPr id="204" name="TextBox 205"/>
          <p:cNvSpPr txBox="1"/>
          <p:nvPr/>
        </p:nvSpPr>
        <p:spPr>
          <a:xfrm>
            <a:off x="594360" y="3621024"/>
            <a:ext cx="1993392" cy="1097280"/>
          </a:xfrm>
          <a:prstGeom prst="rect">
            <a:avLst/>
          </a:prstGeom>
          <a:noFill/>
          <a:ln>
            <a:noFill/>
          </a:ln>
        </p:spPr>
        <p:txBody>
          <a:bodyPr wrap="square" anchor="t" lIns="91440" tIns="45720" rIns="91440" bIns="45720"/>
          <a:lstStyle/>
          <a:p>
            <a:pPr>
              <a:lnSpc>
                <a:spcPct val="110000"/>
              </a:lnSpc>
            </a:pPr>
            <a:r>
              <a:rPr lang="en-US" sz="720" dirty="0">
                <a:solidFill>
                  <a:srgbClr val="333333"/>
                </a:solidFill>
                <a:latin typeface="Arial"/>
                <a:cs typeface="Arial"/>
              </a:rPr>
              <a:t>The object model: tables, fields, types, relations, indexes, classes, methods, forms, data entities — and now the trace insight tools</a:t>
            </a:r>
            <a:endParaRPr lang="en-US" dirty="0"/>
          </a:p>
        </p:txBody>
      </p:sp>
      <p:sp>
        <p:nvSpPr>
          <p:cNvPr id="205" name="Rect 206"/>
          <p:cNvSpPr/>
          <p:nvPr/>
        </p:nvSpPr>
        <p:spPr>
          <a:xfrm>
            <a:off x="2770632" y="3291840"/>
            <a:ext cx="2103120" cy="1463040"/>
          </a:xfrm>
          <a:prstGeom prst="roundRect">
            <a:avLst>
              <a:gd name="adj" fmla="val 4000"/>
            </a:avLst>
          </a:prstGeom>
          <a:solidFill>
            <a:srgbClr val="FFFFFF"/>
          </a:solidFill>
          <a:ln w="9525">
            <a:solidFill>
              <a:srgbClr val="AD9B68"/>
            </a:solidFill>
          </a:ln>
        </p:spPr>
      </p:sp>
      <p:sp>
        <p:nvSpPr>
          <p:cNvPr id="206" name="TextBox 207"/>
          <p:cNvSpPr txBox="1"/>
          <p:nvPr/>
        </p:nvSpPr>
        <p:spPr>
          <a:xfrm>
            <a:off x="2825496" y="3328416"/>
            <a:ext cx="1993392" cy="310896"/>
          </a:xfrm>
          <a:prstGeom prst="rect">
            <a:avLst/>
          </a:prstGeom>
          <a:noFill/>
          <a:ln>
            <a:noFill/>
          </a:ln>
        </p:spPr>
        <p:txBody>
          <a:bodyPr wrap="square" anchor="t" lIns="91440" tIns="45720" rIns="91440" bIns="45720"/>
          <a:lstStyle/>
          <a:p>
            <a:pPr algn="ctr"/>
            <a:r>
              <a:rPr lang="en-US" sz="830" b="1" dirty="0">
                <a:solidFill>
                  <a:srgbClr val="AD9B68"/>
                </a:solidFill>
                <a:latin typeface="Arial"/>
                <a:cs typeface="Arial"/>
              </a:rPr>
              <a:t>Cross-references</a:t>
            </a:r>
            <a:endParaRPr lang="en-US" dirty="0"/>
          </a:p>
        </p:txBody>
      </p:sp>
      <p:sp>
        <p:nvSpPr>
          <p:cNvPr id="207" name="TextBox 208"/>
          <p:cNvSpPr txBox="1"/>
          <p:nvPr/>
        </p:nvSpPr>
        <p:spPr>
          <a:xfrm>
            <a:off x="2825496" y="3621024"/>
            <a:ext cx="1993392" cy="1097280"/>
          </a:xfrm>
          <a:prstGeom prst="rect">
            <a:avLst/>
          </a:prstGeom>
          <a:noFill/>
          <a:ln>
            <a:noFill/>
          </a:ln>
        </p:spPr>
        <p:txBody>
          <a:bodyPr wrap="square" anchor="t" lIns="91440" tIns="45720" rIns="91440" bIns="45720"/>
          <a:lstStyle/>
          <a:p>
            <a:pPr>
              <a:lnSpc>
                <a:spcPct val="110000"/>
              </a:lnSpc>
            </a:pPr>
            <a:r>
              <a:rPr lang="en-US" sz="720" dirty="0">
                <a:solidFill>
                  <a:srgbClr val="333333"/>
                </a:solidFill>
                <a:latin typeface="Arial"/>
                <a:cs typeface="Arial"/>
              </a:rPr>
              <a:t>Who calls, extends, reads or writes what. Twenty-eight million references — the blast radius of any change</a:t>
            </a:r>
            <a:endParaRPr lang="en-US" dirty="0"/>
          </a:p>
        </p:txBody>
      </p:sp>
      <p:sp>
        <p:nvSpPr>
          <p:cNvPr id="208" name="Rect 209"/>
          <p:cNvSpPr/>
          <p:nvPr/>
        </p:nvSpPr>
        <p:spPr>
          <a:xfrm>
            <a:off x="5001768" y="3291840"/>
            <a:ext cx="2103120" cy="1463040"/>
          </a:xfrm>
          <a:prstGeom prst="roundRect">
            <a:avLst>
              <a:gd name="adj" fmla="val 4000"/>
            </a:avLst>
          </a:prstGeom>
          <a:solidFill>
            <a:srgbClr val="FFFFFF"/>
          </a:solidFill>
          <a:ln w="9525">
            <a:solidFill>
              <a:srgbClr val="813341"/>
            </a:solidFill>
          </a:ln>
        </p:spPr>
      </p:sp>
      <p:sp>
        <p:nvSpPr>
          <p:cNvPr id="209" name="TextBox 210"/>
          <p:cNvSpPr txBox="1"/>
          <p:nvPr/>
        </p:nvSpPr>
        <p:spPr>
          <a:xfrm>
            <a:off x="5056632" y="3328416"/>
            <a:ext cx="1993392" cy="310896"/>
          </a:xfrm>
          <a:prstGeom prst="rect">
            <a:avLst/>
          </a:prstGeom>
          <a:noFill/>
          <a:ln>
            <a:noFill/>
          </a:ln>
        </p:spPr>
        <p:txBody>
          <a:bodyPr wrap="square" anchor="t" lIns="91440" tIns="45720" rIns="91440" bIns="45720"/>
          <a:lstStyle/>
          <a:p>
            <a:pPr algn="ctr"/>
            <a:r>
              <a:rPr lang="en-US" sz="830" b="1" dirty="0">
                <a:solidFill>
                  <a:srgbClr val="813341"/>
                </a:solidFill>
                <a:latin typeface="Arial"/>
                <a:cs typeface="Arial"/>
              </a:rPr>
              <a:t>Security</a:t>
            </a:r>
            <a:endParaRPr lang="en-US" dirty="0"/>
          </a:p>
        </p:txBody>
      </p:sp>
      <p:sp>
        <p:nvSpPr>
          <p:cNvPr id="210" name="TextBox 211"/>
          <p:cNvSpPr txBox="1"/>
          <p:nvPr/>
        </p:nvSpPr>
        <p:spPr>
          <a:xfrm>
            <a:off x="5056632" y="3621024"/>
            <a:ext cx="1993392" cy="1097280"/>
          </a:xfrm>
          <a:prstGeom prst="rect">
            <a:avLst/>
          </a:prstGeom>
          <a:noFill/>
          <a:ln>
            <a:noFill/>
          </a:ln>
        </p:spPr>
        <p:txBody>
          <a:bodyPr wrap="square" anchor="t" lIns="91440" tIns="45720" rIns="91440" bIns="45720"/>
          <a:lstStyle/>
          <a:p>
            <a:pPr>
              <a:lnSpc>
                <a:spcPct val="110000"/>
              </a:lnSpc>
            </a:pPr>
            <a:r>
              <a:rPr lang="en-US" sz="720" dirty="0">
                <a:solidFill>
                  <a:srgbClr val="333333"/>
                </a:solidFill>
                <a:latin typeface="Arial"/>
                <a:cs typeface="Arial"/>
              </a:rPr>
              <a:t>Roles, duties, privileges and entry points, with deny taking precedence — who can actually reach an object</a:t>
            </a:r>
            <a:endParaRPr lang="en-US" dirty="0"/>
          </a:p>
        </p:txBody>
      </p:sp>
      <p:sp>
        <p:nvSpPr>
          <p:cNvPr id="211" name="Rect 212"/>
          <p:cNvSpPr/>
          <p:nvPr/>
        </p:nvSpPr>
        <p:spPr>
          <a:xfrm>
            <a:off x="7232904" y="3291840"/>
            <a:ext cx="2103120" cy="1463040"/>
          </a:xfrm>
          <a:prstGeom prst="roundRect">
            <a:avLst>
              <a:gd name="adj" fmla="val 4000"/>
            </a:avLst>
          </a:prstGeom>
          <a:solidFill>
            <a:srgbClr val="FFFFFF"/>
          </a:solidFill>
          <a:ln w="9525">
            <a:solidFill>
              <a:srgbClr val="647772"/>
            </a:solidFill>
          </a:ln>
        </p:spPr>
      </p:sp>
      <p:sp>
        <p:nvSpPr>
          <p:cNvPr id="212" name="TextBox 213"/>
          <p:cNvSpPr txBox="1"/>
          <p:nvPr/>
        </p:nvSpPr>
        <p:spPr>
          <a:xfrm>
            <a:off x="7287768" y="3328416"/>
            <a:ext cx="1993392" cy="310896"/>
          </a:xfrm>
          <a:prstGeom prst="rect">
            <a:avLst/>
          </a:prstGeom>
          <a:noFill/>
          <a:ln>
            <a:noFill/>
          </a:ln>
        </p:spPr>
        <p:txBody>
          <a:bodyPr wrap="square" anchor="t" lIns="91440" tIns="45720" rIns="91440" bIns="45720"/>
          <a:lstStyle/>
          <a:p>
            <a:pPr algn="ctr"/>
            <a:r>
              <a:rPr lang="en-US" sz="830" b="1" dirty="0">
                <a:solidFill>
                  <a:srgbClr val="647772"/>
                </a:solidFill>
                <a:latin typeface="Arial"/>
                <a:cs typeface="Arial"/>
              </a:rPr>
              <a:t>Labels</a:t>
            </a:r>
            <a:endParaRPr lang="en-US" dirty="0"/>
          </a:p>
        </p:txBody>
      </p:sp>
      <p:sp>
        <p:nvSpPr>
          <p:cNvPr id="213" name="TextBox 214"/>
          <p:cNvSpPr txBox="1"/>
          <p:nvPr/>
        </p:nvSpPr>
        <p:spPr>
          <a:xfrm>
            <a:off x="7287768" y="3621024"/>
            <a:ext cx="1993392" cy="1097280"/>
          </a:xfrm>
          <a:prstGeom prst="rect">
            <a:avLst/>
          </a:prstGeom>
          <a:noFill/>
          <a:ln>
            <a:noFill/>
          </a:ln>
        </p:spPr>
        <p:txBody>
          <a:bodyPr wrap="square" anchor="t" lIns="91440" tIns="45720" rIns="91440" bIns="45720"/>
          <a:lstStyle/>
          <a:p>
            <a:pPr>
              <a:lnSpc>
                <a:spcPct val="110000"/>
              </a:lnSpc>
            </a:pPr>
            <a:r>
              <a:rPr lang="en-US" sz="720" dirty="0">
                <a:solidFill>
                  <a:srgbClr val="333333"/>
                </a:solidFill>
                <a:latin typeface="Arial"/>
                <a:cs typeface="Arial"/>
              </a:rPr>
              <a:t>Every text the user sees, in seventy-five languages, each with the developer description that says what it is for</a:t>
            </a:r>
            <a:endParaRPr lang="en-US" dirty="0"/>
          </a:p>
        </p:txBody>
      </p:sp>
      <p:sp>
        <p:nvSpPr>
          <p:cNvPr id="214" name="Rect 215"/>
          <p:cNvSpPr/>
          <p:nvPr/>
        </p:nvSpPr>
        <p:spPr>
          <a:xfrm>
            <a:off x="9464040" y="3291840"/>
            <a:ext cx="2103120" cy="1463040"/>
          </a:xfrm>
          <a:prstGeom prst="roundRect">
            <a:avLst>
              <a:gd name="adj" fmla="val 4000"/>
            </a:avLst>
          </a:prstGeom>
          <a:solidFill>
            <a:srgbClr val="FFFFFF"/>
          </a:solidFill>
          <a:ln w="9525">
            <a:solidFill>
              <a:srgbClr val="B77133"/>
            </a:solidFill>
          </a:ln>
        </p:spPr>
      </p:sp>
      <p:sp>
        <p:nvSpPr>
          <p:cNvPr id="215" name="TextBox 216"/>
          <p:cNvSpPr txBox="1"/>
          <p:nvPr/>
        </p:nvSpPr>
        <p:spPr>
          <a:xfrm>
            <a:off x="9518904" y="3328416"/>
            <a:ext cx="1993392" cy="310896"/>
          </a:xfrm>
          <a:prstGeom prst="rect">
            <a:avLst/>
          </a:prstGeom>
          <a:noFill/>
          <a:ln>
            <a:noFill/>
          </a:ln>
        </p:spPr>
        <p:txBody>
          <a:bodyPr wrap="square" anchor="t" lIns="91440" tIns="45720" rIns="91440" bIns="45720"/>
          <a:lstStyle/>
          <a:p>
            <a:pPr algn="ctr"/>
            <a:r>
              <a:rPr lang="en-US" sz="830" b="1" dirty="0">
                <a:solidFill>
                  <a:srgbClr val="B77133"/>
                </a:solidFill>
                <a:latin typeface="Arial"/>
                <a:cs typeface="Arial"/>
              </a:rPr>
              <a:t>Task recorder</a:t>
            </a:r>
            <a:endParaRPr lang="en-US" dirty="0"/>
          </a:p>
        </p:txBody>
      </p:sp>
      <p:sp>
        <p:nvSpPr>
          <p:cNvPr id="216" name="TextBox 217"/>
          <p:cNvSpPr txBox="1"/>
          <p:nvPr/>
        </p:nvSpPr>
        <p:spPr>
          <a:xfrm>
            <a:off x="9518904" y="3621024"/>
            <a:ext cx="1993392" cy="1097280"/>
          </a:xfrm>
          <a:prstGeom prst="rect">
            <a:avLst/>
          </a:prstGeom>
          <a:noFill/>
          <a:ln>
            <a:noFill/>
          </a:ln>
        </p:spPr>
        <p:txBody>
          <a:bodyPr wrap="square" anchor="t" lIns="91440" tIns="45720" rIns="91440" bIns="45720"/>
          <a:lstStyle/>
          <a:p>
            <a:pPr>
              <a:lnSpc>
                <a:spcPct val="110000"/>
              </a:lnSpc>
            </a:pPr>
            <a:r>
              <a:rPr lang="en-US" sz="720" dirty="0">
                <a:solidFill>
                  <a:srgbClr val="333333"/>
                </a:solidFill>
                <a:latin typeface="Arial"/>
                <a:cs typeface="Arial"/>
              </a:rPr>
              <a:t>A recorded click-path turned into a readable document, enriched with the objects behind each step</a:t>
            </a:r>
            <a:endParaRPr lang="en-US" dirty="0"/>
          </a:p>
        </p:txBody>
      </p:sp>
      <p:sp>
        <p:nvSpPr>
          <p:cNvPr id="217" name="Rect 218"/>
          <p:cNvSpPr/>
          <p:nvPr/>
        </p:nvSpPr>
        <p:spPr>
          <a:xfrm>
            <a:off x="539496" y="4901184"/>
            <a:ext cx="11109960" cy="713232"/>
          </a:xfrm>
          <a:prstGeom prst="roundRect">
            <a:avLst>
              <a:gd name="adj" fmla="val 4000"/>
            </a:avLst>
          </a:prstGeom>
          <a:solidFill>
            <a:srgbClr val="F5F5F5"/>
          </a:solidFill>
          <a:ln>
            <a:noFill/>
          </a:ln>
        </p:spPr>
      </p:sp>
      <p:sp>
        <p:nvSpPr>
          <p:cNvPr id="218" name="TextBox 219"/>
          <p:cNvSpPr txBox="1"/>
          <p:nvPr/>
        </p:nvSpPr>
        <p:spPr>
          <a:xfrm>
            <a:off x="676656" y="4937760"/>
            <a:ext cx="10835640" cy="640080"/>
          </a:xfrm>
          <a:prstGeom prst="rect">
            <a:avLst/>
          </a:prstGeom>
          <a:noFill/>
          <a:ln>
            <a:noFill/>
          </a:ln>
        </p:spPr>
        <p:txBody>
          <a:bodyPr wrap="square" anchor="t" lIns="91440" tIns="45720" rIns="91440" bIns="45720"/>
          <a:lstStyle/>
          <a:p>
            <a:pPr>
              <a:lnSpc>
                <a:spcPct val="116000"/>
              </a:lnSpc>
            </a:pPr>
            <a:r>
              <a:rPr lang="en-US" sz="880" b="1" dirty="0">
                <a:solidFill>
                  <a:srgbClr val="6DC1C9"/>
                </a:solidFill>
                <a:latin typeface="Arial"/>
                <a:cs typeface="Arial"/>
              </a:rPr>
              <a:t>Why a snapshot and not a live connection: </a:t>
            </a:r>
            <a:r>
              <a:rPr lang="en-US" sz="880" dirty="0">
                <a:solidFill>
                  <a:srgbClr val="333333"/>
                </a:solidFill>
                <a:latin typeface="Arial"/>
                <a:cs typeface="Arial"/>
              </a:rPr>
              <a:t>reading the metadata out of the running system would be slow, would need production access, and would give a different answer every time. A dated file is fast, carries no access risk, and makes an answer reproducible — which is what allows an investigation to be replayed later, or against another system.</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H 237"/>
          <p:cNvSpPr>
            <a:spLocks noGrp="1"/>
          </p:cNvSpPr>
          <p:nvPr>
            <p:ph type="title"/>
          </p:nvPr>
        </p:nvSpPr>
        <p:spPr/>
        <p:txBody>
          <a:bodyPr/>
          <a:lstStyle/>
          <a:p>
            <a:pPr/>
            <a:r>
              <a:rPr lang="en-US" sz="1800" b="1" dirty="0">
                <a:solidFill>
                  <a:srgbClr val="000000"/>
                </a:solidFill>
                <a:latin typeface="Arial"/>
                <a:cs typeface="Arial"/>
              </a:rPr>
              <a:t>The technology, and why each piece</a:t>
            </a:r>
            <a:endParaRPr lang="en-US" dirty="0"/>
          </a:p>
        </p:txBody>
      </p:sp>
      <p:sp>
        <p:nvSpPr>
          <p:cNvPr id="220" name="TextBox 221"/>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Deliberately few moving parts. Every choice below was made to keep the running cost near zero and the failure modes few.</a:t>
            </a:r>
            <a:endParaRPr lang="en-US" dirty="0"/>
          </a:p>
        </p:txBody>
      </p:sp>
      <p:sp>
        <p:nvSpPr>
          <p:cNvPr id="221" name="Rect 222"/>
          <p:cNvSpPr/>
          <p:nvPr/>
        </p:nvSpPr>
        <p:spPr>
          <a:xfrm>
            <a:off x="539496" y="1627632"/>
            <a:ext cx="3611880" cy="329184"/>
          </a:xfrm>
          <a:prstGeom prst="roundRect">
            <a:avLst>
              <a:gd name="adj" fmla="val 4000"/>
            </a:avLst>
          </a:prstGeom>
          <a:solidFill>
            <a:srgbClr val="6DC1C9"/>
          </a:solidFill>
          <a:ln>
            <a:noFill/>
          </a:ln>
        </p:spPr>
      </p:sp>
      <p:sp>
        <p:nvSpPr>
          <p:cNvPr id="222" name="TextBox 223"/>
          <p:cNvSpPr txBox="1"/>
          <p:nvPr/>
        </p:nvSpPr>
        <p:spPr>
          <a:xfrm>
            <a:off x="539496" y="1627632"/>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Storage — SQLite files</a:t>
            </a:r>
            <a:endParaRPr lang="en-US" dirty="0"/>
          </a:p>
        </p:txBody>
      </p:sp>
      <p:sp>
        <p:nvSpPr>
          <p:cNvPr id="223" name="Rect 224"/>
          <p:cNvSpPr/>
          <p:nvPr/>
        </p:nvSpPr>
        <p:spPr>
          <a:xfrm>
            <a:off x="539496" y="1956816"/>
            <a:ext cx="3611880" cy="2002536"/>
          </a:xfrm>
          <a:prstGeom prst="rect">
            <a:avLst/>
          </a:prstGeom>
          <a:solidFill>
            <a:srgbClr val="FFFFFF"/>
          </a:solidFill>
          <a:ln w="6350">
            <a:solidFill>
              <a:srgbClr val="6DC1C9"/>
            </a:solidFill>
          </a:ln>
        </p:spPr>
      </p:sp>
      <p:sp>
        <p:nvSpPr>
          <p:cNvPr id="224" name="TextBox 225"/>
          <p:cNvSpPr txBox="1"/>
          <p:nvPr/>
        </p:nvSpPr>
        <p:spPr>
          <a:xfrm>
            <a:off x="585216" y="1993392"/>
            <a:ext cx="3520440" cy="19293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b="1" dirty="0">
                <a:solidFill>
                  <a:srgbClr val="6DC1C9"/>
                </a:solidFill>
                <a:latin typeface="Arial"/>
                <a:cs typeface="Arial"/>
              </a:rPr>
              <a:t>One file per service. </a:t>
            </a:r>
            <a:r>
              <a:rPr lang="en-US" sz="800" dirty="0">
                <a:solidFill>
                  <a:srgbClr val="333333"/>
                </a:solidFill>
                <a:latin typeface="Arial"/>
                <a:cs typeface="Arial"/>
              </a:rPr>
              <a:t>The object model, the cross-references, the security model, the labels, the traces.</a:t>
            </a:r>
            <a:endParaRPr lang="en-US" dirty="0"/>
          </a:p>
          <a:p>
            <a:pPr indent="-114300" marL="114300">
              <a:spcBef>
                <a:spcPts val="350"/>
              </a:spcBef>
              <a:lnSpc>
                <a:spcPct val="112000"/>
              </a:lnSpc>
              <a:buChar char="•"/>
            </a:pPr>
            <a:r>
              <a:rPr lang="en-US" sz="800" b="1" dirty="0">
                <a:solidFill>
                  <a:srgbClr val="6DC1C9"/>
                </a:solidFill>
                <a:latin typeface="Arial"/>
                <a:cs typeface="Arial"/>
              </a:rPr>
              <a:t>Read-only at run time. </a:t>
            </a:r>
            <a:r>
              <a:rPr lang="en-US" sz="800" dirty="0">
                <a:solidFill>
                  <a:srgbClr val="333333"/>
                </a:solidFill>
                <a:latin typeface="Arial"/>
                <a:cs typeface="Arial"/>
              </a:rPr>
              <a:t>A query answers in milliseconds with no server to operate, no licence and no backup plan.</a:t>
            </a:r>
            <a:endParaRPr lang="en-US" dirty="0"/>
          </a:p>
          <a:p>
            <a:pPr indent="-114300" marL="114300">
              <a:spcBef>
                <a:spcPts val="350"/>
              </a:spcBef>
              <a:lnSpc>
                <a:spcPct val="112000"/>
              </a:lnSpc>
              <a:buChar char="•"/>
            </a:pPr>
            <a:r>
              <a:rPr lang="en-US" sz="800" b="1" dirty="0">
                <a:solidFill>
                  <a:srgbClr val="6DC1C9"/>
                </a:solidFill>
                <a:latin typeface="Arial"/>
                <a:cs typeface="Arial"/>
              </a:rPr>
              <a:t>Small enough to ship. </a:t>
            </a:r>
            <a:r>
              <a:rPr lang="en-US" sz="800" dirty="0">
                <a:solidFill>
                  <a:srgbClr val="333333"/>
                </a:solidFill>
                <a:latin typeface="Arial"/>
                <a:cs typeface="Arial"/>
              </a:rPr>
              <a:t>The file is simply uploaded to the service after each build.</a:t>
            </a:r>
            <a:endParaRPr lang="en-US" dirty="0"/>
          </a:p>
        </p:txBody>
      </p:sp>
      <p:sp>
        <p:nvSpPr>
          <p:cNvPr id="225" name="Rect 226"/>
          <p:cNvSpPr/>
          <p:nvPr/>
        </p:nvSpPr>
        <p:spPr>
          <a:xfrm>
            <a:off x="4288536" y="1627632"/>
            <a:ext cx="3611880" cy="329184"/>
          </a:xfrm>
          <a:prstGeom prst="roundRect">
            <a:avLst>
              <a:gd name="adj" fmla="val 4000"/>
            </a:avLst>
          </a:prstGeom>
          <a:solidFill>
            <a:srgbClr val="AD9B68"/>
          </a:solidFill>
          <a:ln>
            <a:noFill/>
          </a:ln>
        </p:spPr>
      </p:sp>
      <p:sp>
        <p:nvSpPr>
          <p:cNvPr id="226" name="TextBox 227"/>
          <p:cNvSpPr txBox="1"/>
          <p:nvPr/>
        </p:nvSpPr>
        <p:spPr>
          <a:xfrm>
            <a:off x="4288536" y="1627632"/>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Compute — Azure Functions</a:t>
            </a:r>
            <a:endParaRPr lang="en-US" dirty="0"/>
          </a:p>
        </p:txBody>
      </p:sp>
      <p:sp>
        <p:nvSpPr>
          <p:cNvPr id="227" name="Rect 228"/>
          <p:cNvSpPr/>
          <p:nvPr/>
        </p:nvSpPr>
        <p:spPr>
          <a:xfrm>
            <a:off x="4288536" y="1956816"/>
            <a:ext cx="3611880" cy="2002536"/>
          </a:xfrm>
          <a:prstGeom prst="rect">
            <a:avLst/>
          </a:prstGeom>
          <a:solidFill>
            <a:srgbClr val="FFFFFF"/>
          </a:solidFill>
          <a:ln w="6350">
            <a:solidFill>
              <a:srgbClr val="AD9B68"/>
            </a:solidFill>
          </a:ln>
        </p:spPr>
      </p:sp>
      <p:sp>
        <p:nvSpPr>
          <p:cNvPr id="228" name="TextBox 229"/>
          <p:cNvSpPr txBox="1"/>
          <p:nvPr/>
        </p:nvSpPr>
        <p:spPr>
          <a:xfrm>
            <a:off x="4334256" y="1993392"/>
            <a:ext cx="3520440" cy="19293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b="1" dirty="0">
                <a:solidFill>
                  <a:srgbClr val="AD9B68"/>
                </a:solidFill>
                <a:latin typeface="Arial"/>
                <a:cs typeface="Arial"/>
              </a:rPr>
              <a:t>Pay for what runs. </a:t>
            </a:r>
            <a:r>
              <a:rPr lang="en-US" sz="800" dirty="0">
                <a:solidFill>
                  <a:srgbClr val="333333"/>
                </a:solidFill>
                <a:latin typeface="Arial"/>
                <a:cs typeface="Arial"/>
              </a:rPr>
              <a:t>The service costs nothing while nobody asks a question.</a:t>
            </a:r>
            <a:endParaRPr lang="en-US" dirty="0"/>
          </a:p>
          <a:p>
            <a:pPr indent="-114300" marL="114300">
              <a:spcBef>
                <a:spcPts val="350"/>
              </a:spcBef>
              <a:lnSpc>
                <a:spcPct val="112000"/>
              </a:lnSpc>
              <a:buChar char="•"/>
            </a:pPr>
            <a:r>
              <a:rPr lang="en-US" sz="800" b="1" dirty="0">
                <a:solidFill>
                  <a:srgbClr val="AD9B68"/>
                </a:solidFill>
                <a:latin typeface="Arial"/>
                <a:cs typeface="Arial"/>
              </a:rPr>
              <a:t>One application, five endpoints. </a:t>
            </a:r>
            <a:r>
              <a:rPr lang="en-US" sz="800" dirty="0">
                <a:solidFill>
                  <a:srgbClr val="333333"/>
                </a:solidFill>
                <a:latin typeface="Arial"/>
                <a:cs typeface="Arial"/>
              </a:rPr>
              <a:t>Each service is one address on the same host.</a:t>
            </a:r>
            <a:endParaRPr lang="en-US" dirty="0"/>
          </a:p>
          <a:p>
            <a:pPr indent="-114300" marL="114300">
              <a:spcBef>
                <a:spcPts val="350"/>
              </a:spcBef>
              <a:lnSpc>
                <a:spcPct val="112000"/>
              </a:lnSpc>
              <a:buChar char="•"/>
            </a:pPr>
            <a:r>
              <a:rPr lang="en-US" sz="800" b="1" dirty="0">
                <a:solidFill>
                  <a:srgbClr val="AD9B68"/>
                </a:solidFill>
                <a:latin typeface="Arial"/>
                <a:cs typeface="Arial"/>
              </a:rPr>
              <a:t>JavaScript on Node. </a:t>
            </a:r>
            <a:r>
              <a:rPr lang="en-US" sz="800" dirty="0">
                <a:solidFill>
                  <a:srgbClr val="333333"/>
                </a:solidFill>
                <a:latin typeface="Arial"/>
                <a:cs typeface="Arial"/>
              </a:rPr>
              <a:t>The same language as the protocol libraries, so one code base serves both ways of running it.</a:t>
            </a:r>
            <a:endParaRPr lang="en-US" dirty="0"/>
          </a:p>
        </p:txBody>
      </p:sp>
      <p:sp>
        <p:nvSpPr>
          <p:cNvPr id="229" name="Rect 230"/>
          <p:cNvSpPr/>
          <p:nvPr/>
        </p:nvSpPr>
        <p:spPr>
          <a:xfrm>
            <a:off x="8037576" y="1627632"/>
            <a:ext cx="3611880" cy="329184"/>
          </a:xfrm>
          <a:prstGeom prst="roundRect">
            <a:avLst>
              <a:gd name="adj" fmla="val 4000"/>
            </a:avLst>
          </a:prstGeom>
          <a:solidFill>
            <a:srgbClr val="813341"/>
          </a:solidFill>
          <a:ln>
            <a:noFill/>
          </a:ln>
        </p:spPr>
      </p:sp>
      <p:sp>
        <p:nvSpPr>
          <p:cNvPr id="230" name="TextBox 231"/>
          <p:cNvSpPr txBox="1"/>
          <p:nvPr/>
        </p:nvSpPr>
        <p:spPr>
          <a:xfrm>
            <a:off x="8037576" y="1627632"/>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Access — Entra ID</a:t>
            </a:r>
            <a:endParaRPr lang="en-US" dirty="0"/>
          </a:p>
        </p:txBody>
      </p:sp>
      <p:sp>
        <p:nvSpPr>
          <p:cNvPr id="231" name="Rect 232"/>
          <p:cNvSpPr/>
          <p:nvPr/>
        </p:nvSpPr>
        <p:spPr>
          <a:xfrm>
            <a:off x="8037576" y="1956816"/>
            <a:ext cx="3611880" cy="2002536"/>
          </a:xfrm>
          <a:prstGeom prst="rect">
            <a:avLst/>
          </a:prstGeom>
          <a:solidFill>
            <a:srgbClr val="FFFFFF"/>
          </a:solidFill>
          <a:ln w="6350">
            <a:solidFill>
              <a:srgbClr val="813341"/>
            </a:solidFill>
          </a:ln>
        </p:spPr>
      </p:sp>
      <p:sp>
        <p:nvSpPr>
          <p:cNvPr id="232" name="TextBox 233"/>
          <p:cNvSpPr txBox="1"/>
          <p:nvPr/>
        </p:nvSpPr>
        <p:spPr>
          <a:xfrm>
            <a:off x="8083296" y="1993392"/>
            <a:ext cx="3520440" cy="19293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b="1" dirty="0">
                <a:solidFill>
                  <a:srgbClr val="813341"/>
                </a:solidFill>
                <a:latin typeface="Arial"/>
                <a:cs typeface="Arial"/>
              </a:rPr>
              <a:t>Company sign-in. </a:t>
            </a:r>
            <a:r>
              <a:rPr lang="en-US" sz="800" dirty="0">
                <a:solidFill>
                  <a:srgbClr val="333333"/>
                </a:solidFill>
                <a:latin typeface="Arial"/>
                <a:cs typeface="Arial"/>
              </a:rPr>
              <a:t>The same identity people already use; access is granted and revoked centrally.</a:t>
            </a:r>
            <a:endParaRPr lang="en-US" dirty="0"/>
          </a:p>
          <a:p>
            <a:pPr indent="-114300" marL="114300">
              <a:spcBef>
                <a:spcPts val="350"/>
              </a:spcBef>
              <a:lnSpc>
                <a:spcPct val="112000"/>
              </a:lnSpc>
              <a:buChar char="•"/>
            </a:pPr>
            <a:r>
              <a:rPr lang="en-US" sz="800" b="1" dirty="0">
                <a:solidFill>
                  <a:srgbClr val="813341"/>
                </a:solidFill>
                <a:latin typeface="Arial"/>
                <a:cs typeface="Arial"/>
              </a:rPr>
              <a:t>No keys to distribute. </a:t>
            </a:r>
            <a:r>
              <a:rPr lang="en-US" sz="800" dirty="0">
                <a:solidFill>
                  <a:srgbClr val="333333"/>
                </a:solidFill>
                <a:latin typeface="Arial"/>
                <a:cs typeface="Arial"/>
              </a:rPr>
              <a:t>The assistant obtains a token; nothing long-lived is stored on a laptop.</a:t>
            </a:r>
            <a:endParaRPr lang="en-US" dirty="0"/>
          </a:p>
          <a:p>
            <a:pPr indent="-114300" marL="114300">
              <a:spcBef>
                <a:spcPts val="350"/>
              </a:spcBef>
              <a:lnSpc>
                <a:spcPct val="112000"/>
              </a:lnSpc>
              <a:buChar char="•"/>
            </a:pPr>
            <a:r>
              <a:rPr lang="en-US" sz="800" b="1" dirty="0">
                <a:solidFill>
                  <a:srgbClr val="813341"/>
                </a:solidFill>
                <a:latin typeface="Arial"/>
                <a:cs typeface="Arial"/>
              </a:rPr>
              <a:t>Read-only by design. </a:t>
            </a:r>
            <a:r>
              <a:rPr lang="en-US" sz="800" dirty="0">
                <a:solidFill>
                  <a:srgbClr val="333333"/>
                </a:solidFill>
                <a:latin typeface="Arial"/>
                <a:cs typeface="Arial"/>
              </a:rPr>
              <a:t>No tool can change the ERP, so the worst case is a wrong answer, never a wrong posting.</a:t>
            </a:r>
            <a:endParaRPr lang="en-US" dirty="0"/>
          </a:p>
        </p:txBody>
      </p:sp>
      <p:sp>
        <p:nvSpPr>
          <p:cNvPr id="233" name="TextBox 234"/>
          <p:cNvSpPr txBox="1"/>
          <p:nvPr/>
        </p:nvSpPr>
        <p:spPr>
          <a:xfrm>
            <a:off x="539496" y="4114800"/>
            <a:ext cx="11109960" cy="27432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And the rest, briefly</a:t>
            </a:r>
            <a:endParaRPr lang="en-US" dirty="0"/>
          </a:p>
        </p:txBody>
      </p:sp>
      <p:sp>
        <p:nvSpPr>
          <p:cNvPr id="234" name="Rect 235"/>
          <p:cNvSpPr/>
          <p:nvPr/>
        </p:nvSpPr>
        <p:spPr>
          <a:xfrm>
            <a:off x="539496" y="4407408"/>
            <a:ext cx="11109960" cy="1143000"/>
          </a:xfrm>
          <a:prstGeom prst="roundRect">
            <a:avLst>
              <a:gd name="adj" fmla="val 4000"/>
            </a:avLst>
          </a:prstGeom>
          <a:solidFill>
            <a:srgbClr val="FFFFFF"/>
          </a:solidFill>
          <a:ln w="6350">
            <a:solidFill>
              <a:srgbClr val="CCCCCC"/>
            </a:solidFill>
          </a:ln>
        </p:spPr>
      </p:sp>
      <p:sp>
        <p:nvSpPr>
          <p:cNvPr id="235" name="TextBox 236"/>
          <p:cNvSpPr txBox="1"/>
          <p:nvPr/>
        </p:nvSpPr>
        <p:spPr>
          <a:xfrm>
            <a:off x="649224" y="4443984"/>
            <a:ext cx="10890504" cy="106984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10" b="1" dirty="0">
                <a:solidFill>
                  <a:srgbClr val="333333"/>
                </a:solidFill>
                <a:latin typeface="Arial"/>
                <a:cs typeface="Arial"/>
              </a:rPr>
              <a:t>Infrastructure as code. </a:t>
            </a:r>
            <a:r>
              <a:rPr lang="en-US" sz="810" dirty="0">
                <a:solidFill>
                  <a:srgbClr val="333333"/>
                </a:solidFill>
                <a:latin typeface="Arial"/>
                <a:cs typeface="Arial"/>
              </a:rPr>
              <a:t>The cloud resources are declared in a template and deployed by script, so the environment can be rebuilt from the repository rather than remembered.</a:t>
            </a:r>
            <a:endParaRPr lang="en-US" dirty="0"/>
          </a:p>
          <a:p>
            <a:pPr indent="-114300" marL="114300">
              <a:spcBef>
                <a:spcPts val="350"/>
              </a:spcBef>
              <a:lnSpc>
                <a:spcPct val="112000"/>
              </a:lnSpc>
              <a:buChar char="•"/>
            </a:pPr>
            <a:r>
              <a:rPr lang="en-US" sz="810" b="1" dirty="0">
                <a:solidFill>
                  <a:srgbClr val="333333"/>
                </a:solidFill>
                <a:latin typeface="Arial"/>
                <a:cs typeface="Arial"/>
              </a:rPr>
              <a:t>Trace storage. </a:t>
            </a:r>
            <a:r>
              <a:rPr lang="en-US" sz="810" dirty="0">
                <a:solidFill>
                  <a:srgbClr val="333333"/>
                </a:solidFill>
                <a:latin typeface="Arial"/>
                <a:cs typeface="Arial"/>
              </a:rPr>
              <a:t>The recorded investigations land as plain text files in blob storage, with two small tables as the index — no database server, no new component to run.</a:t>
            </a:r>
            <a:endParaRPr lang="en-US" dirty="0"/>
          </a:p>
          <a:p>
            <a:pPr indent="-114300" marL="114300">
              <a:spcBef>
                <a:spcPts val="350"/>
              </a:spcBef>
              <a:lnSpc>
                <a:spcPct val="112000"/>
              </a:lnSpc>
              <a:buChar char="•"/>
            </a:pPr>
            <a:r>
              <a:rPr lang="en-US" sz="810" b="1" dirty="0">
                <a:solidFill>
                  <a:srgbClr val="333333"/>
                </a:solidFill>
                <a:latin typeface="Arial"/>
                <a:cs typeface="Arial"/>
              </a:rPr>
              <a:t>Testing. </a:t>
            </a:r>
            <a:r>
              <a:rPr lang="en-US" sz="810" dirty="0">
                <a:solidFill>
                  <a:srgbClr val="333333"/>
                </a:solidFill>
                <a:latin typeface="Arial"/>
                <a:cs typeface="Arial"/>
              </a:rPr>
              <a:t>Around two thousand automated tests, including ones that measure the size of every response and fail when a change makes the system more expensive without saying so.</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H 249"/>
          <p:cNvSpPr>
            <a:spLocks noGrp="1"/>
          </p:cNvSpPr>
          <p:nvPr>
            <p:ph type="title"/>
          </p:nvPr>
        </p:nvSpPr>
        <p:spPr/>
        <p:txBody>
          <a:bodyPr/>
          <a:lstStyle/>
          <a:p>
            <a:pPr/>
            <a:r>
              <a:rPr lang="en-US" sz="1800" b="1" dirty="0">
                <a:solidFill>
                  <a:srgbClr val="000000"/>
                </a:solidFill>
                <a:latin typeface="Arial"/>
                <a:cs typeface="Arial"/>
              </a:rPr>
              <a:t>Two ways to run it, one code base</a:t>
            </a:r>
            <a:endParaRPr lang="en-US" dirty="0"/>
          </a:p>
        </p:txBody>
      </p:sp>
      <p:sp>
        <p:nvSpPr>
          <p:cNvPr id="237" name="TextBox 238"/>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The same tools are compiled into two shapes: a cloud service anyone in the company can connect to, and a local server that runs on a developer machine. They behave identically; what differs is who reaches them and how current they are.</a:t>
            </a:r>
            <a:endParaRPr lang="en-US" dirty="0"/>
          </a:p>
        </p:txBody>
      </p:sp>
      <p:sp>
        <p:nvSpPr>
          <p:cNvPr id="238" name="Rect 239"/>
          <p:cNvSpPr/>
          <p:nvPr/>
        </p:nvSpPr>
        <p:spPr>
          <a:xfrm>
            <a:off x="539496" y="1691640"/>
            <a:ext cx="5394960" cy="329184"/>
          </a:xfrm>
          <a:prstGeom prst="roundRect">
            <a:avLst>
              <a:gd name="adj" fmla="val 4000"/>
            </a:avLst>
          </a:prstGeom>
          <a:solidFill>
            <a:srgbClr val="6DC1C9"/>
          </a:solidFill>
          <a:ln>
            <a:noFill/>
          </a:ln>
        </p:spPr>
      </p:sp>
      <p:sp>
        <p:nvSpPr>
          <p:cNvPr id="239" name="TextBox 240"/>
          <p:cNvSpPr txBox="1"/>
          <p:nvPr/>
        </p:nvSpPr>
        <p:spPr>
          <a:xfrm>
            <a:off x="539496" y="169164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Hosted in Azure — for everyone</a:t>
            </a:r>
            <a:endParaRPr lang="en-US" dirty="0"/>
          </a:p>
        </p:txBody>
      </p:sp>
      <p:sp>
        <p:nvSpPr>
          <p:cNvPr id="240" name="Rect 241"/>
          <p:cNvSpPr/>
          <p:nvPr/>
        </p:nvSpPr>
        <p:spPr>
          <a:xfrm>
            <a:off x="539496" y="2020824"/>
            <a:ext cx="5394960" cy="2002536"/>
          </a:xfrm>
          <a:prstGeom prst="rect">
            <a:avLst/>
          </a:prstGeom>
          <a:solidFill>
            <a:srgbClr val="FFFFFF"/>
          </a:solidFill>
          <a:ln w="6350">
            <a:solidFill>
              <a:srgbClr val="6DC1C9"/>
            </a:solidFill>
          </a:ln>
        </p:spPr>
      </p:sp>
      <p:sp>
        <p:nvSpPr>
          <p:cNvPr id="241" name="TextBox 242"/>
          <p:cNvSpPr txBox="1"/>
          <p:nvPr/>
        </p:nvSpPr>
        <p:spPr>
          <a:xfrm>
            <a:off x="585216" y="2057400"/>
            <a:ext cx="5303520" cy="19293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6DC1C9"/>
                </a:solidFill>
                <a:latin typeface="Arial"/>
                <a:cs typeface="Arial"/>
              </a:rPr>
              <a:t>Reached from the assistant in the browser. </a:t>
            </a:r>
            <a:r>
              <a:rPr lang="en-US" sz="820" dirty="0">
                <a:solidFill>
                  <a:srgbClr val="333333"/>
                </a:solidFill>
                <a:latin typeface="Arial"/>
                <a:cs typeface="Arial"/>
              </a:rPr>
              <a:t>A connector, company sign-in, nothing to install.</a:t>
            </a:r>
            <a:endParaRPr lang="en-US" dirty="0"/>
          </a:p>
          <a:p>
            <a:pPr indent="-114300" marL="114300">
              <a:spcBef>
                <a:spcPts val="350"/>
              </a:spcBef>
              <a:lnSpc>
                <a:spcPct val="112000"/>
              </a:lnSpc>
              <a:buChar char="•"/>
            </a:pPr>
            <a:r>
              <a:rPr lang="en-US" sz="820" b="1" dirty="0">
                <a:solidFill>
                  <a:srgbClr val="6DC1C9"/>
                </a:solidFill>
                <a:latin typeface="Arial"/>
                <a:cs typeface="Arial"/>
              </a:rPr>
              <a:t>One shared snapshot. </a:t>
            </a:r>
            <a:r>
              <a:rPr lang="en-US" sz="820" dirty="0">
                <a:solidFill>
                  <a:srgbClr val="333333"/>
                </a:solidFill>
                <a:latin typeface="Arial"/>
                <a:cs typeface="Arial"/>
              </a:rPr>
              <a:t>Everybody sees the same facts, dated and published on a weekly rhythm.</a:t>
            </a:r>
            <a:endParaRPr lang="en-US" dirty="0"/>
          </a:p>
          <a:p>
            <a:pPr indent="-114300" marL="114300">
              <a:spcBef>
                <a:spcPts val="350"/>
              </a:spcBef>
              <a:lnSpc>
                <a:spcPct val="112000"/>
              </a:lnSpc>
              <a:buChar char="•"/>
            </a:pPr>
            <a:r>
              <a:rPr lang="en-US" sz="820" b="1" dirty="0">
                <a:solidFill>
                  <a:srgbClr val="6DC1C9"/>
                </a:solidFill>
                <a:latin typeface="Arial"/>
                <a:cs typeface="Arial"/>
              </a:rPr>
              <a:t>The right choice for support, functional and business users. </a:t>
            </a:r>
            <a:r>
              <a:rPr lang="en-US" sz="820" dirty="0">
                <a:solidFill>
                  <a:srgbClr val="333333"/>
                </a:solidFill>
                <a:latin typeface="Arial"/>
                <a:cs typeface="Arial"/>
              </a:rPr>
              <a:t>They need the released state of the system, not what someone is compiling right now.</a:t>
            </a:r>
            <a:endParaRPr lang="en-US" dirty="0"/>
          </a:p>
          <a:p>
            <a:pPr indent="-114300" marL="114300">
              <a:spcBef>
                <a:spcPts val="350"/>
              </a:spcBef>
              <a:lnSpc>
                <a:spcPct val="112000"/>
              </a:lnSpc>
              <a:buChar char="•"/>
            </a:pPr>
            <a:r>
              <a:rPr lang="en-US" sz="820" b="1" dirty="0">
                <a:solidFill>
                  <a:srgbClr val="6DC1C9"/>
                </a:solidFill>
                <a:latin typeface="Arial"/>
                <a:cs typeface="Arial"/>
              </a:rPr>
              <a:t>Also carries the live exception. </a:t>
            </a:r>
            <a:r>
              <a:rPr lang="en-US" sz="820" dirty="0">
                <a:solidFill>
                  <a:srgbClr val="333333"/>
                </a:solidFill>
                <a:latin typeface="Arial"/>
                <a:cs typeface="Arial"/>
              </a:rPr>
              <a:t>The fields created in the user interface exist in no build and are read directly from a configured environment.</a:t>
            </a:r>
            <a:endParaRPr lang="en-US" dirty="0"/>
          </a:p>
        </p:txBody>
      </p:sp>
      <p:sp>
        <p:nvSpPr>
          <p:cNvPr id="242" name="Rect 243"/>
          <p:cNvSpPr/>
          <p:nvPr/>
        </p:nvSpPr>
        <p:spPr>
          <a:xfrm>
            <a:off x="6254496" y="1691640"/>
            <a:ext cx="5394960" cy="329184"/>
          </a:xfrm>
          <a:prstGeom prst="roundRect">
            <a:avLst>
              <a:gd name="adj" fmla="val 4000"/>
            </a:avLst>
          </a:prstGeom>
          <a:solidFill>
            <a:srgbClr val="AD9B68"/>
          </a:solidFill>
          <a:ln>
            <a:noFill/>
          </a:ln>
        </p:spPr>
      </p:sp>
      <p:sp>
        <p:nvSpPr>
          <p:cNvPr id="243" name="TextBox 244"/>
          <p:cNvSpPr txBox="1"/>
          <p:nvPr/>
        </p:nvSpPr>
        <p:spPr>
          <a:xfrm>
            <a:off x="6254496" y="169164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Local — for developers</a:t>
            </a:r>
            <a:endParaRPr lang="en-US" dirty="0"/>
          </a:p>
        </p:txBody>
      </p:sp>
      <p:sp>
        <p:nvSpPr>
          <p:cNvPr id="244" name="Rect 245"/>
          <p:cNvSpPr/>
          <p:nvPr/>
        </p:nvSpPr>
        <p:spPr>
          <a:xfrm>
            <a:off x="6254496" y="2020824"/>
            <a:ext cx="5394960" cy="2002536"/>
          </a:xfrm>
          <a:prstGeom prst="rect">
            <a:avLst/>
          </a:prstGeom>
          <a:solidFill>
            <a:srgbClr val="FFFFFF"/>
          </a:solidFill>
          <a:ln w="6350">
            <a:solidFill>
              <a:srgbClr val="AD9B68"/>
            </a:solidFill>
          </a:ln>
        </p:spPr>
      </p:sp>
      <p:sp>
        <p:nvSpPr>
          <p:cNvPr id="245" name="TextBox 246"/>
          <p:cNvSpPr txBox="1"/>
          <p:nvPr/>
        </p:nvSpPr>
        <p:spPr>
          <a:xfrm>
            <a:off x="6300216" y="2057400"/>
            <a:ext cx="5303520" cy="19293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AD9B68"/>
                </a:solidFill>
                <a:latin typeface="Arial"/>
                <a:cs typeface="Arial"/>
              </a:rPr>
              <a:t>Runs beside the development environment. </a:t>
            </a:r>
            <a:r>
              <a:rPr lang="en-US" sz="820" dirty="0">
                <a:solidFill>
                  <a:srgbClr val="333333"/>
                </a:solidFill>
                <a:latin typeface="Arial"/>
                <a:cs typeface="Arial"/>
              </a:rPr>
              <a:t>Started by the assistant itself; no network hop, no sign-in.</a:t>
            </a:r>
            <a:endParaRPr lang="en-US" dirty="0"/>
          </a:p>
          <a:p>
            <a:pPr indent="-114300" marL="114300">
              <a:spcBef>
                <a:spcPts val="350"/>
              </a:spcBef>
              <a:lnSpc>
                <a:spcPct val="112000"/>
              </a:lnSpc>
              <a:buChar char="•"/>
            </a:pPr>
            <a:r>
              <a:rPr lang="en-US" sz="820" b="1" dirty="0">
                <a:solidFill>
                  <a:srgbClr val="AD9B68"/>
                </a:solidFill>
                <a:latin typeface="Arial"/>
                <a:cs typeface="Arial"/>
              </a:rPr>
              <a:t>Sees uncommitted work. </a:t>
            </a:r>
            <a:r>
              <a:rPr lang="en-US" sz="820" dirty="0">
                <a:solidFill>
                  <a:srgbClr val="333333"/>
                </a:solidFill>
                <a:latin typeface="Arial"/>
                <a:cs typeface="Arial"/>
              </a:rPr>
              <a:t>What was compiled minutes ago is already answerable — the reason a developer wants the local one.</a:t>
            </a:r>
            <a:endParaRPr lang="en-US" dirty="0"/>
          </a:p>
          <a:p>
            <a:pPr indent="-114300" marL="114300">
              <a:spcBef>
                <a:spcPts val="350"/>
              </a:spcBef>
              <a:lnSpc>
                <a:spcPct val="112000"/>
              </a:lnSpc>
              <a:buChar char="•"/>
            </a:pPr>
            <a:r>
              <a:rPr lang="en-US" sz="820" b="1" dirty="0">
                <a:solidFill>
                  <a:srgbClr val="AD9B68"/>
                </a:solidFill>
                <a:latin typeface="Arial"/>
                <a:cs typeface="Arial"/>
              </a:rPr>
              <a:t>Refreshes itself after a build. </a:t>
            </a:r>
            <a:r>
              <a:rPr lang="en-US" sz="820" dirty="0">
                <a:solidFill>
                  <a:srgbClr val="333333"/>
                </a:solidFill>
                <a:latin typeface="Arial"/>
                <a:cs typeface="Arial"/>
              </a:rPr>
              <a:t>Compiling a project triggers an update of just that model, in seconds to a couple of minutes.</a:t>
            </a:r>
            <a:endParaRPr lang="en-US" dirty="0"/>
          </a:p>
          <a:p>
            <a:pPr indent="-114300" marL="114300">
              <a:spcBef>
                <a:spcPts val="350"/>
              </a:spcBef>
              <a:lnSpc>
                <a:spcPct val="112000"/>
              </a:lnSpc>
              <a:buChar char="•"/>
            </a:pPr>
            <a:r>
              <a:rPr lang="en-US" sz="820" b="1" dirty="0">
                <a:solidFill>
                  <a:srgbClr val="AD9B68"/>
                </a:solidFill>
                <a:latin typeface="Arial"/>
                <a:cs typeface="Arial"/>
              </a:rPr>
              <a:t>Same tools, same answers, same limits. </a:t>
            </a:r>
            <a:r>
              <a:rPr lang="en-US" sz="820" dirty="0">
                <a:solidFill>
                  <a:srgbClr val="333333"/>
                </a:solidFill>
                <a:latin typeface="Arial"/>
                <a:cs typeface="Arial"/>
              </a:rPr>
              <a:t>Only the freshness of the underlying file differs.</a:t>
            </a:r>
            <a:endParaRPr lang="en-US" dirty="0"/>
          </a:p>
        </p:txBody>
      </p:sp>
      <p:sp>
        <p:nvSpPr>
          <p:cNvPr id="246" name="Rect 247"/>
          <p:cNvSpPr/>
          <p:nvPr/>
        </p:nvSpPr>
        <p:spPr>
          <a:xfrm>
            <a:off x="539496" y="4187952"/>
            <a:ext cx="11109960" cy="1325880"/>
          </a:xfrm>
          <a:prstGeom prst="roundRect">
            <a:avLst>
              <a:gd name="adj" fmla="val 4000"/>
            </a:avLst>
          </a:prstGeom>
          <a:solidFill>
            <a:srgbClr val="F5F5F5"/>
          </a:solidFill>
          <a:ln>
            <a:noFill/>
          </a:ln>
        </p:spPr>
      </p:sp>
      <p:sp>
        <p:nvSpPr>
          <p:cNvPr id="247" name="TextBox 248"/>
          <p:cNvSpPr txBox="1"/>
          <p:nvPr/>
        </p:nvSpPr>
        <p:spPr>
          <a:xfrm>
            <a:off x="676656" y="4233672"/>
            <a:ext cx="10835640" cy="123444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How the two stay current</a:t>
            </a:r>
            <a:endParaRPr lang="en-US" dirty="0"/>
          </a:p>
          <a:p>
            <a:pPr>
              <a:spcBef>
                <a:spcPts val="300"/>
              </a:spcBef>
              <a:lnSpc>
                <a:spcPct val="118000"/>
              </a:lnSpc>
            </a:pPr>
            <a:r>
              <a:rPr lang="en-US" sz="870" dirty="0">
                <a:solidFill>
                  <a:srgbClr val="333333"/>
                </a:solidFill>
                <a:latin typeface="Arial"/>
                <a:cs typeface="Arial"/>
              </a:rPr>
              <a:t>A successful compile triggers a small update of the local files: one model out of two hundred is a rounding error of the database, which is why it takes minutes instead of an hour. That keeps the developer current but never removes anything, so a full rebuild runs once a week and is published to the cloud service — that pass is what makes the snapshot correct rather than merely fresh. Every answer carries its own snapshot date, so nobody has to guess which of the two they are looking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H 250"/>
          <p:cNvSpPr>
            <a:spLocks noGrp="1"/>
          </p:cNvSpPr>
          <p:nvPr>
            <p:ph type="title"/>
          </p:nvPr>
        </p:nvSpPr>
        <p:spPr/>
        <p:txBody>
          <a:bodyPr/>
          <a:lstStyle/>
          <a:p>
            <a:pPr/>
            <a:r>
              <a:rPr lang="en-US" sz="1800" b="1" dirty="0">
                <a:solidFill>
                  <a:srgbClr val="000000"/>
                </a:solidFill>
                <a:latin typeface="Arial"/>
                <a:cs typeface="Arial"/>
              </a:rPr>
              <a:t>Traces: the system learning from itself</a:t>
            </a:r>
            <a:endParaRPr lang="en-US" dirty="0"/>
          </a:p>
        </p:txBody>
      </p:sp>
      <p:sp>
        <p:nvSpPr>
          <p:cNvPr id="250" name="Rect 251"/>
          <p:cNvSpPr/>
          <p:nvPr/>
        </p:nvSpPr>
        <p:spPr>
          <a:xfrm>
            <a:off x="539496" y="1920240"/>
            <a:ext cx="1417320" cy="1417320"/>
          </a:xfrm>
          <a:prstGeom prst="roundRect">
            <a:avLst>
              <a:gd name="adj" fmla="val 8000"/>
            </a:avLst>
          </a:prstGeom>
          <a:solidFill>
            <a:srgbClr val="6DC1C9"/>
          </a:solidFill>
          <a:ln>
            <a:noFill/>
          </a:ln>
        </p:spPr>
      </p:sp>
      <p:sp>
        <p:nvSpPr>
          <p:cNvPr id="251" name="TextBox 252"/>
          <p:cNvSpPr txBox="1"/>
          <p:nvPr/>
        </p:nvSpPr>
        <p:spPr>
          <a:xfrm>
            <a:off x="539496" y="1920240"/>
            <a:ext cx="1417320" cy="1417320"/>
          </a:xfrm>
          <a:prstGeom prst="rect">
            <a:avLst/>
          </a:prstGeom>
          <a:noFill/>
          <a:ln>
            <a:noFill/>
          </a:ln>
        </p:spPr>
        <p:txBody>
          <a:bodyPr wrap="square" anchor="ctr" lIns="91440" tIns="45720" rIns="91440" bIns="45720"/>
          <a:lstStyle/>
          <a:p>
            <a:pPr algn="ctr"/>
            <a:r>
              <a:rPr lang="en-US" sz="4000" b="1" dirty="0">
                <a:solidFill>
                  <a:srgbClr val="FFFFFF"/>
                </a:solidFill>
                <a:latin typeface="Arial"/>
                <a:cs typeface="Arial"/>
              </a:rPr>
              <a:t>03</a:t>
            </a:r>
            <a:endParaRPr lang="en-US" dirty="0"/>
          </a:p>
        </p:txBody>
      </p:sp>
      <p:sp>
        <p:nvSpPr>
          <p:cNvPr id="252" name="TextBox 253"/>
          <p:cNvSpPr txBox="1"/>
          <p:nvPr/>
        </p:nvSpPr>
        <p:spPr>
          <a:xfrm>
            <a:off x="2331720" y="2148840"/>
            <a:ext cx="9052560" cy="1097280"/>
          </a:xfrm>
          <a:prstGeom prst="rect">
            <a:avLst/>
          </a:prstGeom>
          <a:noFill/>
          <a:ln>
            <a:noFill/>
          </a:ln>
        </p:spPr>
        <p:txBody>
          <a:bodyPr wrap="square" anchor="t" lIns="91440" tIns="45720" rIns="91440" bIns="45720"/>
          <a:lstStyle/>
          <a:p>
            <a:pPr>
              <a:lnSpc>
                <a:spcPct val="118000"/>
              </a:lnSpc>
            </a:pPr>
            <a:r>
              <a:rPr lang="en-US" sz="1250" dirty="0">
                <a:solidFill>
                  <a:srgbClr val="333333"/>
                </a:solidFill>
                <a:latin typeface="Arial"/>
                <a:cs typeface="Arial"/>
              </a:rPr>
              <a:t>Every investigation the assistant runs is recorded — not the answers, the path. Those recordings turn into two things: a report that measures how well the system is being used, and a service that makes the next investigation cheaper and better.</a:t>
            </a:r>
            <a:endParaRPr lang="en-US" dirty="0"/>
          </a:p>
        </p:txBody>
      </p:sp>
      <p:sp>
        <p:nvSpPr>
          <p:cNvPr id="253" name="Line 254"/>
          <p:cNvSpPr/>
          <p:nvPr/>
        </p:nvSpPr>
        <p:spPr>
          <a:xfrm>
            <a:off x="539496" y="3657600"/>
            <a:ext cx="10881360" cy="0"/>
          </a:xfrm>
          <a:prstGeom prst="line">
            <a:avLst/>
          </a:prstGeom>
          <a:ln w="19050">
            <a:solidFill>
              <a:srgbClr val="6DC1C9"/>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H 266"/>
          <p:cNvSpPr>
            <a:spLocks noGrp="1"/>
          </p:cNvSpPr>
          <p:nvPr>
            <p:ph type="title"/>
          </p:nvPr>
        </p:nvSpPr>
        <p:spPr/>
        <p:txBody>
          <a:bodyPr/>
          <a:lstStyle/>
          <a:p>
            <a:pPr/>
            <a:r>
              <a:rPr lang="en-US" sz="1800" b="1" dirty="0">
                <a:solidFill>
                  <a:srgbClr val="000000"/>
                </a:solidFill>
                <a:latin typeface="Arial"/>
                <a:cs typeface="Arial"/>
              </a:rPr>
              <a:t>What is recorded, and what deliberately is not</a:t>
            </a:r>
            <a:endParaRPr lang="en-US" dirty="0"/>
          </a:p>
        </p:txBody>
      </p:sp>
      <p:sp>
        <p:nvSpPr>
          <p:cNvPr id="254" name="TextBox 255"/>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Two streams are written in parallel. One is what the assistant was trying to do; the other is what the services were asked. Neither contains a single business value.</a:t>
            </a:r>
            <a:endParaRPr lang="en-US" dirty="0"/>
          </a:p>
        </p:txBody>
      </p:sp>
      <p:sp>
        <p:nvSpPr>
          <p:cNvPr id="255" name="Rect 256"/>
          <p:cNvSpPr/>
          <p:nvPr/>
        </p:nvSpPr>
        <p:spPr>
          <a:xfrm>
            <a:off x="539496" y="1645920"/>
            <a:ext cx="5394960" cy="329184"/>
          </a:xfrm>
          <a:prstGeom prst="roundRect">
            <a:avLst>
              <a:gd name="adj" fmla="val 4000"/>
            </a:avLst>
          </a:prstGeom>
          <a:solidFill>
            <a:srgbClr val="6DC1C9"/>
          </a:solidFill>
          <a:ln>
            <a:noFill/>
          </a:ln>
        </p:spPr>
      </p:sp>
      <p:sp>
        <p:nvSpPr>
          <p:cNvPr id="256" name="TextBox 257"/>
          <p:cNvSpPr txBox="1"/>
          <p:nvPr/>
        </p:nvSpPr>
        <p:spPr>
          <a:xfrm>
            <a:off x="539496" y="164592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The assistant’s side</a:t>
            </a:r>
            <a:endParaRPr lang="en-US" dirty="0"/>
          </a:p>
        </p:txBody>
      </p:sp>
      <p:sp>
        <p:nvSpPr>
          <p:cNvPr id="257" name="Rect 258"/>
          <p:cNvSpPr/>
          <p:nvPr/>
        </p:nvSpPr>
        <p:spPr>
          <a:xfrm>
            <a:off x="539496" y="1975104"/>
            <a:ext cx="5394960" cy="1773936"/>
          </a:xfrm>
          <a:prstGeom prst="rect">
            <a:avLst/>
          </a:prstGeom>
          <a:solidFill>
            <a:srgbClr val="FFFFFF"/>
          </a:solidFill>
          <a:ln w="6350">
            <a:solidFill>
              <a:srgbClr val="6DC1C9"/>
            </a:solidFill>
          </a:ln>
        </p:spPr>
      </p:sp>
      <p:sp>
        <p:nvSpPr>
          <p:cNvPr id="258" name="TextBox 259"/>
          <p:cNvSpPr txBox="1"/>
          <p:nvPr/>
        </p:nvSpPr>
        <p:spPr>
          <a:xfrm>
            <a:off x="585216" y="2011680"/>
            <a:ext cx="5303520" cy="17007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6DC1C9"/>
                </a:solidFill>
                <a:latin typeface="Arial"/>
                <a:cs typeface="Arial"/>
              </a:rPr>
              <a:t>The question as it understood it. </a:t>
            </a:r>
            <a:r>
              <a:rPr lang="en-US" sz="830" dirty="0">
                <a:solidFill>
                  <a:srgbClr val="333333"/>
                </a:solidFill>
                <a:latin typeface="Arial"/>
                <a:cs typeface="Arial"/>
              </a:rPr>
              <a:t>Restated in neutral terms, with a stable key so the same question can be recognised on another system.</a:t>
            </a:r>
            <a:endParaRPr lang="en-US" dirty="0"/>
          </a:p>
          <a:p>
            <a:pPr indent="-114300" marL="114300">
              <a:spcBef>
                <a:spcPts val="350"/>
              </a:spcBef>
              <a:lnSpc>
                <a:spcPct val="112000"/>
              </a:lnSpc>
              <a:buChar char="•"/>
            </a:pPr>
            <a:r>
              <a:rPr lang="en-US" sz="830" b="1" dirty="0">
                <a:solidFill>
                  <a:srgbClr val="6DC1C9"/>
                </a:solidFill>
                <a:latin typeface="Arial"/>
                <a:cs typeface="Arial"/>
              </a:rPr>
              <a:t>The plan. </a:t>
            </a:r>
            <a:r>
              <a:rPr lang="en-US" sz="830" dirty="0">
                <a:solidFill>
                  <a:srgbClr val="333333"/>
                </a:solidFill>
                <a:latin typeface="Arial"/>
                <a:cs typeface="Arial"/>
              </a:rPr>
              <a:t>One line before each group of calls, saying what it is about to find out and why.</a:t>
            </a:r>
            <a:endParaRPr lang="en-US" dirty="0"/>
          </a:p>
          <a:p>
            <a:pPr indent="-114300" marL="114300">
              <a:spcBef>
                <a:spcPts val="350"/>
              </a:spcBef>
              <a:lnSpc>
                <a:spcPct val="112000"/>
              </a:lnSpc>
              <a:buChar char="•"/>
            </a:pPr>
            <a:r>
              <a:rPr lang="en-US" sz="830" b="1" dirty="0">
                <a:solidFill>
                  <a:srgbClr val="6DC1C9"/>
                </a:solidFill>
                <a:latin typeface="Arial"/>
                <a:cs typeface="Arial"/>
              </a:rPr>
              <a:t>The conclusion. </a:t>
            </a:r>
            <a:r>
              <a:rPr lang="en-US" sz="830" dirty="0">
                <a:solidFill>
                  <a:srgbClr val="333333"/>
                </a:solidFill>
                <a:latin typeface="Arial"/>
                <a:cs typeface="Arial"/>
              </a:rPr>
              <a:t>What it answered, and whether it considers the question answered, partly answered or abandoned.</a:t>
            </a:r>
            <a:endParaRPr lang="en-US" dirty="0"/>
          </a:p>
        </p:txBody>
      </p:sp>
      <p:sp>
        <p:nvSpPr>
          <p:cNvPr id="259" name="Rect 260"/>
          <p:cNvSpPr/>
          <p:nvPr/>
        </p:nvSpPr>
        <p:spPr>
          <a:xfrm>
            <a:off x="6254496" y="1645920"/>
            <a:ext cx="5394960" cy="329184"/>
          </a:xfrm>
          <a:prstGeom prst="roundRect">
            <a:avLst>
              <a:gd name="adj" fmla="val 4000"/>
            </a:avLst>
          </a:prstGeom>
          <a:solidFill>
            <a:srgbClr val="AD9B68"/>
          </a:solidFill>
          <a:ln>
            <a:noFill/>
          </a:ln>
        </p:spPr>
      </p:sp>
      <p:sp>
        <p:nvSpPr>
          <p:cNvPr id="260" name="TextBox 261"/>
          <p:cNvSpPr txBox="1"/>
          <p:nvPr/>
        </p:nvSpPr>
        <p:spPr>
          <a:xfrm>
            <a:off x="6254496" y="1645920"/>
            <a:ext cx="539496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The services’ side</a:t>
            </a:r>
            <a:endParaRPr lang="en-US" dirty="0"/>
          </a:p>
        </p:txBody>
      </p:sp>
      <p:sp>
        <p:nvSpPr>
          <p:cNvPr id="261" name="Rect 262"/>
          <p:cNvSpPr/>
          <p:nvPr/>
        </p:nvSpPr>
        <p:spPr>
          <a:xfrm>
            <a:off x="6254496" y="1975104"/>
            <a:ext cx="5394960" cy="1773936"/>
          </a:xfrm>
          <a:prstGeom prst="rect">
            <a:avLst/>
          </a:prstGeom>
          <a:solidFill>
            <a:srgbClr val="FFFFFF"/>
          </a:solidFill>
          <a:ln w="6350">
            <a:solidFill>
              <a:srgbClr val="AD9B68"/>
            </a:solidFill>
          </a:ln>
        </p:spPr>
      </p:sp>
      <p:sp>
        <p:nvSpPr>
          <p:cNvPr id="262" name="TextBox 263"/>
          <p:cNvSpPr txBox="1"/>
          <p:nvPr/>
        </p:nvSpPr>
        <p:spPr>
          <a:xfrm>
            <a:off x="6300216" y="2011680"/>
            <a:ext cx="5303520" cy="1700784"/>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30" b="1" dirty="0">
                <a:solidFill>
                  <a:srgbClr val="AD9B68"/>
                </a:solidFill>
                <a:latin typeface="Arial"/>
                <a:cs typeface="Arial"/>
              </a:rPr>
              <a:t>One record per call. </a:t>
            </a:r>
            <a:r>
              <a:rPr lang="en-US" sz="830" dirty="0">
                <a:solidFill>
                  <a:srgbClr val="333333"/>
                </a:solidFill>
                <a:latin typeface="Arial"/>
                <a:cs typeface="Arial"/>
              </a:rPr>
              <a:t>Which tool, with which arguments, how long it took, how big the answer was and which objects it touched.</a:t>
            </a:r>
            <a:endParaRPr lang="en-US" dirty="0"/>
          </a:p>
          <a:p>
            <a:pPr indent="-114300" marL="114300">
              <a:spcBef>
                <a:spcPts val="350"/>
              </a:spcBef>
              <a:lnSpc>
                <a:spcPct val="112000"/>
              </a:lnSpc>
              <a:buChar char="•"/>
            </a:pPr>
            <a:r>
              <a:rPr lang="en-US" sz="830" b="1" dirty="0">
                <a:solidFill>
                  <a:srgbClr val="AD9B68"/>
                </a:solidFill>
                <a:latin typeface="Arial"/>
                <a:cs typeface="Arial"/>
              </a:rPr>
              <a:t>Never the answer itself. </a:t>
            </a:r>
            <a:r>
              <a:rPr lang="en-US" sz="830" dirty="0">
                <a:solidFill>
                  <a:srgbClr val="333333"/>
                </a:solidFill>
                <a:latin typeface="Arial"/>
                <a:cs typeface="Arial"/>
              </a:rPr>
              <a:t>The response is not stored — it is reproduced by replaying the call against the dated snapshot.</a:t>
            </a:r>
            <a:endParaRPr lang="en-US" dirty="0"/>
          </a:p>
          <a:p>
            <a:pPr indent="-114300" marL="114300">
              <a:spcBef>
                <a:spcPts val="350"/>
              </a:spcBef>
              <a:lnSpc>
                <a:spcPct val="112000"/>
              </a:lnSpc>
              <a:buChar char="•"/>
            </a:pPr>
            <a:r>
              <a:rPr lang="en-US" sz="830" b="1" dirty="0">
                <a:solidFill>
                  <a:srgbClr val="AD9B68"/>
                </a:solidFill>
                <a:latin typeface="Arial"/>
                <a:cs typeface="Arial"/>
              </a:rPr>
              <a:t>Filtered at the source. </a:t>
            </a:r>
            <a:r>
              <a:rPr lang="en-US" sz="830" dirty="0">
                <a:solidFill>
                  <a:srgbClr val="333333"/>
                </a:solidFill>
                <a:latin typeface="Arial"/>
                <a:cs typeface="Arial"/>
              </a:rPr>
              <a:t>Free text and anything resembling personal data are masked before a record is written; the check runs again at the receiving end.</a:t>
            </a:r>
            <a:endParaRPr lang="en-US" dirty="0"/>
          </a:p>
        </p:txBody>
      </p:sp>
      <p:sp>
        <p:nvSpPr>
          <p:cNvPr id="263" name="Rect 264"/>
          <p:cNvSpPr/>
          <p:nvPr/>
        </p:nvSpPr>
        <p:spPr>
          <a:xfrm>
            <a:off x="539496" y="3913632"/>
            <a:ext cx="11109960" cy="1600200"/>
          </a:xfrm>
          <a:prstGeom prst="roundRect">
            <a:avLst>
              <a:gd name="adj" fmla="val 4000"/>
            </a:avLst>
          </a:prstGeom>
          <a:solidFill>
            <a:srgbClr val="E0F3F5"/>
          </a:solidFill>
          <a:ln>
            <a:noFill/>
          </a:ln>
        </p:spPr>
      </p:sp>
      <p:sp>
        <p:nvSpPr>
          <p:cNvPr id="264" name="TextBox 265"/>
          <p:cNvSpPr txBox="1"/>
          <p:nvPr/>
        </p:nvSpPr>
        <p:spPr>
          <a:xfrm>
            <a:off x="676656" y="3959352"/>
            <a:ext cx="10835640" cy="1508760"/>
          </a:xfrm>
          <a:prstGeom prst="rect">
            <a:avLst/>
          </a:prstGeom>
          <a:noFill/>
          <a:ln>
            <a:noFill/>
          </a:ln>
        </p:spPr>
        <p:txBody>
          <a:bodyPr wrap="square" anchor="t" lIns="91440" tIns="45720" rIns="91440" bIns="45720"/>
          <a:lstStyle/>
          <a:p>
            <a:pPr/>
            <a:r>
              <a:rPr lang="en-US" sz="950" b="1" dirty="0">
                <a:solidFill>
                  <a:srgbClr val="647772"/>
                </a:solidFill>
                <a:latin typeface="Arial"/>
                <a:cs typeface="Arial"/>
              </a:rPr>
              <a:t>Why the answers are not kept — and why that is an advantage</a:t>
            </a:r>
            <a:endParaRPr lang="en-US" dirty="0"/>
          </a:p>
          <a:p>
            <a:pPr>
              <a:spcBef>
                <a:spcPts val="300"/>
              </a:spcBef>
              <a:lnSpc>
                <a:spcPct val="118000"/>
              </a:lnSpc>
            </a:pPr>
            <a:r>
              <a:rPr lang="en-US" sz="880" dirty="0">
                <a:solidFill>
                  <a:srgbClr val="333333"/>
                </a:solidFill>
                <a:latin typeface="Arial"/>
                <a:cs typeface="Arial"/>
              </a:rPr>
              <a:t>Storing responses would make the recordings large, would put metadata into a second place where it can go stale, and would be the one part of the design with a real confidentiality question. Storing the path instead keeps each record tiny and permanently valid: because the snapshot is dated and read-only, replaying the same calls reproduces the same answers exactly. A recorded investigation therefore stays replayable after the metadata is rebuilt — and can be replayed against a different ERP altogether, which is the foundation of the last chapter.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H 288"/>
          <p:cNvSpPr>
            <a:spLocks noGrp="1"/>
          </p:cNvSpPr>
          <p:nvPr>
            <p:ph type="title"/>
          </p:nvPr>
        </p:nvSpPr>
        <p:spPr/>
        <p:txBody>
          <a:bodyPr/>
          <a:lstStyle/>
          <a:p>
            <a:pPr/>
            <a:r>
              <a:rPr lang="en-US" sz="1800" b="1" dirty="0">
                <a:solidFill>
                  <a:srgbClr val="000000"/>
                </a:solidFill>
                <a:latin typeface="Arial"/>
                <a:cs typeface="Arial"/>
              </a:rPr>
              <a:t>What the traces are for</a:t>
            </a:r>
            <a:endParaRPr lang="en-US" dirty="0"/>
          </a:p>
        </p:txBody>
      </p:sp>
      <p:sp>
        <p:nvSpPr>
          <p:cNvPr id="266" name="TextBox 267"/>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Four purposes, from the immediate to the strategic. The first two are already running; the third is what the current work delivers; the fourth is why the module exists at all.</a:t>
            </a:r>
            <a:endParaRPr lang="en-US" dirty="0"/>
          </a:p>
        </p:txBody>
      </p:sp>
      <p:sp>
        <p:nvSpPr>
          <p:cNvPr id="267" name="Rect 268"/>
          <p:cNvSpPr/>
          <p:nvPr/>
        </p:nvSpPr>
        <p:spPr>
          <a:xfrm>
            <a:off x="539496" y="1664208"/>
            <a:ext cx="566928" cy="841248"/>
          </a:xfrm>
          <a:prstGeom prst="roundRect">
            <a:avLst>
              <a:gd name="adj" fmla="val 6000"/>
            </a:avLst>
          </a:prstGeom>
          <a:solidFill>
            <a:srgbClr val="6DC1C9"/>
          </a:solidFill>
          <a:ln>
            <a:noFill/>
          </a:ln>
        </p:spPr>
      </p:sp>
      <p:sp>
        <p:nvSpPr>
          <p:cNvPr id="268" name="TextBox 269"/>
          <p:cNvSpPr txBox="1"/>
          <p:nvPr/>
        </p:nvSpPr>
        <p:spPr>
          <a:xfrm>
            <a:off x="539496" y="1664208"/>
            <a:ext cx="566928" cy="841248"/>
          </a:xfrm>
          <a:prstGeom prst="rect">
            <a:avLst/>
          </a:prstGeom>
          <a:noFill/>
          <a:ln>
            <a:noFill/>
          </a:ln>
        </p:spPr>
        <p:txBody>
          <a:bodyPr wrap="square" anchor="ctr" lIns="91440" tIns="45720" rIns="91440" bIns="45720"/>
          <a:lstStyle/>
          <a:p>
            <a:pPr algn="ctr"/>
            <a:r>
              <a:rPr lang="en-US" sz="1700" b="1" dirty="0">
                <a:solidFill>
                  <a:srgbClr val="FFFFFF"/>
                </a:solidFill>
                <a:latin typeface="Arial"/>
                <a:cs typeface="Arial"/>
              </a:rPr>
              <a:t>1</a:t>
            </a:r>
            <a:endParaRPr lang="en-US" dirty="0"/>
          </a:p>
        </p:txBody>
      </p:sp>
      <p:sp>
        <p:nvSpPr>
          <p:cNvPr id="269" name="Rect 270"/>
          <p:cNvSpPr/>
          <p:nvPr/>
        </p:nvSpPr>
        <p:spPr>
          <a:xfrm>
            <a:off x="1261872" y="1664208"/>
            <a:ext cx="10387584" cy="841248"/>
          </a:xfrm>
          <a:prstGeom prst="roundRect">
            <a:avLst>
              <a:gd name="adj" fmla="val 4000"/>
            </a:avLst>
          </a:prstGeom>
          <a:solidFill>
            <a:srgbClr val="FFFFFF"/>
          </a:solidFill>
          <a:ln w="6350">
            <a:solidFill>
              <a:srgbClr val="6DC1C9"/>
            </a:solidFill>
          </a:ln>
        </p:spPr>
      </p:sp>
      <p:sp>
        <p:nvSpPr>
          <p:cNvPr id="270" name="TextBox 271"/>
          <p:cNvSpPr txBox="1"/>
          <p:nvPr/>
        </p:nvSpPr>
        <p:spPr>
          <a:xfrm>
            <a:off x="1371600" y="1709928"/>
            <a:ext cx="10149840" cy="292608"/>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Seeing what actually happened</a:t>
            </a:r>
            <a:endParaRPr lang="en-US" dirty="0"/>
          </a:p>
        </p:txBody>
      </p:sp>
      <p:sp>
        <p:nvSpPr>
          <p:cNvPr id="271" name="TextBox 272"/>
          <p:cNvSpPr txBox="1"/>
          <p:nvPr/>
        </p:nvSpPr>
        <p:spPr>
          <a:xfrm>
            <a:off x="1371600" y="1993392"/>
            <a:ext cx="10149840" cy="502920"/>
          </a:xfrm>
          <a:prstGeom prst="rect">
            <a:avLst/>
          </a:prstGeom>
          <a:noFill/>
          <a:ln>
            <a:noFill/>
          </a:ln>
        </p:spPr>
        <p:txBody>
          <a:bodyPr wrap="square" anchor="t" lIns="91440" tIns="45720" rIns="91440" bIns="45720"/>
          <a:lstStyle/>
          <a:p>
            <a:pPr>
              <a:lnSpc>
                <a:spcPct val="112000"/>
              </a:lnSpc>
            </a:pPr>
            <a:r>
              <a:rPr lang="en-US" sz="840" dirty="0">
                <a:solidFill>
                  <a:srgbClr val="333333"/>
                </a:solidFill>
                <a:latin typeface="Arial"/>
                <a:cs typeface="Arial"/>
              </a:rPr>
              <a:t>A readable report of every investigation: the question, the plan, each call, the conclusion. Twenty minutes of an assistant’s work becomes one page a person can review.</a:t>
            </a:r>
            <a:endParaRPr lang="en-US" dirty="0"/>
          </a:p>
        </p:txBody>
      </p:sp>
      <p:sp>
        <p:nvSpPr>
          <p:cNvPr id="272" name="Rect 273"/>
          <p:cNvSpPr/>
          <p:nvPr/>
        </p:nvSpPr>
        <p:spPr>
          <a:xfrm>
            <a:off x="539496" y="2670048"/>
            <a:ext cx="566928" cy="841248"/>
          </a:xfrm>
          <a:prstGeom prst="roundRect">
            <a:avLst>
              <a:gd name="adj" fmla="val 6000"/>
            </a:avLst>
          </a:prstGeom>
          <a:solidFill>
            <a:srgbClr val="AD9B68"/>
          </a:solidFill>
          <a:ln>
            <a:noFill/>
          </a:ln>
        </p:spPr>
      </p:sp>
      <p:sp>
        <p:nvSpPr>
          <p:cNvPr id="273" name="TextBox 274"/>
          <p:cNvSpPr txBox="1"/>
          <p:nvPr/>
        </p:nvSpPr>
        <p:spPr>
          <a:xfrm>
            <a:off x="539496" y="2670048"/>
            <a:ext cx="566928" cy="841248"/>
          </a:xfrm>
          <a:prstGeom prst="rect">
            <a:avLst/>
          </a:prstGeom>
          <a:noFill/>
          <a:ln>
            <a:noFill/>
          </a:ln>
        </p:spPr>
        <p:txBody>
          <a:bodyPr wrap="square" anchor="ctr" lIns="91440" tIns="45720" rIns="91440" bIns="45720"/>
          <a:lstStyle/>
          <a:p>
            <a:pPr algn="ctr"/>
            <a:r>
              <a:rPr lang="en-US" sz="1700" b="1" dirty="0">
                <a:solidFill>
                  <a:srgbClr val="FFFFFF"/>
                </a:solidFill>
                <a:latin typeface="Arial"/>
                <a:cs typeface="Arial"/>
              </a:rPr>
              <a:t>2</a:t>
            </a:r>
            <a:endParaRPr lang="en-US" dirty="0"/>
          </a:p>
        </p:txBody>
      </p:sp>
      <p:sp>
        <p:nvSpPr>
          <p:cNvPr id="274" name="Rect 275"/>
          <p:cNvSpPr/>
          <p:nvPr/>
        </p:nvSpPr>
        <p:spPr>
          <a:xfrm>
            <a:off x="1261872" y="2670048"/>
            <a:ext cx="10387584" cy="841248"/>
          </a:xfrm>
          <a:prstGeom prst="roundRect">
            <a:avLst>
              <a:gd name="adj" fmla="val 4000"/>
            </a:avLst>
          </a:prstGeom>
          <a:solidFill>
            <a:srgbClr val="FFFFFF"/>
          </a:solidFill>
          <a:ln w="6350">
            <a:solidFill>
              <a:srgbClr val="AD9B68"/>
            </a:solidFill>
          </a:ln>
        </p:spPr>
      </p:sp>
      <p:sp>
        <p:nvSpPr>
          <p:cNvPr id="275" name="TextBox 276"/>
          <p:cNvSpPr txBox="1"/>
          <p:nvPr/>
        </p:nvSpPr>
        <p:spPr>
          <a:xfrm>
            <a:off x="1371600" y="2715768"/>
            <a:ext cx="10149840" cy="292608"/>
          </a:xfrm>
          <a:prstGeom prst="rect">
            <a:avLst/>
          </a:prstGeom>
          <a:noFill/>
          <a:ln>
            <a:noFill/>
          </a:ln>
        </p:spPr>
        <p:txBody>
          <a:bodyPr wrap="square" anchor="t" lIns="91440" tIns="45720" rIns="91440" bIns="45720"/>
          <a:lstStyle/>
          <a:p>
            <a:pPr/>
            <a:r>
              <a:rPr lang="en-US" sz="950" b="1" dirty="0">
                <a:solidFill>
                  <a:srgbClr val="AD9B68"/>
                </a:solidFill>
                <a:latin typeface="Arial"/>
                <a:cs typeface="Arial"/>
              </a:rPr>
              <a:t>Measuring the system honestly</a:t>
            </a:r>
            <a:endParaRPr lang="en-US" dirty="0"/>
          </a:p>
        </p:txBody>
      </p:sp>
      <p:sp>
        <p:nvSpPr>
          <p:cNvPr id="276" name="TextBox 277"/>
          <p:cNvSpPr txBox="1"/>
          <p:nvPr/>
        </p:nvSpPr>
        <p:spPr>
          <a:xfrm>
            <a:off x="1371600" y="2999232"/>
            <a:ext cx="10149840" cy="502920"/>
          </a:xfrm>
          <a:prstGeom prst="rect">
            <a:avLst/>
          </a:prstGeom>
          <a:noFill/>
          <a:ln>
            <a:noFill/>
          </a:ln>
        </p:spPr>
        <p:txBody>
          <a:bodyPr wrap="square" anchor="t" lIns="91440" tIns="45720" rIns="91440" bIns="45720"/>
          <a:lstStyle/>
          <a:p>
            <a:pPr>
              <a:lnSpc>
                <a:spcPct val="112000"/>
              </a:lnSpc>
            </a:pPr>
            <a:r>
              <a:rPr lang="en-US" sz="840" dirty="0">
                <a:solidFill>
                  <a:srgbClr val="333333"/>
                </a:solidFill>
                <a:latin typeface="Arial"/>
                <a:cs typeface="Arial"/>
              </a:rPr>
              <a:t>How many calls a question really takes, how much payload came back, how often a call returned nothing. Improvements stop being a matter of impression.</a:t>
            </a:r>
            <a:endParaRPr lang="en-US" dirty="0"/>
          </a:p>
        </p:txBody>
      </p:sp>
      <p:sp>
        <p:nvSpPr>
          <p:cNvPr id="277" name="Rect 278"/>
          <p:cNvSpPr/>
          <p:nvPr/>
        </p:nvSpPr>
        <p:spPr>
          <a:xfrm>
            <a:off x="539496" y="3675888"/>
            <a:ext cx="566928" cy="841248"/>
          </a:xfrm>
          <a:prstGeom prst="roundRect">
            <a:avLst>
              <a:gd name="adj" fmla="val 6000"/>
            </a:avLst>
          </a:prstGeom>
          <a:solidFill>
            <a:srgbClr val="813341"/>
          </a:solidFill>
          <a:ln>
            <a:noFill/>
          </a:ln>
        </p:spPr>
      </p:sp>
      <p:sp>
        <p:nvSpPr>
          <p:cNvPr id="278" name="TextBox 279"/>
          <p:cNvSpPr txBox="1"/>
          <p:nvPr/>
        </p:nvSpPr>
        <p:spPr>
          <a:xfrm>
            <a:off x="539496" y="3675888"/>
            <a:ext cx="566928" cy="841248"/>
          </a:xfrm>
          <a:prstGeom prst="rect">
            <a:avLst/>
          </a:prstGeom>
          <a:noFill/>
          <a:ln>
            <a:noFill/>
          </a:ln>
        </p:spPr>
        <p:txBody>
          <a:bodyPr wrap="square" anchor="ctr" lIns="91440" tIns="45720" rIns="91440" bIns="45720"/>
          <a:lstStyle/>
          <a:p>
            <a:pPr algn="ctr"/>
            <a:r>
              <a:rPr lang="en-US" sz="1700" b="1" dirty="0">
                <a:solidFill>
                  <a:srgbClr val="FFFFFF"/>
                </a:solidFill>
                <a:latin typeface="Arial"/>
                <a:cs typeface="Arial"/>
              </a:rPr>
              <a:t>3</a:t>
            </a:r>
            <a:endParaRPr lang="en-US" dirty="0"/>
          </a:p>
        </p:txBody>
      </p:sp>
      <p:sp>
        <p:nvSpPr>
          <p:cNvPr id="279" name="Rect 280"/>
          <p:cNvSpPr/>
          <p:nvPr/>
        </p:nvSpPr>
        <p:spPr>
          <a:xfrm>
            <a:off x="1261872" y="3675888"/>
            <a:ext cx="10387584" cy="841248"/>
          </a:xfrm>
          <a:prstGeom prst="roundRect">
            <a:avLst>
              <a:gd name="adj" fmla="val 4000"/>
            </a:avLst>
          </a:prstGeom>
          <a:solidFill>
            <a:srgbClr val="FFFFFF"/>
          </a:solidFill>
          <a:ln w="6350">
            <a:solidFill>
              <a:srgbClr val="813341"/>
            </a:solidFill>
          </a:ln>
        </p:spPr>
      </p:sp>
      <p:sp>
        <p:nvSpPr>
          <p:cNvPr id="280" name="TextBox 281"/>
          <p:cNvSpPr txBox="1"/>
          <p:nvPr/>
        </p:nvSpPr>
        <p:spPr>
          <a:xfrm>
            <a:off x="1371600" y="3721608"/>
            <a:ext cx="10149840" cy="292608"/>
          </a:xfrm>
          <a:prstGeom prst="rect">
            <a:avLst/>
          </a:prstGeom>
          <a:noFill/>
          <a:ln>
            <a:noFill/>
          </a:ln>
        </p:spPr>
        <p:txBody>
          <a:bodyPr wrap="square" anchor="t" lIns="91440" tIns="45720" rIns="91440" bIns="45720"/>
          <a:lstStyle/>
          <a:p>
            <a:pPr/>
            <a:r>
              <a:rPr lang="en-US" sz="950" b="1" dirty="0">
                <a:solidFill>
                  <a:srgbClr val="813341"/>
                </a:solidFill>
                <a:latin typeface="Arial"/>
                <a:cs typeface="Arial"/>
              </a:rPr>
              <a:t>Making the next investigation better</a:t>
            </a:r>
            <a:endParaRPr lang="en-US" dirty="0"/>
          </a:p>
        </p:txBody>
      </p:sp>
      <p:sp>
        <p:nvSpPr>
          <p:cNvPr id="281" name="TextBox 282"/>
          <p:cNvSpPr txBox="1"/>
          <p:nvPr/>
        </p:nvSpPr>
        <p:spPr>
          <a:xfrm>
            <a:off x="1371600" y="4005072"/>
            <a:ext cx="10149840" cy="502920"/>
          </a:xfrm>
          <a:prstGeom prst="rect">
            <a:avLst/>
          </a:prstGeom>
          <a:noFill/>
          <a:ln>
            <a:noFill/>
          </a:ln>
        </p:spPr>
        <p:txBody>
          <a:bodyPr wrap="square" anchor="t" lIns="91440" tIns="45720" rIns="91440" bIns="45720"/>
          <a:lstStyle/>
          <a:p>
            <a:pPr>
              <a:lnSpc>
                <a:spcPct val="112000"/>
              </a:lnSpc>
            </a:pPr>
            <a:r>
              <a:rPr lang="en-US" sz="840" dirty="0">
                <a:solidFill>
                  <a:srgbClr val="333333"/>
                </a:solidFill>
                <a:latin typeface="Arial"/>
                <a:cs typeface="Arial"/>
              </a:rPr>
              <a:t>A service reads the recordings and hands the assistant what a previous run of the same question did — the shortest path that worked, and the mistakes it made.</a:t>
            </a:r>
            <a:endParaRPr lang="en-US" dirty="0"/>
          </a:p>
        </p:txBody>
      </p:sp>
      <p:sp>
        <p:nvSpPr>
          <p:cNvPr id="282" name="Rect 283"/>
          <p:cNvSpPr/>
          <p:nvPr/>
        </p:nvSpPr>
        <p:spPr>
          <a:xfrm>
            <a:off x="539496" y="4681728"/>
            <a:ext cx="566928" cy="841248"/>
          </a:xfrm>
          <a:prstGeom prst="roundRect">
            <a:avLst>
              <a:gd name="adj" fmla="val 6000"/>
            </a:avLst>
          </a:prstGeom>
          <a:solidFill>
            <a:srgbClr val="647772"/>
          </a:solidFill>
          <a:ln>
            <a:noFill/>
          </a:ln>
        </p:spPr>
      </p:sp>
      <p:sp>
        <p:nvSpPr>
          <p:cNvPr id="283" name="TextBox 284"/>
          <p:cNvSpPr txBox="1"/>
          <p:nvPr/>
        </p:nvSpPr>
        <p:spPr>
          <a:xfrm>
            <a:off x="539496" y="4681728"/>
            <a:ext cx="566928" cy="841248"/>
          </a:xfrm>
          <a:prstGeom prst="rect">
            <a:avLst/>
          </a:prstGeom>
          <a:noFill/>
          <a:ln>
            <a:noFill/>
          </a:ln>
        </p:spPr>
        <p:txBody>
          <a:bodyPr wrap="square" anchor="ctr" lIns="91440" tIns="45720" rIns="91440" bIns="45720"/>
          <a:lstStyle/>
          <a:p>
            <a:pPr algn="ctr"/>
            <a:r>
              <a:rPr lang="en-US" sz="1700" b="1" dirty="0">
                <a:solidFill>
                  <a:srgbClr val="FFFFFF"/>
                </a:solidFill>
                <a:latin typeface="Arial"/>
                <a:cs typeface="Arial"/>
              </a:rPr>
              <a:t>4</a:t>
            </a:r>
            <a:endParaRPr lang="en-US" dirty="0"/>
          </a:p>
        </p:txBody>
      </p:sp>
      <p:sp>
        <p:nvSpPr>
          <p:cNvPr id="284" name="Rect 285"/>
          <p:cNvSpPr/>
          <p:nvPr/>
        </p:nvSpPr>
        <p:spPr>
          <a:xfrm>
            <a:off x="1261872" y="4681728"/>
            <a:ext cx="10387584" cy="841248"/>
          </a:xfrm>
          <a:prstGeom prst="roundRect">
            <a:avLst>
              <a:gd name="adj" fmla="val 4000"/>
            </a:avLst>
          </a:prstGeom>
          <a:solidFill>
            <a:srgbClr val="FFFFFF"/>
          </a:solidFill>
          <a:ln w="6350">
            <a:solidFill>
              <a:srgbClr val="647772"/>
            </a:solidFill>
          </a:ln>
        </p:spPr>
      </p:sp>
      <p:sp>
        <p:nvSpPr>
          <p:cNvPr id="285" name="TextBox 286"/>
          <p:cNvSpPr txBox="1"/>
          <p:nvPr/>
        </p:nvSpPr>
        <p:spPr>
          <a:xfrm>
            <a:off x="1371600" y="4727448"/>
            <a:ext cx="10149840" cy="292608"/>
          </a:xfrm>
          <a:prstGeom prst="rect">
            <a:avLst/>
          </a:prstGeom>
          <a:noFill/>
          <a:ln>
            <a:noFill/>
          </a:ln>
        </p:spPr>
        <p:txBody>
          <a:bodyPr wrap="square" anchor="t" lIns="91440" tIns="45720" rIns="91440" bIns="45720"/>
          <a:lstStyle/>
          <a:p>
            <a:pPr/>
            <a:r>
              <a:rPr lang="en-US" sz="950" b="1" dirty="0">
                <a:solidFill>
                  <a:srgbClr val="647772"/>
                </a:solidFill>
                <a:latin typeface="Arial"/>
                <a:cs typeface="Arial"/>
              </a:rPr>
              <a:t>Building the bridge between systems</a:t>
            </a:r>
            <a:endParaRPr lang="en-US" dirty="0"/>
          </a:p>
        </p:txBody>
      </p:sp>
      <p:sp>
        <p:nvSpPr>
          <p:cNvPr id="286" name="TextBox 287"/>
          <p:cNvSpPr txBox="1"/>
          <p:nvPr/>
        </p:nvSpPr>
        <p:spPr>
          <a:xfrm>
            <a:off x="1371600" y="5010912"/>
            <a:ext cx="10149840" cy="502920"/>
          </a:xfrm>
          <a:prstGeom prst="rect">
            <a:avLst/>
          </a:prstGeom>
          <a:noFill/>
          <a:ln>
            <a:noFill/>
          </a:ln>
        </p:spPr>
        <p:txBody>
          <a:bodyPr wrap="square" anchor="t" lIns="91440" tIns="45720" rIns="91440" bIns="45720"/>
          <a:lstStyle/>
          <a:p>
            <a:pPr>
              <a:lnSpc>
                <a:spcPct val="112000"/>
              </a:lnSpc>
            </a:pPr>
            <a:r>
              <a:rPr lang="en-US" sz="840" dirty="0">
                <a:solidFill>
                  <a:srgbClr val="333333"/>
                </a:solidFill>
                <a:latin typeface="Arial"/>
                <a:cs typeface="Arial"/>
              </a:rPr>
              <a:t>A question asked on two different ERPs, under the same key, produces two recordings that can be compared object by object. That comparison is the raw material of a migration mapping.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H 309"/>
          <p:cNvSpPr>
            <a:spLocks noGrp="1"/>
          </p:cNvSpPr>
          <p:nvPr>
            <p:ph type="title"/>
          </p:nvPr>
        </p:nvSpPr>
        <p:spPr/>
        <p:txBody>
          <a:bodyPr/>
          <a:lstStyle/>
          <a:p>
            <a:pPr/>
            <a:r>
              <a:rPr lang="en-US" sz="1800" b="1" dirty="0">
                <a:solidFill>
                  <a:srgbClr val="000000"/>
                </a:solidFill>
                <a:latin typeface="Arial"/>
                <a:cs typeface="Arial"/>
              </a:rPr>
              <a:t>The service built on the traces</a:t>
            </a:r>
            <a:endParaRPr lang="en-US" dirty="0"/>
          </a:p>
        </p:txBody>
      </p:sp>
      <p:sp>
        <p:nvSpPr>
          <p:cNvPr id="288" name="TextBox 289"/>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The recordings are compiled into their own small snapshot, and two tools read it. Everything they answer comes from the recordings; the object model is only used to attach meaning to what the recordings name.</a:t>
            </a:r>
            <a:endParaRPr lang="en-US" dirty="0"/>
          </a:p>
        </p:txBody>
      </p:sp>
      <p:sp>
        <p:nvSpPr>
          <p:cNvPr id="289" name="Rect 290"/>
          <p:cNvSpPr/>
          <p:nvPr/>
        </p:nvSpPr>
        <p:spPr>
          <a:xfrm>
            <a:off x="539496" y="1645920"/>
            <a:ext cx="2423160" cy="960120"/>
          </a:xfrm>
          <a:prstGeom prst="roundRect">
            <a:avLst>
              <a:gd name="adj" fmla="val 4000"/>
            </a:avLst>
          </a:prstGeom>
          <a:solidFill>
            <a:srgbClr val="FFFFFF"/>
          </a:solidFill>
          <a:ln w="9525">
            <a:solidFill>
              <a:srgbClr val="647772"/>
            </a:solidFill>
          </a:ln>
        </p:spPr>
      </p:sp>
      <p:sp>
        <p:nvSpPr>
          <p:cNvPr id="290" name="TextBox 291"/>
          <p:cNvSpPr txBox="1"/>
          <p:nvPr/>
        </p:nvSpPr>
        <p:spPr>
          <a:xfrm>
            <a:off x="585216" y="1682496"/>
            <a:ext cx="2331720" cy="886968"/>
          </a:xfrm>
          <a:prstGeom prst="rect">
            <a:avLst/>
          </a:prstGeom>
          <a:noFill/>
          <a:ln>
            <a:noFill/>
          </a:ln>
        </p:spPr>
        <p:txBody>
          <a:bodyPr wrap="square" anchor="ctr" lIns="91440" tIns="45720" rIns="91440" bIns="45720"/>
          <a:lstStyle/>
          <a:p>
            <a:pPr algn="ctr"/>
            <a:r>
              <a:rPr lang="en-US" sz="850" b="1" dirty="0">
                <a:solidFill>
                  <a:srgbClr val="647772"/>
                </a:solidFill>
                <a:latin typeface="Arial"/>
                <a:cs typeface="Arial"/>
              </a:rPr>
              <a:t>Recordings</a:t>
            </a:r>
            <a:endParaRPr lang="en-US" dirty="0"/>
          </a:p>
          <a:p>
            <a:pPr algn="ctr">
              <a:spcBef>
                <a:spcPts val="200"/>
              </a:spcBef>
              <a:lnSpc>
                <a:spcPct val="106000"/>
              </a:lnSpc>
            </a:pPr>
            <a:r>
              <a:rPr lang="en-US" sz="720" dirty="0">
                <a:solidFill>
                  <a:srgbClr val="666666"/>
                </a:solidFill>
                <a:latin typeface="Arial"/>
                <a:cs typeface="Arial"/>
              </a:rPr>
              <a:t>both streams, every service</a:t>
            </a:r>
            <a:endParaRPr lang="en-US" dirty="0"/>
          </a:p>
        </p:txBody>
      </p:sp>
      <p:sp>
        <p:nvSpPr>
          <p:cNvPr id="291" name="Arrow 292"/>
          <p:cNvSpPr/>
          <p:nvPr/>
        </p:nvSpPr>
        <p:spPr>
          <a:xfrm>
            <a:off x="3035808" y="2103120"/>
            <a:ext cx="411480" cy="0"/>
          </a:xfrm>
          <a:prstGeom prst="line">
            <a:avLst/>
          </a:prstGeom>
          <a:ln w="15875">
            <a:solidFill>
              <a:srgbClr val="666666"/>
            </a:solidFill>
            <a:tailEnd type="triangle" w="med" len="med"/>
          </a:ln>
        </p:spPr>
      </p:sp>
      <p:sp>
        <p:nvSpPr>
          <p:cNvPr id="292" name="Rect 293"/>
          <p:cNvSpPr/>
          <p:nvPr/>
        </p:nvSpPr>
        <p:spPr>
          <a:xfrm>
            <a:off x="3511296" y="1645920"/>
            <a:ext cx="2423160" cy="960120"/>
          </a:xfrm>
          <a:prstGeom prst="roundRect">
            <a:avLst>
              <a:gd name="adj" fmla="val 4000"/>
            </a:avLst>
          </a:prstGeom>
          <a:solidFill>
            <a:srgbClr val="F3EEE1"/>
          </a:solidFill>
          <a:ln w="9525">
            <a:solidFill>
              <a:srgbClr val="AD9B68"/>
            </a:solidFill>
          </a:ln>
        </p:spPr>
      </p:sp>
      <p:sp>
        <p:nvSpPr>
          <p:cNvPr id="293" name="TextBox 294"/>
          <p:cNvSpPr txBox="1"/>
          <p:nvPr/>
        </p:nvSpPr>
        <p:spPr>
          <a:xfrm>
            <a:off x="3557016" y="1682496"/>
            <a:ext cx="2331720" cy="886968"/>
          </a:xfrm>
          <a:prstGeom prst="rect">
            <a:avLst/>
          </a:prstGeom>
          <a:noFill/>
          <a:ln>
            <a:noFill/>
          </a:ln>
        </p:spPr>
        <p:txBody>
          <a:bodyPr wrap="square" anchor="ctr" lIns="91440" tIns="45720" rIns="91440" bIns="45720"/>
          <a:lstStyle/>
          <a:p>
            <a:pPr algn="ctr"/>
            <a:r>
              <a:rPr lang="en-US" sz="850" b="1" dirty="0">
                <a:solidFill>
                  <a:srgbClr val="AD9B68"/>
                </a:solidFill>
                <a:latin typeface="Arial"/>
                <a:cs typeface="Arial"/>
              </a:rPr>
              <a:t>A small build</a:t>
            </a:r>
            <a:endParaRPr lang="en-US" dirty="0"/>
          </a:p>
          <a:p>
            <a:pPr algn="ctr">
              <a:spcBef>
                <a:spcPts val="200"/>
              </a:spcBef>
              <a:lnSpc>
                <a:spcPct val="106000"/>
              </a:lnSpc>
            </a:pPr>
            <a:r>
              <a:rPr lang="en-US" sz="720" dirty="0">
                <a:solidFill>
                  <a:srgbClr val="666666"/>
                </a:solidFill>
                <a:latin typeface="Arial"/>
                <a:cs typeface="Arial"/>
              </a:rPr>
              <a:t>pairs, classifies, resolves entities</a:t>
            </a:r>
            <a:endParaRPr lang="en-US" dirty="0"/>
          </a:p>
        </p:txBody>
      </p:sp>
      <p:sp>
        <p:nvSpPr>
          <p:cNvPr id="294" name="Arrow 295"/>
          <p:cNvSpPr/>
          <p:nvPr/>
        </p:nvSpPr>
        <p:spPr>
          <a:xfrm>
            <a:off x="5998464" y="2103120"/>
            <a:ext cx="411480" cy="0"/>
          </a:xfrm>
          <a:prstGeom prst="line">
            <a:avLst/>
          </a:prstGeom>
          <a:ln w="15875">
            <a:solidFill>
              <a:srgbClr val="666666"/>
            </a:solidFill>
            <a:tailEnd type="triangle" w="med" len="med"/>
          </a:ln>
        </p:spPr>
      </p:sp>
      <p:sp>
        <p:nvSpPr>
          <p:cNvPr id="295" name="Rect 296"/>
          <p:cNvSpPr/>
          <p:nvPr/>
        </p:nvSpPr>
        <p:spPr>
          <a:xfrm>
            <a:off x="6473952" y="1645920"/>
            <a:ext cx="2423160" cy="960120"/>
          </a:xfrm>
          <a:prstGeom prst="roundRect">
            <a:avLst>
              <a:gd name="adj" fmla="val 4000"/>
            </a:avLst>
          </a:prstGeom>
          <a:solidFill>
            <a:srgbClr val="E0F3F5"/>
          </a:solidFill>
          <a:ln w="9525">
            <a:solidFill>
              <a:srgbClr val="6DC1C9"/>
            </a:solidFill>
          </a:ln>
        </p:spPr>
      </p:sp>
      <p:sp>
        <p:nvSpPr>
          <p:cNvPr id="296" name="TextBox 297"/>
          <p:cNvSpPr txBox="1"/>
          <p:nvPr/>
        </p:nvSpPr>
        <p:spPr>
          <a:xfrm>
            <a:off x="6519672" y="1682496"/>
            <a:ext cx="2331720" cy="886968"/>
          </a:xfrm>
          <a:prstGeom prst="rect">
            <a:avLst/>
          </a:prstGeom>
          <a:noFill/>
          <a:ln>
            <a:noFill/>
          </a:ln>
        </p:spPr>
        <p:txBody>
          <a:bodyPr wrap="square" anchor="ctr" lIns="91440" tIns="45720" rIns="91440" bIns="45720"/>
          <a:lstStyle/>
          <a:p>
            <a:pPr algn="ctr"/>
            <a:r>
              <a:rPr lang="en-US" sz="850" b="1" dirty="0">
                <a:solidFill>
                  <a:srgbClr val="6DC1C9"/>
                </a:solidFill>
                <a:latin typeface="Arial"/>
                <a:cs typeface="Arial"/>
              </a:rPr>
              <a:t>Two tools</a:t>
            </a:r>
            <a:endParaRPr lang="en-US" dirty="0"/>
          </a:p>
          <a:p>
            <a:pPr algn="ctr">
              <a:spcBef>
                <a:spcPts val="200"/>
              </a:spcBef>
              <a:lnSpc>
                <a:spcPct val="106000"/>
              </a:lnSpc>
            </a:pPr>
            <a:r>
              <a:rPr lang="en-US" sz="720" dirty="0">
                <a:solidFill>
                  <a:srgbClr val="666666"/>
                </a:solidFill>
                <a:latin typeface="Arial"/>
                <a:cs typeface="Arial"/>
              </a:rPr>
              <a:t>on the existing knowledge service</a:t>
            </a:r>
            <a:endParaRPr lang="en-US" dirty="0"/>
          </a:p>
        </p:txBody>
      </p:sp>
      <p:sp>
        <p:nvSpPr>
          <p:cNvPr id="297" name="Arrow 298"/>
          <p:cNvSpPr/>
          <p:nvPr/>
        </p:nvSpPr>
        <p:spPr>
          <a:xfrm>
            <a:off x="8961120" y="2103120"/>
            <a:ext cx="411480" cy="0"/>
          </a:xfrm>
          <a:prstGeom prst="line">
            <a:avLst/>
          </a:prstGeom>
          <a:ln w="15875">
            <a:solidFill>
              <a:srgbClr val="666666"/>
            </a:solidFill>
            <a:tailEnd type="triangle" w="med" len="med"/>
          </a:ln>
        </p:spPr>
      </p:sp>
      <p:sp>
        <p:nvSpPr>
          <p:cNvPr id="298" name="Rect 299"/>
          <p:cNvSpPr/>
          <p:nvPr/>
        </p:nvSpPr>
        <p:spPr>
          <a:xfrm>
            <a:off x="9436608" y="1645920"/>
            <a:ext cx="2212848" cy="960120"/>
          </a:xfrm>
          <a:prstGeom prst="roundRect">
            <a:avLst>
              <a:gd name="adj" fmla="val 4000"/>
            </a:avLst>
          </a:prstGeom>
          <a:solidFill>
            <a:srgbClr val="FFFFFF"/>
          </a:solidFill>
          <a:ln w="9525">
            <a:solidFill>
              <a:srgbClr val="B77133"/>
            </a:solidFill>
          </a:ln>
        </p:spPr>
      </p:sp>
      <p:sp>
        <p:nvSpPr>
          <p:cNvPr id="299" name="TextBox 300"/>
          <p:cNvSpPr txBox="1"/>
          <p:nvPr/>
        </p:nvSpPr>
        <p:spPr>
          <a:xfrm>
            <a:off x="9482328" y="1682496"/>
            <a:ext cx="2121408" cy="886968"/>
          </a:xfrm>
          <a:prstGeom prst="rect">
            <a:avLst/>
          </a:prstGeom>
          <a:noFill/>
          <a:ln>
            <a:noFill/>
          </a:ln>
        </p:spPr>
        <p:txBody>
          <a:bodyPr wrap="square" anchor="ctr" lIns="91440" tIns="45720" rIns="91440" bIns="45720"/>
          <a:lstStyle/>
          <a:p>
            <a:pPr algn="ctr"/>
            <a:r>
              <a:rPr lang="en-US" sz="850" b="1" dirty="0">
                <a:solidFill>
                  <a:srgbClr val="B77133"/>
                </a:solidFill>
                <a:latin typeface="Arial"/>
                <a:cs typeface="Arial"/>
              </a:rPr>
              <a:t>The assistant</a:t>
            </a:r>
            <a:endParaRPr lang="en-US" dirty="0"/>
          </a:p>
          <a:p>
            <a:pPr algn="ctr">
              <a:spcBef>
                <a:spcPts val="200"/>
              </a:spcBef>
              <a:lnSpc>
                <a:spcPct val="106000"/>
              </a:lnSpc>
            </a:pPr>
            <a:r>
              <a:rPr lang="en-US" sz="720" dirty="0">
                <a:solidFill>
                  <a:srgbClr val="666666"/>
                </a:solidFill>
                <a:latin typeface="Arial"/>
                <a:cs typeface="Arial"/>
              </a:rPr>
              <a:t>starts informed</a:t>
            </a:r>
            <a:endParaRPr lang="en-US" dirty="0"/>
          </a:p>
        </p:txBody>
      </p:sp>
      <p:sp>
        <p:nvSpPr>
          <p:cNvPr id="300" name="TextBox 301"/>
          <p:cNvSpPr txBox="1"/>
          <p:nvPr/>
        </p:nvSpPr>
        <p:spPr>
          <a:xfrm>
            <a:off x="539496" y="2788920"/>
            <a:ext cx="5394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“Has this been investigated before?”</a:t>
            </a:r>
            <a:endParaRPr lang="en-US" dirty="0"/>
          </a:p>
        </p:txBody>
      </p:sp>
      <p:sp>
        <p:nvSpPr>
          <p:cNvPr id="301" name="Rect 302"/>
          <p:cNvSpPr/>
          <p:nvPr/>
        </p:nvSpPr>
        <p:spPr>
          <a:xfrm>
            <a:off x="539496" y="3081528"/>
            <a:ext cx="5394960" cy="1325880"/>
          </a:xfrm>
          <a:prstGeom prst="roundRect">
            <a:avLst>
              <a:gd name="adj" fmla="val 4000"/>
            </a:avLst>
          </a:prstGeom>
          <a:solidFill>
            <a:srgbClr val="FFFFFF"/>
          </a:solidFill>
          <a:ln w="6350">
            <a:solidFill>
              <a:srgbClr val="6DC1C9"/>
            </a:solidFill>
          </a:ln>
        </p:spPr>
      </p:sp>
      <p:sp>
        <p:nvSpPr>
          <p:cNvPr id="302" name="TextBox 303"/>
          <p:cNvSpPr txBox="1"/>
          <p:nvPr/>
        </p:nvSpPr>
        <p:spPr>
          <a:xfrm>
            <a:off x="630936" y="3118104"/>
            <a:ext cx="5212080" cy="125272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dirty="0">
                <a:solidFill>
                  <a:srgbClr val="333333"/>
                </a:solidFill>
                <a:latin typeface="Arial"/>
                <a:cs typeface="Arial"/>
              </a:rPr>
              <a:t>Returns the calls of the cheapest previous run that reached an answer, with their arguments — a path that is known to work.</a:t>
            </a:r>
            <a:endParaRPr lang="en-US" dirty="0"/>
          </a:p>
          <a:p>
            <a:pPr indent="-114300" marL="114300">
              <a:spcBef>
                <a:spcPts val="350"/>
              </a:spcBef>
              <a:lnSpc>
                <a:spcPct val="112000"/>
              </a:lnSpc>
              <a:buChar char="•"/>
            </a:pPr>
            <a:r>
              <a:rPr lang="en-US" sz="820" dirty="0">
                <a:solidFill>
                  <a:srgbClr val="333333"/>
                </a:solidFill>
                <a:latin typeface="Arial"/>
                <a:cs typeface="Arial"/>
              </a:rPr>
              <a:t>Shows what that run still wasted, so the same dead end is not repeated.</a:t>
            </a:r>
            <a:endParaRPr lang="en-US" dirty="0"/>
          </a:p>
          <a:p>
            <a:pPr indent="-114300" marL="114300">
              <a:spcBef>
                <a:spcPts val="350"/>
              </a:spcBef>
              <a:lnSpc>
                <a:spcPct val="112000"/>
              </a:lnSpc>
              <a:buChar char="•"/>
            </a:pPr>
            <a:r>
              <a:rPr lang="en-US" sz="820" dirty="0">
                <a:solidFill>
                  <a:srgbClr val="333333"/>
                </a:solidFill>
                <a:latin typeface="Arial"/>
                <a:cs typeface="Arial"/>
              </a:rPr>
              <a:t>Costs about a hundred and fifty tokens when there is nothing to find.</a:t>
            </a:r>
            <a:endParaRPr lang="en-US" dirty="0"/>
          </a:p>
        </p:txBody>
      </p:sp>
      <p:sp>
        <p:nvSpPr>
          <p:cNvPr id="303" name="TextBox 304"/>
          <p:cNvSpPr txBox="1"/>
          <p:nvPr/>
        </p:nvSpPr>
        <p:spPr>
          <a:xfrm>
            <a:off x="6254496" y="2788920"/>
            <a:ext cx="5394960" cy="274320"/>
          </a:xfrm>
          <a:prstGeom prst="rect">
            <a:avLst/>
          </a:prstGeom>
          <a:noFill/>
          <a:ln>
            <a:noFill/>
          </a:ln>
        </p:spPr>
        <p:txBody>
          <a:bodyPr wrap="square" anchor="t" lIns="91440" tIns="45720" rIns="91440" bIns="45720"/>
          <a:lstStyle/>
          <a:p>
            <a:pPr/>
            <a:r>
              <a:rPr lang="en-US" sz="950" b="1" dirty="0">
                <a:solidFill>
                  <a:srgbClr val="AD9B68"/>
                </a:solidFill>
                <a:latin typeface="Arial"/>
                <a:cs typeface="Arial"/>
              </a:rPr>
              <a:t>“What is this business entity here?”</a:t>
            </a:r>
            <a:endParaRPr lang="en-US" dirty="0"/>
          </a:p>
        </p:txBody>
      </p:sp>
      <p:sp>
        <p:nvSpPr>
          <p:cNvPr id="304" name="Rect 305"/>
          <p:cNvSpPr/>
          <p:nvPr/>
        </p:nvSpPr>
        <p:spPr>
          <a:xfrm>
            <a:off x="6254496" y="3081528"/>
            <a:ext cx="5394960" cy="1325880"/>
          </a:xfrm>
          <a:prstGeom prst="roundRect">
            <a:avLst>
              <a:gd name="adj" fmla="val 4000"/>
            </a:avLst>
          </a:prstGeom>
          <a:solidFill>
            <a:srgbClr val="FFFFFF"/>
          </a:solidFill>
          <a:ln w="6350">
            <a:solidFill>
              <a:srgbClr val="AD9B68"/>
            </a:solidFill>
          </a:ln>
        </p:spPr>
      </p:sp>
      <p:sp>
        <p:nvSpPr>
          <p:cNvPr id="305" name="TextBox 306"/>
          <p:cNvSpPr txBox="1"/>
          <p:nvPr/>
        </p:nvSpPr>
        <p:spPr>
          <a:xfrm>
            <a:off x="6345936" y="3118104"/>
            <a:ext cx="5212080" cy="125272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dirty="0">
                <a:solidFill>
                  <a:srgbClr val="333333"/>
                </a:solidFill>
                <a:latin typeface="Arial"/>
                <a:cs typeface="Arial"/>
              </a:rPr>
              <a:t>One call gives the tables and data entities behind a business term, its key fields, and what each field means.</a:t>
            </a:r>
            <a:endParaRPr lang="en-US" dirty="0"/>
          </a:p>
          <a:p>
            <a:pPr indent="-114300" marL="114300">
              <a:spcBef>
                <a:spcPts val="350"/>
              </a:spcBef>
              <a:lnSpc>
                <a:spcPct val="112000"/>
              </a:lnSpc>
              <a:buChar char="•"/>
            </a:pPr>
            <a:r>
              <a:rPr lang="en-US" sz="820" dirty="0">
                <a:solidFill>
                  <a:srgbClr val="333333"/>
                </a:solidFill>
                <a:latin typeface="Arial"/>
                <a:cs typeface="Arial"/>
              </a:rPr>
              <a:t>Each field carries how often real investigations have touched it — and which ones nobody has ever looked at.</a:t>
            </a:r>
            <a:endParaRPr lang="en-US" dirty="0"/>
          </a:p>
          <a:p>
            <a:pPr indent="-114300" marL="114300">
              <a:spcBef>
                <a:spcPts val="350"/>
              </a:spcBef>
              <a:lnSpc>
                <a:spcPct val="112000"/>
              </a:lnSpc>
              <a:buChar char="•"/>
            </a:pPr>
            <a:r>
              <a:rPr lang="en-US" sz="820" dirty="0">
                <a:solidFill>
                  <a:srgbClr val="333333"/>
                </a:solidFill>
                <a:latin typeface="Arial"/>
                <a:cs typeface="Arial"/>
              </a:rPr>
              <a:t>Replaces a chain of three or four exploratory calls.</a:t>
            </a:r>
            <a:endParaRPr lang="en-US" dirty="0"/>
          </a:p>
        </p:txBody>
      </p:sp>
      <p:sp>
        <p:nvSpPr>
          <p:cNvPr id="306" name="Rect 307"/>
          <p:cNvSpPr/>
          <p:nvPr/>
        </p:nvSpPr>
        <p:spPr>
          <a:xfrm>
            <a:off x="539496" y="4572000"/>
            <a:ext cx="11109960" cy="960120"/>
          </a:xfrm>
          <a:prstGeom prst="roundRect">
            <a:avLst>
              <a:gd name="adj" fmla="val 4000"/>
            </a:avLst>
          </a:prstGeom>
          <a:solidFill>
            <a:srgbClr val="E0F3F5"/>
          </a:solidFill>
          <a:ln>
            <a:noFill/>
          </a:ln>
        </p:spPr>
      </p:sp>
      <p:sp>
        <p:nvSpPr>
          <p:cNvPr id="307" name="TextBox 308"/>
          <p:cNvSpPr txBox="1"/>
          <p:nvPr/>
        </p:nvSpPr>
        <p:spPr>
          <a:xfrm>
            <a:off x="676656" y="4608576"/>
            <a:ext cx="10835640" cy="886968"/>
          </a:xfrm>
          <a:prstGeom prst="rect">
            <a:avLst/>
          </a:prstGeom>
          <a:noFill/>
          <a:ln>
            <a:noFill/>
          </a:ln>
        </p:spPr>
        <p:txBody>
          <a:bodyPr wrap="square" anchor="t" lIns="91440" tIns="45720" rIns="91440" bIns="45720"/>
          <a:lstStyle/>
          <a:p>
            <a:pPr>
              <a:lnSpc>
                <a:spcPct val="116000"/>
              </a:lnSpc>
            </a:pPr>
            <a:r>
              <a:rPr lang="en-US" sz="880" b="1" dirty="0">
                <a:solidFill>
                  <a:srgbClr val="647772"/>
                </a:solidFill>
                <a:latin typeface="Arial"/>
                <a:cs typeface="Arial"/>
              </a:rPr>
              <a:t>Both levers at once: </a:t>
            </a:r>
            <a:r>
              <a:rPr lang="en-US" sz="880" dirty="0">
                <a:solidFill>
                  <a:srgbClr val="333333"/>
                </a:solidFill>
                <a:latin typeface="Arial"/>
                <a:cs typeface="Arial"/>
              </a:rPr>
              <a:t>fewer calls and less payload for the same question is the token saving; starting from a path that already worked, with the meaning of each field attached, is the quality gain. They are the same mechanism seen from two sides — and because the tools are themselves recorded, their effect is measured rather than claimed.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PH 326"/>
          <p:cNvSpPr>
            <a:spLocks noGrp="1"/>
          </p:cNvSpPr>
          <p:nvPr>
            <p:ph type="title"/>
          </p:nvPr>
        </p:nvSpPr>
        <p:spPr/>
        <p:txBody>
          <a:bodyPr/>
          <a:lstStyle/>
          <a:p>
            <a:pPr/>
            <a:r>
              <a:rPr lang="en-US" sz="1800" b="1" dirty="0">
                <a:solidFill>
                  <a:srgbClr val="000000"/>
                </a:solidFill>
                <a:latin typeface="Arial"/>
                <a:cs typeface="Arial"/>
              </a:rPr>
              <a:t>What it measures — and the first reading</a:t>
            </a:r>
            <a:endParaRPr lang="en-US" dirty="0"/>
          </a:p>
        </p:txBody>
      </p:sp>
      <p:sp>
        <p:nvSpPr>
          <p:cNvPr id="309" name="TextBox 310"/>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The same recordings feed a report for people. These are the numbers from the first eighteen recorded investigations: a baseline, not an achievement.</a:t>
            </a:r>
            <a:endParaRPr lang="en-US" dirty="0"/>
          </a:p>
        </p:txBody>
      </p:sp>
      <p:sp>
        <p:nvSpPr>
          <p:cNvPr id="310" name="TextBox 311"/>
          <p:cNvSpPr txBox="1"/>
          <p:nvPr/>
        </p:nvSpPr>
        <p:spPr>
          <a:xfrm>
            <a:off x="539496" y="1600200"/>
            <a:ext cx="2103120" cy="402336"/>
          </a:xfrm>
          <a:prstGeom prst="rect">
            <a:avLst/>
          </a:prstGeom>
          <a:noFill/>
          <a:ln>
            <a:noFill/>
          </a:ln>
        </p:spPr>
        <p:txBody>
          <a:bodyPr wrap="square" anchor="ctr" lIns="91440" tIns="45720" rIns="91440" bIns="45720"/>
          <a:lstStyle/>
          <a:p>
            <a:pPr algn="ctr"/>
            <a:r>
              <a:rPr lang="en-US" sz="1800" b="1" dirty="0">
                <a:solidFill>
                  <a:srgbClr val="6DC1C9"/>
                </a:solidFill>
                <a:latin typeface="Arial"/>
                <a:cs typeface="Arial"/>
              </a:rPr>
              <a:t>6.5</a:t>
            </a:r>
            <a:endParaRPr lang="en-US" dirty="0"/>
          </a:p>
        </p:txBody>
      </p:sp>
      <p:sp>
        <p:nvSpPr>
          <p:cNvPr id="311" name="TextBox 312"/>
          <p:cNvSpPr txBox="1"/>
          <p:nvPr/>
        </p:nvSpPr>
        <p:spPr>
          <a:xfrm>
            <a:off x="539496" y="2002536"/>
            <a:ext cx="2103120" cy="566928"/>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calls for a question that reached an answer, in the middle case</a:t>
            </a:r>
            <a:endParaRPr lang="en-US" dirty="0"/>
          </a:p>
        </p:txBody>
      </p:sp>
      <p:sp>
        <p:nvSpPr>
          <p:cNvPr id="312" name="TextBox 313"/>
          <p:cNvSpPr txBox="1"/>
          <p:nvPr/>
        </p:nvSpPr>
        <p:spPr>
          <a:xfrm>
            <a:off x="2788920" y="1600200"/>
            <a:ext cx="2103120" cy="402336"/>
          </a:xfrm>
          <a:prstGeom prst="rect">
            <a:avLst/>
          </a:prstGeom>
          <a:noFill/>
          <a:ln>
            <a:noFill/>
          </a:ln>
        </p:spPr>
        <p:txBody>
          <a:bodyPr wrap="square" anchor="ctr" lIns="91440" tIns="45720" rIns="91440" bIns="45720"/>
          <a:lstStyle/>
          <a:p>
            <a:pPr algn="ctr"/>
            <a:r>
              <a:rPr lang="en-US" sz="1800" b="1" dirty="0">
                <a:solidFill>
                  <a:srgbClr val="813341"/>
                </a:solidFill>
                <a:latin typeface="Arial"/>
                <a:cs typeface="Arial"/>
              </a:rPr>
              <a:t>29%</a:t>
            </a:r>
            <a:endParaRPr lang="en-US" dirty="0"/>
          </a:p>
        </p:txBody>
      </p:sp>
      <p:sp>
        <p:nvSpPr>
          <p:cNvPr id="313" name="TextBox 314"/>
          <p:cNvSpPr txBox="1"/>
          <p:nvPr/>
        </p:nvSpPr>
        <p:spPr>
          <a:xfrm>
            <a:off x="2788920" y="2002536"/>
            <a:ext cx="2103120" cy="566928"/>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of calls returned nothing useful, failed, or repeated another</a:t>
            </a:r>
            <a:endParaRPr lang="en-US" dirty="0"/>
          </a:p>
        </p:txBody>
      </p:sp>
      <p:sp>
        <p:nvSpPr>
          <p:cNvPr id="314" name="TextBox 315"/>
          <p:cNvSpPr txBox="1"/>
          <p:nvPr/>
        </p:nvSpPr>
        <p:spPr>
          <a:xfrm>
            <a:off x="5038344" y="1600200"/>
            <a:ext cx="2103120" cy="402336"/>
          </a:xfrm>
          <a:prstGeom prst="rect">
            <a:avLst/>
          </a:prstGeom>
          <a:noFill/>
          <a:ln>
            <a:noFill/>
          </a:ln>
        </p:spPr>
        <p:txBody>
          <a:bodyPr wrap="square" anchor="ctr" lIns="91440" tIns="45720" rIns="91440" bIns="45720"/>
          <a:lstStyle/>
          <a:p>
            <a:pPr algn="ctr"/>
            <a:r>
              <a:rPr lang="en-US" sz="1800" b="1" dirty="0">
                <a:solidFill>
                  <a:srgbClr val="B77133"/>
                </a:solidFill>
                <a:latin typeface="Arial"/>
                <a:cs typeface="Arial"/>
              </a:rPr>
              <a:t>28%</a:t>
            </a:r>
            <a:endParaRPr lang="en-US" dirty="0"/>
          </a:p>
        </p:txBody>
      </p:sp>
      <p:sp>
        <p:nvSpPr>
          <p:cNvPr id="315" name="TextBox 316"/>
          <p:cNvSpPr txBox="1"/>
          <p:nvPr/>
        </p:nvSpPr>
        <p:spPr>
          <a:xfrm>
            <a:off x="5038344" y="2002536"/>
            <a:ext cx="2103120" cy="566928"/>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of calls sat under a stated plan — the target is above ninety</a:t>
            </a:r>
            <a:endParaRPr lang="en-US" dirty="0"/>
          </a:p>
        </p:txBody>
      </p:sp>
      <p:sp>
        <p:nvSpPr>
          <p:cNvPr id="316" name="TextBox 317"/>
          <p:cNvSpPr txBox="1"/>
          <p:nvPr/>
        </p:nvSpPr>
        <p:spPr>
          <a:xfrm>
            <a:off x="7287768" y="1600200"/>
            <a:ext cx="2103120" cy="402336"/>
          </a:xfrm>
          <a:prstGeom prst="rect">
            <a:avLst/>
          </a:prstGeom>
          <a:noFill/>
          <a:ln>
            <a:noFill/>
          </a:ln>
        </p:spPr>
        <p:txBody>
          <a:bodyPr wrap="square" anchor="ctr" lIns="91440" tIns="45720" rIns="91440" bIns="45720"/>
          <a:lstStyle/>
          <a:p>
            <a:pPr algn="ctr"/>
            <a:r>
              <a:rPr lang="en-US" sz="1800" b="1" dirty="0">
                <a:solidFill>
                  <a:srgbClr val="AD9B68"/>
                </a:solidFill>
                <a:latin typeface="Arial"/>
                <a:cs typeface="Arial"/>
              </a:rPr>
              <a:t>20%</a:t>
            </a:r>
            <a:endParaRPr lang="en-US" dirty="0"/>
          </a:p>
        </p:txBody>
      </p:sp>
      <p:sp>
        <p:nvSpPr>
          <p:cNvPr id="317" name="TextBox 318"/>
          <p:cNvSpPr txBox="1"/>
          <p:nvPr/>
        </p:nvSpPr>
        <p:spPr>
          <a:xfrm>
            <a:off x="7287768" y="2002536"/>
            <a:ext cx="2103120" cy="566928"/>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of the entities the assistant expected were the ones it actually touched</a:t>
            </a:r>
            <a:endParaRPr lang="en-US" dirty="0"/>
          </a:p>
        </p:txBody>
      </p:sp>
      <p:sp>
        <p:nvSpPr>
          <p:cNvPr id="318" name="TextBox 319"/>
          <p:cNvSpPr txBox="1"/>
          <p:nvPr/>
        </p:nvSpPr>
        <p:spPr>
          <a:xfrm>
            <a:off x="9537192" y="1600200"/>
            <a:ext cx="2103120" cy="402336"/>
          </a:xfrm>
          <a:prstGeom prst="rect">
            <a:avLst/>
          </a:prstGeom>
          <a:noFill/>
          <a:ln>
            <a:noFill/>
          </a:ln>
        </p:spPr>
        <p:txBody>
          <a:bodyPr wrap="square" anchor="ctr" lIns="91440" tIns="45720" rIns="91440" bIns="45720"/>
          <a:lstStyle/>
          <a:p>
            <a:pPr algn="ctr"/>
            <a:r>
              <a:rPr lang="en-US" sz="1800" b="1" dirty="0">
                <a:solidFill>
                  <a:srgbClr val="647772"/>
                </a:solidFill>
                <a:latin typeface="Arial"/>
                <a:cs typeface="Arial"/>
              </a:rPr>
              <a:t>252 KB</a:t>
            </a:r>
            <a:endParaRPr lang="en-US" dirty="0"/>
          </a:p>
        </p:txBody>
      </p:sp>
      <p:sp>
        <p:nvSpPr>
          <p:cNvPr id="319" name="TextBox 320"/>
          <p:cNvSpPr txBox="1"/>
          <p:nvPr/>
        </p:nvSpPr>
        <p:spPr>
          <a:xfrm>
            <a:off x="9537192" y="2002536"/>
            <a:ext cx="2103120" cy="566928"/>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the entire recordings snapshot — it builds in seconds</a:t>
            </a:r>
            <a:endParaRPr lang="en-US" dirty="0"/>
          </a:p>
        </p:txBody>
      </p:sp>
      <p:sp>
        <p:nvSpPr>
          <p:cNvPr id="320" name="TextBox 321"/>
          <p:cNvSpPr txBox="1"/>
          <p:nvPr/>
        </p:nvSpPr>
        <p:spPr>
          <a:xfrm>
            <a:off x="539496" y="2697480"/>
            <a:ext cx="11109960" cy="27432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How to read these honestly</a:t>
            </a:r>
            <a:endParaRPr lang="en-US" dirty="0"/>
          </a:p>
        </p:txBody>
      </p:sp>
      <p:sp>
        <p:nvSpPr>
          <p:cNvPr id="321" name="Rect 322"/>
          <p:cNvSpPr/>
          <p:nvPr/>
        </p:nvSpPr>
        <p:spPr>
          <a:xfrm>
            <a:off x="539496" y="2990088"/>
            <a:ext cx="11109960" cy="1234440"/>
          </a:xfrm>
          <a:prstGeom prst="roundRect">
            <a:avLst>
              <a:gd name="adj" fmla="val 4000"/>
            </a:avLst>
          </a:prstGeom>
          <a:solidFill>
            <a:srgbClr val="FFFFFF"/>
          </a:solidFill>
          <a:ln w="6350">
            <a:solidFill>
              <a:srgbClr val="CCCCCC"/>
            </a:solidFill>
          </a:ln>
        </p:spPr>
      </p:sp>
      <p:sp>
        <p:nvSpPr>
          <p:cNvPr id="322" name="TextBox 323"/>
          <p:cNvSpPr txBox="1"/>
          <p:nvPr/>
        </p:nvSpPr>
        <p:spPr>
          <a:xfrm>
            <a:off x="649224" y="3026664"/>
            <a:ext cx="10890504" cy="116128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333333"/>
                </a:solidFill>
                <a:latin typeface="Arial"/>
                <a:cs typeface="Arial"/>
              </a:rPr>
              <a:t>Two of these figures are measurement faults, not behaviour. </a:t>
            </a:r>
            <a:r>
              <a:rPr lang="en-US" sz="820" dirty="0">
                <a:solidFill>
                  <a:srgbClr val="333333"/>
                </a:solidFill>
                <a:latin typeface="Arial"/>
                <a:cs typeface="Arial"/>
              </a:rPr>
              <a:t>The way the plan and the expected entities are picked out of a conversation misses them in common cases. That is being fixed before either number is used to judge anything.</a:t>
            </a:r>
            <a:endParaRPr lang="en-US" dirty="0"/>
          </a:p>
          <a:p>
            <a:pPr indent="-114300" marL="114300">
              <a:spcBef>
                <a:spcPts val="350"/>
              </a:spcBef>
              <a:lnSpc>
                <a:spcPct val="112000"/>
              </a:lnSpc>
              <a:buChar char="•"/>
            </a:pPr>
            <a:r>
              <a:rPr lang="en-US" sz="820" b="1" dirty="0">
                <a:solidFill>
                  <a:srgbClr val="333333"/>
                </a:solidFill>
                <a:latin typeface="Arial"/>
                <a:cs typeface="Arial"/>
              </a:rPr>
              <a:t>Waste is read per tool, never globally. </a:t>
            </a:r>
            <a:r>
              <a:rPr lang="en-US" sz="820" dirty="0">
                <a:solidFill>
                  <a:srgbClr val="333333"/>
                </a:solidFill>
                <a:latin typeface="Arial"/>
                <a:cs typeface="Arial"/>
              </a:rPr>
              <a:t>A tool whose job is to check whether something exists is supposed to come back empty often; a tool that returns a full table description is not.</a:t>
            </a:r>
            <a:endParaRPr lang="en-US" dirty="0"/>
          </a:p>
          <a:p>
            <a:pPr indent="-114300" marL="114300">
              <a:spcBef>
                <a:spcPts val="350"/>
              </a:spcBef>
              <a:lnSpc>
                <a:spcPct val="112000"/>
              </a:lnSpc>
              <a:buChar char="•"/>
            </a:pPr>
            <a:r>
              <a:rPr lang="en-US" sz="820" b="1" dirty="0">
                <a:solidFill>
                  <a:srgbClr val="333333"/>
                </a:solidFill>
                <a:latin typeface="Arial"/>
                <a:cs typeface="Arial"/>
              </a:rPr>
              <a:t>What a trace cannot tell us. </a:t>
            </a:r>
            <a:r>
              <a:rPr lang="en-US" sz="820" dirty="0">
                <a:solidFill>
                  <a:srgbClr val="333333"/>
                </a:solidFill>
                <a:latin typeface="Arial"/>
                <a:cs typeface="Arial"/>
              </a:rPr>
              <a:t>Whether an answer was correct. These figures measure the process — the discipline, the cost, the coverage. Correctness needs a separate test set, and the deck does not pretend otherwise.</a:t>
            </a:r>
            <a:endParaRPr lang="en-US" dirty="0"/>
          </a:p>
        </p:txBody>
      </p:sp>
      <p:sp>
        <p:nvSpPr>
          <p:cNvPr id="323" name="Rect 324"/>
          <p:cNvSpPr/>
          <p:nvPr/>
        </p:nvSpPr>
        <p:spPr>
          <a:xfrm>
            <a:off x="539496" y="4370832"/>
            <a:ext cx="11109960" cy="1143000"/>
          </a:xfrm>
          <a:prstGeom prst="roundRect">
            <a:avLst>
              <a:gd name="adj" fmla="val 4000"/>
            </a:avLst>
          </a:prstGeom>
          <a:solidFill>
            <a:srgbClr val="F5F5F5"/>
          </a:solidFill>
          <a:ln>
            <a:noFill/>
          </a:ln>
        </p:spPr>
      </p:sp>
      <p:sp>
        <p:nvSpPr>
          <p:cNvPr id="324" name="TextBox 325"/>
          <p:cNvSpPr txBox="1"/>
          <p:nvPr/>
        </p:nvSpPr>
        <p:spPr>
          <a:xfrm>
            <a:off x="676656" y="4407408"/>
            <a:ext cx="10835640" cy="1069848"/>
          </a:xfrm>
          <a:prstGeom prst="rect">
            <a:avLst/>
          </a:prstGeom>
          <a:noFill/>
          <a:ln>
            <a:noFill/>
          </a:ln>
        </p:spPr>
        <p:txBody>
          <a:bodyPr wrap="square" anchor="t" lIns="91440" tIns="45720" rIns="91440" bIns="45720"/>
          <a:lstStyle/>
          <a:p>
            <a:pPr/>
            <a:r>
              <a:rPr lang="en-US" sz="900" b="1" dirty="0">
                <a:solidFill>
                  <a:srgbClr val="6DC1C9"/>
                </a:solidFill>
                <a:latin typeface="Arial"/>
                <a:cs typeface="Arial"/>
              </a:rPr>
              <a:t>Why a baseline is worth more than a good number</a:t>
            </a:r>
            <a:endParaRPr lang="en-US" dirty="0"/>
          </a:p>
          <a:p>
            <a:pPr>
              <a:spcBef>
                <a:spcPts val="300"/>
              </a:spcBef>
              <a:lnSpc>
                <a:spcPct val="116000"/>
              </a:lnSpc>
            </a:pPr>
            <a:r>
              <a:rPr lang="en-US" sz="870" dirty="0">
                <a:solidFill>
                  <a:srgbClr val="333333"/>
                </a:solidFill>
                <a:latin typeface="Arial"/>
                <a:cs typeface="Arial"/>
              </a:rPr>
              <a:t>Until now, every improvement to how the assistant works — a rewritten instruction, a reshaped response, a new tool — was judged by impression. With these figures recorded per week, per question and per tool, the next change either moves them or it does not. That is the whole point of measuring the system with the system.</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H 327"/>
          <p:cNvSpPr>
            <a:spLocks noGrp="1"/>
          </p:cNvSpPr>
          <p:nvPr>
            <p:ph type="title"/>
          </p:nvPr>
        </p:nvSpPr>
        <p:spPr/>
        <p:txBody>
          <a:bodyPr/>
          <a:lstStyle/>
          <a:p>
            <a:pPr/>
            <a:r>
              <a:rPr lang="en-US" sz="1800" b="1" dirty="0">
                <a:solidFill>
                  <a:srgbClr val="000000"/>
                </a:solidFill>
                <a:latin typeface="Arial"/>
                <a:cs typeface="Arial"/>
              </a:rPr>
              <a:t>Beyond D365 F&amp;O</a:t>
            </a:r>
            <a:endParaRPr lang="en-US" dirty="0"/>
          </a:p>
        </p:txBody>
      </p:sp>
      <p:sp>
        <p:nvSpPr>
          <p:cNvPr id="327" name="Rect 328"/>
          <p:cNvSpPr/>
          <p:nvPr/>
        </p:nvSpPr>
        <p:spPr>
          <a:xfrm>
            <a:off x="539496" y="1920240"/>
            <a:ext cx="1417320" cy="1417320"/>
          </a:xfrm>
          <a:prstGeom prst="roundRect">
            <a:avLst>
              <a:gd name="adj" fmla="val 8000"/>
            </a:avLst>
          </a:prstGeom>
          <a:solidFill>
            <a:srgbClr val="6DC1C9"/>
          </a:solidFill>
          <a:ln>
            <a:noFill/>
          </a:ln>
        </p:spPr>
      </p:sp>
      <p:sp>
        <p:nvSpPr>
          <p:cNvPr id="328" name="TextBox 329"/>
          <p:cNvSpPr txBox="1"/>
          <p:nvPr/>
        </p:nvSpPr>
        <p:spPr>
          <a:xfrm>
            <a:off x="539496" y="1920240"/>
            <a:ext cx="1417320" cy="1417320"/>
          </a:xfrm>
          <a:prstGeom prst="rect">
            <a:avLst/>
          </a:prstGeom>
          <a:noFill/>
          <a:ln>
            <a:noFill/>
          </a:ln>
        </p:spPr>
        <p:txBody>
          <a:bodyPr wrap="square" anchor="ctr" lIns="91440" tIns="45720" rIns="91440" bIns="45720"/>
          <a:lstStyle/>
          <a:p>
            <a:pPr algn="ctr"/>
            <a:r>
              <a:rPr lang="en-US" sz="4000" b="1" dirty="0">
                <a:solidFill>
                  <a:srgbClr val="FFFFFF"/>
                </a:solidFill>
                <a:latin typeface="Arial"/>
                <a:cs typeface="Arial"/>
              </a:rPr>
              <a:t>04</a:t>
            </a:r>
            <a:endParaRPr lang="en-US" dirty="0"/>
          </a:p>
        </p:txBody>
      </p:sp>
      <p:sp>
        <p:nvSpPr>
          <p:cNvPr id="329" name="TextBox 330"/>
          <p:cNvSpPr txBox="1"/>
          <p:nvPr/>
        </p:nvSpPr>
        <p:spPr>
          <a:xfrm>
            <a:off x="2331720" y="2148840"/>
            <a:ext cx="9052560" cy="1097280"/>
          </a:xfrm>
          <a:prstGeom prst="rect">
            <a:avLst/>
          </a:prstGeom>
          <a:noFill/>
          <a:ln>
            <a:noFill/>
          </a:ln>
        </p:spPr>
        <p:txBody>
          <a:bodyPr wrap="square" anchor="t" lIns="91440" tIns="45720" rIns="91440" bIns="45720"/>
          <a:lstStyle/>
          <a:p>
            <a:pPr>
              <a:lnSpc>
                <a:spcPct val="118000"/>
              </a:lnSpc>
            </a:pPr>
            <a:r>
              <a:rPr lang="en-US" sz="1250" dirty="0">
                <a:solidFill>
                  <a:srgbClr val="333333"/>
                </a:solidFill>
                <a:latin typeface="Arial"/>
                <a:cs typeface="Arial"/>
              </a:rPr>
              <a:t>Nothing in the design is specific to one product. Any system that can describe itself — another ERP, a data warehouse, a plain database — fits the same pattern, and once two of them are described the model can be shown what they have in common.</a:t>
            </a:r>
            <a:endParaRPr lang="en-US" dirty="0"/>
          </a:p>
        </p:txBody>
      </p:sp>
      <p:sp>
        <p:nvSpPr>
          <p:cNvPr id="330" name="Line 331"/>
          <p:cNvSpPr/>
          <p:nvPr/>
        </p:nvSpPr>
        <p:spPr>
          <a:xfrm>
            <a:off x="539496" y="3657600"/>
            <a:ext cx="10881360" cy="0"/>
          </a:xfrm>
          <a:prstGeom prst="line">
            <a:avLst/>
          </a:prstGeom>
          <a:ln w="19050">
            <a:solidFill>
              <a:srgbClr val="6DC1C9"/>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H 351"/>
          <p:cNvSpPr>
            <a:spLocks noGrp="1"/>
          </p:cNvSpPr>
          <p:nvPr>
            <p:ph type="title"/>
          </p:nvPr>
        </p:nvSpPr>
        <p:spPr/>
        <p:txBody>
          <a:bodyPr/>
          <a:lstStyle/>
          <a:p>
            <a:pPr/>
            <a:r>
              <a:rPr lang="en-US" sz="1800" b="1" dirty="0">
                <a:solidFill>
                  <a:srgbClr val="000000"/>
                </a:solidFill>
                <a:latin typeface="Arial"/>
                <a:cs typeface="Arial"/>
              </a:rPr>
              <a:t>The same pattern on any system</a:t>
            </a:r>
            <a:endParaRPr lang="en-US" dirty="0"/>
          </a:p>
        </p:txBody>
      </p:sp>
      <p:sp>
        <p:nvSpPr>
          <p:cNvPr id="331" name="TextBox 332"/>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Everything after the first stage is generic. Only the reader that extracts the description has to be written once per system — and it is the smallest part.</a:t>
            </a:r>
            <a:endParaRPr lang="en-US" dirty="0"/>
          </a:p>
        </p:txBody>
      </p:sp>
      <p:sp>
        <p:nvSpPr>
          <p:cNvPr id="332" name="Rect 333"/>
          <p:cNvSpPr/>
          <p:nvPr/>
        </p:nvSpPr>
        <p:spPr>
          <a:xfrm>
            <a:off x="539496" y="1664208"/>
            <a:ext cx="10881360" cy="896112"/>
          </a:xfrm>
          <a:prstGeom prst="roundRect">
            <a:avLst>
              <a:gd name="adj" fmla="val 4000"/>
            </a:avLst>
          </a:prstGeom>
          <a:solidFill>
            <a:srgbClr val="FFFFFF"/>
          </a:solidFill>
          <a:ln w="9525">
            <a:solidFill>
              <a:srgbClr val="AD9B68"/>
            </a:solidFill>
          </a:ln>
        </p:spPr>
      </p:sp>
      <p:sp>
        <p:nvSpPr>
          <p:cNvPr id="333" name="TextBox 334"/>
          <p:cNvSpPr txBox="1"/>
          <p:nvPr/>
        </p:nvSpPr>
        <p:spPr>
          <a:xfrm>
            <a:off x="667512" y="1709928"/>
            <a:ext cx="10607040" cy="292608"/>
          </a:xfrm>
          <a:prstGeom prst="rect">
            <a:avLst/>
          </a:prstGeom>
          <a:noFill/>
          <a:ln>
            <a:noFill/>
          </a:ln>
        </p:spPr>
        <p:txBody>
          <a:bodyPr wrap="square" anchor="t" lIns="91440" tIns="45720" rIns="91440" bIns="45720"/>
          <a:lstStyle/>
          <a:p>
            <a:pPr/>
            <a:r>
              <a:rPr lang="en-US" sz="950" b="1" dirty="0">
                <a:solidFill>
                  <a:srgbClr val="AD9B68"/>
                </a:solidFill>
                <a:latin typeface="Arial"/>
                <a:cs typeface="Arial"/>
              </a:rPr>
              <a:t>What must be written per system</a:t>
            </a:r>
            <a:endParaRPr lang="en-US" dirty="0"/>
          </a:p>
        </p:txBody>
      </p:sp>
      <p:sp>
        <p:nvSpPr>
          <p:cNvPr id="334" name="TextBox 335"/>
          <p:cNvSpPr txBox="1"/>
          <p:nvPr/>
        </p:nvSpPr>
        <p:spPr>
          <a:xfrm>
            <a:off x="667512" y="1993392"/>
            <a:ext cx="10607040" cy="530352"/>
          </a:xfrm>
          <a:prstGeom prst="rect">
            <a:avLst/>
          </a:prstGeom>
          <a:noFill/>
          <a:ln>
            <a:noFill/>
          </a:ln>
        </p:spPr>
        <p:txBody>
          <a:bodyPr wrap="square" anchor="t" lIns="91440" tIns="45720" rIns="91440" bIns="45720"/>
          <a:lstStyle/>
          <a:p>
            <a:pPr>
              <a:lnSpc>
                <a:spcPct val="112000"/>
              </a:lnSpc>
            </a:pPr>
            <a:r>
              <a:rPr lang="en-US" sz="850" dirty="0">
                <a:solidFill>
                  <a:srgbClr val="333333"/>
                </a:solidFill>
                <a:latin typeface="Arial"/>
                <a:cs typeface="Arial"/>
              </a:rPr>
              <a:t>A reader that walks the source system’s own description — its catalogue, its exported definitions, its data dictionary — and writes it into the same compact format. Days of work, not months.</a:t>
            </a:r>
            <a:endParaRPr lang="en-US" dirty="0"/>
          </a:p>
        </p:txBody>
      </p:sp>
      <p:sp>
        <p:nvSpPr>
          <p:cNvPr id="335" name="Rect 336"/>
          <p:cNvSpPr/>
          <p:nvPr/>
        </p:nvSpPr>
        <p:spPr>
          <a:xfrm>
            <a:off x="539496" y="2706624"/>
            <a:ext cx="10881360" cy="896112"/>
          </a:xfrm>
          <a:prstGeom prst="roundRect">
            <a:avLst>
              <a:gd name="adj" fmla="val 4000"/>
            </a:avLst>
          </a:prstGeom>
          <a:solidFill>
            <a:srgbClr val="FFFFFF"/>
          </a:solidFill>
          <a:ln w="9525">
            <a:solidFill>
              <a:srgbClr val="6DC1C9"/>
            </a:solidFill>
          </a:ln>
        </p:spPr>
      </p:sp>
      <p:sp>
        <p:nvSpPr>
          <p:cNvPr id="336" name="TextBox 337"/>
          <p:cNvSpPr txBox="1"/>
          <p:nvPr/>
        </p:nvSpPr>
        <p:spPr>
          <a:xfrm>
            <a:off x="667512" y="2752344"/>
            <a:ext cx="10607040" cy="292608"/>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What is reused unchanged</a:t>
            </a:r>
            <a:endParaRPr lang="en-US" dirty="0"/>
          </a:p>
        </p:txBody>
      </p:sp>
      <p:sp>
        <p:nvSpPr>
          <p:cNvPr id="337" name="TextBox 338"/>
          <p:cNvSpPr txBox="1"/>
          <p:nvPr/>
        </p:nvSpPr>
        <p:spPr>
          <a:xfrm>
            <a:off x="667512" y="3035808"/>
            <a:ext cx="10607040" cy="530352"/>
          </a:xfrm>
          <a:prstGeom prst="rect">
            <a:avLst/>
          </a:prstGeom>
          <a:noFill/>
          <a:ln>
            <a:noFill/>
          </a:ln>
        </p:spPr>
        <p:txBody>
          <a:bodyPr wrap="square" anchor="t" lIns="91440" tIns="45720" rIns="91440" bIns="45720"/>
          <a:lstStyle/>
          <a:p>
            <a:pPr>
              <a:lnSpc>
                <a:spcPct val="112000"/>
              </a:lnSpc>
            </a:pPr>
            <a:r>
              <a:rPr lang="en-US" sz="850" dirty="0">
                <a:solidFill>
                  <a:srgbClr val="333333"/>
                </a:solidFill>
                <a:latin typeface="Arial"/>
                <a:cs typeface="Arial"/>
              </a:rPr>
              <a:t>The storage format, the tool contract, the hosting, the sign-in, the freshness rules, the response discipline, the recordings and the report. This is the large part, and it is already built and tested.</a:t>
            </a:r>
            <a:endParaRPr lang="en-US" dirty="0"/>
          </a:p>
        </p:txBody>
      </p:sp>
      <p:sp>
        <p:nvSpPr>
          <p:cNvPr id="338" name="Rect 339"/>
          <p:cNvSpPr/>
          <p:nvPr/>
        </p:nvSpPr>
        <p:spPr>
          <a:xfrm>
            <a:off x="539496" y="3749040"/>
            <a:ext cx="10881360" cy="896112"/>
          </a:xfrm>
          <a:prstGeom prst="roundRect">
            <a:avLst>
              <a:gd name="adj" fmla="val 4000"/>
            </a:avLst>
          </a:prstGeom>
          <a:solidFill>
            <a:srgbClr val="FFFFFF"/>
          </a:solidFill>
          <a:ln w="9525">
            <a:solidFill>
              <a:srgbClr val="2E7D32"/>
            </a:solidFill>
          </a:ln>
        </p:spPr>
      </p:sp>
      <p:sp>
        <p:nvSpPr>
          <p:cNvPr id="339" name="TextBox 340"/>
          <p:cNvSpPr txBox="1"/>
          <p:nvPr/>
        </p:nvSpPr>
        <p:spPr>
          <a:xfrm>
            <a:off x="667512" y="3794760"/>
            <a:ext cx="10607040" cy="292608"/>
          </a:xfrm>
          <a:prstGeom prst="rect">
            <a:avLst/>
          </a:prstGeom>
          <a:noFill/>
          <a:ln>
            <a:noFill/>
          </a:ln>
        </p:spPr>
        <p:txBody>
          <a:bodyPr wrap="square" anchor="t" lIns="91440" tIns="45720" rIns="91440" bIns="45720"/>
          <a:lstStyle/>
          <a:p>
            <a:pPr/>
            <a:r>
              <a:rPr lang="en-US" sz="950" b="1" dirty="0">
                <a:solidFill>
                  <a:srgbClr val="2E7D32"/>
                </a:solidFill>
                <a:latin typeface="Arial"/>
                <a:cs typeface="Arial"/>
              </a:rPr>
              <a:t>What each new system gains immediately</a:t>
            </a:r>
            <a:endParaRPr lang="en-US" dirty="0"/>
          </a:p>
        </p:txBody>
      </p:sp>
      <p:sp>
        <p:nvSpPr>
          <p:cNvPr id="340" name="TextBox 341"/>
          <p:cNvSpPr txBox="1"/>
          <p:nvPr/>
        </p:nvSpPr>
        <p:spPr>
          <a:xfrm>
            <a:off x="667512" y="4078224"/>
            <a:ext cx="10607040" cy="530352"/>
          </a:xfrm>
          <a:prstGeom prst="rect">
            <a:avLst/>
          </a:prstGeom>
          <a:noFill/>
          <a:ln>
            <a:noFill/>
          </a:ln>
        </p:spPr>
        <p:txBody>
          <a:bodyPr wrap="square" anchor="t" lIns="91440" tIns="45720" rIns="91440" bIns="45720"/>
          <a:lstStyle/>
          <a:p>
            <a:pPr>
              <a:lnSpc>
                <a:spcPct val="112000"/>
              </a:lnSpc>
            </a:pPr>
            <a:r>
              <a:rPr lang="en-US" sz="850" dirty="0">
                <a:solidFill>
                  <a:srgbClr val="333333"/>
                </a:solidFill>
                <a:latin typeface="Arial"/>
                <a:cs typeface="Arial"/>
              </a:rPr>
              <a:t>The same guarantees: verified names, stated limits, a dated snapshot, reproducible answers — and the same measured cost control, from day one rather than after a year of tuning.</a:t>
            </a:r>
            <a:endParaRPr lang="en-US" dirty="0"/>
          </a:p>
        </p:txBody>
      </p:sp>
      <p:sp>
        <p:nvSpPr>
          <p:cNvPr id="341" name="TextBox 342"/>
          <p:cNvSpPr txBox="1"/>
          <p:nvPr/>
        </p:nvSpPr>
        <p:spPr>
          <a:xfrm>
            <a:off x="539496" y="4828032"/>
            <a:ext cx="11109960" cy="27432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Candidates, in the order they make sense</a:t>
            </a:r>
            <a:endParaRPr lang="en-US" dirty="0"/>
          </a:p>
        </p:txBody>
      </p:sp>
      <p:sp>
        <p:nvSpPr>
          <p:cNvPr id="342" name="Rect 343"/>
          <p:cNvSpPr/>
          <p:nvPr/>
        </p:nvSpPr>
        <p:spPr>
          <a:xfrm>
            <a:off x="539496" y="5120640"/>
            <a:ext cx="2651760" cy="475488"/>
          </a:xfrm>
          <a:prstGeom prst="roundRect">
            <a:avLst>
              <a:gd name="adj" fmla="val 5000"/>
            </a:avLst>
          </a:prstGeom>
          <a:solidFill>
            <a:srgbClr val="F5F5F5"/>
          </a:solidFill>
          <a:ln>
            <a:noFill/>
          </a:ln>
        </p:spPr>
      </p:sp>
      <p:sp>
        <p:nvSpPr>
          <p:cNvPr id="343" name="TextBox 344"/>
          <p:cNvSpPr txBox="1"/>
          <p:nvPr/>
        </p:nvSpPr>
        <p:spPr>
          <a:xfrm>
            <a:off x="594360" y="5138928"/>
            <a:ext cx="2542032" cy="438912"/>
          </a:xfrm>
          <a:prstGeom prst="rect">
            <a:avLst/>
          </a:prstGeom>
          <a:noFill/>
          <a:ln>
            <a:noFill/>
          </a:ln>
        </p:spPr>
        <p:txBody>
          <a:bodyPr wrap="square" anchor="t" lIns="91440" tIns="45720" rIns="91440" bIns="45720"/>
          <a:lstStyle/>
          <a:p>
            <a:pPr algn="ctr"/>
            <a:r>
              <a:rPr lang="en-US" sz="800" b="1" dirty="0">
                <a:solidFill>
                  <a:srgbClr val="813341"/>
                </a:solidFill>
                <a:latin typeface="Arial"/>
                <a:cs typeface="Arial"/>
              </a:rPr>
              <a:t>A second ERP</a:t>
            </a:r>
            <a:endParaRPr lang="en-US" dirty="0"/>
          </a:p>
          <a:p>
            <a:pPr algn="ctr">
              <a:lnSpc>
                <a:spcPct val="100000"/>
              </a:lnSpc>
            </a:pPr>
            <a:r>
              <a:rPr lang="en-US" sz="690" dirty="0">
                <a:solidFill>
                  <a:srgbClr val="666666"/>
                </a:solidFill>
                <a:latin typeface="Arial"/>
                <a:cs typeface="Arial"/>
              </a:rPr>
              <a:t>the legacy system a site still runs on</a:t>
            </a:r>
            <a:endParaRPr lang="en-US" dirty="0"/>
          </a:p>
        </p:txBody>
      </p:sp>
      <p:sp>
        <p:nvSpPr>
          <p:cNvPr id="344" name="Rect 345"/>
          <p:cNvSpPr/>
          <p:nvPr/>
        </p:nvSpPr>
        <p:spPr>
          <a:xfrm>
            <a:off x="3319272" y="5120640"/>
            <a:ext cx="2651760" cy="475488"/>
          </a:xfrm>
          <a:prstGeom prst="roundRect">
            <a:avLst>
              <a:gd name="adj" fmla="val 5000"/>
            </a:avLst>
          </a:prstGeom>
          <a:solidFill>
            <a:srgbClr val="F5F5F5"/>
          </a:solidFill>
          <a:ln>
            <a:noFill/>
          </a:ln>
        </p:spPr>
      </p:sp>
      <p:sp>
        <p:nvSpPr>
          <p:cNvPr id="345" name="TextBox 346"/>
          <p:cNvSpPr txBox="1"/>
          <p:nvPr/>
        </p:nvSpPr>
        <p:spPr>
          <a:xfrm>
            <a:off x="3374136" y="5138928"/>
            <a:ext cx="2542032" cy="438912"/>
          </a:xfrm>
          <a:prstGeom prst="rect">
            <a:avLst/>
          </a:prstGeom>
          <a:noFill/>
          <a:ln>
            <a:noFill/>
          </a:ln>
        </p:spPr>
        <p:txBody>
          <a:bodyPr wrap="square" anchor="t" lIns="91440" tIns="45720" rIns="91440" bIns="45720"/>
          <a:lstStyle/>
          <a:p>
            <a:pPr algn="ctr"/>
            <a:r>
              <a:rPr lang="en-US" sz="800" b="1" dirty="0">
                <a:solidFill>
                  <a:srgbClr val="647772"/>
                </a:solidFill>
                <a:latin typeface="Arial"/>
                <a:cs typeface="Arial"/>
              </a:rPr>
              <a:t>A data warehouse</a:t>
            </a:r>
            <a:endParaRPr lang="en-US" dirty="0"/>
          </a:p>
          <a:p>
            <a:pPr algn="ctr">
              <a:lnSpc>
                <a:spcPct val="100000"/>
              </a:lnSpc>
            </a:pPr>
            <a:r>
              <a:rPr lang="en-US" sz="690" dirty="0">
                <a:solidFill>
                  <a:srgbClr val="666666"/>
                </a:solidFill>
                <a:latin typeface="Arial"/>
                <a:cs typeface="Arial"/>
              </a:rPr>
              <a:t>the reporting model everyone already queries</a:t>
            </a:r>
            <a:endParaRPr lang="en-US" dirty="0"/>
          </a:p>
        </p:txBody>
      </p:sp>
      <p:sp>
        <p:nvSpPr>
          <p:cNvPr id="346" name="Rect 347"/>
          <p:cNvSpPr/>
          <p:nvPr/>
        </p:nvSpPr>
        <p:spPr>
          <a:xfrm>
            <a:off x="6099048" y="5120640"/>
            <a:ext cx="2651760" cy="475488"/>
          </a:xfrm>
          <a:prstGeom prst="roundRect">
            <a:avLst>
              <a:gd name="adj" fmla="val 5000"/>
            </a:avLst>
          </a:prstGeom>
          <a:solidFill>
            <a:srgbClr val="F5F5F5"/>
          </a:solidFill>
          <a:ln>
            <a:noFill/>
          </a:ln>
        </p:spPr>
      </p:sp>
      <p:sp>
        <p:nvSpPr>
          <p:cNvPr id="347" name="TextBox 348"/>
          <p:cNvSpPr txBox="1"/>
          <p:nvPr/>
        </p:nvSpPr>
        <p:spPr>
          <a:xfrm>
            <a:off x="6153912" y="5138928"/>
            <a:ext cx="2542032" cy="438912"/>
          </a:xfrm>
          <a:prstGeom prst="rect">
            <a:avLst/>
          </a:prstGeom>
          <a:noFill/>
          <a:ln>
            <a:noFill/>
          </a:ln>
        </p:spPr>
        <p:txBody>
          <a:bodyPr wrap="square" anchor="t" lIns="91440" tIns="45720" rIns="91440" bIns="45720"/>
          <a:lstStyle/>
          <a:p>
            <a:pPr algn="ctr"/>
            <a:r>
              <a:rPr lang="en-US" sz="800" b="1" dirty="0">
                <a:solidFill>
                  <a:srgbClr val="B77133"/>
                </a:solidFill>
                <a:latin typeface="Arial"/>
                <a:cs typeface="Arial"/>
              </a:rPr>
              <a:t>An integration layer</a:t>
            </a:r>
            <a:endParaRPr lang="en-US" dirty="0"/>
          </a:p>
          <a:p>
            <a:pPr algn="ctr">
              <a:lnSpc>
                <a:spcPct val="100000"/>
              </a:lnSpc>
            </a:pPr>
            <a:r>
              <a:rPr lang="en-US" sz="690" dirty="0">
                <a:solidFill>
                  <a:srgbClr val="666666"/>
                </a:solidFill>
                <a:latin typeface="Arial"/>
                <a:cs typeface="Arial"/>
              </a:rPr>
              <a:t>the messages and mappings between systems</a:t>
            </a:r>
            <a:endParaRPr lang="en-US" dirty="0"/>
          </a:p>
        </p:txBody>
      </p:sp>
      <p:sp>
        <p:nvSpPr>
          <p:cNvPr id="348" name="Rect 349"/>
          <p:cNvSpPr/>
          <p:nvPr/>
        </p:nvSpPr>
        <p:spPr>
          <a:xfrm>
            <a:off x="8878824" y="5120640"/>
            <a:ext cx="2651760" cy="475488"/>
          </a:xfrm>
          <a:prstGeom prst="roundRect">
            <a:avLst>
              <a:gd name="adj" fmla="val 5000"/>
            </a:avLst>
          </a:prstGeom>
          <a:solidFill>
            <a:srgbClr val="F5F5F5"/>
          </a:solidFill>
          <a:ln>
            <a:noFill/>
          </a:ln>
        </p:spPr>
      </p:sp>
      <p:sp>
        <p:nvSpPr>
          <p:cNvPr id="349" name="TextBox 350"/>
          <p:cNvSpPr txBox="1"/>
          <p:nvPr/>
        </p:nvSpPr>
        <p:spPr>
          <a:xfrm>
            <a:off x="8933688" y="5138928"/>
            <a:ext cx="2542032" cy="438912"/>
          </a:xfrm>
          <a:prstGeom prst="rect">
            <a:avLst/>
          </a:prstGeom>
          <a:noFill/>
          <a:ln>
            <a:noFill/>
          </a:ln>
        </p:spPr>
        <p:txBody>
          <a:bodyPr wrap="square" anchor="t" lIns="91440" tIns="45720" rIns="91440" bIns="45720"/>
          <a:lstStyle/>
          <a:p>
            <a:pPr algn="ctr"/>
            <a:r>
              <a:rPr lang="en-US" sz="800" b="1" dirty="0">
                <a:solidFill>
                  <a:srgbClr val="AD9B68"/>
                </a:solidFill>
                <a:latin typeface="Arial"/>
                <a:cs typeface="Arial"/>
              </a:rPr>
              <a:t>Internal documentation</a:t>
            </a:r>
            <a:endParaRPr lang="en-US" dirty="0"/>
          </a:p>
          <a:p>
            <a:pPr algn="ctr">
              <a:lnSpc>
                <a:spcPct val="100000"/>
              </a:lnSpc>
            </a:pPr>
            <a:r>
              <a:rPr lang="en-US" sz="690" dirty="0">
                <a:solidFill>
                  <a:srgbClr val="666666"/>
                </a:solidFill>
                <a:latin typeface="Arial"/>
                <a:cs typeface="Arial"/>
              </a:rPr>
              <a:t>decisions and runbooks, as a described source rather than loose files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H 366"/>
          <p:cNvSpPr>
            <a:spLocks noGrp="1"/>
          </p:cNvSpPr>
          <p:nvPr>
            <p:ph type="title"/>
          </p:nvPr>
        </p:nvSpPr>
        <p:spPr/>
        <p:txBody>
          <a:bodyPr/>
          <a:lstStyle/>
          <a:p>
            <a:pPr/>
            <a:r>
              <a:rPr lang="en-US" sz="1800" b="1" dirty="0">
                <a:solidFill>
                  <a:srgbClr val="000000"/>
                </a:solidFill>
                <a:latin typeface="Arial"/>
                <a:cs typeface="Arial"/>
              </a:rPr>
              <a:t>Seeing what two systems have in common</a:t>
            </a:r>
            <a:endParaRPr lang="en-US" dirty="0"/>
          </a:p>
        </p:txBody>
      </p:sp>
      <p:sp>
        <p:nvSpPr>
          <p:cNvPr id="351" name="TextBox 352"/>
          <p:cNvSpPr txBox="1"/>
          <p:nvPr/>
        </p:nvSpPr>
        <p:spPr>
          <a:xfrm>
            <a:off x="539496" y="1170432"/>
            <a:ext cx="11109960" cy="420624"/>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Two ERPs never share a table name. They do share the business: both have a customer, a purchase order, a stock movement. A small shared list of business concepts is what lets the model connect the two.</a:t>
            </a:r>
            <a:endParaRPr lang="en-US" dirty="0"/>
          </a:p>
        </p:txBody>
      </p:sp>
      <p:sp>
        <p:nvSpPr>
          <p:cNvPr id="352" name="Rect 353"/>
          <p:cNvSpPr/>
          <p:nvPr/>
        </p:nvSpPr>
        <p:spPr>
          <a:xfrm>
            <a:off x="539496" y="1645920"/>
            <a:ext cx="3017520" cy="1463040"/>
          </a:xfrm>
          <a:prstGeom prst="roundRect">
            <a:avLst>
              <a:gd name="adj" fmla="val 4000"/>
            </a:avLst>
          </a:prstGeom>
          <a:solidFill>
            <a:srgbClr val="FFFFFF"/>
          </a:solidFill>
          <a:ln w="9525">
            <a:solidFill>
              <a:srgbClr val="813341"/>
            </a:solidFill>
          </a:ln>
        </p:spPr>
      </p:sp>
      <p:sp>
        <p:nvSpPr>
          <p:cNvPr id="353" name="TextBox 354"/>
          <p:cNvSpPr txBox="1"/>
          <p:nvPr/>
        </p:nvSpPr>
        <p:spPr>
          <a:xfrm>
            <a:off x="585216" y="1682496"/>
            <a:ext cx="2926080" cy="1389888"/>
          </a:xfrm>
          <a:prstGeom prst="rect">
            <a:avLst/>
          </a:prstGeom>
          <a:noFill/>
          <a:ln>
            <a:noFill/>
          </a:ln>
        </p:spPr>
        <p:txBody>
          <a:bodyPr wrap="square" anchor="ctr" lIns="91440" tIns="45720" rIns="91440" bIns="45720"/>
          <a:lstStyle/>
          <a:p>
            <a:pPr algn="ctr"/>
            <a:r>
              <a:rPr lang="en-US" sz="880" b="1" dirty="0">
                <a:solidFill>
                  <a:srgbClr val="813341"/>
                </a:solidFill>
                <a:latin typeface="Arial"/>
                <a:cs typeface="Arial"/>
              </a:rPr>
              <a:t>The legacy system</a:t>
            </a:r>
            <a:endParaRPr lang="en-US" dirty="0"/>
          </a:p>
          <a:p>
            <a:pPr algn="ctr">
              <a:spcBef>
                <a:spcPts val="200"/>
              </a:spcBef>
              <a:lnSpc>
                <a:spcPct val="106000"/>
              </a:lnSpc>
            </a:pPr>
            <a:r>
              <a:rPr lang="en-US" sz="720" dirty="0">
                <a:solidFill>
                  <a:srgbClr val="666666"/>
                </a:solidFill>
                <a:latin typeface="Arial"/>
                <a:cs typeface="Arial"/>
              </a:rPr>
              <a:t>its own tables, its own names, described by its own reader</a:t>
            </a:r>
            <a:endParaRPr lang="en-US" dirty="0"/>
          </a:p>
        </p:txBody>
      </p:sp>
      <p:sp>
        <p:nvSpPr>
          <p:cNvPr id="354" name="Rect 355"/>
          <p:cNvSpPr/>
          <p:nvPr/>
        </p:nvSpPr>
        <p:spPr>
          <a:xfrm>
            <a:off x="4498848" y="1645920"/>
            <a:ext cx="3200400" cy="1463040"/>
          </a:xfrm>
          <a:prstGeom prst="roundRect">
            <a:avLst>
              <a:gd name="adj" fmla="val 4000"/>
            </a:avLst>
          </a:prstGeom>
          <a:solidFill>
            <a:srgbClr val="E0F3F5"/>
          </a:solidFill>
          <a:ln w="9525">
            <a:solidFill>
              <a:srgbClr val="6DC1C9"/>
            </a:solidFill>
          </a:ln>
        </p:spPr>
      </p:sp>
      <p:sp>
        <p:nvSpPr>
          <p:cNvPr id="355" name="TextBox 356"/>
          <p:cNvSpPr txBox="1"/>
          <p:nvPr/>
        </p:nvSpPr>
        <p:spPr>
          <a:xfrm>
            <a:off x="4544568" y="1682496"/>
            <a:ext cx="3108960" cy="1389888"/>
          </a:xfrm>
          <a:prstGeom prst="rect">
            <a:avLst/>
          </a:prstGeom>
          <a:noFill/>
          <a:ln>
            <a:noFill/>
          </a:ln>
        </p:spPr>
        <p:txBody>
          <a:bodyPr wrap="square" anchor="ctr" lIns="91440" tIns="45720" rIns="91440" bIns="45720"/>
          <a:lstStyle/>
          <a:p>
            <a:pPr algn="ctr"/>
            <a:r>
              <a:rPr lang="en-US" sz="900" b="1" dirty="0">
                <a:solidFill>
                  <a:srgbClr val="6DC1C9"/>
                </a:solidFill>
                <a:latin typeface="Arial"/>
                <a:cs typeface="Arial"/>
              </a:rPr>
              <a:t>The business concept</a:t>
            </a:r>
            <a:endParaRPr lang="en-US" dirty="0"/>
          </a:p>
          <a:p>
            <a:pPr algn="ctr">
              <a:spcBef>
                <a:spcPts val="200"/>
              </a:spcBef>
              <a:lnSpc>
                <a:spcPct val="106000"/>
              </a:lnSpc>
            </a:pPr>
            <a:r>
              <a:rPr lang="en-US" sz="720" dirty="0">
                <a:solidFill>
                  <a:srgbClr val="666666"/>
                </a:solidFill>
                <a:latin typeface="Arial"/>
                <a:cs typeface="Arial"/>
              </a:rPr>
              <a:t>“customer” — one shared identifier, with the names people actually use for it</a:t>
            </a:r>
            <a:endParaRPr lang="en-US" dirty="0"/>
          </a:p>
        </p:txBody>
      </p:sp>
      <p:sp>
        <p:nvSpPr>
          <p:cNvPr id="356" name="Rect 357"/>
          <p:cNvSpPr/>
          <p:nvPr/>
        </p:nvSpPr>
        <p:spPr>
          <a:xfrm>
            <a:off x="8631936" y="1645920"/>
            <a:ext cx="3017520" cy="1463040"/>
          </a:xfrm>
          <a:prstGeom prst="roundRect">
            <a:avLst>
              <a:gd name="adj" fmla="val 4000"/>
            </a:avLst>
          </a:prstGeom>
          <a:solidFill>
            <a:srgbClr val="FFFFFF"/>
          </a:solidFill>
          <a:ln w="9525">
            <a:solidFill>
              <a:srgbClr val="AD9B68"/>
            </a:solidFill>
          </a:ln>
        </p:spPr>
      </p:sp>
      <p:sp>
        <p:nvSpPr>
          <p:cNvPr id="357" name="TextBox 358"/>
          <p:cNvSpPr txBox="1"/>
          <p:nvPr/>
        </p:nvSpPr>
        <p:spPr>
          <a:xfrm>
            <a:off x="8677656" y="1682496"/>
            <a:ext cx="2926080" cy="1389888"/>
          </a:xfrm>
          <a:prstGeom prst="rect">
            <a:avLst/>
          </a:prstGeom>
          <a:noFill/>
          <a:ln>
            <a:noFill/>
          </a:ln>
        </p:spPr>
        <p:txBody>
          <a:bodyPr wrap="square" anchor="ctr" lIns="91440" tIns="45720" rIns="91440" bIns="45720"/>
          <a:lstStyle/>
          <a:p>
            <a:pPr algn="ctr"/>
            <a:r>
              <a:rPr lang="en-US" sz="880" b="1" dirty="0">
                <a:solidFill>
                  <a:srgbClr val="AD9B68"/>
                </a:solidFill>
                <a:latin typeface="Arial"/>
                <a:cs typeface="Arial"/>
              </a:rPr>
              <a:t>D365 F&amp;O</a:t>
            </a:r>
            <a:endParaRPr lang="en-US" dirty="0"/>
          </a:p>
          <a:p>
            <a:pPr algn="ctr">
              <a:spcBef>
                <a:spcPts val="200"/>
              </a:spcBef>
              <a:lnSpc>
                <a:spcPct val="106000"/>
              </a:lnSpc>
            </a:pPr>
            <a:r>
              <a:rPr lang="en-US" sz="720" dirty="0">
                <a:solidFill>
                  <a:srgbClr val="666666"/>
                </a:solidFill>
                <a:latin typeface="Arial"/>
                <a:cs typeface="Arial"/>
              </a:rPr>
              <a:t>its tables, data entities and key fields, from the existing snapshot</a:t>
            </a:r>
            <a:endParaRPr lang="en-US" dirty="0"/>
          </a:p>
        </p:txBody>
      </p:sp>
      <p:sp>
        <p:nvSpPr>
          <p:cNvPr id="358" name="Arrow 359"/>
          <p:cNvSpPr/>
          <p:nvPr/>
        </p:nvSpPr>
        <p:spPr>
          <a:xfrm>
            <a:off x="3639312" y="2359152"/>
            <a:ext cx="777240" cy="0"/>
          </a:xfrm>
          <a:prstGeom prst="line">
            <a:avLst/>
          </a:prstGeom>
          <a:ln w="15875">
            <a:solidFill>
              <a:srgbClr val="666666"/>
            </a:solidFill>
            <a:tailEnd type="triangle" w="med" len="med"/>
          </a:ln>
        </p:spPr>
      </p:sp>
      <p:sp>
        <p:nvSpPr>
          <p:cNvPr id="359" name="Arrow 360"/>
          <p:cNvSpPr/>
          <p:nvPr/>
        </p:nvSpPr>
        <p:spPr>
          <a:xfrm>
            <a:off x="7790688" y="2359152"/>
            <a:ext cx="777240" cy="0"/>
          </a:xfrm>
          <a:prstGeom prst="line">
            <a:avLst/>
          </a:prstGeom>
          <a:ln w="15875">
            <a:solidFill>
              <a:srgbClr val="666666"/>
            </a:solidFill>
            <a:tailEnd type="triangle" w="med" len="med"/>
          </a:ln>
        </p:spPr>
      </p:sp>
      <p:sp>
        <p:nvSpPr>
          <p:cNvPr id="360" name="TextBox 361"/>
          <p:cNvSpPr txBox="1"/>
          <p:nvPr/>
        </p:nvSpPr>
        <p:spPr>
          <a:xfrm>
            <a:off x="539496" y="3273552"/>
            <a:ext cx="11109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What that one link makes possible</a:t>
            </a:r>
            <a:endParaRPr lang="en-US" dirty="0"/>
          </a:p>
        </p:txBody>
      </p:sp>
      <p:sp>
        <p:nvSpPr>
          <p:cNvPr id="361" name="Rect 362"/>
          <p:cNvSpPr/>
          <p:nvPr/>
        </p:nvSpPr>
        <p:spPr>
          <a:xfrm>
            <a:off x="539496" y="3566160"/>
            <a:ext cx="11109960" cy="1417320"/>
          </a:xfrm>
          <a:prstGeom prst="roundRect">
            <a:avLst>
              <a:gd name="adj" fmla="val 4000"/>
            </a:avLst>
          </a:prstGeom>
          <a:solidFill>
            <a:srgbClr val="FFFFFF"/>
          </a:solidFill>
          <a:ln w="6350">
            <a:solidFill>
              <a:srgbClr val="6DC1C9"/>
            </a:solidFill>
          </a:ln>
        </p:spPr>
      </p:sp>
      <p:sp>
        <p:nvSpPr>
          <p:cNvPr id="362" name="TextBox 363"/>
          <p:cNvSpPr txBox="1"/>
          <p:nvPr/>
        </p:nvSpPr>
        <p:spPr>
          <a:xfrm>
            <a:off x="649224" y="3602736"/>
            <a:ext cx="10890504" cy="1344168"/>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6DC1C9"/>
                </a:solidFill>
                <a:latin typeface="Arial"/>
                <a:cs typeface="Arial"/>
              </a:rPr>
              <a:t>The same question, asked twice. </a:t>
            </a:r>
            <a:r>
              <a:rPr lang="en-US" sz="820" dirty="0">
                <a:solidFill>
                  <a:srgbClr val="333333"/>
                </a:solidFill>
                <a:latin typeface="Arial"/>
                <a:cs typeface="Arial"/>
              </a:rPr>
              <a:t>“How is a customer identified here?” runs against both systems under one key, and the two recordings can be laid side by side — automatically, because the calls are replayable.</a:t>
            </a:r>
            <a:endParaRPr lang="en-US" dirty="0"/>
          </a:p>
          <a:p>
            <a:pPr indent="-114300" marL="114300">
              <a:spcBef>
                <a:spcPts val="350"/>
              </a:spcBef>
              <a:lnSpc>
                <a:spcPct val="112000"/>
              </a:lnSpc>
              <a:buChar char="•"/>
            </a:pPr>
            <a:r>
              <a:rPr lang="en-US" sz="820" b="1" dirty="0">
                <a:solidFill>
                  <a:srgbClr val="6DC1C9"/>
                </a:solidFill>
                <a:latin typeface="Arial"/>
                <a:cs typeface="Arial"/>
              </a:rPr>
              <a:t>A mapping built from evidence. </a:t>
            </a:r>
            <a:r>
              <a:rPr lang="en-US" sz="820" dirty="0">
                <a:solidFill>
                  <a:srgbClr val="333333"/>
                </a:solidFill>
                <a:latin typeface="Arial"/>
                <a:cs typeface="Arial"/>
              </a:rPr>
              <a:t>Instead of a workshop guessing which legacy field corresponds to which target field, the pairs come from investigations that actually looked, with the reasoning attached.</a:t>
            </a:r>
            <a:endParaRPr lang="en-US" dirty="0"/>
          </a:p>
          <a:p>
            <a:pPr indent="-114300" marL="114300">
              <a:spcBef>
                <a:spcPts val="350"/>
              </a:spcBef>
              <a:lnSpc>
                <a:spcPct val="112000"/>
              </a:lnSpc>
              <a:buChar char="•"/>
            </a:pPr>
            <a:r>
              <a:rPr lang="en-US" sz="820" b="1" dirty="0">
                <a:solidFill>
                  <a:srgbClr val="6DC1C9"/>
                </a:solidFill>
                <a:latin typeface="Arial"/>
                <a:cs typeface="Arial"/>
              </a:rPr>
              <a:t>Effort aimed where it matters. </a:t>
            </a:r>
            <a:r>
              <a:rPr lang="en-US" sz="820" dirty="0">
                <a:solidFill>
                  <a:srgbClr val="333333"/>
                </a:solidFill>
                <a:latin typeface="Arial"/>
                <a:cs typeface="Arial"/>
              </a:rPr>
              <a:t>The recordings show which fields people really use. A field nobody has looked at in a hundred investigations is not where the cleansing budget goes first.</a:t>
            </a:r>
            <a:endParaRPr lang="en-US" dirty="0"/>
          </a:p>
          <a:p>
            <a:pPr indent="-114300" marL="114300">
              <a:spcBef>
                <a:spcPts val="350"/>
              </a:spcBef>
              <a:lnSpc>
                <a:spcPct val="112000"/>
              </a:lnSpc>
              <a:buChar char="•"/>
            </a:pPr>
            <a:r>
              <a:rPr lang="en-US" sz="820" b="1" dirty="0">
                <a:solidFill>
                  <a:srgbClr val="6DC1C9"/>
                </a:solidFill>
                <a:latin typeface="Arial"/>
                <a:cs typeface="Arial"/>
              </a:rPr>
              <a:t>Rules that travel. </a:t>
            </a:r>
            <a:r>
              <a:rPr lang="en-US" sz="820" dirty="0">
                <a:solidFill>
                  <a:srgbClr val="333333"/>
                </a:solidFill>
                <a:latin typeface="Arial"/>
                <a:cs typeface="Arial"/>
              </a:rPr>
              <a:t>A data quality rule expressed against the business concept rather than a table name applies to the next system without rewriting.</a:t>
            </a:r>
            <a:endParaRPr lang="en-US" dirty="0"/>
          </a:p>
        </p:txBody>
      </p:sp>
      <p:sp>
        <p:nvSpPr>
          <p:cNvPr id="363" name="Rect 364"/>
          <p:cNvSpPr/>
          <p:nvPr/>
        </p:nvSpPr>
        <p:spPr>
          <a:xfrm>
            <a:off x="539496" y="5120640"/>
            <a:ext cx="11109960" cy="475488"/>
          </a:xfrm>
          <a:prstGeom prst="roundRect">
            <a:avLst>
              <a:gd name="adj" fmla="val 4000"/>
            </a:avLst>
          </a:prstGeom>
          <a:solidFill>
            <a:srgbClr val="E0F3F5"/>
          </a:solidFill>
          <a:ln>
            <a:noFill/>
          </a:ln>
        </p:spPr>
      </p:sp>
      <p:sp>
        <p:nvSpPr>
          <p:cNvPr id="364" name="TextBox 365"/>
          <p:cNvSpPr txBox="1"/>
          <p:nvPr/>
        </p:nvSpPr>
        <p:spPr>
          <a:xfrm>
            <a:off x="676656" y="5138928"/>
            <a:ext cx="10835640" cy="438912"/>
          </a:xfrm>
          <a:prstGeom prst="rect">
            <a:avLst/>
          </a:prstGeom>
          <a:noFill/>
          <a:ln>
            <a:noFill/>
          </a:ln>
        </p:spPr>
        <p:txBody>
          <a:bodyPr wrap="square" anchor="t" lIns="91440" tIns="45720" rIns="91440" bIns="45720"/>
          <a:lstStyle/>
          <a:p>
            <a:pPr>
              <a:lnSpc>
                <a:spcPct val="112000"/>
              </a:lnSpc>
            </a:pPr>
            <a:r>
              <a:rPr lang="en-US" sz="850" b="1" dirty="0">
                <a:solidFill>
                  <a:srgbClr val="647772"/>
                </a:solidFill>
                <a:latin typeface="Arial"/>
                <a:cs typeface="Arial"/>
              </a:rPr>
              <a:t>Status: </a:t>
            </a:r>
            <a:r>
              <a:rPr lang="en-US" sz="850" dirty="0">
                <a:solidFill>
                  <a:srgbClr val="333333"/>
                </a:solidFill>
                <a:latin typeface="Arial"/>
                <a:cs typeface="Arial"/>
              </a:rPr>
              <a:t>the shared list exists today with sixty business concepts, each already linked to its D365 tables and key fields. It is in use, resolving what the assistant touches. The second system is what is missing, not the mechanism.</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H 390"/>
          <p:cNvSpPr>
            <a:spLocks noGrp="1"/>
          </p:cNvSpPr>
          <p:nvPr>
            <p:ph type="title"/>
          </p:nvPr>
        </p:nvSpPr>
        <p:spPr/>
        <p:txBody>
          <a:bodyPr/>
          <a:lstStyle/>
          <a:p>
            <a:pPr/>
            <a:r>
              <a:rPr lang="en-US" sz="1800" b="1" dirty="0">
                <a:solidFill>
                  <a:srgbClr val="000000"/>
                </a:solidFill>
                <a:latin typeface="Arial"/>
                <a:cs typeface="Arial"/>
              </a:rPr>
              <a:t>In short</a:t>
            </a:r>
            <a:endParaRPr lang="en-US" dirty="0"/>
          </a:p>
        </p:txBody>
      </p:sp>
      <p:sp>
        <p:nvSpPr>
          <p:cNvPr id="366" name="TextBox 367"/>
          <p:cNvSpPr txBox="1"/>
          <p:nvPr/>
        </p:nvSpPr>
        <p:spPr>
          <a:xfrm>
            <a:off x="539496" y="128016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01</a:t>
            </a:r>
            <a:endParaRPr lang="en-US" dirty="0"/>
          </a:p>
        </p:txBody>
      </p:sp>
      <p:sp>
        <p:nvSpPr>
          <p:cNvPr id="367" name="TextBox 368"/>
          <p:cNvSpPr txBox="1"/>
          <p:nvPr/>
        </p:nvSpPr>
        <p:spPr>
          <a:xfrm>
            <a:off x="1325880" y="128016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Metadata, never data</a:t>
            </a:r>
            <a:endParaRPr lang="en-US" dirty="0"/>
          </a:p>
        </p:txBody>
      </p:sp>
      <p:sp>
        <p:nvSpPr>
          <p:cNvPr id="368" name="TextBox 369"/>
          <p:cNvSpPr txBox="1"/>
          <p:nvPr/>
        </p:nvSpPr>
        <p:spPr>
          <a:xfrm>
            <a:off x="1325880" y="1499616"/>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assistant is given the complete description of how our systems are built, and none of what they contain. That is what makes it both useful and safe</a:t>
            </a:r>
            <a:endParaRPr lang="en-US" dirty="0"/>
          </a:p>
        </p:txBody>
      </p:sp>
      <p:sp>
        <p:nvSpPr>
          <p:cNvPr id="369" name="Line 370"/>
          <p:cNvSpPr/>
          <p:nvPr/>
        </p:nvSpPr>
        <p:spPr>
          <a:xfrm>
            <a:off x="539496" y="1929384"/>
            <a:ext cx="10789920" cy="0"/>
          </a:xfrm>
          <a:prstGeom prst="line">
            <a:avLst/>
          </a:prstGeom>
          <a:ln w="6350">
            <a:solidFill>
              <a:srgbClr val="CCCCCC"/>
            </a:solidFill>
          </a:ln>
        </p:spPr>
      </p:sp>
      <p:sp>
        <p:nvSpPr>
          <p:cNvPr id="370" name="TextBox 371"/>
          <p:cNvSpPr txBox="1"/>
          <p:nvPr/>
        </p:nvSpPr>
        <p:spPr>
          <a:xfrm>
            <a:off x="539496" y="1993392"/>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02</a:t>
            </a:r>
            <a:endParaRPr lang="en-US" dirty="0"/>
          </a:p>
        </p:txBody>
      </p:sp>
      <p:sp>
        <p:nvSpPr>
          <p:cNvPr id="371" name="TextBox 372"/>
          <p:cNvSpPr txBox="1"/>
          <p:nvPr/>
        </p:nvSpPr>
        <p:spPr>
          <a:xfrm>
            <a:off x="1325880" y="1993392"/>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Ground truth beats fluency</a:t>
            </a:r>
            <a:endParaRPr lang="en-US" dirty="0"/>
          </a:p>
        </p:txBody>
      </p:sp>
      <p:sp>
        <p:nvSpPr>
          <p:cNvPr id="372" name="TextBox 373"/>
          <p:cNvSpPr txBox="1"/>
          <p:nvPr/>
        </p:nvSpPr>
        <p:spPr>
          <a:xfrm>
            <a:off x="1325880" y="2212848"/>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Names, types, relations, texts and permissions are looked up in a dated snapshot of our own environment, and every answer states what it does not cover</a:t>
            </a:r>
            <a:endParaRPr lang="en-US" dirty="0"/>
          </a:p>
        </p:txBody>
      </p:sp>
      <p:sp>
        <p:nvSpPr>
          <p:cNvPr id="373" name="Line 374"/>
          <p:cNvSpPr/>
          <p:nvPr/>
        </p:nvSpPr>
        <p:spPr>
          <a:xfrm>
            <a:off x="539496" y="2642616"/>
            <a:ext cx="10789920" cy="0"/>
          </a:xfrm>
          <a:prstGeom prst="line">
            <a:avLst/>
          </a:prstGeom>
          <a:ln w="6350">
            <a:solidFill>
              <a:srgbClr val="CCCCCC"/>
            </a:solidFill>
          </a:ln>
        </p:spPr>
      </p:sp>
      <p:sp>
        <p:nvSpPr>
          <p:cNvPr id="374" name="TextBox 375"/>
          <p:cNvSpPr txBox="1"/>
          <p:nvPr/>
        </p:nvSpPr>
        <p:spPr>
          <a:xfrm>
            <a:off x="539496" y="2706624"/>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03</a:t>
            </a:r>
            <a:endParaRPr lang="en-US" dirty="0"/>
          </a:p>
        </p:txBody>
      </p:sp>
      <p:sp>
        <p:nvSpPr>
          <p:cNvPr id="375" name="TextBox 376"/>
          <p:cNvSpPr txBox="1"/>
          <p:nvPr/>
        </p:nvSpPr>
        <p:spPr>
          <a:xfrm>
            <a:off x="1325880" y="2706624"/>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Cost is engineering, not accounting</a:t>
            </a:r>
            <a:endParaRPr lang="en-US" dirty="0"/>
          </a:p>
        </p:txBody>
      </p:sp>
      <p:sp>
        <p:nvSpPr>
          <p:cNvPr id="376" name="TextBox 377"/>
          <p:cNvSpPr txBox="1"/>
          <p:nvPr/>
        </p:nvSpPr>
        <p:spPr>
          <a:xfrm>
            <a:off x="1325880" y="2926080"/>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Fewer and smaller calls make answers cheaper and better at the same time; every figure in this deck was measured and is re-measured by the test suite</a:t>
            </a:r>
            <a:endParaRPr lang="en-US" dirty="0"/>
          </a:p>
        </p:txBody>
      </p:sp>
      <p:sp>
        <p:nvSpPr>
          <p:cNvPr id="377" name="Line 378"/>
          <p:cNvSpPr/>
          <p:nvPr/>
        </p:nvSpPr>
        <p:spPr>
          <a:xfrm>
            <a:off x="539496" y="3355848"/>
            <a:ext cx="10789920" cy="0"/>
          </a:xfrm>
          <a:prstGeom prst="line">
            <a:avLst/>
          </a:prstGeom>
          <a:ln w="6350">
            <a:solidFill>
              <a:srgbClr val="CCCCCC"/>
            </a:solidFill>
          </a:ln>
        </p:spPr>
      </p:sp>
      <p:sp>
        <p:nvSpPr>
          <p:cNvPr id="378" name="TextBox 379"/>
          <p:cNvSpPr txBox="1"/>
          <p:nvPr/>
        </p:nvSpPr>
        <p:spPr>
          <a:xfrm>
            <a:off x="539496" y="3419856"/>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04</a:t>
            </a:r>
            <a:endParaRPr lang="en-US" dirty="0"/>
          </a:p>
        </p:txBody>
      </p:sp>
      <p:sp>
        <p:nvSpPr>
          <p:cNvPr id="379" name="TextBox 380"/>
          <p:cNvSpPr txBox="1"/>
          <p:nvPr/>
        </p:nvSpPr>
        <p:spPr>
          <a:xfrm>
            <a:off x="1325880" y="3419856"/>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One code base, two ways to run it</a:t>
            </a:r>
            <a:endParaRPr lang="en-US" dirty="0"/>
          </a:p>
        </p:txBody>
      </p:sp>
      <p:sp>
        <p:nvSpPr>
          <p:cNvPr id="380" name="TextBox 381"/>
          <p:cNvSpPr txBox="1"/>
          <p:nvPr/>
        </p:nvSpPr>
        <p:spPr>
          <a:xfrm>
            <a:off x="1325880" y="3639312"/>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A cloud service with company sign-in for everyone, a local server for developers who need what they compiled minutes ago</a:t>
            </a:r>
            <a:endParaRPr lang="en-US" dirty="0"/>
          </a:p>
        </p:txBody>
      </p:sp>
      <p:sp>
        <p:nvSpPr>
          <p:cNvPr id="381" name="Line 382"/>
          <p:cNvSpPr/>
          <p:nvPr/>
        </p:nvSpPr>
        <p:spPr>
          <a:xfrm>
            <a:off x="539496" y="4069080"/>
            <a:ext cx="10789920" cy="0"/>
          </a:xfrm>
          <a:prstGeom prst="line">
            <a:avLst/>
          </a:prstGeom>
          <a:ln w="6350">
            <a:solidFill>
              <a:srgbClr val="CCCCCC"/>
            </a:solidFill>
          </a:ln>
        </p:spPr>
      </p:sp>
      <p:sp>
        <p:nvSpPr>
          <p:cNvPr id="382" name="TextBox 383"/>
          <p:cNvSpPr txBox="1"/>
          <p:nvPr/>
        </p:nvSpPr>
        <p:spPr>
          <a:xfrm>
            <a:off x="539496" y="4133088"/>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05</a:t>
            </a:r>
            <a:endParaRPr lang="en-US" dirty="0"/>
          </a:p>
        </p:txBody>
      </p:sp>
      <p:sp>
        <p:nvSpPr>
          <p:cNvPr id="383" name="TextBox 384"/>
          <p:cNvSpPr txBox="1"/>
          <p:nvPr/>
        </p:nvSpPr>
        <p:spPr>
          <a:xfrm>
            <a:off x="1325880" y="4133088"/>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The system now measures itself</a:t>
            </a:r>
            <a:endParaRPr lang="en-US" dirty="0"/>
          </a:p>
        </p:txBody>
      </p:sp>
      <p:sp>
        <p:nvSpPr>
          <p:cNvPr id="384" name="TextBox 385"/>
          <p:cNvSpPr txBox="1"/>
          <p:nvPr/>
        </p:nvSpPr>
        <p:spPr>
          <a:xfrm>
            <a:off x="1325880" y="4352544"/>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Every investigation is recorded, a service reads those recordings back, and the next question starts from the shortest path that already worked</a:t>
            </a:r>
            <a:endParaRPr lang="en-US" dirty="0"/>
          </a:p>
        </p:txBody>
      </p:sp>
      <p:sp>
        <p:nvSpPr>
          <p:cNvPr id="385" name="Line 386"/>
          <p:cNvSpPr/>
          <p:nvPr/>
        </p:nvSpPr>
        <p:spPr>
          <a:xfrm>
            <a:off x="539496" y="4782312"/>
            <a:ext cx="10789920" cy="0"/>
          </a:xfrm>
          <a:prstGeom prst="line">
            <a:avLst/>
          </a:prstGeom>
          <a:ln w="6350">
            <a:solidFill>
              <a:srgbClr val="CCCCCC"/>
            </a:solidFill>
          </a:ln>
        </p:spPr>
      </p:sp>
      <p:sp>
        <p:nvSpPr>
          <p:cNvPr id="386" name="TextBox 387"/>
          <p:cNvSpPr txBox="1"/>
          <p:nvPr/>
        </p:nvSpPr>
        <p:spPr>
          <a:xfrm>
            <a:off x="539496" y="484632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06</a:t>
            </a:r>
            <a:endParaRPr lang="en-US" dirty="0"/>
          </a:p>
        </p:txBody>
      </p:sp>
      <p:sp>
        <p:nvSpPr>
          <p:cNvPr id="387" name="TextBox 388"/>
          <p:cNvSpPr txBox="1"/>
          <p:nvPr/>
        </p:nvSpPr>
        <p:spPr>
          <a:xfrm>
            <a:off x="1325880" y="484632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The pattern is portable</a:t>
            </a:r>
            <a:endParaRPr lang="en-US" dirty="0"/>
          </a:p>
        </p:txBody>
      </p:sp>
      <p:sp>
        <p:nvSpPr>
          <p:cNvPr id="388" name="TextBox 389"/>
          <p:cNvSpPr txBox="1"/>
          <p:nvPr/>
        </p:nvSpPr>
        <p:spPr>
          <a:xfrm>
            <a:off x="1325880" y="5065776"/>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A new source system needs one reader; everything else is reused — and with a shared list of business concepts, the model can see what two systems have in common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elleborg layout WITHOUT subtitles">
  <a:themeElements>
    <a:clrScheme name="230905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lIns="72000" tIns="72000" rIns="72000" bIns="72000" rtlCol="0" anchor="t"/>
      <a:lstStyle>
        <a:defPPr algn="l">
          <a:lnSpc>
            <a:spcPct val="110000"/>
          </a:lnSpc>
          <a:spcBef>
            <a:spcPts val="800"/>
          </a:spcBef>
          <a:defRPr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12700">
          <a:noFill/>
        </a:ln>
      </a:spPr>
      <a:bodyPr wrap="square" lIns="0" tIns="0" rIns="0" bIns="0" rtlCol="0">
        <a:spAutoFit/>
      </a:bodyPr>
      <a:lstStyle>
        <a:defPPr algn="l">
          <a:lnSpc>
            <a:spcPct val="110000"/>
          </a:lnSpc>
          <a:spcBef>
            <a:spcPts val="800"/>
          </a:spcBef>
          <a:defRPr smtClean="0"/>
        </a:defPPr>
      </a:lstStyle>
    </a:txDef>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Trelleborg template and toolbox v.1.pptx" id="{8AD82F21-6A70-4867-959E-EC1657297534}" vid="{5F8BE65A-4006-4694-B021-2BD2E6B59404}"/>
    </a:ext>
  </a:extLst>
</a:theme>
</file>

<file path=ppt/theme/theme2.xml><?xml version="1.0" encoding="utf-8"?>
<a:theme xmlns:a="http://schemas.openxmlformats.org/drawingml/2006/main" name="Trelleborg layout WITH subtitles">
  <a:themeElements>
    <a:clrScheme name="230905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lIns="72000" tIns="72000" rIns="72000" bIns="72000" rtlCol="0" anchor="t"/>
      <a:lstStyle>
        <a:defPPr algn="l">
          <a:lnSpc>
            <a:spcPct val="110000"/>
          </a:lnSpc>
          <a:spcBef>
            <a:spcPts val="800"/>
          </a:spcBef>
          <a:defRPr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12700">
          <a:noFill/>
        </a:ln>
      </a:spPr>
      <a:bodyPr wrap="square" lIns="0" tIns="0" rIns="0" bIns="0" rtlCol="0">
        <a:spAutoFit/>
      </a:bodyPr>
      <a:lstStyle>
        <a:defPPr algn="l">
          <a:lnSpc>
            <a:spcPct val="110000"/>
          </a:lnSpc>
          <a:spcBef>
            <a:spcPts val="800"/>
          </a:spcBef>
          <a:defRPr smtClean="0"/>
        </a:defPPr>
      </a:lstStyle>
    </a:txDef>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Trelleborg template and toolbox v.1.pptx" id="{8AD82F21-6A70-4867-959E-EC1657297534}" vid="{8F1BF63D-33B0-4415-930E-3A22A2F5B076}"/>
    </a:ext>
  </a:extLst>
</a:theme>
</file>

<file path=ppt/theme/theme3.xml><?xml version="1.0" encoding="utf-8"?>
<a:theme xmlns:a="http://schemas.openxmlformats.org/drawingml/2006/main" name="Office Theme">
  <a:themeElements>
    <a:clrScheme name="240116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68cdf2a-c704-434a-a26b-e9d2b58a1b26">
      <Terms xmlns="http://schemas.microsoft.com/office/infopath/2007/PartnerControls"/>
    </lcf76f155ced4ddcb4097134ff3c332f>
    <TaxCatchAll xmlns="0740f516-8edd-43f4-a74a-adbc026fc50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85F51D834CA7479B73624D2E5D9188" ma:contentTypeVersion="14" ma:contentTypeDescription="Create a new document." ma:contentTypeScope="" ma:versionID="b194a5834eeb41edcc762a7d90077f41">
  <xsd:schema xmlns:xsd="http://www.w3.org/2001/XMLSchema" xmlns:xs="http://www.w3.org/2001/XMLSchema" xmlns:p="http://schemas.microsoft.com/office/2006/metadata/properties" xmlns:ns2="d68cdf2a-c704-434a-a26b-e9d2b58a1b26" xmlns:ns3="0740f516-8edd-43f4-a74a-adbc026fc50a" targetNamespace="http://schemas.microsoft.com/office/2006/metadata/properties" ma:root="true" ma:fieldsID="7110e4dc8e3e71c9bebd305723e395f6" ns2:_="" ns3:_="">
    <xsd:import namespace="d68cdf2a-c704-434a-a26b-e9d2b58a1b26"/>
    <xsd:import namespace="0740f516-8edd-43f4-a74a-adbc026fc5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8cdf2a-c704-434a-a26b-e9d2b58a1b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67bf3288-28e8-4ef9-9788-6427bad48b1f"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40f516-8edd-43f4-a74a-adbc026fc5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7704284-9cbd-4fb2-b966-ad0726a87052}" ma:internalName="TaxCatchAll" ma:showField="CatchAllData" ma:web="0740f516-8edd-43f4-a74a-adbc026fc5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44F83A-07EB-48D2-9842-5998DA6117F3}">
  <ds:schemaRefs>
    <ds:schemaRef ds:uri="0740f516-8edd-43f4-a74a-adbc026fc50a"/>
    <ds:schemaRef ds:uri="d68cdf2a-c704-434a-a26b-e9d2b58a1b2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3.xml><?xml version="1.0" encoding="utf-8"?>
<ds:datastoreItem xmlns:ds="http://schemas.openxmlformats.org/officeDocument/2006/customXml" ds:itemID="{FCCA9699-493C-450E-90A2-49F72AAE0E91}">
  <ds:schemaRefs>
    <ds:schemaRef ds:uri="0740f516-8edd-43f4-a74a-adbc026fc50a"/>
    <ds:schemaRef ds:uri="d68cdf2a-c704-434a-a26b-e9d2b58a1b2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a0926b8-bf16-4a60-adaf-5bd46f8df9ae}" enabled="1" method="Standard" siteId="{0f861177-7722-4f06-8db9-3384e5321a9f}" removed="0"/>
  <clbl:label id="{50a58a55-8d55-4c7b-aa85-1ae890a4cc64}" enabled="1" method="Standard" siteId="{e85feadf-11e7-47bb-a160-43b98dcc96f1}" removed="0"/>
</clbl:labelList>
</file>

<file path=docProps/app.xml><?xml version="1.0" encoding="utf-8"?>
<Properties xmlns="http://schemas.openxmlformats.org/officeDocument/2006/extended-properties" xmlns:vt="http://schemas.openxmlformats.org/officeDocument/2006/docPropsVTypes">
  <Template>Trelleborg_template_2024__v.1</Template>
  <TotalTime>170</TotalTime>
  <Words>98</Words>
  <Application>Microsoft Office PowerPoint</Application>
  <PresentationFormat>Widescreen</PresentationFormat>
  <Paragraphs>41</Paragraphs>
  <Slides>4</Slides>
  <Notes>0</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9" baseType="lpstr">
      <vt:lpstr>Aptos</vt:lpstr>
      <vt:lpstr>Arial</vt:lpstr>
      <vt:lpstr>Trelleborg layout WITHOUT subtitles</vt:lpstr>
      <vt:lpstr>Trelleborg layout WITH subtitles</vt:lpstr>
      <vt:lpstr>think-cell Slide</vt:lpstr>
      <vt:lpstr>D365 F&amp;O – Change requests management</vt:lpstr>
      <vt:lpstr>Change request management</vt:lpstr>
      <vt:lpstr>Decision matrix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Veronica Åkermo</dc:creator>
  <cp:lastModifiedBy>Antoine Bastian</cp:lastModifiedBy>
  <cp:revision>4</cp:revision>
  <dcterms:created xsi:type="dcterms:W3CDTF">2025-02-17T05:03:08Z</dcterms:created>
  <dcterms:modified xsi:type="dcterms:W3CDTF">2026-03-03T13:49:34Z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0x010100EE85F51D834CA7479B73624D2E5D9188</vt:lpwstr>
  </property>
  <property fmtid="{D5CDD505-2E9C-101B-9397-08002B2CF9AE}" pid="3" name="MediaServiceImageTags">
    <vt:lpwstr/>
  </property>
  <property fmtid="{D5CDD505-2E9C-101B-9397-08002B2CF9AE}" pid="4" name="NXPowerLiteLastOptimized">
    <vt:lpwstr>1079019</vt:lpwstr>
  </property>
  <property fmtid="{D5CDD505-2E9C-101B-9397-08002B2CF9AE}" pid="5" name="NXPowerLiteSettings">
    <vt:lpwstr>F70005D002A000</vt:lpwstr>
  </property>
  <property fmtid="{D5CDD505-2E9C-101B-9397-08002B2CF9AE}" pid="6" name="NXPowerLiteVersion">
    <vt:lpwstr>D10.0.1</vt:lpwstr>
  </property>
  <property fmtid="{D5CDD505-2E9C-101B-9397-08002B2CF9AE}" pid="7" name="ClassificationContentMarkingFooterLocations">
    <vt:lpwstr>Trelleborg layout WITHOUT subtitles:10\Trelleborg layout WITH subtitles:10</vt:lpwstr>
  </property>
  <property fmtid="{D5CDD505-2E9C-101B-9397-08002B2CF9AE}" pid="8" name="ClassificationContentMarkingFooterText">
    <vt:lpwstr>Internal document</vt:lpwstr>
  </property>
</Properties>
</file>