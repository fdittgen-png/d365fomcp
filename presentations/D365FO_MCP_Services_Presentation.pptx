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2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55" r:id="rId4"/>
    <p:sldMasterId id="2147484156" r:id="rId5"/>
  </p:sldMasterIdLst>
  <p:notesMasterIdLst>
    <p:notesMasterId r:id="rId10"/>
  </p:notesMasterIdLst>
  <p:handoutMasterIdLst>
    <p:handoutMasterId r:id="rId11"/>
  </p:handoutMasterIdLst>
  <p:sldIdLst>
    <p:sldId id="300" r:id="rId100"/>
    <p:sldId id="301" r:id="rId101"/>
    <p:sldId id="302" r:id="rId102"/>
    <p:sldId id="303" r:id="rId103"/>
    <p:sldId id="304" r:id="rId104"/>
    <p:sldId id="305" r:id="rId105"/>
    <p:sldId id="306" r:id="rId10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  <p:sldId id="315" r:id="rId115"/>
    <p:sldId id="316" r:id="rId116"/>
    <p:sldId id="317" r:id="rId117"/>
    <p:sldId id="318" r:id="rId118"/>
    <p:sldId id="319" r:id="rId119"/>
  </p:sldIdLst>
  <p:sldSz cx="12192000" cy="6858000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A1C916-6EE0-F152-37D1-5D7186435031}" name="Criselda Olanday" initials="" userId="S::colanday@hsdyn.com::631923f0-de08-4c34-9b60-231f39a03558" providerId="AD"/>
  <p188:author id="{BD038BF0-4252-EFCA-73A1-1C06A7BFD751}" name="Rebecca Ziedén" initials="RZ" userId="S::rebecca.zieden@trelleborg.com::8e1a3bf3-e463-4fc2-ab7b-87cc8e751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E1E1E1"/>
    <a:srgbClr val="F8CBAD"/>
    <a:srgbClr val="FFE699"/>
    <a:srgbClr val="BDD7EE"/>
    <a:srgbClr val="C6E0B4"/>
    <a:srgbClr val="002664"/>
    <a:srgbClr val="0070C0"/>
    <a:srgbClr val="191919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DB511-BBF4-4F67-9E07-019295306042}" v="15" dt="2026-03-03T13:45:03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14" Type="http://schemas.openxmlformats.org/officeDocument/2006/relationships/viewProps" Target="viewProp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slide" Target="slides/slide16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Relationship Id="rId118" Type="http://schemas.openxmlformats.org/officeDocument/2006/relationships/slide" Target="slides/slide19.xml"/><Relationship Id="rId119" Type="http://schemas.openxmlformats.org/officeDocument/2006/relationships/slide" Target="slides/slide2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A76584-D3F2-B57E-BF02-D7C999AA7B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C6F94-9BC4-3846-F58E-D1D68C191F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>
            <a:spAutoFit/>
          </a:bodyPr>
          <a:lstStyle>
            <a:lvl1pPr algn="r">
              <a:defRPr sz="1300"/>
            </a:lvl1pPr>
          </a:lstStyle>
          <a:p>
            <a:fld id="{CC0BB003-453D-49F4-9E2C-B0AABA0AB37D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9171E-418A-FCC6-7291-647574BEF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247437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 anchor="b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DF413-5A80-0E4B-FAC6-ED9C1B6AAD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247437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 anchor="b">
            <a:spAutoFit/>
          </a:bodyPr>
          <a:lstStyle>
            <a:lvl1pPr algn="r">
              <a:defRPr sz="1300"/>
            </a:lvl1pPr>
          </a:lstStyle>
          <a:p>
            <a:fld id="{5CEEF8C8-A39C-426A-A785-874186603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637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>
            <a:spAutoFit/>
          </a:bodyPr>
          <a:lstStyle>
            <a:lvl1pPr algn="r">
              <a:defRPr sz="1300"/>
            </a:lvl1pPr>
          </a:lstStyle>
          <a:p>
            <a:fld id="{17C9ACF2-9523-4E24-AB2A-AA40E013F93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377825"/>
            <a:ext cx="6443663" cy="3624263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08419" y="4376764"/>
            <a:ext cx="5852160" cy="495419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24290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 anchor="b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324290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 anchor="b">
            <a:spAutoFit/>
          </a:bodyPr>
          <a:lstStyle>
            <a:lvl1pPr algn="r">
              <a:defRPr sz="1300"/>
            </a:lvl1pPr>
          </a:lstStyle>
          <a:p>
            <a:fld id="{79F5A480-A98C-4E91-8166-A054DD06EBA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B5AB089E-4160-1789-5FB9-5606598D96E9}"/>
              </a:ext>
            </a:extLst>
          </p:cNvPr>
          <p:cNvSpPr txBox="1">
            <a:spLocks/>
          </p:cNvSpPr>
          <p:nvPr/>
        </p:nvSpPr>
        <p:spPr>
          <a:xfrm>
            <a:off x="7708419" y="4177085"/>
            <a:ext cx="4865963" cy="20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>
                <a:solidFill>
                  <a:srgbClr val="FF0000"/>
                </a:solidFill>
              </a:rPr>
              <a:t>PLACEHOLDER FOR SPEAKER NOTES. </a:t>
            </a:r>
            <a:r>
              <a:rPr lang="en-US" sz="1300" b="1">
                <a:solidFill>
                  <a:srgbClr val="FF0000"/>
                </a:solidFill>
              </a:rPr>
              <a:t>DO NOT DELETE!</a:t>
            </a:r>
          </a:p>
        </p:txBody>
      </p:sp>
    </p:spTree>
    <p:extLst>
      <p:ext uri="{BB962C8B-B14F-4D97-AF65-F5344CB8AC3E}">
        <p14:creationId xmlns:p14="http://schemas.microsoft.com/office/powerpoint/2010/main" val="55155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1950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2925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14375" indent="-17145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55" userDrawn="1">
          <p15:clr>
            <a:srgbClr val="F26B43"/>
          </p15:clr>
        </p15:guide>
        <p15:guide id="2" pos="242" userDrawn="1">
          <p15:clr>
            <a:srgbClr val="F26B43"/>
          </p15:clr>
        </p15:guide>
        <p15:guide id="3" pos="4365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8110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ridge over water with a city in the background&#10;&#10;Description automatically generated">
            <a:extLst>
              <a:ext uri="{FF2B5EF4-FFF2-40B4-BE49-F238E27FC236}">
                <a16:creationId xmlns:a16="http://schemas.microsoft.com/office/drawing/2014/main" id="{2FF56083-EF44-4D03-F22B-D8BF3915BE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7999"/>
          </a:xfrm>
          <a:prstGeom prst="rect">
            <a:avLst/>
          </a:prstGeom>
        </p:spPr>
      </p:pic>
      <p:sp>
        <p:nvSpPr>
          <p:cNvPr id="17" name="Platshållare för text 5">
            <a:extLst>
              <a:ext uri="{FF2B5EF4-FFF2-40B4-BE49-F238E27FC236}">
                <a16:creationId xmlns:a16="http://schemas.microsoft.com/office/drawing/2014/main" id="{91D07A75-093C-CC29-0295-DD1A43DF9891}"/>
              </a:ext>
            </a:extLst>
          </p:cNvPr>
          <p:cNvSpPr txBox="1">
            <a:spLocks/>
          </p:cNvSpPr>
          <p:nvPr userDrawn="1"/>
        </p:nvSpPr>
        <p:spPr>
          <a:xfrm>
            <a:off x="4447548" y="2863373"/>
            <a:ext cx="5527988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65000"/>
                  </a:schemeClr>
                </a:solidFill>
                <a:latin typeface="Arial"/>
                <a:ea typeface="ＭＳ Ｐゴシック" charset="0"/>
                <a:cs typeface="Arial"/>
              </a:rPr>
              <a:t>Welcome to the</a:t>
            </a:r>
          </a:p>
        </p:txBody>
      </p:sp>
      <p:sp>
        <p:nvSpPr>
          <p:cNvPr id="18" name="Platshållare för text 6">
            <a:extLst>
              <a:ext uri="{FF2B5EF4-FFF2-40B4-BE49-F238E27FC236}">
                <a16:creationId xmlns:a16="http://schemas.microsoft.com/office/drawing/2014/main" id="{9CA49248-ADE0-5317-90A4-4884DA335D1E}"/>
              </a:ext>
            </a:extLst>
          </p:cNvPr>
          <p:cNvSpPr txBox="1">
            <a:spLocks/>
          </p:cNvSpPr>
          <p:nvPr userDrawn="1"/>
        </p:nvSpPr>
        <p:spPr>
          <a:xfrm>
            <a:off x="5080230" y="3327778"/>
            <a:ext cx="6702091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90000"/>
                  </a:schemeClr>
                </a:solidFill>
                <a:latin typeface="Arial"/>
                <a:ea typeface="ＭＳ Ｐゴシック" charset="0"/>
                <a:cs typeface="Arial"/>
              </a:rPr>
              <a:t>World of Trelleborg</a:t>
            </a:r>
          </a:p>
        </p:txBody>
      </p:sp>
      <p:sp>
        <p:nvSpPr>
          <p:cNvPr id="19" name="Title 5">
            <a:extLst>
              <a:ext uri="{FF2B5EF4-FFF2-40B4-BE49-F238E27FC236}">
                <a16:creationId xmlns:a16="http://schemas.microsoft.com/office/drawing/2014/main" id="{EE4E0A4E-F1A4-4C53-6FCB-78BDB21504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201" y="4492547"/>
            <a:ext cx="6400800" cy="429348"/>
          </a:xfrm>
        </p:spPr>
        <p:txBody>
          <a:bodyPr wrap="square">
            <a:spAutoFit/>
          </a:bodyPr>
          <a:lstStyle>
            <a:lvl1pPr>
              <a:defRPr sz="310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add presentation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A31CA47-65E2-612A-723D-E0638444D2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2201" y="499450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location and date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30FA783-13B7-CC24-C426-21199798B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2201" y="533875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427183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08784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le of blue round objects&#10;&#10;Description automatically generated">
            <a:extLst>
              <a:ext uri="{FF2B5EF4-FFF2-40B4-BE49-F238E27FC236}">
                <a16:creationId xmlns:a16="http://schemas.microsoft.com/office/drawing/2014/main" id="{21039A13-5E24-01BD-7AE6-E21BAF2FF5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12192000" cy="6321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3B7AF6-E61D-4D5E-AA5E-F0A0FEE57720}" type="datetime4">
              <a:rPr lang="en-US" smtClean="0"/>
              <a:t>March 3, 2026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B5E219-96E4-B92D-AE36-E2D19DEBA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115E250-E415-ADB7-5CD0-E76009059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75A65D-43E7-43CB-B1DC-1AA3498557F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BF84820-31F1-B83D-4E26-E092B59B035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8279A15E-E54F-4DAA-5039-C13CF5FB75D7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next slides with either black or white text. Choose the option with the best legibility.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4A4F2AD-5ADC-6997-65BD-83EACEA7E73E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(option 1)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98932B-31B6-5487-DFA4-E7A48CC3FFA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68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 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lose-up of a molecule model&#10;&#10;Description automatically generated">
            <a:extLst>
              <a:ext uri="{FF2B5EF4-FFF2-40B4-BE49-F238E27FC236}">
                <a16:creationId xmlns:a16="http://schemas.microsoft.com/office/drawing/2014/main" id="{B59F7929-18C9-D935-8A79-ADDD408D3A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2358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01AB1-BA42-17D3-EADA-8CA27E06B62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757374E-7FB7-5928-E71B-EE966B8CD30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1EFE4E1-E895-95A1-DA9C-6922E3FE13C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next slides with either black or white text. Choose the option with the best legibility.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659CBF1-350C-4D27-D419-177B583FEA0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(option 2)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79317C-BA14-2104-07A5-C5447AE5FEA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19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whit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A3F4F4-7BBD-6943-C498-8A7432F3552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84D7D-FC54-134E-D60E-77615076D29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6B4D6DF-C38B-8BF5-6884-66C97524E19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EA28B8FE-7831-4D03-F7FB-DD767237FA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333772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black text is better.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E62AA2A-3974-9045-FBE4-6193CD40BBB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(white text)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A65224-5F6E-8C17-CF93-017355C6E88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21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black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EC9CC24-D5A1-293B-9B6C-F6B05C74A4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01AB1-BA42-17D3-EADA-8CA27E06B62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757374E-7FB7-5928-E71B-EE966B8CD30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1EFE4E1-E895-95A1-DA9C-6922E3FE13C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white text is better.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659CBF1-350C-4D27-D419-177B583FEA0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(black text)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79317C-BA14-2104-07A5-C5447AE5FEA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64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34946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agenda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flag with black text on a pole&#10;&#10;Description automatically generated">
            <a:extLst>
              <a:ext uri="{FF2B5EF4-FFF2-40B4-BE49-F238E27FC236}">
                <a16:creationId xmlns:a16="http://schemas.microsoft.com/office/drawing/2014/main" id="{E3F97B24-C0D7-5D5D-E8C3-A41B24560D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4168" cy="631799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DCD17DF-27AC-4A99-9425-A3094F9CB30D}" type="datetime4">
              <a:rPr lang="en-US" smtClean="0"/>
              <a:t>March 3, 2026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FFF09D-081B-AB3E-4B44-FA17D925AA76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7E0588-03FC-58A5-2D48-A55679FDE5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1259B1A-1C82-5DEF-6A4D-B7BBE17DAD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F0E6B4F-3095-4BD0-7EE3-63266938F5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5BC62B4-6EA7-3164-7EB4-A7C7090AF2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96CAD89-7CBE-6878-2AD0-186D8E1C1B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3F0DF00-E256-BE3F-0522-B7F48B692D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62DA0B-D26E-4273-30E9-40A74A4F98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D098AC2E-7F34-9C23-662B-15AE620CE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3EC1EFB-0A10-6CF7-B8D9-A527427E1B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2744B1B-C4AF-383B-FA2B-42B096861E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C1D8073D-E809-4AFD-F13D-A31DEC46ED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058C5436-90C0-B14F-E462-114AF5C1DF4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30AF1BD-F4F7-6587-C38F-58AEEB8C6E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A62A2D-66F0-2046-5500-5D3A2A0E90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6A33176-BF33-67B1-DB48-F6C24814E7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A646A20-84EB-6BFA-E2E3-2F143D5D7B9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0AE8C673-852C-6607-245E-0D62351058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160124-8D64-6220-6389-959C12744C91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CC72B2-92A7-59D9-F3F6-82B5ABD0D43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2208CF7-50A2-E4FE-AE38-DB96E4C8382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4F3EE16-62FB-8179-7BDB-E2B2DC83982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1)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1520DB-DC79-88D2-AB36-0E1D14D9C8B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6831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ine">
            <a:extLst>
              <a:ext uri="{FF2B5EF4-FFF2-40B4-BE49-F238E27FC236}">
                <a16:creationId xmlns:a16="http://schemas.microsoft.com/office/drawing/2014/main" id="{699564C9-E5C3-E632-EC13-0F0571598E9D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83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  Title +          agenda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close up of a fabric&#10;&#10;Description automatically generated">
            <a:extLst>
              <a:ext uri="{FF2B5EF4-FFF2-40B4-BE49-F238E27FC236}">
                <a16:creationId xmlns:a16="http://schemas.microsoft.com/office/drawing/2014/main" id="{9DF86BC4-59F0-2637-65E0-55A5A0194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614FAC-4F99-A018-085D-423B44F4C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/>
          <a:p>
            <a:r>
              <a:rPr lang="en-US"/>
              <a:t>Click to add title – max 2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9A388-0668-E3BA-040D-26643B2F64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433AB0E-C022-E9C1-55AA-2D0DBFDF3DF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81460C1-772B-9650-0D54-38F0353A5EF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0C8BC95-CB59-C133-CB6F-0E2DB1F5453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2)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D426C4-B5F6-7542-1D6C-193286A8371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ine">
            <a:extLst>
              <a:ext uri="{FF2B5EF4-FFF2-40B4-BE49-F238E27FC236}">
                <a16:creationId xmlns:a16="http://schemas.microsoft.com/office/drawing/2014/main" id="{835D7BB8-9942-24B6-C9B9-9A47D011B095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76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agenda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7101AF5-F148-9768-1958-2E366CE8241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552000" tIns="3024000" rIns="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6" name="Pladsholder til tekst 45">
            <a:extLst>
              <a:ext uri="{FF2B5EF4-FFF2-40B4-BE49-F238E27FC236}">
                <a16:creationId xmlns:a16="http://schemas.microsoft.com/office/drawing/2014/main" id="{89B9DE34-8ABF-BA64-1E5A-2C22615BEE6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-1" y="-1"/>
            <a:ext cx="6365876" cy="6317997"/>
          </a:xfr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614FAC-4F99-A018-085D-423B44F4C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2B682-98E6-349C-0176-8A4810E0A2F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22CA28-A0C9-3E35-9ECC-AB5396971096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71AB745-404C-4D44-A15A-03EA16B1A0D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picture, by following the slide’s  instructions.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Please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the legibility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 of the text when selecting a picture. If needed, crop the picture differently or select another picture.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D0368A2-1F36-B909-3639-2BA06FFB13E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3)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FCB287-AAC8-88F3-6E22-96915914F13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ACEA48E-2A50-3CDE-DDC8-0FEC307BD2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54801" y="2184917"/>
            <a:ext cx="5248274" cy="1950003"/>
          </a:xfrm>
          <a:solidFill>
            <a:schemeClr val="accent1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Font typeface="+mj-lt"/>
              <a:buNone/>
              <a:defRPr i="1">
                <a:solidFill>
                  <a:schemeClr val="bg1"/>
                </a:solidFill>
              </a:defRPr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/>
              <a:t>To insert a picture:                                                1. Delete the transparent box on the left-hand side                                                        2. Click the picture icon to add a picture               3. Go to Home &gt;&gt; Reset (to bring the box back)  4. Type your text                                                   5. Delete this instruction</a:t>
            </a:r>
            <a:endParaRPr lang="en-US"/>
          </a:p>
        </p:txBody>
      </p:sp>
      <p:sp>
        <p:nvSpPr>
          <p:cNvPr id="38" name="Pladsholder til tekst 13">
            <a:extLst>
              <a:ext uri="{FF2B5EF4-FFF2-40B4-BE49-F238E27FC236}">
                <a16:creationId xmlns:a16="http://schemas.microsoft.com/office/drawing/2014/main" id="{ABD63393-A27E-64F9-FAC9-D0BD2A57020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1000850"/>
            <a:ext cx="5289549" cy="10800"/>
          </a:xfrm>
          <a:solidFill>
            <a:schemeClr val="tx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>
            <a:lvl1pPr marL="0" indent="0">
              <a:buNone/>
              <a:defRPr sz="100"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da-DK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801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content</a:t>
            </a:r>
          </a:p>
        </p:txBody>
      </p:sp>
    </p:spTree>
    <p:extLst>
      <p:ext uri="{BB962C8B-B14F-4D97-AF65-F5344CB8AC3E}">
        <p14:creationId xmlns:p14="http://schemas.microsoft.com/office/powerpoint/2010/main" val="4083498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          Title +          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3F5B-4B0B-4F35-B137-C73DCBEFE0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0000" y="1204914"/>
            <a:ext cx="11111997" cy="4840286"/>
          </a:xfrm>
          <a:ln w="12700">
            <a:noFill/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 or use the icons to insert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70F760CC-EB81-1B52-CB77-0751D3F2D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81C618C2-76F3-7029-7C9E-17893EDB0F2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87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16B0-873B-4D63-9325-924D4CDC68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DA405C-8706-D6A0-A804-4E31612EBBE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5285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DBC5536A-7708-7318-4D3F-51D16B72F69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65998" y="1666015"/>
            <a:ext cx="5285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8903B7-457A-31FB-D4AD-99B8A68D5C5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BDED1D-B412-AD16-FA88-2C6FB91BC21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5B26F13-8D04-19B3-9A99-75C06691D18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two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8D5E408-CD80-103B-C407-9CC505DD1BD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content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91A839-838F-F001-350F-371F377F195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993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71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9A6D0-4FB7-46CD-9B06-EE97F1E482E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D71D8E4A-10D7-09A9-F88F-FCA898147C9F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02598A2E-56D7-E713-566B-47E4BC1C0AF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23999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FAC640A2-0195-E324-897E-17CFA2A8BF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307998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C8BE9-283B-D03E-891D-9B81509E985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F0C279F-9262-DAB8-4C49-84F031339C5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3479838-93B8-149B-6DC7-E491DF3BD33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content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7BBA0A3-ED50-091D-3179-32B8AF2E397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three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549196-2416-450A-3A2D-32AF66AABF4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648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452999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365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278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A5AC9F-000A-820C-FCD3-BF852968EAD6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7262B6C-05EE-24A0-5004-0ECCCE1186C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B673292-0108-C19A-F546-513D96C46235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content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5AFEFD6-1B7D-80D9-5A0F-6F16D1DFBB6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four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C283CA-1E9C-BC2D-B77F-5AB33544ABA6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16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343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4231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7175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2D3DC5-9629-2C38-7C2F-3AD97B71C73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9F4ACD4F-192F-9FB1-E965-6891944E0D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1287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41E89-9D74-241F-B0B1-ACE37136CD16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78B7045B-054E-0D81-3A22-EE4F72FC16A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1A666DE-97FF-C04C-CD02-9CFF9A8F044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content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4806538-065B-112E-73BA-B6E90DD6EBD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five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79C413-AFF7-F044-EA41-63F54371DC5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55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40">
          <p15:clr>
            <a:srgbClr val="5ACBF0"/>
          </p15:clr>
        </p15:guide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0" pos="7339">
          <p15:clr>
            <a:srgbClr val="FBAE40"/>
          </p15:clr>
        </p15:guide>
        <p15:guide id="12" pos="7341">
          <p15:clr>
            <a:srgbClr val="FBAE40"/>
          </p15:clr>
        </p15:guide>
        <p15:guide id="13" pos="3230">
          <p15:clr>
            <a:srgbClr val="5ACBF0"/>
          </p15:clr>
        </p15:guide>
        <p15:guide id="14" pos="444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pictures</a:t>
            </a:r>
          </a:p>
        </p:txBody>
      </p:sp>
    </p:spTree>
    <p:extLst>
      <p:ext uri="{BB962C8B-B14F-4D97-AF65-F5344CB8AC3E}">
        <p14:creationId xmlns:p14="http://schemas.microsoft.com/office/powerpoint/2010/main" val="2782369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sli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6FB-2050-4479-8767-F535260FBE2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8199000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871CA24-6567-356B-26A9-AFE696ECC4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900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53999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BBDB2A-2223-2537-5339-1BEB17F7B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8199000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4A9CA9-E97F-CCE8-8F23-0FEA5BE62B6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9FEEF2-9075-5A94-9151-B24854853AE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DB34A00-26BA-43D3-02E6-55181091771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4FC7402-ECC1-E688-3C56-A6815141FCDC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right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413917-3356-254F-FCD2-3FCC6E32283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45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05">
          <p15:clr>
            <a:srgbClr val="5ACBF0"/>
          </p15:clr>
        </p15:guide>
        <p15:guide id="2" pos="584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slim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6FB-2050-4479-8767-F535260FBE2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4839" y="1204913"/>
            <a:ext cx="8199000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871CA24-6567-356B-26A9-AFE696ECC4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345483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BBDB2A-2223-2537-5339-1BEB17F7B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4839" y="262800"/>
            <a:ext cx="8199000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5AF8C0-E372-9B50-5392-A21E3C3CEA9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72CF0CD7-F775-86F9-2C16-C4CAB5AFFDB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AF7DA84-2CDC-52FD-3DEF-8744B210438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E4C1BEE0-21DA-DBA3-5D83-1728B22CFAB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left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0D792B-10ED-C869-F544-C61071FD460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15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35">
          <p15:clr>
            <a:srgbClr val="5ACBF0"/>
          </p15:clr>
        </p15:guide>
        <p15:guide id="2" pos="2175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wid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A6BD-B347-42A0-BA33-CF740CC356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5285999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E7941-4AAA-B2C2-2792-6DA3BEA7D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3891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A457AB0C-87F5-3881-502C-83B67E5FD2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600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D39FE-7DD8-C7BE-A185-D93FB54614E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052E8917-98B8-1A40-413E-443F4F84F501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712BABF-9947-DAD0-5CF3-B9E323F84F76}"/>
              </a:ext>
            </a:extLst>
          </p:cNvPr>
          <p:cNvSpPr txBox="1">
            <a:spLocks/>
          </p:cNvSpPr>
          <p:nvPr userDrawn="1"/>
        </p:nvSpPr>
        <p:spPr>
          <a:xfrm>
            <a:off x="-1568878" y="133349"/>
            <a:ext cx="1476000" cy="839673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right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4FA701B-3DDC-7384-4818-400221E04E9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3313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057E77-F45B-80AB-FC3E-696929B685F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8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wid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A457AB0C-87F5-3881-502C-83B67E5FD2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A6BD-B347-42A0-BA33-CF740CC356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7840" y="1204913"/>
            <a:ext cx="5285999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E7941-4AAA-B2C2-2792-6DA3BEA7D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7840" y="263891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636784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4FB4B-638F-464D-0DBA-A1BB81D0D3D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C2D1647-239E-6953-0934-35FD91592F1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5CF310B-E66A-E79C-A4D5-FC41DB30714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B1AD031-8567-DC8C-907B-A6F797E1078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left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A30C48-4464-43F6-ED6F-323F26B94A3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38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2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9875-23E9-43C9-9883-CE97839F158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D442347-66C0-3AC5-363B-B6A3649FDC2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8D07AB-2B9B-C897-404E-3F154936C42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39750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67DA1CD-29F9-95FE-CAD9-638DD00D98E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65998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441258-7B44-816E-5F67-9F844A77A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0EF042A2-E5DF-5175-F66F-F72319A9BC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6784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40050-1E99-6AB6-AF34-917ABBF1F20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CF19401-8897-78C8-10AD-A39183A9E34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9CED8BD-EAC4-4514-7E1F-814F4EC1333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two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FE76C90-39C2-B05E-1532-781F038FD3C6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pictures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703441-9730-71C4-4A91-7696000E31E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42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3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BBDA6-5B4A-453D-B342-C2505ECDBEA1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EA8DB66A-D2CC-D810-675A-F43E35D8E07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0048019-BB1F-364C-C0FD-E0E76B01C99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975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E98B6C1-0C94-BB29-E1C8-3955ABC754D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42400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3A7867-CE08-7924-457C-F27331277EB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307998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4FC28CC-FD7E-6A9C-BB41-796D36971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AEE614E9-6E39-7A6F-1281-EFE6FDDECE9D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24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05D42D-DBC1-5375-B31C-C1373C0F90D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07998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474CFF-73A8-DC60-2B9C-1A07FD50E52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2E232F6-CCC4-1371-1E74-B3CF04C2545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B830415-8383-BA70-6648-70A2E11E4E9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three sections 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7828632-C99B-D8F2-2FA8-7737030C2901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pictures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286678-FEA6-5028-5A5C-3AD45F9B71C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13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4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52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65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78998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52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365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278998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FCA647-6B27-5C47-34E4-97A0BFE509D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33B1A93-3158-8F08-FEB9-35D3CB903F4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BC45DBA-A38C-68B5-BB9B-E4199DC1F38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pictures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5EEC2A8-B5A7-A3CF-2471-3168B61FF14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four sections 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6C802D-9825-DF57-8EEF-18E90C41DB2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07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  Title +           5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8341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230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717547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43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31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7175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199FC84-D1AC-E5CB-21B0-D342328CA6D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FA1DC5B-9B9E-CA25-F9C1-9AF892A54B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12864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8E35BB86-17EE-7439-C9FE-7D245E970A8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51287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20C146-4A57-FE84-F9F7-F53F610A94B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52B72080-A9DE-AC12-6289-80ECD4C1F6FD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32BB803-852B-F858-FFF4-D7C4C3A079F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pictures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EB40EA3-45D0-4769-7EF1-15CF3765647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five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F111A0-6C70-988D-E3B8-5D711B9D2681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74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1" pos="3230">
          <p15:clr>
            <a:srgbClr val="5ACBF0"/>
          </p15:clr>
        </p15:guide>
        <p15:guide id="12" pos="4449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6608824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 Statement   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D4D0B3D3-BA2C-2FEB-8C02-DEFEDEF4C6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CD003-B1D6-4D0F-95CF-57954B515B1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93532-A2E6-6685-1408-C17DDE70E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bg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FB02E7-1D53-AD29-7A84-12EF89515D2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5BB9824-6658-A405-A19C-E7F174DA35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95F5933-3CB1-A24F-05AF-810F25169E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white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90287A-2DEA-EA4F-F2DF-2984F661895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BDD0FFF-5EFE-8252-3DCF-B1C4F8A644E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white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237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04B0DF0-6A5C-9D2A-BCCA-B4F6A4DD8A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E385-CEE5-40B1-BE06-A2170ADB260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1A99FF-1348-B954-4D93-10FE1BCF1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tx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46A1EB-78E6-C911-3486-AFD7E2E4530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8FFEAD-A022-9BD5-7C39-8C71C74BE97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063685F-78D8-4EDE-8162-993FEFD9DC0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black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155D10-7C2F-E972-FE17-5550F306AF1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EEE6ABC-957D-76CE-554C-AB9AE9E010E2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black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58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A69C33C-A823-AB73-96C5-616BB04D2B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280BE-4442-422D-B591-49D2892BD73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939185-4078-8644-C515-440491B36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2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198C6-18AD-B948-C3E3-F5D9C471E31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46F114-601F-99FE-9212-346B9D90DFE8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C2A3CDD-1A59-6F83-FAB0-E59A397C053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turquoise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EEE170-BE87-8E79-B8A8-6A712CD98BE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BEDF33B-43AB-C513-13D0-B4AF46D6BAA0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turquoise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053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 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6D0F6FB-6C6A-A316-65E3-21E4F016B4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751A-D419-4C61-A0FC-D70FB7FC12BA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C075A0-04C1-D65B-1DE1-EADEDAD947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3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9F761-BEE2-A53B-6242-B3C1A8BF0E9D}"/>
              </a:ext>
            </a:extLst>
          </p:cNvPr>
          <p:cNvSpPr/>
          <p:nvPr userDrawn="1"/>
        </p:nvSpPr>
        <p:spPr>
          <a:xfrm>
            <a:off x="-15840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3C2E87-14DA-E0D4-5F12-0B387EFA681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EF5BD85-CE21-7450-DF80-12142997DB16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gold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CD4093-BA46-B30A-3DE8-D87CC93B0FF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8380EF-6188-7953-1395-B42A191F7B57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gold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776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cop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1C85D43-7198-311C-42C3-32E0EBCBC2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7A99-D8A9-4C9C-AD15-2626DF3515BC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97B897-67A4-8811-FAA4-D38FAD3B2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4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9B890-D9E1-12AB-6A98-A6DFADB720AF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332EE90-B3A6-D045-6906-DF42611C5C6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D2FA41-5974-02ED-BFA0-AD0530180CC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copper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3749F7-4A83-A1E3-0822-4E1501B6727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8AA7ECA-721E-07A5-7366-58D72140C1ED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copper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063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m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52E8F4F2-4CF5-20AA-C330-055737901CD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52F5-FC93-490A-A2C4-7D98228F484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4EA5D7-9E6E-93A4-0317-88252D4D2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5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840BB9-9B4D-F063-C182-83505AB36D4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EAE5AB-8073-EC5F-7543-906407B9F9D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0846C63-B27E-9F89-A437-34F51FFEE33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moss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4C1474-ECF9-6D0B-5627-7C818FF0A021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21ADEBE-6124-1F1F-FED8-77F90794445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moss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22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br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4840733B-15EC-9093-54BB-E7391FF71F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8F3D-30CD-440E-9BED-2660774D18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D423E6-A47A-9FCC-D958-2918153CE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6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513A5-9586-F580-38A5-F8FCE12EF77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98E470-C356-1A03-23CE-2A61482C13A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54EA44A-6E92-16F9-EA07-B0CD00B2463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brick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1AB75F-B8BD-AE26-DAD8-FDE8FACFE49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405032D-31E6-1D44-B6A4-32C6C6BB5FDE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brick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858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DEAF3BC-AC55-6BBF-E832-58A1DE4E14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18E8-2883-44C0-A44D-85D71A7A19A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C7644B-07A5-5E66-6048-E522015017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rgbClr val="72B86B">
              <a:alpha val="80000"/>
            </a:srgb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BC93D-EFFC-E999-9A87-F67F62880DF2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EF083-9CF2-C1FC-4EFE-5284854FBCDA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EE40690-D1DF-BBFC-B703-4E7B71E07D5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green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8228F3-844C-37E1-C6B8-F41053C85F50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5F4A822-B676-DF7C-F52E-8B56749DFF6F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green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0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4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content</a:t>
            </a:r>
          </a:p>
        </p:txBody>
      </p:sp>
    </p:spTree>
    <p:extLst>
      <p:ext uri="{BB962C8B-B14F-4D97-AF65-F5344CB8AC3E}">
        <p14:creationId xmlns:p14="http://schemas.microsoft.com/office/powerpoint/2010/main" val="36422378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44DB0-0405-CA6C-E055-F5949138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E1D6E-514F-0376-5C07-A1927A31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702A6-A533-4456-45FD-CCFAE4F9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AB048-B611-DE2A-18D9-88EA82D87C05}"/>
              </a:ext>
            </a:extLst>
          </p:cNvPr>
          <p:cNvSpPr/>
          <p:nvPr userDrawn="1"/>
        </p:nvSpPr>
        <p:spPr>
          <a:xfrm>
            <a:off x="-15696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FFA83D3-D6A4-0581-D713-C161575E6C7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Plain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40B9DB4-9A20-4D76-D71C-2E2D50064E8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D2106D-9AE0-031C-7B83-F511DD7E86F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2251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7EA276-1CAD-56D6-6982-6B570F110003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54A5925-E410-9B1B-3C52-F9744A41330A}"/>
              </a:ext>
            </a:extLst>
          </p:cNvPr>
          <p:cNvSpPr txBox="1">
            <a:spLocks/>
          </p:cNvSpPr>
          <p:nvPr userDrawn="1"/>
        </p:nvSpPr>
        <p:spPr>
          <a:xfrm>
            <a:off x="-1466969" y="1008000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1EFF5072-6D72-1C5D-056B-9040EFCBF02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Blank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2DB0CD0-1E94-5315-0351-69F583409E6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 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60A8CE-2B28-F59C-432E-4D0CB08C0AF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533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layout</a:t>
            </a:r>
          </a:p>
        </p:txBody>
      </p:sp>
    </p:spTree>
    <p:extLst>
      <p:ext uri="{BB962C8B-B14F-4D97-AF65-F5344CB8AC3E}">
        <p14:creationId xmlns:p14="http://schemas.microsoft.com/office/powerpoint/2010/main" val="34820747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FED7A3A3-370E-8E53-82F8-84D568B1CC02}"/>
              </a:ext>
            </a:extLst>
          </p:cNvPr>
          <p:cNvSpPr>
            <a:spLocks/>
          </p:cNvSpPr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CC4B3-3BF2-53A1-C224-45500A28CC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5580-71D1-F9D8-4FA6-18FFE7D46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B1337-2405-2098-B79C-F595478908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53CAF16-5AB2-4305-959C-E17B059163E1}" type="datetime4">
              <a:rPr lang="en-US" smtClean="0"/>
              <a:t>March 3, 2026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FA609-5214-2601-064E-5161C32C183C}"/>
              </a:ext>
            </a:extLst>
          </p:cNvPr>
          <p:cNvSpPr txBox="1"/>
          <p:nvPr userDrawn="1"/>
        </p:nvSpPr>
        <p:spPr>
          <a:xfrm>
            <a:off x="0" y="4403514"/>
            <a:ext cx="1220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2400">
                <a:solidFill>
                  <a:srgbClr val="998242"/>
                </a:solidFill>
                <a:latin typeface="Arial"/>
                <a:ea typeface="ＭＳ Ｐゴシック" charset="0"/>
                <a:cs typeface="Arial"/>
              </a:rPr>
              <a:t>www.trelleborg.com</a:t>
            </a:r>
            <a:endParaRPr lang="en-US" sz="2000" b="1">
              <a:solidFill>
                <a:srgbClr val="998242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7A962D-9441-E0BB-7AC7-AEFC587746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5790" b="35791"/>
          <a:stretch/>
        </p:blipFill>
        <p:spPr>
          <a:xfrm>
            <a:off x="2835272" y="1515015"/>
            <a:ext cx="6521456" cy="26227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2216F6-4218-A9B7-495B-6948DB60498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05352C-46B2-607C-D7F7-A66755C76F9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3CBF535-DF2A-E315-6F9F-D080C1FE162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should always be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the last slide of the presentation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layout may not be altered or exchanged.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add date or text boxes in the black footer.</a:t>
            </a:r>
          </a:p>
          <a:p>
            <a:endParaRPr lang="en-US" sz="11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4893727-33C4-6661-11ED-837B77A5A35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End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6949FB-49FC-1A8F-C989-9640D70328B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0514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59FB4E-823E-413B-B741-B28844C666F8}"/>
              </a:ext>
            </a:extLst>
          </p:cNvPr>
          <p:cNvSpPr>
            <a:spLocks/>
          </p:cNvSpPr>
          <p:nvPr userDrawn="1"/>
        </p:nvSpPr>
        <p:spPr>
          <a:xfrm>
            <a:off x="449580" y="778164"/>
            <a:ext cx="11292840" cy="2659190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use layouts after this (if any)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0BA21A-F948-D87E-FA9F-CAC0573B54B4}"/>
              </a:ext>
            </a:extLst>
          </p:cNvPr>
          <p:cNvSpPr>
            <a:spLocks/>
          </p:cNvSpPr>
          <p:nvPr userDrawn="1"/>
        </p:nvSpPr>
        <p:spPr>
          <a:xfrm>
            <a:off x="1011382" y="3628090"/>
            <a:ext cx="10169236" cy="1475001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396000" tIns="72000" rIns="180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Due to how PowerPoint works, more layouts may appear after this one.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These layouts are duplicates from other templates and should not be used.</a:t>
            </a:r>
          </a:p>
        </p:txBody>
      </p:sp>
    </p:spTree>
    <p:extLst>
      <p:ext uri="{BB962C8B-B14F-4D97-AF65-F5344CB8AC3E}">
        <p14:creationId xmlns:p14="http://schemas.microsoft.com/office/powerpoint/2010/main" val="37402931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279984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ridge over water with a city in the background&#10;&#10;Description automatically generated">
            <a:extLst>
              <a:ext uri="{FF2B5EF4-FFF2-40B4-BE49-F238E27FC236}">
                <a16:creationId xmlns:a16="http://schemas.microsoft.com/office/drawing/2014/main" id="{2FF56083-EF44-4D03-F22B-D8BF3915BE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7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2EEBA4-8D7D-C7D6-8079-8475A22BBE0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6C6BAD-1F86-7B7B-4E7C-5A8F4112B93F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67231C2-8EC2-FDAA-4BD7-1A4FD42785A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should always start the presentation.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may not be altered or exchanged.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you would like an image tailored to your presentation, it should be on a slide following this one. A suggested layout for that type of slide is the chapter divider.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add date or text boxes in the black footer.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D785D4-DE7B-68D2-23F6-0754A584AF81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82ADE1-E5B9-F688-D4F4-33C02E09A37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latshållare för text 5">
            <a:extLst>
              <a:ext uri="{FF2B5EF4-FFF2-40B4-BE49-F238E27FC236}">
                <a16:creationId xmlns:a16="http://schemas.microsoft.com/office/drawing/2014/main" id="{91D07A75-093C-CC29-0295-DD1A43DF9891}"/>
              </a:ext>
            </a:extLst>
          </p:cNvPr>
          <p:cNvSpPr txBox="1">
            <a:spLocks/>
          </p:cNvSpPr>
          <p:nvPr userDrawn="1"/>
        </p:nvSpPr>
        <p:spPr>
          <a:xfrm>
            <a:off x="4447548" y="2863373"/>
            <a:ext cx="5527988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65000"/>
                  </a:schemeClr>
                </a:solidFill>
                <a:latin typeface="Arial"/>
                <a:ea typeface="ＭＳ Ｐゴシック" charset="0"/>
                <a:cs typeface="Arial"/>
              </a:rPr>
              <a:t>Welcome to the</a:t>
            </a:r>
          </a:p>
        </p:txBody>
      </p:sp>
      <p:sp>
        <p:nvSpPr>
          <p:cNvPr id="18" name="Platshållare för text 6">
            <a:extLst>
              <a:ext uri="{FF2B5EF4-FFF2-40B4-BE49-F238E27FC236}">
                <a16:creationId xmlns:a16="http://schemas.microsoft.com/office/drawing/2014/main" id="{9CA49248-ADE0-5317-90A4-4884DA335D1E}"/>
              </a:ext>
            </a:extLst>
          </p:cNvPr>
          <p:cNvSpPr txBox="1">
            <a:spLocks/>
          </p:cNvSpPr>
          <p:nvPr userDrawn="1"/>
        </p:nvSpPr>
        <p:spPr>
          <a:xfrm>
            <a:off x="5080230" y="3327778"/>
            <a:ext cx="6702091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90000"/>
                  </a:schemeClr>
                </a:solidFill>
                <a:latin typeface="Arial"/>
                <a:ea typeface="ＭＳ Ｐゴシック" charset="0"/>
                <a:cs typeface="Arial"/>
              </a:rPr>
              <a:t>World of Trelleborg</a:t>
            </a:r>
          </a:p>
        </p:txBody>
      </p:sp>
      <p:sp>
        <p:nvSpPr>
          <p:cNvPr id="19" name="Title 5">
            <a:extLst>
              <a:ext uri="{FF2B5EF4-FFF2-40B4-BE49-F238E27FC236}">
                <a16:creationId xmlns:a16="http://schemas.microsoft.com/office/drawing/2014/main" id="{EE4E0A4E-F1A4-4C53-6FCB-78BDB21504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201" y="4492547"/>
            <a:ext cx="6400800" cy="429348"/>
          </a:xfrm>
        </p:spPr>
        <p:txBody>
          <a:bodyPr wrap="square">
            <a:spAutoFit/>
          </a:bodyPr>
          <a:lstStyle>
            <a:lvl1pPr>
              <a:defRPr sz="310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add presentation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A31CA47-65E2-612A-723D-E0638444D2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2201" y="499450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location and date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30FA783-13B7-CC24-C426-21199798B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2201" y="533875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14485736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2002214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le of blue round objects&#10;&#10;Description automatically generated">
            <a:extLst>
              <a:ext uri="{FF2B5EF4-FFF2-40B4-BE49-F238E27FC236}">
                <a16:creationId xmlns:a16="http://schemas.microsoft.com/office/drawing/2014/main" id="{A5D78FF6-AC81-C982-4659-4CA811ADE3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7778"/>
          <a:stretch/>
        </p:blipFill>
        <p:spPr>
          <a:xfrm>
            <a:off x="1" y="0"/>
            <a:ext cx="12186217" cy="6321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3B7AF6-E61D-4D5E-AA5E-F0A0FEE57720}" type="datetime4">
              <a:rPr lang="en-US" smtClean="0"/>
              <a:t>March 3, 2026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B5E219-96E4-B92D-AE36-E2D19DEBA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115E250-E415-ADB7-5CD0-E76009059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0A4D0-62DF-1D03-2CBF-172ABDF7AE5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0222FCD-6EFA-D57F-3CCB-25A6F4818FF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FA6D5942-2F9C-5E1F-D2C4-2BEF6EB128B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do so, please use the next slides with either black or white text. Choose the option with the best legibility.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3141728-31EC-6AB0-5F94-ADA984279C1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(option 1)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2D8BAE-8265-943B-4F1A-5211C25E9C0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9298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 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lose-up of a molecule model&#10;&#10;Description automatically generated">
            <a:extLst>
              <a:ext uri="{FF2B5EF4-FFF2-40B4-BE49-F238E27FC236}">
                <a16:creationId xmlns:a16="http://schemas.microsoft.com/office/drawing/2014/main" id="{74B99D62-9F91-5C92-67D0-79C3034972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2358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6BE92-B6AF-4EBF-C16F-778DC6C57D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954EA71-083A-12A4-22DD-BB27C3CE0C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30B1C6D-BEDE-9B44-1534-C7F64762F4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do so, please use the next slides with either black or white text. Choose the option with the best legibility.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77B16C4-9D9B-7425-9943-F5F8AEA356F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(option 2)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B737E4-A90E-3E2E-DD24-E48CC21B9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501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whit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0DA28AF9-6B31-A8DE-F8D6-C4B3FAF3273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2582B-B814-EAB8-3D6E-D6AC89177A7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4C7EB64-5E1A-9222-5FA6-49C6F7F9009D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12A211E-01A4-071E-72EC-4DC6854341F5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333772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black text is better. 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7E9DDD8-A8FD-1769-4AF5-3433EB05625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(white text)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85B26E-7DCC-BF3F-F5A4-F0978CB640D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9811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black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C3D02A2-500F-8322-38B5-0A1AB415FAD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6BE92-B6AF-4EBF-C16F-778DC6C57D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954EA71-083A-12A4-22DD-BB27C3CE0C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30B1C6D-BEDE-9B44-1534-C7F64762F4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white text is better. 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77B16C4-9D9B-7425-9943-F5F8AEA356F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(black text)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B737E4-A90E-3E2E-DD24-E48CC21B9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140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7700124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agenda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white flag with black text on a pole&#10;&#10;Description automatically generated">
            <a:extLst>
              <a:ext uri="{FF2B5EF4-FFF2-40B4-BE49-F238E27FC236}">
                <a16:creationId xmlns:a16="http://schemas.microsoft.com/office/drawing/2014/main" id="{763E3F4E-B0BB-E808-818B-D3020FABE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6637" cy="63179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DC66A-771E-9A4A-20CA-8A95549278F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27C53BBA-60D4-B8FC-1583-0BEAFE774A9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18C0ECBE-554A-10C5-1042-4FCA8DAE9CDA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5FB66CE-A1E5-862C-E320-2BD569AEF43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1)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5DC5C47-A914-D75C-ED4C-B911589321A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ine">
            <a:extLst>
              <a:ext uri="{FF2B5EF4-FFF2-40B4-BE49-F238E27FC236}">
                <a16:creationId xmlns:a16="http://schemas.microsoft.com/office/drawing/2014/main" id="{A91AD660-4FC9-EA6F-9BBB-E77AC7D6C4E2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agenda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close up of a fabric&#10;&#10;Description automatically generated">
            <a:extLst>
              <a:ext uri="{FF2B5EF4-FFF2-40B4-BE49-F238E27FC236}">
                <a16:creationId xmlns:a16="http://schemas.microsoft.com/office/drawing/2014/main" id="{A1958D24-4412-031A-38F6-D2D40D568D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/>
          <a:p>
            <a:r>
              <a:rPr lang="en-US"/>
              <a:t>Click to add title – max 1 line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14357D-A5EF-D152-D9C5-B27976AFDF2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311020-FF54-9690-3446-9B2FB7BC0A1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3953F82-9228-DA17-725D-C75898DFBA8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F0C94062-0E92-632B-A0B7-7F7F5C8C2F8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2)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7BC3B6-1D5C-2AA0-FB83-D6727D4D366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ine">
            <a:extLst>
              <a:ext uri="{FF2B5EF4-FFF2-40B4-BE49-F238E27FC236}">
                <a16:creationId xmlns:a16="http://schemas.microsoft.com/office/drawing/2014/main" id="{450EBB9D-7777-AEEE-64BC-D7EF219575A9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60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Title &amp; subtitle + agenda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1F00182A-2046-6DC2-ABAE-D4E164B19AB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552000" tIns="3024000" rIns="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E2B6D3F5-A9E1-4C05-A84C-980329DB0E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0" y="1841"/>
            <a:ext cx="6365876" cy="6317997"/>
          </a:xfr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409B1779-E2DE-DF5A-0420-9C2D6AA62B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54801" y="2184917"/>
            <a:ext cx="5248274" cy="1950003"/>
          </a:xfrm>
          <a:solidFill>
            <a:schemeClr val="accent1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Font typeface="+mj-lt"/>
              <a:buNone/>
              <a:defRPr i="1">
                <a:solidFill>
                  <a:schemeClr val="bg1"/>
                </a:solidFill>
              </a:defRPr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/>
              <a:t>To insert a picture:                                                1. Delete the transparent box on the left-hand side                                                        2. Click the picture icon to add a picture               3. Go to Home &gt;&gt; Reset (to bring the box back)  4. Type your text                                                   5. Delete this instruction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/>
          <a:p>
            <a:r>
              <a:rPr lang="en-US"/>
              <a:t>Click to add title – max 1 line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F2BAC6-0A88-F19E-5642-EB0621BB407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35974C6E-E3E1-DAA9-DC97-5EFA381F830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B5A514B-73EC-D1ED-BE3B-913B4F27F41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picture, by following the slide’s  instructions.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Please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the legibility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 of the text when selecting a picture. If needed, crop the picture differently or select another picture.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E5A080A-96FA-EC45-B3D3-4E5362CE091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3)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F65DD3-D44C-8A23-E83B-FFF512305C5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ladsholder til tekst 13">
            <a:extLst>
              <a:ext uri="{FF2B5EF4-FFF2-40B4-BE49-F238E27FC236}">
                <a16:creationId xmlns:a16="http://schemas.microsoft.com/office/drawing/2014/main" id="{4B55BAE9-2321-1810-8D49-741B5A5607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1000850"/>
            <a:ext cx="5289549" cy="10800"/>
          </a:xfrm>
          <a:solidFill>
            <a:schemeClr val="tx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>
            <a:lvl1pPr marL="0" indent="0">
              <a:buNone/>
              <a:defRPr sz="100"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da-DK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4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content</a:t>
            </a:r>
          </a:p>
        </p:txBody>
      </p:sp>
    </p:spTree>
    <p:extLst>
      <p:ext uri="{BB962C8B-B14F-4D97-AF65-F5344CB8AC3E}">
        <p14:creationId xmlns:p14="http://schemas.microsoft.com/office/powerpoint/2010/main" val="35206465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D3EBB-921D-433C-8D4A-4A2A96453BB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0000" y="1204913"/>
            <a:ext cx="11111997" cy="48402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 or use the icons to insert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FF8ABCD-5AF0-C7E1-ED2E-2ACFB77C80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</p:spTree>
    <p:extLst>
      <p:ext uri="{BB962C8B-B14F-4D97-AF65-F5344CB8AC3E}">
        <p14:creationId xmlns:p14="http://schemas.microsoft.com/office/powerpoint/2010/main" val="1687581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82D35-38BA-4733-8072-AC0A1C130EB1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DA405C-8706-D6A0-A804-4E31612EBBE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6"/>
            <a:ext cx="5285999" cy="4380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DBC5536A-7708-7318-4D3F-51D16B72F69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65998" y="1666016"/>
            <a:ext cx="5285999" cy="4380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C0A8268-FAEF-AF38-EFA8-909A0DBF1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965313-D434-0F18-5942-EB32B41AE25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37C98B6E-7E2E-2498-353C-EF8F3AEB977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624AEC5-8C19-4C3E-511E-2150AE8AB95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two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F073324-8E4A-93A0-6049-12C5566177C8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content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35999C-CA17-E62C-1CC0-A105713A4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29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BD86-3EF5-4E31-A7F4-8C55A94494F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D71D8E4A-10D7-09A9-F88F-FCA898147C9F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02598A2E-56D7-E713-566B-47E4BC1C0AF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23999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FAC640A2-0195-E324-897E-17CFA2A8BF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307998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DE6A9DC-5EF6-5951-04EC-C8FC55AFA6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5EDDF3-19EB-7066-8A87-076AB50EDD7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88EAE1-3542-3A7E-6DB8-309E2AA851D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A4B89A6-1502-365A-C6AC-9A17DACEC73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content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CE9DE05-3C7D-E743-889F-6B7E651BFB15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three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280CB7-B326-03C9-51E6-571B8D5ABD9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6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75278-6FFE-4FE0-B4AD-82CA49CC65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6"/>
            <a:ext cx="2372999" cy="43807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452999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365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278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B198B25-2BDD-4E1D-00F9-23AF9DDDF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66355-B0A8-EFF8-3C48-02C74F4FF62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533D350-94D5-A063-69CD-43D7D2130A6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8B7001A-B966-98D3-2A6C-138B3687DFC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content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F3E3F50-F046-5E93-0C2B-2F04ABA6E4E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four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910E0B-75BA-79D1-5019-70D4750B63E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994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343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4231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7175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2D3DC5-9629-2C38-7C2F-3AD97B71C73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9F4ACD4F-192F-9FB1-E965-6891944E0D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1287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A19278E8-A303-097D-56D8-9154FA5D9F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E9A25CD-DC6C-4BA6-CAA2-700D7BF505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10875-0F15-C0B9-139B-18DFD2F1D6A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64D91F1-AE67-3CAF-010F-47D403A3F42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453BAFE-6F4F-1D93-B873-86D119ECC71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content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F3E8F93-07CA-E51A-7C5E-07E35DF5158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five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F5FE41-793C-6000-7AD6-D0757033E530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951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40">
          <p15:clr>
            <a:srgbClr val="5ACBF0"/>
          </p15:clr>
        </p15:guide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0" pos="7339">
          <p15:clr>
            <a:srgbClr val="FBAE40"/>
          </p15:clr>
        </p15:guide>
        <p15:guide id="12" pos="7341">
          <p15:clr>
            <a:srgbClr val="FBAE40"/>
          </p15:clr>
        </p15:guide>
        <p15:guide id="13" pos="3230">
          <p15:clr>
            <a:srgbClr val="5ACBF0"/>
          </p15:clr>
        </p15:guide>
        <p15:guide id="14" pos="4449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pictures</a:t>
            </a:r>
          </a:p>
        </p:txBody>
      </p:sp>
    </p:spTree>
    <p:extLst>
      <p:ext uri="{BB962C8B-B14F-4D97-AF65-F5344CB8AC3E}">
        <p14:creationId xmlns:p14="http://schemas.microsoft.com/office/powerpoint/2010/main" val="2184907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sli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E67C-A8AF-477D-B5A6-DF50AB980D3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8199000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53999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7B0456-0660-ADC3-0DE7-79DA1941D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8199000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CD62068-8A16-6BD4-CC28-2A7B40234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8199000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01FC2FE-A3A1-060E-2506-68883377CA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900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EEE384-FAF4-0C0D-97B4-8711ECA19E0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6C2CA3F-9CCA-56A8-5202-687ACC3375B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088003F-7276-D3C2-2F9A-AA5A5B65FD8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943F63F-56C1-DF92-B276-701FD3AACC4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right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E0DFC8-2A8B-B46C-AA48-09DB03AB105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848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05">
          <p15:clr>
            <a:srgbClr val="5ACBF0"/>
          </p15:clr>
        </p15:guide>
        <p15:guide id="2" pos="5844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slim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01FC2FE-A3A1-060E-2506-68883377CA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E67C-A8AF-477D-B5A6-DF50AB980D3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4839" y="1204913"/>
            <a:ext cx="8199000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345483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7B0456-0660-ADC3-0DE7-79DA1941D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4839" y="262800"/>
            <a:ext cx="8199000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CD62068-8A16-6BD4-CC28-2A7B40234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4839" y="660922"/>
            <a:ext cx="8199000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800433-19C5-20B8-A83C-954F564D4A53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889FBC4-AA4D-6CF0-5C19-9748040B0A3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C9D9A99-61B6-A125-DF5E-2F413D03787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4D71B-61AA-DBEA-EDA1-DB7CA05F3D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left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9F0A93-8635-6635-A00D-A1A805A7A20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735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35">
          <p15:clr>
            <a:srgbClr val="5ACBF0"/>
          </p15:clr>
        </p15:guide>
        <p15:guide id="2" pos="217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wid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D4414-90DE-4D1E-A014-EA43D727370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5285999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FCE8F3-6862-6B6D-62B9-CB1467D4E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F132D34-B217-A51B-E49D-D3FB9CF7BE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6BE8BA-C14C-9E21-3561-5EB4623BE1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600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1C73F-695C-0FA3-5749-FE4BE4F4698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4E4620E-512F-61DB-5863-83788ED2A44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7B5CE9C-58B7-9E26-A586-3E1A12E85314}"/>
              </a:ext>
            </a:extLst>
          </p:cNvPr>
          <p:cNvSpPr txBox="1">
            <a:spLocks/>
          </p:cNvSpPr>
          <p:nvPr userDrawn="1"/>
        </p:nvSpPr>
        <p:spPr>
          <a:xfrm>
            <a:off x="-1568878" y="133349"/>
            <a:ext cx="1476000" cy="839673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right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8F615D1-6619-0F48-DE1C-17AD299603A2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3313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238A71-62DA-223A-6456-6C70EF73EF6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261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wid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6BE8BA-C14C-9E21-3561-5EB4623BE1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D4414-90DE-4D1E-A014-EA43D727370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7840" y="1204913"/>
            <a:ext cx="5285999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636784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FCE8F3-6862-6B6D-62B9-CB1467D4E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7840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F132D34-B217-A51B-E49D-D3FB9CF7BE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7840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B655C-800B-DDC0-B18D-CBECD2FA525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AB5EEAE-E2D1-BAF1-DB90-6E245DBAF3D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A07CA6F-2828-85A9-04CD-351214E5359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4C957DC8-CABD-06DD-E9A7-321D9643651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left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E53B51-7C39-EE8B-7025-24A5E1A7C6F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941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2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C4F7-AF5B-4414-B6BA-0846096FBF8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C0A8268-FAEF-AF38-EFA8-909A0DBF1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8D07AB-2B9B-C897-404E-3F154936C42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39750" y="3608998"/>
            <a:ext cx="5285999" cy="24362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67DA1CD-29F9-95FE-CAD9-638DD00D98E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65998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3ACCC18-7C32-171A-E4C5-B2FD803E56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4F4D7C12-1C2B-22D7-6701-B97EF936947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6784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D17864-8059-15A3-26F5-C1FC50C4C4C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9A15E77B-A0EA-F57F-A044-37C37D06D84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4CB6A39A-7E9E-E30A-25F3-A9A27A8B1BD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two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B63ED3-70D8-4286-C3E2-A46BAB7C0D3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pictures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919B03-5292-B62C-4D6B-F2917061BE3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52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3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9245-5432-4453-9B54-6798998A551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DE6A9DC-5EF6-5951-04EC-C8FC55AFA6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0048019-BB1F-364C-C0FD-E0E76B01C99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975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E98B6C1-0C94-BB29-E1C8-3955ABC754D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42400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3A7867-CE08-7924-457C-F27331277EB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307998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9D992DC-CF8C-3015-EDC6-89F451D2D6C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D027F15B-F68A-AAEC-AA89-6DB744131BB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24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03921C8C-DD79-2ED2-B6AB-C9723B559C4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07998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065C39-C946-60D6-D2BD-E5A4A40F648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FBD469-B50F-439F-5DBE-65B0EB1978F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7A4813D-E6F3-197C-20FB-CD5F14BB829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three sections 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728F0-2038-B102-6ED1-FD3A303CDA8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pictures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059AE8-4B5F-9637-5E16-D91DB48279B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69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4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0258-A92E-485E-A8C3-C9FD50EBAB44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B198B25-2BDD-4E1D-00F9-23AF9DDDF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52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65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78998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68D9100-E89D-643B-5244-677AEFE7E54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89B94A3-2A0F-F3B7-659E-C6B2B5ADA04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52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89DF720-539E-994D-9382-DEB42494672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365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26804564-B192-EF73-2729-BF3649A81B5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278998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21723F-8A83-6CD4-9277-66DAACFE5DF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830AB8D9-7BB4-1018-6C83-0F016D29D88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B5FA6B-A7D8-08EB-4A7B-9FDCB367691E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pictures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DB35472-4B97-B6DB-4766-0CA951BE825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four sections of content with picture and header.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E43449-C3A3-C087-9CEB-BF2C3AED70E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69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5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8341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230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717547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43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31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7175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199FC84-D1AC-E5CB-21B0-D342328CA6D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FA1DC5B-9B9E-CA25-F9C1-9AF892A54B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12864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8E35BB86-17EE-7439-C9FE-7D245E970A8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51287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2C8485C-FDC5-4AAD-6D09-87DE3B50F1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F492AD-9053-4D93-92FC-CC83B962B2B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92867768-2BF5-2CC8-E63E-21D4165BBEAA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F071FE-2D52-ABBC-19D7-5DF88557D1B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pictures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832B150-A754-E4BC-D5C4-B6DE1238607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five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C50D70-E701-7297-A48B-D93536030F4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4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1" pos="3230">
          <p15:clr>
            <a:srgbClr val="5ACBF0"/>
          </p15:clr>
        </p15:guide>
        <p15:guide id="12" pos="4449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6477898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9099266-B22D-40D0-AD7A-247DD6713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CD003-B1D6-4D0F-95CF-57954B515B1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93532-A2E6-6685-1408-C17DDE70E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bg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77CA1-860C-9692-833D-F266D1392DC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F2A00EC-89F2-8C6D-A477-7C47D904B01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D264CE0-ADA5-449A-F673-804773C37DAC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white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58DF94-32D1-A577-60C2-465866E70E3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684595-189E-BFB7-D9E3-E8DE259DDDE7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white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60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CF28FB3-50B7-9598-2DFE-8CEAD2EBE9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E385-CEE5-40B1-BE06-A2170ADB260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1A99FF-1348-B954-4D93-10FE1BCF1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tx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30CBD-E810-83CF-9899-308F93AD016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F7CFF1-A506-CDBC-C990-527F07ECA2D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B483173-6199-18CF-383A-3B5AF4917E1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black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4DDD76-A282-8D3C-7EE6-AE4E9B42950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C003F82-893D-F4B9-4076-22254A7ED06C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black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270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A7041F38-B1A4-C153-5B4F-FED5998CBF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280BE-4442-422D-B591-49D2892BD73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939185-4078-8644-C515-440491B36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2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1493C-0C4C-1EC6-A745-507F578FCE9F}"/>
              </a:ext>
            </a:extLst>
          </p:cNvPr>
          <p:cNvSpPr/>
          <p:nvPr userDrawn="1"/>
        </p:nvSpPr>
        <p:spPr>
          <a:xfrm>
            <a:off x="-1584001" y="720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E68E10-83F8-9334-CFC9-F05B441CBC7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E50A98F-DA08-339E-C5B0-39AD2C07010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turquoise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69B21C-7C21-E5E3-CAF8-208A691C263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74A3F92E-2AF6-936E-E3E5-B7E0E2E166E3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turquoise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043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 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9A04056-719D-FED8-29F2-3204327192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751A-D419-4C61-A0FC-D70FB7FC12BA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C075A0-04C1-D65B-1DE1-EADEDAD947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3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55BCA7-398C-4338-2280-70F15E7AA9C1}"/>
              </a:ext>
            </a:extLst>
          </p:cNvPr>
          <p:cNvSpPr/>
          <p:nvPr userDrawn="1"/>
        </p:nvSpPr>
        <p:spPr>
          <a:xfrm>
            <a:off x="-15840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48BBB3-6315-C639-E3AA-0145063F8868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D40AE1B-DD2B-9CE2-543F-643A39D1B27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gold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C33E70-27E4-3624-301C-BBAC2937710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FB6BC4-AE20-4D3A-9358-90D8113BBEFB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gold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890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cop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6983F132-113C-3540-B521-3061708E3D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7A99-D8A9-4C9C-AD15-2626DF3515BC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97B897-67A4-8811-FAA4-D38FAD3B2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4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7F799-CB4D-3F46-EB19-F4BE750EB0C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25A3392-016D-AB7F-E9D5-42F20C6815F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AC7E12A-65F6-B11C-F60F-0ACFF7D91D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copper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136B7A-44CF-EDAC-FD02-40C1116C094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67B54C8-F358-729A-1CA1-C03323DF951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copper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18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m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BDB03BE-C20C-D289-E5A1-168CDF54CD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52F5-FC93-490A-A2C4-7D98228F484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4EA5D7-9E6E-93A4-0317-88252D4D2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5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9086C-E819-1488-5839-828DF97190F2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B3BC37-83C7-8D99-D5B7-6EB45AA05B31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F9ABDF9-12D8-D198-17F0-475C6B2760A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moss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89840D-D8A5-4FFF-37F7-4273FAA37C9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B7AC1E5-F301-CD41-6DAC-8D6A5A418F19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moss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47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br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11804F9-BCE5-1D01-F53A-E38D5A182FA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8F3D-30CD-440E-9BED-2660774D18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D423E6-A47A-9FCC-D958-2918153CE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6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283109-523D-435F-B01D-B49F35E09A6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C22DB7-4CD6-F373-47BF-DF4D84B40D8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C74FBCC-FA93-EF77-8D0E-6E88F03A3CC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brick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18C500-F56D-81D5-A4D4-9E54FD7ECE3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304355F-E40D-6E2A-5642-2E4F1B08091C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brick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06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5B003FC-43AC-F08C-0225-88CDA57E0E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18E8-2883-44C0-A44D-85D71A7A19A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C7644B-07A5-5E66-6048-E522015017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rgbClr val="72B86B">
              <a:alpha val="80000"/>
            </a:srgb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F0FD3-8F67-C00F-BE74-B30BC106A6F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D9CDAE-3F84-12ED-7C1C-500C10D3D21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1E1A569-EDCD-7BD0-3FC9-9836AB28AB4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green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6769CC-6EB9-0D1D-5943-EDADA6716CE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3BD5F27-E2CB-E3C1-E56B-D3023C3612E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green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50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4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content</a:t>
            </a:r>
          </a:p>
        </p:txBody>
      </p:sp>
    </p:spTree>
    <p:extLst>
      <p:ext uri="{BB962C8B-B14F-4D97-AF65-F5344CB8AC3E}">
        <p14:creationId xmlns:p14="http://schemas.microsoft.com/office/powerpoint/2010/main" val="274956169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44DB0-0405-CA6C-E055-F5949138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E1D6E-514F-0376-5C07-A1927A31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702A6-A533-4456-45FD-CCFAE4F9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A77557-55C0-6A1C-3A01-0BCC1D3493FF}"/>
              </a:ext>
            </a:extLst>
          </p:cNvPr>
          <p:cNvSpPr/>
          <p:nvPr userDrawn="1"/>
        </p:nvSpPr>
        <p:spPr>
          <a:xfrm>
            <a:off x="-15696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57444A0-DE7D-CD1B-F66E-26A5BC99FAE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Plain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70EBC8C-299E-B40A-B9CC-2A45E85C4FE2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7B7E1F-1B70-2806-2329-66A51E94992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5935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4D296B-A402-35B3-A1C1-8356F7AAEA40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E3073EC3-DFE6-8312-195C-DCCA607195E6}"/>
              </a:ext>
            </a:extLst>
          </p:cNvPr>
          <p:cNvSpPr txBox="1">
            <a:spLocks/>
          </p:cNvSpPr>
          <p:nvPr userDrawn="1"/>
        </p:nvSpPr>
        <p:spPr>
          <a:xfrm>
            <a:off x="-1466969" y="1008000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3665545-73D1-26F7-8C89-987DFC145B98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Blank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32D4527-3E3C-92C2-3E54-B7AF44F752A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</a:t>
            </a:r>
            <a:r>
              <a:rPr lang="en-US" sz="1050" b="0">
                <a:solidFill>
                  <a:srgbClr val="FF0000">
                    <a:alpha val="90000"/>
                  </a:srgbClr>
                </a:solidFill>
              </a:rPr>
              <a:t>.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928EE9-9E04-D3E8-0C2E-C7FA2DD6D2C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587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layout</a:t>
            </a:r>
          </a:p>
        </p:txBody>
      </p:sp>
    </p:spTree>
    <p:extLst>
      <p:ext uri="{BB962C8B-B14F-4D97-AF65-F5344CB8AC3E}">
        <p14:creationId xmlns:p14="http://schemas.microsoft.com/office/powerpoint/2010/main" val="33784000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4B86CA7E-B351-304C-B84A-7D72E7DF7AA2}"/>
              </a:ext>
            </a:extLst>
          </p:cNvPr>
          <p:cNvSpPr>
            <a:spLocks/>
          </p:cNvSpPr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660A0-08E0-5735-7C3F-6B6BB5EA274E}"/>
              </a:ext>
            </a:extLst>
          </p:cNvPr>
          <p:cNvSpPr txBox="1"/>
          <p:nvPr userDrawn="1"/>
        </p:nvSpPr>
        <p:spPr>
          <a:xfrm>
            <a:off x="0" y="4403514"/>
            <a:ext cx="1220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2400">
                <a:solidFill>
                  <a:srgbClr val="998242"/>
                </a:solidFill>
                <a:latin typeface="Arial"/>
                <a:ea typeface="ＭＳ Ｐゴシック" charset="0"/>
                <a:cs typeface="Arial"/>
              </a:rPr>
              <a:t>www.trelleborg.com</a:t>
            </a:r>
            <a:endParaRPr lang="en-US" sz="2000" b="1">
              <a:solidFill>
                <a:srgbClr val="99824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CC4B3-3BF2-53A1-C224-45500A28CC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5580-71D1-F9D8-4FA6-18FFE7D46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B1337-2405-2098-B79C-F595478908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53CAF16-5AB2-4305-959C-E17B059163E1}" type="datetime4">
              <a:rPr lang="en-US" smtClean="0"/>
              <a:t>March 3, 2026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E5CE02-FE7B-90AB-1884-6713580439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5790" b="35791"/>
          <a:stretch/>
        </p:blipFill>
        <p:spPr>
          <a:xfrm>
            <a:off x="2835272" y="1515015"/>
            <a:ext cx="6521456" cy="26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57473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59FB4E-823E-413B-B741-B28844C666F8}"/>
              </a:ext>
            </a:extLst>
          </p:cNvPr>
          <p:cNvSpPr>
            <a:spLocks/>
          </p:cNvSpPr>
          <p:nvPr userDrawn="1"/>
        </p:nvSpPr>
        <p:spPr>
          <a:xfrm>
            <a:off x="449580" y="778164"/>
            <a:ext cx="11292840" cy="2659190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use layouts after this (if any)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0BA21A-F948-D87E-FA9F-CAC0573B54B4}"/>
              </a:ext>
            </a:extLst>
          </p:cNvPr>
          <p:cNvSpPr>
            <a:spLocks/>
          </p:cNvSpPr>
          <p:nvPr userDrawn="1"/>
        </p:nvSpPr>
        <p:spPr>
          <a:xfrm>
            <a:off x="1011382" y="3628090"/>
            <a:ext cx="10169236" cy="1475001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396000" tIns="72000" rIns="180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Due to how PowerPoint works, more layouts may appear after this one.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These layouts are duplicates from other templates and should not be used.</a:t>
            </a:r>
          </a:p>
        </p:txBody>
      </p:sp>
    </p:spTree>
    <p:extLst>
      <p:ext uri="{BB962C8B-B14F-4D97-AF65-F5344CB8AC3E}">
        <p14:creationId xmlns:p14="http://schemas.microsoft.com/office/powerpoint/2010/main" val="85323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oleObject" Target="../embeddings/oleObject2.bin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61.xml"/><Relationship Id="rId41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30B406A-BFCE-F837-88A3-85108C2A4F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1836978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276" imgH="275" progId="TCLayout.ActiveDocument.1">
                  <p:embed/>
                </p:oleObj>
              </mc:Choice>
              <mc:Fallback>
                <p:oleObj name="think-cell Slide" r:id="rId44" imgW="276" imgH="27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0B406A-BFCE-F837-88A3-85108C2A4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>
            <a:extLst>
              <a:ext uri="{FF2B5EF4-FFF2-40B4-BE49-F238E27FC236}">
                <a16:creationId xmlns:a16="http://schemas.microsoft.com/office/drawing/2014/main" id="{78FC0C7A-FDB3-9D5F-2DF2-A4E0633FD6FC}"/>
              </a:ext>
            </a:extLst>
          </p:cNvPr>
          <p:cNvSpPr>
            <a:spLocks/>
          </p:cNvSpPr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2F12F-86BB-5982-0A48-2379ABF5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62800"/>
            <a:ext cx="11113839" cy="664797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F23DB-3FBD-343C-39BF-D36668E5B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04913"/>
            <a:ext cx="11113839" cy="4840287"/>
          </a:xfrm>
          <a:prstGeom prst="rect">
            <a:avLst/>
          </a:prstGeom>
          <a:ln w="12700"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736D-4E9C-5699-7C27-31DFFD7C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>
            <a:off x="766637" y="6518751"/>
            <a:ext cx="2754011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TRELLEBORG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3773-9819-C11B-FCDA-874739360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9209" y="6518751"/>
            <a:ext cx="210885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D961-B06F-DCCD-4BBA-1B1343B74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6000" y="6518751"/>
            <a:ext cx="1800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900" cap="all" baseline="0">
                <a:solidFill>
                  <a:schemeClr val="bg1"/>
                </a:solidFill>
              </a:defRPr>
            </a:lvl1pPr>
          </a:lstStyle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467DED-36C4-2232-7CC5-7925DA4D4319}"/>
              </a:ext>
            </a:extLst>
          </p:cNvPr>
          <p:cNvGrpSpPr>
            <a:grpSpLocks/>
          </p:cNvGrpSpPr>
          <p:nvPr/>
        </p:nvGrpSpPr>
        <p:grpSpPr>
          <a:xfrm>
            <a:off x="10952333" y="6443734"/>
            <a:ext cx="693917" cy="288532"/>
            <a:chOff x="3591717" y="6426680"/>
            <a:chExt cx="442855" cy="184140"/>
          </a:xfrm>
        </p:grpSpPr>
        <p:grpSp>
          <p:nvGrpSpPr>
            <p:cNvPr id="17" name="Graphic 14">
              <a:extLst>
                <a:ext uri="{FF2B5EF4-FFF2-40B4-BE49-F238E27FC236}">
                  <a16:creationId xmlns:a16="http://schemas.microsoft.com/office/drawing/2014/main" id="{4716F08F-D540-EB26-A85F-2D52972561D6}"/>
                </a:ext>
              </a:extLst>
            </p:cNvPr>
            <p:cNvGrpSpPr/>
            <p:nvPr/>
          </p:nvGrpSpPr>
          <p:grpSpPr>
            <a:xfrm>
              <a:off x="3699827" y="6426680"/>
              <a:ext cx="226739" cy="101444"/>
              <a:chOff x="3699827" y="6426680"/>
              <a:chExt cx="226739" cy="101444"/>
            </a:xfrm>
            <a:solidFill>
              <a:srgbClr val="998242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6A09024-4F7B-6443-0F06-C616D6866BB4}"/>
                  </a:ext>
                </a:extLst>
              </p:cNvPr>
              <p:cNvSpPr/>
              <p:nvPr/>
            </p:nvSpPr>
            <p:spPr>
              <a:xfrm>
                <a:off x="3734822" y="6440532"/>
                <a:ext cx="56450" cy="52076"/>
              </a:xfrm>
              <a:custGeom>
                <a:avLst/>
                <a:gdLst>
                  <a:gd name="connsiteX0" fmla="*/ 0 w 56450"/>
                  <a:gd name="connsiteY0" fmla="*/ 0 h 52076"/>
                  <a:gd name="connsiteX1" fmla="*/ 0 w 56450"/>
                  <a:gd name="connsiteY1" fmla="*/ 8228 h 52076"/>
                  <a:gd name="connsiteX2" fmla="*/ 24059 w 56450"/>
                  <a:gd name="connsiteY2" fmla="*/ 8228 h 52076"/>
                  <a:gd name="connsiteX3" fmla="*/ 24059 w 56450"/>
                  <a:gd name="connsiteY3" fmla="*/ 52076 h 52076"/>
                  <a:gd name="connsiteX4" fmla="*/ 32287 w 56450"/>
                  <a:gd name="connsiteY4" fmla="*/ 52076 h 52076"/>
                  <a:gd name="connsiteX5" fmla="*/ 32287 w 56450"/>
                  <a:gd name="connsiteY5" fmla="*/ 8228 h 52076"/>
                  <a:gd name="connsiteX6" fmla="*/ 56451 w 56450"/>
                  <a:gd name="connsiteY6" fmla="*/ 8228 h 52076"/>
                  <a:gd name="connsiteX7" fmla="*/ 56451 w 56450"/>
                  <a:gd name="connsiteY7" fmla="*/ 0 h 52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450" h="52076">
                    <a:moveTo>
                      <a:pt x="0" y="0"/>
                    </a:moveTo>
                    <a:lnTo>
                      <a:pt x="0" y="8228"/>
                    </a:lnTo>
                    <a:lnTo>
                      <a:pt x="24059" y="8228"/>
                    </a:lnTo>
                    <a:lnTo>
                      <a:pt x="24059" y="52076"/>
                    </a:lnTo>
                    <a:lnTo>
                      <a:pt x="32287" y="52076"/>
                    </a:lnTo>
                    <a:lnTo>
                      <a:pt x="32287" y="8228"/>
                    </a:lnTo>
                    <a:lnTo>
                      <a:pt x="56451" y="8228"/>
                    </a:lnTo>
                    <a:lnTo>
                      <a:pt x="56451" y="0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2AFCC20-0889-811D-5457-9FE4E253F5CD}"/>
                  </a:ext>
                </a:extLst>
              </p:cNvPr>
              <p:cNvSpPr/>
              <p:nvPr/>
            </p:nvSpPr>
            <p:spPr>
              <a:xfrm>
                <a:off x="3699827" y="6426680"/>
                <a:ext cx="226739" cy="101444"/>
              </a:xfrm>
              <a:custGeom>
                <a:avLst/>
                <a:gdLst>
                  <a:gd name="connsiteX0" fmla="*/ 163519 w 226739"/>
                  <a:gd name="connsiteY0" fmla="*/ 101444 h 101444"/>
                  <a:gd name="connsiteX1" fmla="*/ 226739 w 226739"/>
                  <a:gd name="connsiteY1" fmla="*/ 0 h 101444"/>
                  <a:gd name="connsiteX2" fmla="*/ 0 w 226739"/>
                  <a:gd name="connsiteY2" fmla="*/ 0 h 101444"/>
                  <a:gd name="connsiteX3" fmla="*/ 63220 w 226739"/>
                  <a:gd name="connsiteY3" fmla="*/ 101444 h 101444"/>
                  <a:gd name="connsiteX4" fmla="*/ 79885 w 226739"/>
                  <a:gd name="connsiteY4" fmla="*/ 74677 h 101444"/>
                  <a:gd name="connsiteX5" fmla="*/ 96966 w 226739"/>
                  <a:gd name="connsiteY5" fmla="*/ 101444 h 101444"/>
                  <a:gd name="connsiteX6" fmla="*/ 113630 w 226739"/>
                  <a:gd name="connsiteY6" fmla="*/ 74677 h 101444"/>
                  <a:gd name="connsiteX7" fmla="*/ 130294 w 226739"/>
                  <a:gd name="connsiteY7" fmla="*/ 101444 h 101444"/>
                  <a:gd name="connsiteX8" fmla="*/ 146855 w 226739"/>
                  <a:gd name="connsiteY8" fmla="*/ 74781 h 101444"/>
                  <a:gd name="connsiteX9" fmla="*/ 163519 w 226739"/>
                  <a:gd name="connsiteY9" fmla="*/ 101444 h 101444"/>
                  <a:gd name="connsiteX10" fmla="*/ 210075 w 226739"/>
                  <a:gd name="connsiteY10" fmla="*/ 9270 h 101444"/>
                  <a:gd name="connsiteX11" fmla="*/ 163519 w 226739"/>
                  <a:gd name="connsiteY11" fmla="*/ 83947 h 101444"/>
                  <a:gd name="connsiteX12" fmla="*/ 152375 w 226739"/>
                  <a:gd name="connsiteY12" fmla="*/ 66033 h 101444"/>
                  <a:gd name="connsiteX13" fmla="*/ 187682 w 226739"/>
                  <a:gd name="connsiteY13" fmla="*/ 9374 h 101444"/>
                  <a:gd name="connsiteX14" fmla="*/ 210075 w 226739"/>
                  <a:gd name="connsiteY14" fmla="*/ 9270 h 101444"/>
                  <a:gd name="connsiteX15" fmla="*/ 210075 w 226739"/>
                  <a:gd name="connsiteY15" fmla="*/ 9270 h 101444"/>
                  <a:gd name="connsiteX16" fmla="*/ 63220 w 226739"/>
                  <a:gd name="connsiteY16" fmla="*/ 83947 h 101444"/>
                  <a:gd name="connsiteX17" fmla="*/ 16873 w 226739"/>
                  <a:gd name="connsiteY17" fmla="*/ 9270 h 101444"/>
                  <a:gd name="connsiteX18" fmla="*/ 31037 w 226739"/>
                  <a:gd name="connsiteY18" fmla="*/ 9270 h 101444"/>
                  <a:gd name="connsiteX19" fmla="*/ 109777 w 226739"/>
                  <a:gd name="connsiteY19" fmla="*/ 9270 h 101444"/>
                  <a:gd name="connsiteX20" fmla="*/ 63220 w 226739"/>
                  <a:gd name="connsiteY20" fmla="*/ 83947 h 101444"/>
                  <a:gd name="connsiteX21" fmla="*/ 85405 w 226739"/>
                  <a:gd name="connsiteY21" fmla="*/ 65824 h 101444"/>
                  <a:gd name="connsiteX22" fmla="*/ 120608 w 226739"/>
                  <a:gd name="connsiteY22" fmla="*/ 9374 h 101444"/>
                  <a:gd name="connsiteX23" fmla="*/ 143522 w 226739"/>
                  <a:gd name="connsiteY23" fmla="*/ 9374 h 101444"/>
                  <a:gd name="connsiteX24" fmla="*/ 96966 w 226739"/>
                  <a:gd name="connsiteY24" fmla="*/ 84051 h 101444"/>
                  <a:gd name="connsiteX25" fmla="*/ 85405 w 226739"/>
                  <a:gd name="connsiteY25" fmla="*/ 65824 h 101444"/>
                  <a:gd name="connsiteX26" fmla="*/ 119150 w 226739"/>
                  <a:gd name="connsiteY26" fmla="*/ 65824 h 101444"/>
                  <a:gd name="connsiteX27" fmla="*/ 154354 w 226739"/>
                  <a:gd name="connsiteY27" fmla="*/ 9374 h 101444"/>
                  <a:gd name="connsiteX28" fmla="*/ 176746 w 226739"/>
                  <a:gd name="connsiteY28" fmla="*/ 9374 h 101444"/>
                  <a:gd name="connsiteX29" fmla="*/ 130190 w 226739"/>
                  <a:gd name="connsiteY29" fmla="*/ 84051 h 101444"/>
                  <a:gd name="connsiteX30" fmla="*/ 119150 w 226739"/>
                  <a:gd name="connsiteY30" fmla="*/ 65824 h 10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26739" h="101444">
                    <a:moveTo>
                      <a:pt x="163519" y="101444"/>
                    </a:moveTo>
                    <a:lnTo>
                      <a:pt x="226739" y="0"/>
                    </a:lnTo>
                    <a:lnTo>
                      <a:pt x="0" y="0"/>
                    </a:lnTo>
                    <a:lnTo>
                      <a:pt x="63220" y="101444"/>
                    </a:lnTo>
                    <a:lnTo>
                      <a:pt x="79885" y="74677"/>
                    </a:lnTo>
                    <a:lnTo>
                      <a:pt x="96966" y="101444"/>
                    </a:lnTo>
                    <a:lnTo>
                      <a:pt x="113630" y="74677"/>
                    </a:lnTo>
                    <a:lnTo>
                      <a:pt x="130294" y="101444"/>
                    </a:lnTo>
                    <a:lnTo>
                      <a:pt x="146855" y="74781"/>
                    </a:lnTo>
                    <a:lnTo>
                      <a:pt x="163519" y="101444"/>
                    </a:lnTo>
                    <a:close/>
                    <a:moveTo>
                      <a:pt x="210075" y="9270"/>
                    </a:moveTo>
                    <a:lnTo>
                      <a:pt x="163519" y="83947"/>
                    </a:lnTo>
                    <a:lnTo>
                      <a:pt x="152375" y="66033"/>
                    </a:lnTo>
                    <a:lnTo>
                      <a:pt x="187682" y="9374"/>
                    </a:lnTo>
                    <a:lnTo>
                      <a:pt x="210075" y="9270"/>
                    </a:lnTo>
                    <a:lnTo>
                      <a:pt x="210075" y="9270"/>
                    </a:lnTo>
                    <a:close/>
                    <a:moveTo>
                      <a:pt x="63220" y="83947"/>
                    </a:moveTo>
                    <a:lnTo>
                      <a:pt x="16873" y="9270"/>
                    </a:lnTo>
                    <a:lnTo>
                      <a:pt x="31037" y="9270"/>
                    </a:lnTo>
                    <a:lnTo>
                      <a:pt x="109777" y="9270"/>
                    </a:lnTo>
                    <a:lnTo>
                      <a:pt x="63220" y="83947"/>
                    </a:lnTo>
                    <a:close/>
                    <a:moveTo>
                      <a:pt x="85405" y="65824"/>
                    </a:moveTo>
                    <a:lnTo>
                      <a:pt x="120608" y="9374"/>
                    </a:lnTo>
                    <a:lnTo>
                      <a:pt x="143522" y="9374"/>
                    </a:lnTo>
                    <a:lnTo>
                      <a:pt x="96966" y="84051"/>
                    </a:lnTo>
                    <a:lnTo>
                      <a:pt x="85405" y="65824"/>
                    </a:lnTo>
                    <a:close/>
                    <a:moveTo>
                      <a:pt x="119150" y="65824"/>
                    </a:moveTo>
                    <a:lnTo>
                      <a:pt x="154354" y="9374"/>
                    </a:lnTo>
                    <a:lnTo>
                      <a:pt x="176746" y="9374"/>
                    </a:lnTo>
                    <a:lnTo>
                      <a:pt x="130190" y="84051"/>
                    </a:lnTo>
                    <a:lnTo>
                      <a:pt x="119150" y="65824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56BDD16-D07C-23D8-ECD0-22B66F86EA4C}"/>
                </a:ext>
              </a:extLst>
            </p:cNvPr>
            <p:cNvSpPr/>
            <p:nvPr/>
          </p:nvSpPr>
          <p:spPr>
            <a:xfrm>
              <a:off x="3591717" y="6545309"/>
              <a:ext cx="39577" cy="64261"/>
            </a:xfrm>
            <a:custGeom>
              <a:avLst/>
              <a:gdLst>
                <a:gd name="connsiteX0" fmla="*/ 0 w 39577"/>
                <a:gd name="connsiteY0" fmla="*/ 8332 h 64261"/>
                <a:gd name="connsiteX1" fmla="*/ 5103 w 39577"/>
                <a:gd name="connsiteY1" fmla="*/ 5833 h 64261"/>
                <a:gd name="connsiteX2" fmla="*/ 16039 w 39577"/>
                <a:gd name="connsiteY2" fmla="*/ 5833 h 64261"/>
                <a:gd name="connsiteX3" fmla="*/ 16039 w 39577"/>
                <a:gd name="connsiteY3" fmla="*/ 59263 h 64261"/>
                <a:gd name="connsiteX4" fmla="*/ 14061 w 39577"/>
                <a:gd name="connsiteY4" fmla="*/ 64262 h 64261"/>
                <a:gd name="connsiteX5" fmla="*/ 25517 w 39577"/>
                <a:gd name="connsiteY5" fmla="*/ 64262 h 64261"/>
                <a:gd name="connsiteX6" fmla="*/ 23538 w 39577"/>
                <a:gd name="connsiteY6" fmla="*/ 59263 h 64261"/>
                <a:gd name="connsiteX7" fmla="*/ 23538 w 39577"/>
                <a:gd name="connsiteY7" fmla="*/ 5728 h 64261"/>
                <a:gd name="connsiteX8" fmla="*/ 34579 w 39577"/>
                <a:gd name="connsiteY8" fmla="*/ 5728 h 64261"/>
                <a:gd name="connsiteX9" fmla="*/ 39578 w 39577"/>
                <a:gd name="connsiteY9" fmla="*/ 8228 h 64261"/>
                <a:gd name="connsiteX10" fmla="*/ 39578 w 39577"/>
                <a:gd name="connsiteY10" fmla="*/ 0 h 64261"/>
                <a:gd name="connsiteX11" fmla="*/ 0 w 39577"/>
                <a:gd name="connsiteY11" fmla="*/ 0 h 64261"/>
                <a:gd name="connsiteX12" fmla="*/ 0 w 39577"/>
                <a:gd name="connsiteY12" fmla="*/ 8332 h 6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577" h="64261">
                  <a:moveTo>
                    <a:pt x="0" y="8332"/>
                  </a:moveTo>
                  <a:cubicBezTo>
                    <a:pt x="1146" y="7082"/>
                    <a:pt x="1250" y="5833"/>
                    <a:pt x="5103" y="5833"/>
                  </a:cubicBezTo>
                  <a:lnTo>
                    <a:pt x="16039" y="5833"/>
                  </a:lnTo>
                  <a:lnTo>
                    <a:pt x="16039" y="59263"/>
                  </a:lnTo>
                  <a:cubicBezTo>
                    <a:pt x="16039" y="62700"/>
                    <a:pt x="15519" y="63116"/>
                    <a:pt x="14061" y="64262"/>
                  </a:cubicBezTo>
                  <a:lnTo>
                    <a:pt x="25517" y="64262"/>
                  </a:lnTo>
                  <a:cubicBezTo>
                    <a:pt x="24059" y="63116"/>
                    <a:pt x="23538" y="62700"/>
                    <a:pt x="23538" y="59263"/>
                  </a:cubicBezTo>
                  <a:lnTo>
                    <a:pt x="23538" y="5728"/>
                  </a:lnTo>
                  <a:lnTo>
                    <a:pt x="34579" y="5728"/>
                  </a:lnTo>
                  <a:cubicBezTo>
                    <a:pt x="38432" y="5728"/>
                    <a:pt x="38432" y="7082"/>
                    <a:pt x="39578" y="8228"/>
                  </a:cubicBezTo>
                  <a:lnTo>
                    <a:pt x="39578" y="0"/>
                  </a:lnTo>
                  <a:lnTo>
                    <a:pt x="0" y="0"/>
                  </a:lnTo>
                  <a:lnTo>
                    <a:pt x="0" y="8332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522D4A-C207-373D-0ECB-C70402668CE5}"/>
                </a:ext>
              </a:extLst>
            </p:cNvPr>
            <p:cNvSpPr/>
            <p:nvPr/>
          </p:nvSpPr>
          <p:spPr>
            <a:xfrm>
              <a:off x="3635773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765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A047F0C-DEAB-BB35-90AE-16895CA11E0F}"/>
                </a:ext>
              </a:extLst>
            </p:cNvPr>
            <p:cNvSpPr/>
            <p:nvPr/>
          </p:nvSpPr>
          <p:spPr>
            <a:xfrm>
              <a:off x="3939898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661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C78186-0C51-B1F5-D4E0-07FA8AE2632B}"/>
                </a:ext>
              </a:extLst>
            </p:cNvPr>
            <p:cNvSpPr/>
            <p:nvPr/>
          </p:nvSpPr>
          <p:spPr>
            <a:xfrm>
              <a:off x="3683892" y="6545518"/>
              <a:ext cx="34161" cy="63949"/>
            </a:xfrm>
            <a:custGeom>
              <a:avLst/>
              <a:gdLst>
                <a:gd name="connsiteX0" fmla="*/ 1979 w 34161"/>
                <a:gd name="connsiteY0" fmla="*/ 4999 h 63949"/>
                <a:gd name="connsiteX1" fmla="*/ 1979 w 34161"/>
                <a:gd name="connsiteY1" fmla="*/ 58950 h 63949"/>
                <a:gd name="connsiteX2" fmla="*/ 0 w 34161"/>
                <a:gd name="connsiteY2" fmla="*/ 63949 h 63949"/>
                <a:gd name="connsiteX3" fmla="*/ 34162 w 34161"/>
                <a:gd name="connsiteY3" fmla="*/ 63949 h 63949"/>
                <a:gd name="connsiteX4" fmla="*/ 34162 w 34161"/>
                <a:gd name="connsiteY4" fmla="*/ 55617 h 63949"/>
                <a:gd name="connsiteX5" fmla="*/ 29058 w 34161"/>
                <a:gd name="connsiteY5" fmla="*/ 58221 h 63949"/>
                <a:gd name="connsiteX6" fmla="*/ 9478 w 34161"/>
                <a:gd name="connsiteY6" fmla="*/ 58221 h 63949"/>
                <a:gd name="connsiteX7" fmla="*/ 9478 w 34161"/>
                <a:gd name="connsiteY7" fmla="*/ 31662 h 63949"/>
                <a:gd name="connsiteX8" fmla="*/ 23226 w 34161"/>
                <a:gd name="connsiteY8" fmla="*/ 31975 h 63949"/>
                <a:gd name="connsiteX9" fmla="*/ 27913 w 34161"/>
                <a:gd name="connsiteY9" fmla="*/ 33849 h 63949"/>
                <a:gd name="connsiteX10" fmla="*/ 27913 w 34161"/>
                <a:gd name="connsiteY10" fmla="*/ 24372 h 63949"/>
                <a:gd name="connsiteX11" fmla="*/ 23018 w 34161"/>
                <a:gd name="connsiteY11" fmla="*/ 26246 h 63949"/>
                <a:gd name="connsiteX12" fmla="*/ 9478 w 34161"/>
                <a:gd name="connsiteY12" fmla="*/ 25934 h 63949"/>
                <a:gd name="connsiteX13" fmla="*/ 9478 w 34161"/>
                <a:gd name="connsiteY13" fmla="*/ 5728 h 63949"/>
                <a:gd name="connsiteX14" fmla="*/ 29058 w 34161"/>
                <a:gd name="connsiteY14" fmla="*/ 5728 h 63949"/>
                <a:gd name="connsiteX15" fmla="*/ 34162 w 34161"/>
                <a:gd name="connsiteY15" fmla="*/ 8332 h 63949"/>
                <a:gd name="connsiteX16" fmla="*/ 34162 w 34161"/>
                <a:gd name="connsiteY16" fmla="*/ 0 h 63949"/>
                <a:gd name="connsiteX17" fmla="*/ 0 w 34161"/>
                <a:gd name="connsiteY17" fmla="*/ 0 h 63949"/>
                <a:gd name="connsiteX18" fmla="*/ 1979 w 34161"/>
                <a:gd name="connsiteY18" fmla="*/ 4999 h 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949">
                  <a:moveTo>
                    <a:pt x="1979" y="4999"/>
                  </a:moveTo>
                  <a:lnTo>
                    <a:pt x="1979" y="58950"/>
                  </a:lnTo>
                  <a:cubicBezTo>
                    <a:pt x="1979" y="62387"/>
                    <a:pt x="1458" y="62804"/>
                    <a:pt x="0" y="63949"/>
                  </a:cubicBezTo>
                  <a:lnTo>
                    <a:pt x="34162" y="63949"/>
                  </a:lnTo>
                  <a:lnTo>
                    <a:pt x="34162" y="55617"/>
                  </a:lnTo>
                  <a:cubicBezTo>
                    <a:pt x="33225" y="56763"/>
                    <a:pt x="33120" y="58221"/>
                    <a:pt x="29058" y="58221"/>
                  </a:cubicBezTo>
                  <a:lnTo>
                    <a:pt x="9478" y="58221"/>
                  </a:lnTo>
                  <a:lnTo>
                    <a:pt x="9478" y="31662"/>
                  </a:lnTo>
                  <a:lnTo>
                    <a:pt x="23226" y="31975"/>
                  </a:lnTo>
                  <a:cubicBezTo>
                    <a:pt x="27184" y="31975"/>
                    <a:pt x="27184" y="32912"/>
                    <a:pt x="27913" y="33849"/>
                  </a:cubicBezTo>
                  <a:lnTo>
                    <a:pt x="27913" y="24372"/>
                  </a:lnTo>
                  <a:cubicBezTo>
                    <a:pt x="26975" y="25517"/>
                    <a:pt x="26871" y="26246"/>
                    <a:pt x="23018" y="26246"/>
                  </a:cubicBezTo>
                  <a:lnTo>
                    <a:pt x="9478" y="25934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CAA7BB-C0DA-5D7C-9470-8E72890AF0CD}"/>
                </a:ext>
              </a:extLst>
            </p:cNvPr>
            <p:cNvSpPr/>
            <p:nvPr/>
          </p:nvSpPr>
          <p:spPr>
            <a:xfrm>
              <a:off x="3724094" y="6545309"/>
              <a:ext cx="29266" cy="64157"/>
            </a:xfrm>
            <a:custGeom>
              <a:avLst/>
              <a:gdLst>
                <a:gd name="connsiteX0" fmla="*/ 24267 w 29266"/>
                <a:gd name="connsiteY0" fmla="*/ 58429 h 64157"/>
                <a:gd name="connsiteX1" fmla="*/ 9478 w 29266"/>
                <a:gd name="connsiteY1" fmla="*/ 58429 h 64157"/>
                <a:gd name="connsiteX2" fmla="*/ 9478 w 29266"/>
                <a:gd name="connsiteY2" fmla="*/ 4999 h 64157"/>
                <a:gd name="connsiteX3" fmla="*/ 11457 w 29266"/>
                <a:gd name="connsiteY3" fmla="*/ 0 h 64157"/>
                <a:gd name="connsiteX4" fmla="*/ 0 w 29266"/>
                <a:gd name="connsiteY4" fmla="*/ 0 h 64157"/>
                <a:gd name="connsiteX5" fmla="*/ 1979 w 29266"/>
                <a:gd name="connsiteY5" fmla="*/ 4999 h 64157"/>
                <a:gd name="connsiteX6" fmla="*/ 1979 w 29266"/>
                <a:gd name="connsiteY6" fmla="*/ 59158 h 64157"/>
                <a:gd name="connsiteX7" fmla="*/ 0 w 29266"/>
                <a:gd name="connsiteY7" fmla="*/ 64158 h 64157"/>
                <a:gd name="connsiteX8" fmla="*/ 29267 w 29266"/>
                <a:gd name="connsiteY8" fmla="*/ 64158 h 64157"/>
                <a:gd name="connsiteX9" fmla="*/ 29267 w 29266"/>
                <a:gd name="connsiteY9" fmla="*/ 55826 h 64157"/>
                <a:gd name="connsiteX10" fmla="*/ 24267 w 29266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66" h="64157">
                  <a:moveTo>
                    <a:pt x="24267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9267" y="64158"/>
                  </a:lnTo>
                  <a:lnTo>
                    <a:pt x="29267" y="55826"/>
                  </a:lnTo>
                  <a:cubicBezTo>
                    <a:pt x="28434" y="56763"/>
                    <a:pt x="28225" y="58429"/>
                    <a:pt x="24267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CADB1A2-0263-5836-82D2-AD2EB43C50E5}"/>
                </a:ext>
              </a:extLst>
            </p:cNvPr>
            <p:cNvSpPr/>
            <p:nvPr/>
          </p:nvSpPr>
          <p:spPr>
            <a:xfrm>
              <a:off x="3758465" y="6545309"/>
              <a:ext cx="28329" cy="64157"/>
            </a:xfrm>
            <a:custGeom>
              <a:avLst/>
              <a:gdLst>
                <a:gd name="connsiteX0" fmla="*/ 23226 w 28329"/>
                <a:gd name="connsiteY0" fmla="*/ 58429 h 64157"/>
                <a:gd name="connsiteX1" fmla="*/ 9478 w 28329"/>
                <a:gd name="connsiteY1" fmla="*/ 58429 h 64157"/>
                <a:gd name="connsiteX2" fmla="*/ 9478 w 28329"/>
                <a:gd name="connsiteY2" fmla="*/ 4999 h 64157"/>
                <a:gd name="connsiteX3" fmla="*/ 11457 w 28329"/>
                <a:gd name="connsiteY3" fmla="*/ 0 h 64157"/>
                <a:gd name="connsiteX4" fmla="*/ 0 w 28329"/>
                <a:gd name="connsiteY4" fmla="*/ 0 h 64157"/>
                <a:gd name="connsiteX5" fmla="*/ 1979 w 28329"/>
                <a:gd name="connsiteY5" fmla="*/ 4999 h 64157"/>
                <a:gd name="connsiteX6" fmla="*/ 1979 w 28329"/>
                <a:gd name="connsiteY6" fmla="*/ 59158 h 64157"/>
                <a:gd name="connsiteX7" fmla="*/ 0 w 28329"/>
                <a:gd name="connsiteY7" fmla="*/ 64158 h 64157"/>
                <a:gd name="connsiteX8" fmla="*/ 28329 w 28329"/>
                <a:gd name="connsiteY8" fmla="*/ 64158 h 64157"/>
                <a:gd name="connsiteX9" fmla="*/ 28329 w 28329"/>
                <a:gd name="connsiteY9" fmla="*/ 55826 h 64157"/>
                <a:gd name="connsiteX10" fmla="*/ 23226 w 28329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29" h="64157">
                  <a:moveTo>
                    <a:pt x="23226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8329" y="64158"/>
                  </a:lnTo>
                  <a:lnTo>
                    <a:pt x="28329" y="55826"/>
                  </a:lnTo>
                  <a:cubicBezTo>
                    <a:pt x="27392" y="56763"/>
                    <a:pt x="27184" y="58429"/>
                    <a:pt x="23226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239AD06-2420-D200-F661-84624A3B313E}"/>
                </a:ext>
              </a:extLst>
            </p:cNvPr>
            <p:cNvSpPr/>
            <p:nvPr/>
          </p:nvSpPr>
          <p:spPr>
            <a:xfrm>
              <a:off x="3792210" y="6546038"/>
              <a:ext cx="34161" cy="63324"/>
            </a:xfrm>
            <a:custGeom>
              <a:avLst/>
              <a:gdLst>
                <a:gd name="connsiteX0" fmla="*/ 1979 w 34161"/>
                <a:gd name="connsiteY0" fmla="*/ 8436 h 63324"/>
                <a:gd name="connsiteX1" fmla="*/ 1979 w 34161"/>
                <a:gd name="connsiteY1" fmla="*/ 61658 h 63324"/>
                <a:gd name="connsiteX2" fmla="*/ 0 w 34161"/>
                <a:gd name="connsiteY2" fmla="*/ 63325 h 63324"/>
                <a:gd name="connsiteX3" fmla="*/ 34162 w 34161"/>
                <a:gd name="connsiteY3" fmla="*/ 63325 h 63324"/>
                <a:gd name="connsiteX4" fmla="*/ 34162 w 34161"/>
                <a:gd name="connsiteY4" fmla="*/ 54992 h 63324"/>
                <a:gd name="connsiteX5" fmla="*/ 29058 w 34161"/>
                <a:gd name="connsiteY5" fmla="*/ 57596 h 63324"/>
                <a:gd name="connsiteX6" fmla="*/ 9478 w 34161"/>
                <a:gd name="connsiteY6" fmla="*/ 57596 h 63324"/>
                <a:gd name="connsiteX7" fmla="*/ 9478 w 34161"/>
                <a:gd name="connsiteY7" fmla="*/ 30621 h 63324"/>
                <a:gd name="connsiteX8" fmla="*/ 24059 w 34161"/>
                <a:gd name="connsiteY8" fmla="*/ 30933 h 63324"/>
                <a:gd name="connsiteX9" fmla="*/ 28746 w 34161"/>
                <a:gd name="connsiteY9" fmla="*/ 32808 h 63324"/>
                <a:gd name="connsiteX10" fmla="*/ 28746 w 34161"/>
                <a:gd name="connsiteY10" fmla="*/ 23330 h 63324"/>
                <a:gd name="connsiteX11" fmla="*/ 23851 w 34161"/>
                <a:gd name="connsiteY11" fmla="*/ 25205 h 63324"/>
                <a:gd name="connsiteX12" fmla="*/ 9478 w 34161"/>
                <a:gd name="connsiteY12" fmla="*/ 24892 h 63324"/>
                <a:gd name="connsiteX13" fmla="*/ 9478 w 34161"/>
                <a:gd name="connsiteY13" fmla="*/ 5728 h 63324"/>
                <a:gd name="connsiteX14" fmla="*/ 29058 w 34161"/>
                <a:gd name="connsiteY14" fmla="*/ 5728 h 63324"/>
                <a:gd name="connsiteX15" fmla="*/ 34162 w 34161"/>
                <a:gd name="connsiteY15" fmla="*/ 8332 h 63324"/>
                <a:gd name="connsiteX16" fmla="*/ 34162 w 34161"/>
                <a:gd name="connsiteY16" fmla="*/ 0 h 63324"/>
                <a:gd name="connsiteX17" fmla="*/ 0 w 34161"/>
                <a:gd name="connsiteY17" fmla="*/ 0 h 63324"/>
                <a:gd name="connsiteX18" fmla="*/ 1979 w 34161"/>
                <a:gd name="connsiteY18" fmla="*/ 8436 h 6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324">
                  <a:moveTo>
                    <a:pt x="1979" y="8436"/>
                  </a:moveTo>
                  <a:lnTo>
                    <a:pt x="1979" y="61658"/>
                  </a:lnTo>
                  <a:cubicBezTo>
                    <a:pt x="1979" y="61762"/>
                    <a:pt x="1458" y="62179"/>
                    <a:pt x="0" y="63325"/>
                  </a:cubicBezTo>
                  <a:lnTo>
                    <a:pt x="34162" y="63325"/>
                  </a:lnTo>
                  <a:lnTo>
                    <a:pt x="34162" y="54992"/>
                  </a:lnTo>
                  <a:cubicBezTo>
                    <a:pt x="33225" y="56138"/>
                    <a:pt x="33120" y="57596"/>
                    <a:pt x="29058" y="57596"/>
                  </a:cubicBezTo>
                  <a:lnTo>
                    <a:pt x="9478" y="57596"/>
                  </a:lnTo>
                  <a:lnTo>
                    <a:pt x="9478" y="30621"/>
                  </a:lnTo>
                  <a:lnTo>
                    <a:pt x="24059" y="30933"/>
                  </a:lnTo>
                  <a:cubicBezTo>
                    <a:pt x="28017" y="30933"/>
                    <a:pt x="28017" y="31871"/>
                    <a:pt x="28746" y="32808"/>
                  </a:cubicBezTo>
                  <a:lnTo>
                    <a:pt x="28746" y="23330"/>
                  </a:lnTo>
                  <a:cubicBezTo>
                    <a:pt x="27809" y="24476"/>
                    <a:pt x="27705" y="25205"/>
                    <a:pt x="23851" y="25205"/>
                  </a:cubicBezTo>
                  <a:lnTo>
                    <a:pt x="9478" y="24892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250"/>
                    <a:pt x="1979" y="1666"/>
                    <a:pt x="1979" y="843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ACD652-2771-4558-DB56-C6F5C430DF85}"/>
                </a:ext>
              </a:extLst>
            </p:cNvPr>
            <p:cNvSpPr/>
            <p:nvPr/>
          </p:nvSpPr>
          <p:spPr>
            <a:xfrm>
              <a:off x="3832621" y="6546143"/>
              <a:ext cx="41556" cy="63220"/>
            </a:xfrm>
            <a:custGeom>
              <a:avLst/>
              <a:gdLst>
                <a:gd name="connsiteX0" fmla="*/ 27288 w 41556"/>
                <a:gd name="connsiteY0" fmla="*/ 29267 h 63220"/>
                <a:gd name="connsiteX1" fmla="*/ 27288 w 41556"/>
                <a:gd name="connsiteY1" fmla="*/ 29059 h 63220"/>
                <a:gd name="connsiteX2" fmla="*/ 38120 w 41556"/>
                <a:gd name="connsiteY2" fmla="*/ 14790 h 63220"/>
                <a:gd name="connsiteX3" fmla="*/ 15935 w 41556"/>
                <a:gd name="connsiteY3" fmla="*/ 0 h 63220"/>
                <a:gd name="connsiteX4" fmla="*/ 0 w 41556"/>
                <a:gd name="connsiteY4" fmla="*/ 0 h 63220"/>
                <a:gd name="connsiteX5" fmla="*/ 1979 w 41556"/>
                <a:gd name="connsiteY5" fmla="*/ 4999 h 63220"/>
                <a:gd name="connsiteX6" fmla="*/ 1979 w 41556"/>
                <a:gd name="connsiteY6" fmla="*/ 58221 h 63220"/>
                <a:gd name="connsiteX7" fmla="*/ 0 w 41556"/>
                <a:gd name="connsiteY7" fmla="*/ 63220 h 63220"/>
                <a:gd name="connsiteX8" fmla="*/ 15935 w 41556"/>
                <a:gd name="connsiteY8" fmla="*/ 63220 h 63220"/>
                <a:gd name="connsiteX9" fmla="*/ 41557 w 41556"/>
                <a:gd name="connsiteY9" fmla="*/ 45619 h 63220"/>
                <a:gd name="connsiteX10" fmla="*/ 27288 w 41556"/>
                <a:gd name="connsiteY10" fmla="*/ 29267 h 63220"/>
                <a:gd name="connsiteX11" fmla="*/ 15935 w 41556"/>
                <a:gd name="connsiteY11" fmla="*/ 57596 h 63220"/>
                <a:gd name="connsiteX12" fmla="*/ 9478 w 41556"/>
                <a:gd name="connsiteY12" fmla="*/ 57596 h 63220"/>
                <a:gd name="connsiteX13" fmla="*/ 9478 w 41556"/>
                <a:gd name="connsiteY13" fmla="*/ 28225 h 63220"/>
                <a:gd name="connsiteX14" fmla="*/ 9478 w 41556"/>
                <a:gd name="connsiteY14" fmla="*/ 5833 h 63220"/>
                <a:gd name="connsiteX15" fmla="*/ 15935 w 41556"/>
                <a:gd name="connsiteY15" fmla="*/ 5833 h 63220"/>
                <a:gd name="connsiteX16" fmla="*/ 30621 w 41556"/>
                <a:gd name="connsiteY16" fmla="*/ 15623 h 63220"/>
                <a:gd name="connsiteX17" fmla="*/ 16144 w 41556"/>
                <a:gd name="connsiteY17" fmla="*/ 28642 h 63220"/>
                <a:gd name="connsiteX18" fmla="*/ 16144 w 41556"/>
                <a:gd name="connsiteY18" fmla="*/ 30412 h 63220"/>
                <a:gd name="connsiteX19" fmla="*/ 34058 w 41556"/>
                <a:gd name="connsiteY19" fmla="*/ 45410 h 63220"/>
                <a:gd name="connsiteX20" fmla="*/ 15935 w 41556"/>
                <a:gd name="connsiteY20" fmla="*/ 57596 h 6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556" h="63220">
                  <a:moveTo>
                    <a:pt x="27288" y="29267"/>
                  </a:moveTo>
                  <a:lnTo>
                    <a:pt x="27288" y="29059"/>
                  </a:lnTo>
                  <a:cubicBezTo>
                    <a:pt x="32079" y="28225"/>
                    <a:pt x="38120" y="24059"/>
                    <a:pt x="38120" y="14790"/>
                  </a:cubicBezTo>
                  <a:cubicBezTo>
                    <a:pt x="38120" y="1354"/>
                    <a:pt x="26559" y="0"/>
                    <a:pt x="1593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221"/>
                  </a:lnTo>
                  <a:cubicBezTo>
                    <a:pt x="1979" y="61658"/>
                    <a:pt x="1458" y="62075"/>
                    <a:pt x="0" y="63220"/>
                  </a:cubicBezTo>
                  <a:lnTo>
                    <a:pt x="15935" y="63220"/>
                  </a:lnTo>
                  <a:cubicBezTo>
                    <a:pt x="25830" y="63220"/>
                    <a:pt x="41557" y="62179"/>
                    <a:pt x="41557" y="45619"/>
                  </a:cubicBezTo>
                  <a:cubicBezTo>
                    <a:pt x="41453" y="33849"/>
                    <a:pt x="32600" y="29267"/>
                    <a:pt x="27288" y="29267"/>
                  </a:cubicBezTo>
                  <a:close/>
                  <a:moveTo>
                    <a:pt x="15935" y="57596"/>
                  </a:moveTo>
                  <a:lnTo>
                    <a:pt x="9478" y="57596"/>
                  </a:lnTo>
                  <a:lnTo>
                    <a:pt x="9478" y="28225"/>
                  </a:lnTo>
                  <a:lnTo>
                    <a:pt x="9478" y="5833"/>
                  </a:lnTo>
                  <a:lnTo>
                    <a:pt x="15935" y="5833"/>
                  </a:lnTo>
                  <a:cubicBezTo>
                    <a:pt x="22705" y="5833"/>
                    <a:pt x="30621" y="6041"/>
                    <a:pt x="30621" y="15623"/>
                  </a:cubicBezTo>
                  <a:cubicBezTo>
                    <a:pt x="30308" y="23226"/>
                    <a:pt x="27705" y="28642"/>
                    <a:pt x="16144" y="28642"/>
                  </a:cubicBezTo>
                  <a:cubicBezTo>
                    <a:pt x="16144" y="28642"/>
                    <a:pt x="13227" y="30412"/>
                    <a:pt x="16144" y="30412"/>
                  </a:cubicBezTo>
                  <a:cubicBezTo>
                    <a:pt x="25517" y="30412"/>
                    <a:pt x="34058" y="34683"/>
                    <a:pt x="34058" y="45410"/>
                  </a:cubicBezTo>
                  <a:cubicBezTo>
                    <a:pt x="34058" y="56451"/>
                    <a:pt x="24372" y="57596"/>
                    <a:pt x="15935" y="5759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1C75F-1798-5D8C-6ABD-AB2224DE47F0}"/>
                </a:ext>
              </a:extLst>
            </p:cNvPr>
            <p:cNvSpPr/>
            <p:nvPr/>
          </p:nvSpPr>
          <p:spPr>
            <a:xfrm>
              <a:off x="3877719" y="6545309"/>
              <a:ext cx="57596" cy="65511"/>
            </a:xfrm>
            <a:custGeom>
              <a:avLst/>
              <a:gdLst>
                <a:gd name="connsiteX0" fmla="*/ 29058 w 57596"/>
                <a:gd name="connsiteY0" fmla="*/ 0 h 65511"/>
                <a:gd name="connsiteX1" fmla="*/ 0 w 57596"/>
                <a:gd name="connsiteY1" fmla="*/ 33016 h 65511"/>
                <a:gd name="connsiteX2" fmla="*/ 28850 w 57596"/>
                <a:gd name="connsiteY2" fmla="*/ 65512 h 65511"/>
                <a:gd name="connsiteX3" fmla="*/ 57596 w 57596"/>
                <a:gd name="connsiteY3" fmla="*/ 33016 h 65511"/>
                <a:gd name="connsiteX4" fmla="*/ 29058 w 57596"/>
                <a:gd name="connsiteY4" fmla="*/ 0 h 65511"/>
                <a:gd name="connsiteX5" fmla="*/ 28954 w 57596"/>
                <a:gd name="connsiteY5" fmla="*/ 58950 h 65511"/>
                <a:gd name="connsiteX6" fmla="*/ 8124 w 57596"/>
                <a:gd name="connsiteY6" fmla="*/ 32808 h 65511"/>
                <a:gd name="connsiteX7" fmla="*/ 29058 w 57596"/>
                <a:gd name="connsiteY7" fmla="*/ 6457 h 65511"/>
                <a:gd name="connsiteX8" fmla="*/ 49576 w 57596"/>
                <a:gd name="connsiteY8" fmla="*/ 32808 h 65511"/>
                <a:gd name="connsiteX9" fmla="*/ 28954 w 57596"/>
                <a:gd name="connsiteY9" fmla="*/ 58950 h 6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596" h="65511">
                  <a:moveTo>
                    <a:pt x="29058" y="0"/>
                  </a:moveTo>
                  <a:cubicBezTo>
                    <a:pt x="11457" y="0"/>
                    <a:pt x="0" y="15727"/>
                    <a:pt x="0" y="33016"/>
                  </a:cubicBezTo>
                  <a:cubicBezTo>
                    <a:pt x="0" y="50306"/>
                    <a:pt x="12082" y="65512"/>
                    <a:pt x="28850" y="65512"/>
                  </a:cubicBezTo>
                  <a:cubicBezTo>
                    <a:pt x="46556" y="65512"/>
                    <a:pt x="57596" y="49264"/>
                    <a:pt x="57596" y="33016"/>
                  </a:cubicBezTo>
                  <a:cubicBezTo>
                    <a:pt x="57596" y="15415"/>
                    <a:pt x="45931" y="0"/>
                    <a:pt x="29058" y="0"/>
                  </a:cubicBezTo>
                  <a:close/>
                  <a:moveTo>
                    <a:pt x="28954" y="58950"/>
                  </a:moveTo>
                  <a:cubicBezTo>
                    <a:pt x="16039" y="58950"/>
                    <a:pt x="8124" y="45827"/>
                    <a:pt x="8124" y="32808"/>
                  </a:cubicBezTo>
                  <a:cubicBezTo>
                    <a:pt x="8124" y="19164"/>
                    <a:pt x="16144" y="6457"/>
                    <a:pt x="29058" y="6457"/>
                  </a:cubicBezTo>
                  <a:cubicBezTo>
                    <a:pt x="41036" y="6457"/>
                    <a:pt x="49576" y="18643"/>
                    <a:pt x="49576" y="32808"/>
                  </a:cubicBezTo>
                  <a:cubicBezTo>
                    <a:pt x="49472" y="45515"/>
                    <a:pt x="41869" y="58950"/>
                    <a:pt x="28954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748165-B783-841D-3F84-F245A9EE7358}"/>
                </a:ext>
              </a:extLst>
            </p:cNvPr>
            <p:cNvSpPr/>
            <p:nvPr/>
          </p:nvSpPr>
          <p:spPr>
            <a:xfrm>
              <a:off x="3984371" y="6544372"/>
              <a:ext cx="50201" cy="66344"/>
            </a:xfrm>
            <a:custGeom>
              <a:avLst/>
              <a:gdLst>
                <a:gd name="connsiteX0" fmla="*/ 34787 w 50201"/>
                <a:gd name="connsiteY0" fmla="*/ 30204 h 66344"/>
                <a:gd name="connsiteX1" fmla="*/ 29892 w 50201"/>
                <a:gd name="connsiteY1" fmla="*/ 28329 h 66344"/>
                <a:gd name="connsiteX2" fmla="*/ 29892 w 50201"/>
                <a:gd name="connsiteY2" fmla="*/ 37807 h 66344"/>
                <a:gd name="connsiteX3" fmla="*/ 34579 w 50201"/>
                <a:gd name="connsiteY3" fmla="*/ 35933 h 66344"/>
                <a:gd name="connsiteX4" fmla="*/ 41557 w 50201"/>
                <a:gd name="connsiteY4" fmla="*/ 35933 h 66344"/>
                <a:gd name="connsiteX5" fmla="*/ 41557 w 50201"/>
                <a:gd name="connsiteY5" fmla="*/ 35933 h 66344"/>
                <a:gd name="connsiteX6" fmla="*/ 41557 w 50201"/>
                <a:gd name="connsiteY6" fmla="*/ 57180 h 66344"/>
                <a:gd name="connsiteX7" fmla="*/ 30308 w 50201"/>
                <a:gd name="connsiteY7" fmla="*/ 59888 h 66344"/>
                <a:gd name="connsiteX8" fmla="*/ 8540 w 50201"/>
                <a:gd name="connsiteY8" fmla="*/ 33745 h 66344"/>
                <a:gd name="connsiteX9" fmla="*/ 30829 w 50201"/>
                <a:gd name="connsiteY9" fmla="*/ 6562 h 66344"/>
                <a:gd name="connsiteX10" fmla="*/ 48222 w 50201"/>
                <a:gd name="connsiteY10" fmla="*/ 16144 h 66344"/>
                <a:gd name="connsiteX11" fmla="*/ 48222 w 50201"/>
                <a:gd name="connsiteY11" fmla="*/ 3854 h 66344"/>
                <a:gd name="connsiteX12" fmla="*/ 46244 w 50201"/>
                <a:gd name="connsiteY12" fmla="*/ 4791 h 66344"/>
                <a:gd name="connsiteX13" fmla="*/ 29683 w 50201"/>
                <a:gd name="connsiteY13" fmla="*/ 0 h 66344"/>
                <a:gd name="connsiteX14" fmla="*/ 0 w 50201"/>
                <a:gd name="connsiteY14" fmla="*/ 33849 h 66344"/>
                <a:gd name="connsiteX15" fmla="*/ 29683 w 50201"/>
                <a:gd name="connsiteY15" fmla="*/ 66345 h 66344"/>
                <a:gd name="connsiteX16" fmla="*/ 50201 w 50201"/>
                <a:gd name="connsiteY16" fmla="*/ 60200 h 66344"/>
                <a:gd name="connsiteX17" fmla="*/ 50201 w 50201"/>
                <a:gd name="connsiteY17" fmla="*/ 30100 h 66344"/>
                <a:gd name="connsiteX18" fmla="*/ 34787 w 50201"/>
                <a:gd name="connsiteY18" fmla="*/ 30204 h 6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201" h="66344">
                  <a:moveTo>
                    <a:pt x="34787" y="30204"/>
                  </a:moveTo>
                  <a:cubicBezTo>
                    <a:pt x="30933" y="30204"/>
                    <a:pt x="30725" y="29475"/>
                    <a:pt x="29892" y="28329"/>
                  </a:cubicBezTo>
                  <a:lnTo>
                    <a:pt x="29892" y="37807"/>
                  </a:lnTo>
                  <a:cubicBezTo>
                    <a:pt x="30621" y="36870"/>
                    <a:pt x="30621" y="35933"/>
                    <a:pt x="34579" y="35933"/>
                  </a:cubicBezTo>
                  <a:lnTo>
                    <a:pt x="41557" y="35933"/>
                  </a:lnTo>
                  <a:lnTo>
                    <a:pt x="41557" y="35933"/>
                  </a:lnTo>
                  <a:lnTo>
                    <a:pt x="41557" y="57180"/>
                  </a:lnTo>
                  <a:cubicBezTo>
                    <a:pt x="37807" y="59054"/>
                    <a:pt x="34266" y="59888"/>
                    <a:pt x="30308" y="59888"/>
                  </a:cubicBezTo>
                  <a:cubicBezTo>
                    <a:pt x="16769" y="59888"/>
                    <a:pt x="8540" y="48222"/>
                    <a:pt x="8540" y="33745"/>
                  </a:cubicBezTo>
                  <a:cubicBezTo>
                    <a:pt x="8540" y="18122"/>
                    <a:pt x="17914" y="6562"/>
                    <a:pt x="30829" y="6562"/>
                  </a:cubicBezTo>
                  <a:cubicBezTo>
                    <a:pt x="41348" y="6562"/>
                    <a:pt x="47389" y="15415"/>
                    <a:pt x="48222" y="16144"/>
                  </a:cubicBezTo>
                  <a:lnTo>
                    <a:pt x="48222" y="3854"/>
                  </a:lnTo>
                  <a:cubicBezTo>
                    <a:pt x="47389" y="4479"/>
                    <a:pt x="46973" y="4791"/>
                    <a:pt x="46244" y="4791"/>
                  </a:cubicBezTo>
                  <a:cubicBezTo>
                    <a:pt x="43536" y="4791"/>
                    <a:pt x="39786" y="0"/>
                    <a:pt x="29683" y="0"/>
                  </a:cubicBezTo>
                  <a:cubicBezTo>
                    <a:pt x="12915" y="0"/>
                    <a:pt x="0" y="14061"/>
                    <a:pt x="0" y="33849"/>
                  </a:cubicBezTo>
                  <a:cubicBezTo>
                    <a:pt x="0" y="53430"/>
                    <a:pt x="11873" y="66345"/>
                    <a:pt x="29683" y="66345"/>
                  </a:cubicBezTo>
                  <a:cubicBezTo>
                    <a:pt x="36870" y="66345"/>
                    <a:pt x="44994" y="63741"/>
                    <a:pt x="50201" y="60200"/>
                  </a:cubicBezTo>
                  <a:lnTo>
                    <a:pt x="50201" y="30100"/>
                  </a:lnTo>
                  <a:lnTo>
                    <a:pt x="34787" y="30204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46A44CF-3ED3-3E6A-FE65-0456FC616E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36350" y="6565900"/>
            <a:ext cx="1557337" cy="2286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5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document</a:t>
            </a:r>
          </a:p>
        </p:txBody>
      </p:sp>
    </p:spTree>
    <p:extLst>
      <p:ext uri="{BB962C8B-B14F-4D97-AF65-F5344CB8AC3E}">
        <p14:creationId xmlns:p14="http://schemas.microsoft.com/office/powerpoint/2010/main" val="309227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240" r:id="rId2"/>
    <p:sldLayoutId id="2147484159" r:id="rId3"/>
    <p:sldLayoutId id="2147484160" r:id="rId4"/>
    <p:sldLayoutId id="2147484238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  <p:sldLayoutId id="2147484168" r:id="rId13"/>
    <p:sldLayoutId id="2147484169" r:id="rId14"/>
    <p:sldLayoutId id="2147484170" r:id="rId15"/>
    <p:sldLayoutId id="2147484171" r:id="rId16"/>
    <p:sldLayoutId id="2147484172" r:id="rId17"/>
    <p:sldLayoutId id="2147484173" r:id="rId18"/>
    <p:sldLayoutId id="2147484174" r:id="rId19"/>
    <p:sldLayoutId id="2147484175" r:id="rId20"/>
    <p:sldLayoutId id="2147484176" r:id="rId21"/>
    <p:sldLayoutId id="2147484177" r:id="rId22"/>
    <p:sldLayoutId id="2147484178" r:id="rId23"/>
    <p:sldLayoutId id="2147484179" r:id="rId24"/>
    <p:sldLayoutId id="2147484180" r:id="rId25"/>
    <p:sldLayoutId id="2147484181" r:id="rId26"/>
    <p:sldLayoutId id="2147484182" r:id="rId27"/>
    <p:sldLayoutId id="2147484183" r:id="rId28"/>
    <p:sldLayoutId id="2147484184" r:id="rId29"/>
    <p:sldLayoutId id="2147484185" r:id="rId30"/>
    <p:sldLayoutId id="2147484186" r:id="rId31"/>
    <p:sldLayoutId id="2147484187" r:id="rId32"/>
    <p:sldLayoutId id="2147484188" r:id="rId33"/>
    <p:sldLayoutId id="2147484189" r:id="rId34"/>
    <p:sldLayoutId id="2147484190" r:id="rId35"/>
    <p:sldLayoutId id="2147484191" r:id="rId36"/>
    <p:sldLayoutId id="2147484192" r:id="rId37"/>
    <p:sldLayoutId id="2147484193" r:id="rId38"/>
    <p:sldLayoutId id="2147484194" r:id="rId39"/>
    <p:sldLayoutId id="2147484195" r:id="rId40"/>
    <p:sldLayoutId id="2147484196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39">
          <p15:clr>
            <a:srgbClr val="F26B43"/>
          </p15:clr>
        </p15:guide>
        <p15:guide id="7" pos="7341">
          <p15:clr>
            <a:srgbClr val="F26B43"/>
          </p15:clr>
        </p15:guide>
        <p15:guide id="8" orient="horz" pos="3808">
          <p15:clr>
            <a:srgbClr val="F26B43"/>
          </p15:clr>
        </p15:guide>
        <p15:guide id="9" orient="horz" pos="759">
          <p15:clr>
            <a:srgbClr val="F26B43"/>
          </p15:clr>
        </p15:guide>
        <p15:guide id="11" orient="horz" pos="58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1F95D7E-4B23-4652-0DFB-30B84247D9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2969622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276" imgH="275" progId="TCLayout.ActiveDocument.1">
                  <p:embed/>
                </p:oleObj>
              </mc:Choice>
              <mc:Fallback>
                <p:oleObj name="think-cell Slide" r:id="rId44" imgW="276" imgH="27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F95D7E-4B23-4652-0DFB-30B84247D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>
            <a:extLst>
              <a:ext uri="{FF2B5EF4-FFF2-40B4-BE49-F238E27FC236}">
                <a16:creationId xmlns:a16="http://schemas.microsoft.com/office/drawing/2014/main" id="{78FC0C7A-FDB3-9D5F-2DF2-A4E0633FD6FC}"/>
              </a:ext>
            </a:extLst>
          </p:cNvPr>
          <p:cNvSpPr>
            <a:spLocks/>
          </p:cNvSpPr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2F12F-86BB-5982-0A48-2379ABF5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62800"/>
            <a:ext cx="11113839" cy="3323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F23DB-3FBD-343C-39BF-D36668E5B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04913"/>
            <a:ext cx="11113839" cy="4840287"/>
          </a:xfrm>
          <a:prstGeom prst="rect">
            <a:avLst/>
          </a:prstGeom>
          <a:ln w="12700"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736D-4E9C-5699-7C27-31DFFD7C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>
            <a:off x="766637" y="6518751"/>
            <a:ext cx="2754011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TRELLEBORG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3773-9819-C11B-FCDA-874739360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9209" y="6518751"/>
            <a:ext cx="210885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D961-B06F-DCCD-4BBA-1B1343B74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6000" y="6518751"/>
            <a:ext cx="1800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900" cap="all" baseline="0">
                <a:solidFill>
                  <a:schemeClr val="bg1"/>
                </a:solidFill>
              </a:defRPr>
            </a:lvl1pPr>
          </a:lstStyle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467DED-36C4-2232-7CC5-7925DA4D4319}"/>
              </a:ext>
            </a:extLst>
          </p:cNvPr>
          <p:cNvGrpSpPr>
            <a:grpSpLocks/>
          </p:cNvGrpSpPr>
          <p:nvPr/>
        </p:nvGrpSpPr>
        <p:grpSpPr>
          <a:xfrm>
            <a:off x="10952333" y="6443734"/>
            <a:ext cx="693917" cy="288532"/>
            <a:chOff x="3591717" y="6426680"/>
            <a:chExt cx="442855" cy="184140"/>
          </a:xfrm>
        </p:grpSpPr>
        <p:grpSp>
          <p:nvGrpSpPr>
            <p:cNvPr id="17" name="Graphic 14">
              <a:extLst>
                <a:ext uri="{FF2B5EF4-FFF2-40B4-BE49-F238E27FC236}">
                  <a16:creationId xmlns:a16="http://schemas.microsoft.com/office/drawing/2014/main" id="{4716F08F-D540-EB26-A85F-2D52972561D6}"/>
                </a:ext>
              </a:extLst>
            </p:cNvPr>
            <p:cNvGrpSpPr/>
            <p:nvPr/>
          </p:nvGrpSpPr>
          <p:grpSpPr>
            <a:xfrm>
              <a:off x="3699827" y="6426680"/>
              <a:ext cx="226739" cy="101444"/>
              <a:chOff x="3699827" y="6426680"/>
              <a:chExt cx="226739" cy="101444"/>
            </a:xfrm>
            <a:solidFill>
              <a:srgbClr val="998242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6A09024-4F7B-6443-0F06-C616D6866BB4}"/>
                  </a:ext>
                </a:extLst>
              </p:cNvPr>
              <p:cNvSpPr/>
              <p:nvPr/>
            </p:nvSpPr>
            <p:spPr>
              <a:xfrm>
                <a:off x="3734822" y="6440532"/>
                <a:ext cx="56450" cy="52076"/>
              </a:xfrm>
              <a:custGeom>
                <a:avLst/>
                <a:gdLst>
                  <a:gd name="connsiteX0" fmla="*/ 0 w 56450"/>
                  <a:gd name="connsiteY0" fmla="*/ 0 h 52076"/>
                  <a:gd name="connsiteX1" fmla="*/ 0 w 56450"/>
                  <a:gd name="connsiteY1" fmla="*/ 8228 h 52076"/>
                  <a:gd name="connsiteX2" fmla="*/ 24059 w 56450"/>
                  <a:gd name="connsiteY2" fmla="*/ 8228 h 52076"/>
                  <a:gd name="connsiteX3" fmla="*/ 24059 w 56450"/>
                  <a:gd name="connsiteY3" fmla="*/ 52076 h 52076"/>
                  <a:gd name="connsiteX4" fmla="*/ 32287 w 56450"/>
                  <a:gd name="connsiteY4" fmla="*/ 52076 h 52076"/>
                  <a:gd name="connsiteX5" fmla="*/ 32287 w 56450"/>
                  <a:gd name="connsiteY5" fmla="*/ 8228 h 52076"/>
                  <a:gd name="connsiteX6" fmla="*/ 56451 w 56450"/>
                  <a:gd name="connsiteY6" fmla="*/ 8228 h 52076"/>
                  <a:gd name="connsiteX7" fmla="*/ 56451 w 56450"/>
                  <a:gd name="connsiteY7" fmla="*/ 0 h 52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450" h="52076">
                    <a:moveTo>
                      <a:pt x="0" y="0"/>
                    </a:moveTo>
                    <a:lnTo>
                      <a:pt x="0" y="8228"/>
                    </a:lnTo>
                    <a:lnTo>
                      <a:pt x="24059" y="8228"/>
                    </a:lnTo>
                    <a:lnTo>
                      <a:pt x="24059" y="52076"/>
                    </a:lnTo>
                    <a:lnTo>
                      <a:pt x="32287" y="52076"/>
                    </a:lnTo>
                    <a:lnTo>
                      <a:pt x="32287" y="8228"/>
                    </a:lnTo>
                    <a:lnTo>
                      <a:pt x="56451" y="8228"/>
                    </a:lnTo>
                    <a:lnTo>
                      <a:pt x="56451" y="0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2AFCC20-0889-811D-5457-9FE4E253F5CD}"/>
                  </a:ext>
                </a:extLst>
              </p:cNvPr>
              <p:cNvSpPr/>
              <p:nvPr/>
            </p:nvSpPr>
            <p:spPr>
              <a:xfrm>
                <a:off x="3699827" y="6426680"/>
                <a:ext cx="226739" cy="101444"/>
              </a:xfrm>
              <a:custGeom>
                <a:avLst/>
                <a:gdLst>
                  <a:gd name="connsiteX0" fmla="*/ 163519 w 226739"/>
                  <a:gd name="connsiteY0" fmla="*/ 101444 h 101444"/>
                  <a:gd name="connsiteX1" fmla="*/ 226739 w 226739"/>
                  <a:gd name="connsiteY1" fmla="*/ 0 h 101444"/>
                  <a:gd name="connsiteX2" fmla="*/ 0 w 226739"/>
                  <a:gd name="connsiteY2" fmla="*/ 0 h 101444"/>
                  <a:gd name="connsiteX3" fmla="*/ 63220 w 226739"/>
                  <a:gd name="connsiteY3" fmla="*/ 101444 h 101444"/>
                  <a:gd name="connsiteX4" fmla="*/ 79885 w 226739"/>
                  <a:gd name="connsiteY4" fmla="*/ 74677 h 101444"/>
                  <a:gd name="connsiteX5" fmla="*/ 96966 w 226739"/>
                  <a:gd name="connsiteY5" fmla="*/ 101444 h 101444"/>
                  <a:gd name="connsiteX6" fmla="*/ 113630 w 226739"/>
                  <a:gd name="connsiteY6" fmla="*/ 74677 h 101444"/>
                  <a:gd name="connsiteX7" fmla="*/ 130294 w 226739"/>
                  <a:gd name="connsiteY7" fmla="*/ 101444 h 101444"/>
                  <a:gd name="connsiteX8" fmla="*/ 146855 w 226739"/>
                  <a:gd name="connsiteY8" fmla="*/ 74781 h 101444"/>
                  <a:gd name="connsiteX9" fmla="*/ 163519 w 226739"/>
                  <a:gd name="connsiteY9" fmla="*/ 101444 h 101444"/>
                  <a:gd name="connsiteX10" fmla="*/ 210075 w 226739"/>
                  <a:gd name="connsiteY10" fmla="*/ 9270 h 101444"/>
                  <a:gd name="connsiteX11" fmla="*/ 163519 w 226739"/>
                  <a:gd name="connsiteY11" fmla="*/ 83947 h 101444"/>
                  <a:gd name="connsiteX12" fmla="*/ 152375 w 226739"/>
                  <a:gd name="connsiteY12" fmla="*/ 66033 h 101444"/>
                  <a:gd name="connsiteX13" fmla="*/ 187682 w 226739"/>
                  <a:gd name="connsiteY13" fmla="*/ 9374 h 101444"/>
                  <a:gd name="connsiteX14" fmla="*/ 210075 w 226739"/>
                  <a:gd name="connsiteY14" fmla="*/ 9270 h 101444"/>
                  <a:gd name="connsiteX15" fmla="*/ 210075 w 226739"/>
                  <a:gd name="connsiteY15" fmla="*/ 9270 h 101444"/>
                  <a:gd name="connsiteX16" fmla="*/ 63220 w 226739"/>
                  <a:gd name="connsiteY16" fmla="*/ 83947 h 101444"/>
                  <a:gd name="connsiteX17" fmla="*/ 16873 w 226739"/>
                  <a:gd name="connsiteY17" fmla="*/ 9270 h 101444"/>
                  <a:gd name="connsiteX18" fmla="*/ 31037 w 226739"/>
                  <a:gd name="connsiteY18" fmla="*/ 9270 h 101444"/>
                  <a:gd name="connsiteX19" fmla="*/ 109777 w 226739"/>
                  <a:gd name="connsiteY19" fmla="*/ 9270 h 101444"/>
                  <a:gd name="connsiteX20" fmla="*/ 63220 w 226739"/>
                  <a:gd name="connsiteY20" fmla="*/ 83947 h 101444"/>
                  <a:gd name="connsiteX21" fmla="*/ 85405 w 226739"/>
                  <a:gd name="connsiteY21" fmla="*/ 65824 h 101444"/>
                  <a:gd name="connsiteX22" fmla="*/ 120608 w 226739"/>
                  <a:gd name="connsiteY22" fmla="*/ 9374 h 101444"/>
                  <a:gd name="connsiteX23" fmla="*/ 143522 w 226739"/>
                  <a:gd name="connsiteY23" fmla="*/ 9374 h 101444"/>
                  <a:gd name="connsiteX24" fmla="*/ 96966 w 226739"/>
                  <a:gd name="connsiteY24" fmla="*/ 84051 h 101444"/>
                  <a:gd name="connsiteX25" fmla="*/ 85405 w 226739"/>
                  <a:gd name="connsiteY25" fmla="*/ 65824 h 101444"/>
                  <a:gd name="connsiteX26" fmla="*/ 119150 w 226739"/>
                  <a:gd name="connsiteY26" fmla="*/ 65824 h 101444"/>
                  <a:gd name="connsiteX27" fmla="*/ 154354 w 226739"/>
                  <a:gd name="connsiteY27" fmla="*/ 9374 h 101444"/>
                  <a:gd name="connsiteX28" fmla="*/ 176746 w 226739"/>
                  <a:gd name="connsiteY28" fmla="*/ 9374 h 101444"/>
                  <a:gd name="connsiteX29" fmla="*/ 130190 w 226739"/>
                  <a:gd name="connsiteY29" fmla="*/ 84051 h 101444"/>
                  <a:gd name="connsiteX30" fmla="*/ 119150 w 226739"/>
                  <a:gd name="connsiteY30" fmla="*/ 65824 h 10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26739" h="101444">
                    <a:moveTo>
                      <a:pt x="163519" y="101444"/>
                    </a:moveTo>
                    <a:lnTo>
                      <a:pt x="226739" y="0"/>
                    </a:lnTo>
                    <a:lnTo>
                      <a:pt x="0" y="0"/>
                    </a:lnTo>
                    <a:lnTo>
                      <a:pt x="63220" y="101444"/>
                    </a:lnTo>
                    <a:lnTo>
                      <a:pt x="79885" y="74677"/>
                    </a:lnTo>
                    <a:lnTo>
                      <a:pt x="96966" y="101444"/>
                    </a:lnTo>
                    <a:lnTo>
                      <a:pt x="113630" y="74677"/>
                    </a:lnTo>
                    <a:lnTo>
                      <a:pt x="130294" y="101444"/>
                    </a:lnTo>
                    <a:lnTo>
                      <a:pt x="146855" y="74781"/>
                    </a:lnTo>
                    <a:lnTo>
                      <a:pt x="163519" y="101444"/>
                    </a:lnTo>
                    <a:close/>
                    <a:moveTo>
                      <a:pt x="210075" y="9270"/>
                    </a:moveTo>
                    <a:lnTo>
                      <a:pt x="163519" y="83947"/>
                    </a:lnTo>
                    <a:lnTo>
                      <a:pt x="152375" y="66033"/>
                    </a:lnTo>
                    <a:lnTo>
                      <a:pt x="187682" y="9374"/>
                    </a:lnTo>
                    <a:lnTo>
                      <a:pt x="210075" y="9270"/>
                    </a:lnTo>
                    <a:lnTo>
                      <a:pt x="210075" y="9270"/>
                    </a:lnTo>
                    <a:close/>
                    <a:moveTo>
                      <a:pt x="63220" y="83947"/>
                    </a:moveTo>
                    <a:lnTo>
                      <a:pt x="16873" y="9270"/>
                    </a:lnTo>
                    <a:lnTo>
                      <a:pt x="31037" y="9270"/>
                    </a:lnTo>
                    <a:lnTo>
                      <a:pt x="109777" y="9270"/>
                    </a:lnTo>
                    <a:lnTo>
                      <a:pt x="63220" y="83947"/>
                    </a:lnTo>
                    <a:close/>
                    <a:moveTo>
                      <a:pt x="85405" y="65824"/>
                    </a:moveTo>
                    <a:lnTo>
                      <a:pt x="120608" y="9374"/>
                    </a:lnTo>
                    <a:lnTo>
                      <a:pt x="143522" y="9374"/>
                    </a:lnTo>
                    <a:lnTo>
                      <a:pt x="96966" y="84051"/>
                    </a:lnTo>
                    <a:lnTo>
                      <a:pt x="85405" y="65824"/>
                    </a:lnTo>
                    <a:close/>
                    <a:moveTo>
                      <a:pt x="119150" y="65824"/>
                    </a:moveTo>
                    <a:lnTo>
                      <a:pt x="154354" y="9374"/>
                    </a:lnTo>
                    <a:lnTo>
                      <a:pt x="176746" y="9374"/>
                    </a:lnTo>
                    <a:lnTo>
                      <a:pt x="130190" y="84051"/>
                    </a:lnTo>
                    <a:lnTo>
                      <a:pt x="119150" y="65824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56BDD16-D07C-23D8-ECD0-22B66F86EA4C}"/>
                </a:ext>
              </a:extLst>
            </p:cNvPr>
            <p:cNvSpPr/>
            <p:nvPr/>
          </p:nvSpPr>
          <p:spPr>
            <a:xfrm>
              <a:off x="3591717" y="6545309"/>
              <a:ext cx="39577" cy="64261"/>
            </a:xfrm>
            <a:custGeom>
              <a:avLst/>
              <a:gdLst>
                <a:gd name="connsiteX0" fmla="*/ 0 w 39577"/>
                <a:gd name="connsiteY0" fmla="*/ 8332 h 64261"/>
                <a:gd name="connsiteX1" fmla="*/ 5103 w 39577"/>
                <a:gd name="connsiteY1" fmla="*/ 5833 h 64261"/>
                <a:gd name="connsiteX2" fmla="*/ 16039 w 39577"/>
                <a:gd name="connsiteY2" fmla="*/ 5833 h 64261"/>
                <a:gd name="connsiteX3" fmla="*/ 16039 w 39577"/>
                <a:gd name="connsiteY3" fmla="*/ 59263 h 64261"/>
                <a:gd name="connsiteX4" fmla="*/ 14061 w 39577"/>
                <a:gd name="connsiteY4" fmla="*/ 64262 h 64261"/>
                <a:gd name="connsiteX5" fmla="*/ 25517 w 39577"/>
                <a:gd name="connsiteY5" fmla="*/ 64262 h 64261"/>
                <a:gd name="connsiteX6" fmla="*/ 23538 w 39577"/>
                <a:gd name="connsiteY6" fmla="*/ 59263 h 64261"/>
                <a:gd name="connsiteX7" fmla="*/ 23538 w 39577"/>
                <a:gd name="connsiteY7" fmla="*/ 5728 h 64261"/>
                <a:gd name="connsiteX8" fmla="*/ 34579 w 39577"/>
                <a:gd name="connsiteY8" fmla="*/ 5728 h 64261"/>
                <a:gd name="connsiteX9" fmla="*/ 39578 w 39577"/>
                <a:gd name="connsiteY9" fmla="*/ 8228 h 64261"/>
                <a:gd name="connsiteX10" fmla="*/ 39578 w 39577"/>
                <a:gd name="connsiteY10" fmla="*/ 0 h 64261"/>
                <a:gd name="connsiteX11" fmla="*/ 0 w 39577"/>
                <a:gd name="connsiteY11" fmla="*/ 0 h 64261"/>
                <a:gd name="connsiteX12" fmla="*/ 0 w 39577"/>
                <a:gd name="connsiteY12" fmla="*/ 8332 h 6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577" h="64261">
                  <a:moveTo>
                    <a:pt x="0" y="8332"/>
                  </a:moveTo>
                  <a:cubicBezTo>
                    <a:pt x="1146" y="7082"/>
                    <a:pt x="1250" y="5833"/>
                    <a:pt x="5103" y="5833"/>
                  </a:cubicBezTo>
                  <a:lnTo>
                    <a:pt x="16039" y="5833"/>
                  </a:lnTo>
                  <a:lnTo>
                    <a:pt x="16039" y="59263"/>
                  </a:lnTo>
                  <a:cubicBezTo>
                    <a:pt x="16039" y="62700"/>
                    <a:pt x="15519" y="63116"/>
                    <a:pt x="14061" y="64262"/>
                  </a:cubicBezTo>
                  <a:lnTo>
                    <a:pt x="25517" y="64262"/>
                  </a:lnTo>
                  <a:cubicBezTo>
                    <a:pt x="24059" y="63116"/>
                    <a:pt x="23538" y="62700"/>
                    <a:pt x="23538" y="59263"/>
                  </a:cubicBezTo>
                  <a:lnTo>
                    <a:pt x="23538" y="5728"/>
                  </a:lnTo>
                  <a:lnTo>
                    <a:pt x="34579" y="5728"/>
                  </a:lnTo>
                  <a:cubicBezTo>
                    <a:pt x="38432" y="5728"/>
                    <a:pt x="38432" y="7082"/>
                    <a:pt x="39578" y="8228"/>
                  </a:cubicBezTo>
                  <a:lnTo>
                    <a:pt x="39578" y="0"/>
                  </a:lnTo>
                  <a:lnTo>
                    <a:pt x="0" y="0"/>
                  </a:lnTo>
                  <a:lnTo>
                    <a:pt x="0" y="8332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522D4A-C207-373D-0ECB-C70402668CE5}"/>
                </a:ext>
              </a:extLst>
            </p:cNvPr>
            <p:cNvSpPr/>
            <p:nvPr/>
          </p:nvSpPr>
          <p:spPr>
            <a:xfrm>
              <a:off x="3635773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765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A047F0C-DEAB-BB35-90AE-16895CA11E0F}"/>
                </a:ext>
              </a:extLst>
            </p:cNvPr>
            <p:cNvSpPr/>
            <p:nvPr/>
          </p:nvSpPr>
          <p:spPr>
            <a:xfrm>
              <a:off x="3939898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661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C78186-0C51-B1F5-D4E0-07FA8AE2632B}"/>
                </a:ext>
              </a:extLst>
            </p:cNvPr>
            <p:cNvSpPr/>
            <p:nvPr/>
          </p:nvSpPr>
          <p:spPr>
            <a:xfrm>
              <a:off x="3683892" y="6545518"/>
              <a:ext cx="34161" cy="63949"/>
            </a:xfrm>
            <a:custGeom>
              <a:avLst/>
              <a:gdLst>
                <a:gd name="connsiteX0" fmla="*/ 1979 w 34161"/>
                <a:gd name="connsiteY0" fmla="*/ 4999 h 63949"/>
                <a:gd name="connsiteX1" fmla="*/ 1979 w 34161"/>
                <a:gd name="connsiteY1" fmla="*/ 58950 h 63949"/>
                <a:gd name="connsiteX2" fmla="*/ 0 w 34161"/>
                <a:gd name="connsiteY2" fmla="*/ 63949 h 63949"/>
                <a:gd name="connsiteX3" fmla="*/ 34162 w 34161"/>
                <a:gd name="connsiteY3" fmla="*/ 63949 h 63949"/>
                <a:gd name="connsiteX4" fmla="*/ 34162 w 34161"/>
                <a:gd name="connsiteY4" fmla="*/ 55617 h 63949"/>
                <a:gd name="connsiteX5" fmla="*/ 29058 w 34161"/>
                <a:gd name="connsiteY5" fmla="*/ 58221 h 63949"/>
                <a:gd name="connsiteX6" fmla="*/ 9478 w 34161"/>
                <a:gd name="connsiteY6" fmla="*/ 58221 h 63949"/>
                <a:gd name="connsiteX7" fmla="*/ 9478 w 34161"/>
                <a:gd name="connsiteY7" fmla="*/ 31662 h 63949"/>
                <a:gd name="connsiteX8" fmla="*/ 23226 w 34161"/>
                <a:gd name="connsiteY8" fmla="*/ 31975 h 63949"/>
                <a:gd name="connsiteX9" fmla="*/ 27913 w 34161"/>
                <a:gd name="connsiteY9" fmla="*/ 33849 h 63949"/>
                <a:gd name="connsiteX10" fmla="*/ 27913 w 34161"/>
                <a:gd name="connsiteY10" fmla="*/ 24372 h 63949"/>
                <a:gd name="connsiteX11" fmla="*/ 23018 w 34161"/>
                <a:gd name="connsiteY11" fmla="*/ 26246 h 63949"/>
                <a:gd name="connsiteX12" fmla="*/ 9478 w 34161"/>
                <a:gd name="connsiteY12" fmla="*/ 25934 h 63949"/>
                <a:gd name="connsiteX13" fmla="*/ 9478 w 34161"/>
                <a:gd name="connsiteY13" fmla="*/ 5728 h 63949"/>
                <a:gd name="connsiteX14" fmla="*/ 29058 w 34161"/>
                <a:gd name="connsiteY14" fmla="*/ 5728 h 63949"/>
                <a:gd name="connsiteX15" fmla="*/ 34162 w 34161"/>
                <a:gd name="connsiteY15" fmla="*/ 8332 h 63949"/>
                <a:gd name="connsiteX16" fmla="*/ 34162 w 34161"/>
                <a:gd name="connsiteY16" fmla="*/ 0 h 63949"/>
                <a:gd name="connsiteX17" fmla="*/ 0 w 34161"/>
                <a:gd name="connsiteY17" fmla="*/ 0 h 63949"/>
                <a:gd name="connsiteX18" fmla="*/ 1979 w 34161"/>
                <a:gd name="connsiteY18" fmla="*/ 4999 h 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949">
                  <a:moveTo>
                    <a:pt x="1979" y="4999"/>
                  </a:moveTo>
                  <a:lnTo>
                    <a:pt x="1979" y="58950"/>
                  </a:lnTo>
                  <a:cubicBezTo>
                    <a:pt x="1979" y="62387"/>
                    <a:pt x="1458" y="62804"/>
                    <a:pt x="0" y="63949"/>
                  </a:cubicBezTo>
                  <a:lnTo>
                    <a:pt x="34162" y="63949"/>
                  </a:lnTo>
                  <a:lnTo>
                    <a:pt x="34162" y="55617"/>
                  </a:lnTo>
                  <a:cubicBezTo>
                    <a:pt x="33225" y="56763"/>
                    <a:pt x="33120" y="58221"/>
                    <a:pt x="29058" y="58221"/>
                  </a:cubicBezTo>
                  <a:lnTo>
                    <a:pt x="9478" y="58221"/>
                  </a:lnTo>
                  <a:lnTo>
                    <a:pt x="9478" y="31662"/>
                  </a:lnTo>
                  <a:lnTo>
                    <a:pt x="23226" y="31975"/>
                  </a:lnTo>
                  <a:cubicBezTo>
                    <a:pt x="27184" y="31975"/>
                    <a:pt x="27184" y="32912"/>
                    <a:pt x="27913" y="33849"/>
                  </a:cubicBezTo>
                  <a:lnTo>
                    <a:pt x="27913" y="24372"/>
                  </a:lnTo>
                  <a:cubicBezTo>
                    <a:pt x="26975" y="25517"/>
                    <a:pt x="26871" y="26246"/>
                    <a:pt x="23018" y="26246"/>
                  </a:cubicBezTo>
                  <a:lnTo>
                    <a:pt x="9478" y="25934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CAA7BB-C0DA-5D7C-9470-8E72890AF0CD}"/>
                </a:ext>
              </a:extLst>
            </p:cNvPr>
            <p:cNvSpPr/>
            <p:nvPr/>
          </p:nvSpPr>
          <p:spPr>
            <a:xfrm>
              <a:off x="3724094" y="6545309"/>
              <a:ext cx="29266" cy="64157"/>
            </a:xfrm>
            <a:custGeom>
              <a:avLst/>
              <a:gdLst>
                <a:gd name="connsiteX0" fmla="*/ 24267 w 29266"/>
                <a:gd name="connsiteY0" fmla="*/ 58429 h 64157"/>
                <a:gd name="connsiteX1" fmla="*/ 9478 w 29266"/>
                <a:gd name="connsiteY1" fmla="*/ 58429 h 64157"/>
                <a:gd name="connsiteX2" fmla="*/ 9478 w 29266"/>
                <a:gd name="connsiteY2" fmla="*/ 4999 h 64157"/>
                <a:gd name="connsiteX3" fmla="*/ 11457 w 29266"/>
                <a:gd name="connsiteY3" fmla="*/ 0 h 64157"/>
                <a:gd name="connsiteX4" fmla="*/ 0 w 29266"/>
                <a:gd name="connsiteY4" fmla="*/ 0 h 64157"/>
                <a:gd name="connsiteX5" fmla="*/ 1979 w 29266"/>
                <a:gd name="connsiteY5" fmla="*/ 4999 h 64157"/>
                <a:gd name="connsiteX6" fmla="*/ 1979 w 29266"/>
                <a:gd name="connsiteY6" fmla="*/ 59158 h 64157"/>
                <a:gd name="connsiteX7" fmla="*/ 0 w 29266"/>
                <a:gd name="connsiteY7" fmla="*/ 64158 h 64157"/>
                <a:gd name="connsiteX8" fmla="*/ 29267 w 29266"/>
                <a:gd name="connsiteY8" fmla="*/ 64158 h 64157"/>
                <a:gd name="connsiteX9" fmla="*/ 29267 w 29266"/>
                <a:gd name="connsiteY9" fmla="*/ 55826 h 64157"/>
                <a:gd name="connsiteX10" fmla="*/ 24267 w 29266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66" h="64157">
                  <a:moveTo>
                    <a:pt x="24267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9267" y="64158"/>
                  </a:lnTo>
                  <a:lnTo>
                    <a:pt x="29267" y="55826"/>
                  </a:lnTo>
                  <a:cubicBezTo>
                    <a:pt x="28434" y="56763"/>
                    <a:pt x="28225" y="58429"/>
                    <a:pt x="24267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CADB1A2-0263-5836-82D2-AD2EB43C50E5}"/>
                </a:ext>
              </a:extLst>
            </p:cNvPr>
            <p:cNvSpPr/>
            <p:nvPr/>
          </p:nvSpPr>
          <p:spPr>
            <a:xfrm>
              <a:off x="3758465" y="6545309"/>
              <a:ext cx="28329" cy="64157"/>
            </a:xfrm>
            <a:custGeom>
              <a:avLst/>
              <a:gdLst>
                <a:gd name="connsiteX0" fmla="*/ 23226 w 28329"/>
                <a:gd name="connsiteY0" fmla="*/ 58429 h 64157"/>
                <a:gd name="connsiteX1" fmla="*/ 9478 w 28329"/>
                <a:gd name="connsiteY1" fmla="*/ 58429 h 64157"/>
                <a:gd name="connsiteX2" fmla="*/ 9478 w 28329"/>
                <a:gd name="connsiteY2" fmla="*/ 4999 h 64157"/>
                <a:gd name="connsiteX3" fmla="*/ 11457 w 28329"/>
                <a:gd name="connsiteY3" fmla="*/ 0 h 64157"/>
                <a:gd name="connsiteX4" fmla="*/ 0 w 28329"/>
                <a:gd name="connsiteY4" fmla="*/ 0 h 64157"/>
                <a:gd name="connsiteX5" fmla="*/ 1979 w 28329"/>
                <a:gd name="connsiteY5" fmla="*/ 4999 h 64157"/>
                <a:gd name="connsiteX6" fmla="*/ 1979 w 28329"/>
                <a:gd name="connsiteY6" fmla="*/ 59158 h 64157"/>
                <a:gd name="connsiteX7" fmla="*/ 0 w 28329"/>
                <a:gd name="connsiteY7" fmla="*/ 64158 h 64157"/>
                <a:gd name="connsiteX8" fmla="*/ 28329 w 28329"/>
                <a:gd name="connsiteY8" fmla="*/ 64158 h 64157"/>
                <a:gd name="connsiteX9" fmla="*/ 28329 w 28329"/>
                <a:gd name="connsiteY9" fmla="*/ 55826 h 64157"/>
                <a:gd name="connsiteX10" fmla="*/ 23226 w 28329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29" h="64157">
                  <a:moveTo>
                    <a:pt x="23226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8329" y="64158"/>
                  </a:lnTo>
                  <a:lnTo>
                    <a:pt x="28329" y="55826"/>
                  </a:lnTo>
                  <a:cubicBezTo>
                    <a:pt x="27392" y="56763"/>
                    <a:pt x="27184" y="58429"/>
                    <a:pt x="23226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239AD06-2420-D200-F661-84624A3B313E}"/>
                </a:ext>
              </a:extLst>
            </p:cNvPr>
            <p:cNvSpPr/>
            <p:nvPr/>
          </p:nvSpPr>
          <p:spPr>
            <a:xfrm>
              <a:off x="3792210" y="6546038"/>
              <a:ext cx="34161" cy="63324"/>
            </a:xfrm>
            <a:custGeom>
              <a:avLst/>
              <a:gdLst>
                <a:gd name="connsiteX0" fmla="*/ 1979 w 34161"/>
                <a:gd name="connsiteY0" fmla="*/ 8436 h 63324"/>
                <a:gd name="connsiteX1" fmla="*/ 1979 w 34161"/>
                <a:gd name="connsiteY1" fmla="*/ 61658 h 63324"/>
                <a:gd name="connsiteX2" fmla="*/ 0 w 34161"/>
                <a:gd name="connsiteY2" fmla="*/ 63325 h 63324"/>
                <a:gd name="connsiteX3" fmla="*/ 34162 w 34161"/>
                <a:gd name="connsiteY3" fmla="*/ 63325 h 63324"/>
                <a:gd name="connsiteX4" fmla="*/ 34162 w 34161"/>
                <a:gd name="connsiteY4" fmla="*/ 54992 h 63324"/>
                <a:gd name="connsiteX5" fmla="*/ 29058 w 34161"/>
                <a:gd name="connsiteY5" fmla="*/ 57596 h 63324"/>
                <a:gd name="connsiteX6" fmla="*/ 9478 w 34161"/>
                <a:gd name="connsiteY6" fmla="*/ 57596 h 63324"/>
                <a:gd name="connsiteX7" fmla="*/ 9478 w 34161"/>
                <a:gd name="connsiteY7" fmla="*/ 30621 h 63324"/>
                <a:gd name="connsiteX8" fmla="*/ 24059 w 34161"/>
                <a:gd name="connsiteY8" fmla="*/ 30933 h 63324"/>
                <a:gd name="connsiteX9" fmla="*/ 28746 w 34161"/>
                <a:gd name="connsiteY9" fmla="*/ 32808 h 63324"/>
                <a:gd name="connsiteX10" fmla="*/ 28746 w 34161"/>
                <a:gd name="connsiteY10" fmla="*/ 23330 h 63324"/>
                <a:gd name="connsiteX11" fmla="*/ 23851 w 34161"/>
                <a:gd name="connsiteY11" fmla="*/ 25205 h 63324"/>
                <a:gd name="connsiteX12" fmla="*/ 9478 w 34161"/>
                <a:gd name="connsiteY12" fmla="*/ 24892 h 63324"/>
                <a:gd name="connsiteX13" fmla="*/ 9478 w 34161"/>
                <a:gd name="connsiteY13" fmla="*/ 5728 h 63324"/>
                <a:gd name="connsiteX14" fmla="*/ 29058 w 34161"/>
                <a:gd name="connsiteY14" fmla="*/ 5728 h 63324"/>
                <a:gd name="connsiteX15" fmla="*/ 34162 w 34161"/>
                <a:gd name="connsiteY15" fmla="*/ 8332 h 63324"/>
                <a:gd name="connsiteX16" fmla="*/ 34162 w 34161"/>
                <a:gd name="connsiteY16" fmla="*/ 0 h 63324"/>
                <a:gd name="connsiteX17" fmla="*/ 0 w 34161"/>
                <a:gd name="connsiteY17" fmla="*/ 0 h 63324"/>
                <a:gd name="connsiteX18" fmla="*/ 1979 w 34161"/>
                <a:gd name="connsiteY18" fmla="*/ 8436 h 6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324">
                  <a:moveTo>
                    <a:pt x="1979" y="8436"/>
                  </a:moveTo>
                  <a:lnTo>
                    <a:pt x="1979" y="61658"/>
                  </a:lnTo>
                  <a:cubicBezTo>
                    <a:pt x="1979" y="61762"/>
                    <a:pt x="1458" y="62179"/>
                    <a:pt x="0" y="63325"/>
                  </a:cubicBezTo>
                  <a:lnTo>
                    <a:pt x="34162" y="63325"/>
                  </a:lnTo>
                  <a:lnTo>
                    <a:pt x="34162" y="54992"/>
                  </a:lnTo>
                  <a:cubicBezTo>
                    <a:pt x="33225" y="56138"/>
                    <a:pt x="33120" y="57596"/>
                    <a:pt x="29058" y="57596"/>
                  </a:cubicBezTo>
                  <a:lnTo>
                    <a:pt x="9478" y="57596"/>
                  </a:lnTo>
                  <a:lnTo>
                    <a:pt x="9478" y="30621"/>
                  </a:lnTo>
                  <a:lnTo>
                    <a:pt x="24059" y="30933"/>
                  </a:lnTo>
                  <a:cubicBezTo>
                    <a:pt x="28017" y="30933"/>
                    <a:pt x="28017" y="31871"/>
                    <a:pt x="28746" y="32808"/>
                  </a:cubicBezTo>
                  <a:lnTo>
                    <a:pt x="28746" y="23330"/>
                  </a:lnTo>
                  <a:cubicBezTo>
                    <a:pt x="27809" y="24476"/>
                    <a:pt x="27705" y="25205"/>
                    <a:pt x="23851" y="25205"/>
                  </a:cubicBezTo>
                  <a:lnTo>
                    <a:pt x="9478" y="24892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250"/>
                    <a:pt x="1979" y="1666"/>
                    <a:pt x="1979" y="843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ACD652-2771-4558-DB56-C6F5C430DF85}"/>
                </a:ext>
              </a:extLst>
            </p:cNvPr>
            <p:cNvSpPr/>
            <p:nvPr/>
          </p:nvSpPr>
          <p:spPr>
            <a:xfrm>
              <a:off x="3832621" y="6546143"/>
              <a:ext cx="41556" cy="63220"/>
            </a:xfrm>
            <a:custGeom>
              <a:avLst/>
              <a:gdLst>
                <a:gd name="connsiteX0" fmla="*/ 27288 w 41556"/>
                <a:gd name="connsiteY0" fmla="*/ 29267 h 63220"/>
                <a:gd name="connsiteX1" fmla="*/ 27288 w 41556"/>
                <a:gd name="connsiteY1" fmla="*/ 29059 h 63220"/>
                <a:gd name="connsiteX2" fmla="*/ 38120 w 41556"/>
                <a:gd name="connsiteY2" fmla="*/ 14790 h 63220"/>
                <a:gd name="connsiteX3" fmla="*/ 15935 w 41556"/>
                <a:gd name="connsiteY3" fmla="*/ 0 h 63220"/>
                <a:gd name="connsiteX4" fmla="*/ 0 w 41556"/>
                <a:gd name="connsiteY4" fmla="*/ 0 h 63220"/>
                <a:gd name="connsiteX5" fmla="*/ 1979 w 41556"/>
                <a:gd name="connsiteY5" fmla="*/ 4999 h 63220"/>
                <a:gd name="connsiteX6" fmla="*/ 1979 w 41556"/>
                <a:gd name="connsiteY6" fmla="*/ 58221 h 63220"/>
                <a:gd name="connsiteX7" fmla="*/ 0 w 41556"/>
                <a:gd name="connsiteY7" fmla="*/ 63220 h 63220"/>
                <a:gd name="connsiteX8" fmla="*/ 15935 w 41556"/>
                <a:gd name="connsiteY8" fmla="*/ 63220 h 63220"/>
                <a:gd name="connsiteX9" fmla="*/ 41557 w 41556"/>
                <a:gd name="connsiteY9" fmla="*/ 45619 h 63220"/>
                <a:gd name="connsiteX10" fmla="*/ 27288 w 41556"/>
                <a:gd name="connsiteY10" fmla="*/ 29267 h 63220"/>
                <a:gd name="connsiteX11" fmla="*/ 15935 w 41556"/>
                <a:gd name="connsiteY11" fmla="*/ 57596 h 63220"/>
                <a:gd name="connsiteX12" fmla="*/ 9478 w 41556"/>
                <a:gd name="connsiteY12" fmla="*/ 57596 h 63220"/>
                <a:gd name="connsiteX13" fmla="*/ 9478 w 41556"/>
                <a:gd name="connsiteY13" fmla="*/ 28225 h 63220"/>
                <a:gd name="connsiteX14" fmla="*/ 9478 w 41556"/>
                <a:gd name="connsiteY14" fmla="*/ 5833 h 63220"/>
                <a:gd name="connsiteX15" fmla="*/ 15935 w 41556"/>
                <a:gd name="connsiteY15" fmla="*/ 5833 h 63220"/>
                <a:gd name="connsiteX16" fmla="*/ 30621 w 41556"/>
                <a:gd name="connsiteY16" fmla="*/ 15623 h 63220"/>
                <a:gd name="connsiteX17" fmla="*/ 16144 w 41556"/>
                <a:gd name="connsiteY17" fmla="*/ 28642 h 63220"/>
                <a:gd name="connsiteX18" fmla="*/ 16144 w 41556"/>
                <a:gd name="connsiteY18" fmla="*/ 30412 h 63220"/>
                <a:gd name="connsiteX19" fmla="*/ 34058 w 41556"/>
                <a:gd name="connsiteY19" fmla="*/ 45410 h 63220"/>
                <a:gd name="connsiteX20" fmla="*/ 15935 w 41556"/>
                <a:gd name="connsiteY20" fmla="*/ 57596 h 6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556" h="63220">
                  <a:moveTo>
                    <a:pt x="27288" y="29267"/>
                  </a:moveTo>
                  <a:lnTo>
                    <a:pt x="27288" y="29059"/>
                  </a:lnTo>
                  <a:cubicBezTo>
                    <a:pt x="32079" y="28225"/>
                    <a:pt x="38120" y="24059"/>
                    <a:pt x="38120" y="14790"/>
                  </a:cubicBezTo>
                  <a:cubicBezTo>
                    <a:pt x="38120" y="1354"/>
                    <a:pt x="26559" y="0"/>
                    <a:pt x="1593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221"/>
                  </a:lnTo>
                  <a:cubicBezTo>
                    <a:pt x="1979" y="61658"/>
                    <a:pt x="1458" y="62075"/>
                    <a:pt x="0" y="63220"/>
                  </a:cubicBezTo>
                  <a:lnTo>
                    <a:pt x="15935" y="63220"/>
                  </a:lnTo>
                  <a:cubicBezTo>
                    <a:pt x="25830" y="63220"/>
                    <a:pt x="41557" y="62179"/>
                    <a:pt x="41557" y="45619"/>
                  </a:cubicBezTo>
                  <a:cubicBezTo>
                    <a:pt x="41453" y="33849"/>
                    <a:pt x="32600" y="29267"/>
                    <a:pt x="27288" y="29267"/>
                  </a:cubicBezTo>
                  <a:close/>
                  <a:moveTo>
                    <a:pt x="15935" y="57596"/>
                  </a:moveTo>
                  <a:lnTo>
                    <a:pt x="9478" y="57596"/>
                  </a:lnTo>
                  <a:lnTo>
                    <a:pt x="9478" y="28225"/>
                  </a:lnTo>
                  <a:lnTo>
                    <a:pt x="9478" y="5833"/>
                  </a:lnTo>
                  <a:lnTo>
                    <a:pt x="15935" y="5833"/>
                  </a:lnTo>
                  <a:cubicBezTo>
                    <a:pt x="22705" y="5833"/>
                    <a:pt x="30621" y="6041"/>
                    <a:pt x="30621" y="15623"/>
                  </a:cubicBezTo>
                  <a:cubicBezTo>
                    <a:pt x="30308" y="23226"/>
                    <a:pt x="27705" y="28642"/>
                    <a:pt x="16144" y="28642"/>
                  </a:cubicBezTo>
                  <a:cubicBezTo>
                    <a:pt x="16144" y="28642"/>
                    <a:pt x="13227" y="30412"/>
                    <a:pt x="16144" y="30412"/>
                  </a:cubicBezTo>
                  <a:cubicBezTo>
                    <a:pt x="25517" y="30412"/>
                    <a:pt x="34058" y="34683"/>
                    <a:pt x="34058" y="45410"/>
                  </a:cubicBezTo>
                  <a:cubicBezTo>
                    <a:pt x="34058" y="56451"/>
                    <a:pt x="24372" y="57596"/>
                    <a:pt x="15935" y="5759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1C75F-1798-5D8C-6ABD-AB2224DE47F0}"/>
                </a:ext>
              </a:extLst>
            </p:cNvPr>
            <p:cNvSpPr/>
            <p:nvPr/>
          </p:nvSpPr>
          <p:spPr>
            <a:xfrm>
              <a:off x="3877719" y="6545309"/>
              <a:ext cx="57596" cy="65511"/>
            </a:xfrm>
            <a:custGeom>
              <a:avLst/>
              <a:gdLst>
                <a:gd name="connsiteX0" fmla="*/ 29058 w 57596"/>
                <a:gd name="connsiteY0" fmla="*/ 0 h 65511"/>
                <a:gd name="connsiteX1" fmla="*/ 0 w 57596"/>
                <a:gd name="connsiteY1" fmla="*/ 33016 h 65511"/>
                <a:gd name="connsiteX2" fmla="*/ 28850 w 57596"/>
                <a:gd name="connsiteY2" fmla="*/ 65512 h 65511"/>
                <a:gd name="connsiteX3" fmla="*/ 57596 w 57596"/>
                <a:gd name="connsiteY3" fmla="*/ 33016 h 65511"/>
                <a:gd name="connsiteX4" fmla="*/ 29058 w 57596"/>
                <a:gd name="connsiteY4" fmla="*/ 0 h 65511"/>
                <a:gd name="connsiteX5" fmla="*/ 28954 w 57596"/>
                <a:gd name="connsiteY5" fmla="*/ 58950 h 65511"/>
                <a:gd name="connsiteX6" fmla="*/ 8124 w 57596"/>
                <a:gd name="connsiteY6" fmla="*/ 32808 h 65511"/>
                <a:gd name="connsiteX7" fmla="*/ 29058 w 57596"/>
                <a:gd name="connsiteY7" fmla="*/ 6457 h 65511"/>
                <a:gd name="connsiteX8" fmla="*/ 49576 w 57596"/>
                <a:gd name="connsiteY8" fmla="*/ 32808 h 65511"/>
                <a:gd name="connsiteX9" fmla="*/ 28954 w 57596"/>
                <a:gd name="connsiteY9" fmla="*/ 58950 h 6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596" h="65511">
                  <a:moveTo>
                    <a:pt x="29058" y="0"/>
                  </a:moveTo>
                  <a:cubicBezTo>
                    <a:pt x="11457" y="0"/>
                    <a:pt x="0" y="15727"/>
                    <a:pt x="0" y="33016"/>
                  </a:cubicBezTo>
                  <a:cubicBezTo>
                    <a:pt x="0" y="50306"/>
                    <a:pt x="12082" y="65512"/>
                    <a:pt x="28850" y="65512"/>
                  </a:cubicBezTo>
                  <a:cubicBezTo>
                    <a:pt x="46556" y="65512"/>
                    <a:pt x="57596" y="49264"/>
                    <a:pt x="57596" y="33016"/>
                  </a:cubicBezTo>
                  <a:cubicBezTo>
                    <a:pt x="57596" y="15415"/>
                    <a:pt x="45931" y="0"/>
                    <a:pt x="29058" y="0"/>
                  </a:cubicBezTo>
                  <a:close/>
                  <a:moveTo>
                    <a:pt x="28954" y="58950"/>
                  </a:moveTo>
                  <a:cubicBezTo>
                    <a:pt x="16039" y="58950"/>
                    <a:pt x="8124" y="45827"/>
                    <a:pt x="8124" y="32808"/>
                  </a:cubicBezTo>
                  <a:cubicBezTo>
                    <a:pt x="8124" y="19164"/>
                    <a:pt x="16144" y="6457"/>
                    <a:pt x="29058" y="6457"/>
                  </a:cubicBezTo>
                  <a:cubicBezTo>
                    <a:pt x="41036" y="6457"/>
                    <a:pt x="49576" y="18643"/>
                    <a:pt x="49576" y="32808"/>
                  </a:cubicBezTo>
                  <a:cubicBezTo>
                    <a:pt x="49472" y="45515"/>
                    <a:pt x="41869" y="58950"/>
                    <a:pt x="28954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748165-B783-841D-3F84-F245A9EE7358}"/>
                </a:ext>
              </a:extLst>
            </p:cNvPr>
            <p:cNvSpPr/>
            <p:nvPr/>
          </p:nvSpPr>
          <p:spPr>
            <a:xfrm>
              <a:off x="3984371" y="6544372"/>
              <a:ext cx="50201" cy="66344"/>
            </a:xfrm>
            <a:custGeom>
              <a:avLst/>
              <a:gdLst>
                <a:gd name="connsiteX0" fmla="*/ 34787 w 50201"/>
                <a:gd name="connsiteY0" fmla="*/ 30204 h 66344"/>
                <a:gd name="connsiteX1" fmla="*/ 29892 w 50201"/>
                <a:gd name="connsiteY1" fmla="*/ 28329 h 66344"/>
                <a:gd name="connsiteX2" fmla="*/ 29892 w 50201"/>
                <a:gd name="connsiteY2" fmla="*/ 37807 h 66344"/>
                <a:gd name="connsiteX3" fmla="*/ 34579 w 50201"/>
                <a:gd name="connsiteY3" fmla="*/ 35933 h 66344"/>
                <a:gd name="connsiteX4" fmla="*/ 41557 w 50201"/>
                <a:gd name="connsiteY4" fmla="*/ 35933 h 66344"/>
                <a:gd name="connsiteX5" fmla="*/ 41557 w 50201"/>
                <a:gd name="connsiteY5" fmla="*/ 35933 h 66344"/>
                <a:gd name="connsiteX6" fmla="*/ 41557 w 50201"/>
                <a:gd name="connsiteY6" fmla="*/ 57180 h 66344"/>
                <a:gd name="connsiteX7" fmla="*/ 30308 w 50201"/>
                <a:gd name="connsiteY7" fmla="*/ 59888 h 66344"/>
                <a:gd name="connsiteX8" fmla="*/ 8540 w 50201"/>
                <a:gd name="connsiteY8" fmla="*/ 33745 h 66344"/>
                <a:gd name="connsiteX9" fmla="*/ 30829 w 50201"/>
                <a:gd name="connsiteY9" fmla="*/ 6562 h 66344"/>
                <a:gd name="connsiteX10" fmla="*/ 48222 w 50201"/>
                <a:gd name="connsiteY10" fmla="*/ 16144 h 66344"/>
                <a:gd name="connsiteX11" fmla="*/ 48222 w 50201"/>
                <a:gd name="connsiteY11" fmla="*/ 3854 h 66344"/>
                <a:gd name="connsiteX12" fmla="*/ 46244 w 50201"/>
                <a:gd name="connsiteY12" fmla="*/ 4791 h 66344"/>
                <a:gd name="connsiteX13" fmla="*/ 29683 w 50201"/>
                <a:gd name="connsiteY13" fmla="*/ 0 h 66344"/>
                <a:gd name="connsiteX14" fmla="*/ 0 w 50201"/>
                <a:gd name="connsiteY14" fmla="*/ 33849 h 66344"/>
                <a:gd name="connsiteX15" fmla="*/ 29683 w 50201"/>
                <a:gd name="connsiteY15" fmla="*/ 66345 h 66344"/>
                <a:gd name="connsiteX16" fmla="*/ 50201 w 50201"/>
                <a:gd name="connsiteY16" fmla="*/ 60200 h 66344"/>
                <a:gd name="connsiteX17" fmla="*/ 50201 w 50201"/>
                <a:gd name="connsiteY17" fmla="*/ 30100 h 66344"/>
                <a:gd name="connsiteX18" fmla="*/ 34787 w 50201"/>
                <a:gd name="connsiteY18" fmla="*/ 30204 h 6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201" h="66344">
                  <a:moveTo>
                    <a:pt x="34787" y="30204"/>
                  </a:moveTo>
                  <a:cubicBezTo>
                    <a:pt x="30933" y="30204"/>
                    <a:pt x="30725" y="29475"/>
                    <a:pt x="29892" y="28329"/>
                  </a:cubicBezTo>
                  <a:lnTo>
                    <a:pt x="29892" y="37807"/>
                  </a:lnTo>
                  <a:cubicBezTo>
                    <a:pt x="30621" y="36870"/>
                    <a:pt x="30621" y="35933"/>
                    <a:pt x="34579" y="35933"/>
                  </a:cubicBezTo>
                  <a:lnTo>
                    <a:pt x="41557" y="35933"/>
                  </a:lnTo>
                  <a:lnTo>
                    <a:pt x="41557" y="35933"/>
                  </a:lnTo>
                  <a:lnTo>
                    <a:pt x="41557" y="57180"/>
                  </a:lnTo>
                  <a:cubicBezTo>
                    <a:pt x="37807" y="59054"/>
                    <a:pt x="34266" y="59888"/>
                    <a:pt x="30308" y="59888"/>
                  </a:cubicBezTo>
                  <a:cubicBezTo>
                    <a:pt x="16769" y="59888"/>
                    <a:pt x="8540" y="48222"/>
                    <a:pt x="8540" y="33745"/>
                  </a:cubicBezTo>
                  <a:cubicBezTo>
                    <a:pt x="8540" y="18122"/>
                    <a:pt x="17914" y="6562"/>
                    <a:pt x="30829" y="6562"/>
                  </a:cubicBezTo>
                  <a:cubicBezTo>
                    <a:pt x="41348" y="6562"/>
                    <a:pt x="47389" y="15415"/>
                    <a:pt x="48222" y="16144"/>
                  </a:cubicBezTo>
                  <a:lnTo>
                    <a:pt x="48222" y="3854"/>
                  </a:lnTo>
                  <a:cubicBezTo>
                    <a:pt x="47389" y="4479"/>
                    <a:pt x="46973" y="4791"/>
                    <a:pt x="46244" y="4791"/>
                  </a:cubicBezTo>
                  <a:cubicBezTo>
                    <a:pt x="43536" y="4791"/>
                    <a:pt x="39786" y="0"/>
                    <a:pt x="29683" y="0"/>
                  </a:cubicBezTo>
                  <a:cubicBezTo>
                    <a:pt x="12915" y="0"/>
                    <a:pt x="0" y="14061"/>
                    <a:pt x="0" y="33849"/>
                  </a:cubicBezTo>
                  <a:cubicBezTo>
                    <a:pt x="0" y="53430"/>
                    <a:pt x="11873" y="66345"/>
                    <a:pt x="29683" y="66345"/>
                  </a:cubicBezTo>
                  <a:cubicBezTo>
                    <a:pt x="36870" y="66345"/>
                    <a:pt x="44994" y="63741"/>
                    <a:pt x="50201" y="60200"/>
                  </a:cubicBezTo>
                  <a:lnTo>
                    <a:pt x="50201" y="30100"/>
                  </a:lnTo>
                  <a:lnTo>
                    <a:pt x="34787" y="30204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3337208-8E7F-4EAD-BAB4-2BC625858F4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36350" y="6565900"/>
            <a:ext cx="1557337" cy="2286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5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document</a:t>
            </a:r>
          </a:p>
        </p:txBody>
      </p:sp>
    </p:spTree>
    <p:extLst>
      <p:ext uri="{BB962C8B-B14F-4D97-AF65-F5344CB8AC3E}">
        <p14:creationId xmlns:p14="http://schemas.microsoft.com/office/powerpoint/2010/main" val="166801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39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  <p:sldLayoutId id="2147484212" r:id="rId17"/>
    <p:sldLayoutId id="2147484213" r:id="rId18"/>
    <p:sldLayoutId id="2147484214" r:id="rId19"/>
    <p:sldLayoutId id="2147484215" r:id="rId20"/>
    <p:sldLayoutId id="2147484216" r:id="rId21"/>
    <p:sldLayoutId id="2147484217" r:id="rId22"/>
    <p:sldLayoutId id="2147484218" r:id="rId23"/>
    <p:sldLayoutId id="2147484219" r:id="rId24"/>
    <p:sldLayoutId id="2147484220" r:id="rId25"/>
    <p:sldLayoutId id="2147484221" r:id="rId26"/>
    <p:sldLayoutId id="2147484222" r:id="rId27"/>
    <p:sldLayoutId id="2147484223" r:id="rId28"/>
    <p:sldLayoutId id="2147484224" r:id="rId29"/>
    <p:sldLayoutId id="2147484225" r:id="rId30"/>
    <p:sldLayoutId id="2147484226" r:id="rId31"/>
    <p:sldLayoutId id="2147484227" r:id="rId32"/>
    <p:sldLayoutId id="2147484228" r:id="rId33"/>
    <p:sldLayoutId id="2147484229" r:id="rId34"/>
    <p:sldLayoutId id="2147484230" r:id="rId35"/>
    <p:sldLayoutId id="2147484231" r:id="rId36"/>
    <p:sldLayoutId id="2147484232" r:id="rId37"/>
    <p:sldLayoutId id="2147484233" r:id="rId38"/>
    <p:sldLayoutId id="2147484234" r:id="rId39"/>
    <p:sldLayoutId id="2147484235" r:id="rId40"/>
    <p:sldLayoutId id="2147484236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39">
          <p15:clr>
            <a:srgbClr val="F26B43"/>
          </p15:clr>
        </p15:guide>
        <p15:guide id="7" pos="7341">
          <p15:clr>
            <a:srgbClr val="F26B43"/>
          </p15:clr>
        </p15:guide>
        <p15:guide id="8" orient="horz" pos="3808">
          <p15:clr>
            <a:srgbClr val="F26B43"/>
          </p15:clr>
        </p15:guide>
        <p15:guide id="9" orient="horz" pos="759">
          <p15:clr>
            <a:srgbClr val="F26B43"/>
          </p15:clr>
        </p15:guide>
        <p15:guide id="11" orient="horz" pos="5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 10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3100" dirty="0">
                <a:solidFill>
                  <a:srgbClr val="FFFFFF"/>
                </a:solidFill>
                <a:latin typeface="Arial"/>
                <a:cs typeface="Arial"/>
              </a:rPr>
              <a:t>D365 F&amp;O – MCP Services</a:t>
            </a:r>
            <a:endParaRPr lang="en-US" dirty="0"/>
          </a:p>
        </p:txBody>
      </p:sp>
      <p:sp>
        <p:nvSpPr>
          <p:cNvPr id="101" name="PH 10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AI-Powered Metadata Intelligence</a:t>
            </a:r>
            <a:endParaRPr lang="en-US" dirty="0"/>
          </a:p>
        </p:txBody>
      </p:sp>
      <p:sp>
        <p:nvSpPr>
          <p:cNvPr id="102" name="PH 10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/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Model Context Protocol for Dynamics 365 Finance &amp; Operations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H 1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Agenda</a:t>
            </a:r>
            <a:endParaRPr lang="en-US" dirty="0"/>
          </a:p>
        </p:txBody>
      </p:sp>
      <p:sp>
        <p:nvSpPr>
          <p:cNvPr id="103" name="TextBox 104"/>
          <p:cNvSpPr txBox="1"/>
          <p:nvPr/>
        </p:nvSpPr>
        <p:spPr>
          <a:xfrm>
            <a:off x="539496" y="13258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800" b="1" dirty="0">
                <a:solidFill>
                  <a:srgbClr val="6DC1C9"/>
                </a:solidFill>
                <a:latin typeface="Arial"/>
                <a:cs typeface="Arial"/>
              </a:rPr>
              <a:t>01</a:t>
            </a:r>
            <a:endParaRPr lang="en-US" dirty="0"/>
          </a:p>
        </p:txBody>
      </p:sp>
      <p:sp>
        <p:nvSpPr>
          <p:cNvPr id="104" name="TextBox 105"/>
          <p:cNvSpPr txBox="1"/>
          <p:nvPr/>
        </p:nvSpPr>
        <p:spPr>
          <a:xfrm>
            <a:off x="1325880" y="13258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b="1" dirty="0">
                <a:solidFill>
                  <a:srgbClr val="000000"/>
                </a:solidFill>
                <a:latin typeface="Arial"/>
                <a:cs typeface="Arial"/>
              </a:rPr>
              <a:t>What is MCP?</a:t>
            </a:r>
            <a:endParaRPr lang="en-US" dirty="0"/>
          </a:p>
        </p:txBody>
      </p:sp>
      <p:sp>
        <p:nvSpPr>
          <p:cNvPr id="105" name="TextBox 106"/>
          <p:cNvSpPr txBox="1"/>
          <p:nvPr/>
        </p:nvSpPr>
        <p:spPr>
          <a:xfrm>
            <a:off x="1325880" y="158191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dirty="0">
                <a:solidFill>
                  <a:srgbClr val="666666"/>
                </a:solidFill>
                <a:latin typeface="Arial"/>
                <a:cs typeface="Arial"/>
              </a:rPr>
              <a:t>Model Context Protocol fundamentals for AI assistants</a:t>
            </a:r>
            <a:endParaRPr lang="en-US" dirty="0"/>
          </a:p>
        </p:txBody>
      </p:sp>
      <p:sp>
        <p:nvSpPr>
          <p:cNvPr id="106" name="Line 107"/>
          <p:cNvSpPr/>
          <p:nvPr/>
        </p:nvSpPr>
        <p:spPr>
          <a:xfrm>
            <a:off x="539496" y="1984248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07" name="TextBox 108"/>
          <p:cNvSpPr txBox="1"/>
          <p:nvPr/>
        </p:nvSpPr>
        <p:spPr>
          <a:xfrm>
            <a:off x="539496" y="205740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800" b="1" dirty="0">
                <a:solidFill>
                  <a:srgbClr val="6DC1C9"/>
                </a:solidFill>
                <a:latin typeface="Arial"/>
                <a:cs typeface="Arial"/>
              </a:rPr>
              <a:t>02</a:t>
            </a:r>
            <a:endParaRPr lang="en-US" dirty="0"/>
          </a:p>
        </p:txBody>
      </p:sp>
      <p:sp>
        <p:nvSpPr>
          <p:cNvPr id="108" name="TextBox 109"/>
          <p:cNvSpPr txBox="1"/>
          <p:nvPr/>
        </p:nvSpPr>
        <p:spPr>
          <a:xfrm>
            <a:off x="1325880" y="20574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b="1" dirty="0">
                <a:solidFill>
                  <a:srgbClr val="000000"/>
                </a:solidFill>
                <a:latin typeface="Arial"/>
                <a:cs typeface="Arial"/>
              </a:rPr>
              <a:t>Why MCP for D365 F&amp;O?</a:t>
            </a:r>
            <a:endParaRPr lang="en-US" dirty="0"/>
          </a:p>
        </p:txBody>
      </p:sp>
      <p:sp>
        <p:nvSpPr>
          <p:cNvPr id="109" name="TextBox 110"/>
          <p:cNvSpPr txBox="1"/>
          <p:nvPr/>
        </p:nvSpPr>
        <p:spPr>
          <a:xfrm>
            <a:off x="1325880" y="231343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dirty="0">
                <a:solidFill>
                  <a:srgbClr val="666666"/>
                </a:solidFill>
                <a:latin typeface="Arial"/>
                <a:cs typeface="Arial"/>
              </a:rPr>
              <a:t>The hallucination problem and how MCP solves it</a:t>
            </a:r>
            <a:endParaRPr lang="en-US" dirty="0"/>
          </a:p>
        </p:txBody>
      </p:sp>
      <p:sp>
        <p:nvSpPr>
          <p:cNvPr id="110" name="Line 111"/>
          <p:cNvSpPr/>
          <p:nvPr/>
        </p:nvSpPr>
        <p:spPr>
          <a:xfrm>
            <a:off x="539496" y="2715768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11" name="TextBox 112"/>
          <p:cNvSpPr txBox="1"/>
          <p:nvPr/>
        </p:nvSpPr>
        <p:spPr>
          <a:xfrm>
            <a:off x="539496" y="278892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800" b="1" dirty="0">
                <a:solidFill>
                  <a:srgbClr val="6DC1C9"/>
                </a:solidFill>
                <a:latin typeface="Arial"/>
                <a:cs typeface="Arial"/>
              </a:rPr>
              <a:t>03</a:t>
            </a:r>
            <a:endParaRPr lang="en-US" dirty="0"/>
          </a:p>
        </p:txBody>
      </p:sp>
      <p:sp>
        <p:nvSpPr>
          <p:cNvPr id="112" name="TextBox 113"/>
          <p:cNvSpPr txBox="1"/>
          <p:nvPr/>
        </p:nvSpPr>
        <p:spPr>
          <a:xfrm>
            <a:off x="1325880" y="27889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b="1" dirty="0">
                <a:solidFill>
                  <a:srgbClr val="000000"/>
                </a:solidFill>
                <a:latin typeface="Arial"/>
                <a:cs typeface="Arial"/>
              </a:rPr>
              <a:t>Our two MCP services</a:t>
            </a:r>
            <a:endParaRPr lang="en-US" dirty="0"/>
          </a:p>
        </p:txBody>
      </p:sp>
      <p:sp>
        <p:nvSpPr>
          <p:cNvPr id="113" name="TextBox 114"/>
          <p:cNvSpPr txBox="1"/>
          <p:nvPr/>
        </p:nvSpPr>
        <p:spPr>
          <a:xfrm>
            <a:off x="1325880" y="304495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dirty="0">
                <a:solidFill>
                  <a:srgbClr val="666666"/>
                </a:solidFill>
                <a:latin typeface="Arial"/>
                <a:cs typeface="Arial"/>
              </a:rPr>
              <a:t>Knowledge Base (KB) and Cross-Reference (XRef)</a:t>
            </a:r>
            <a:endParaRPr lang="en-US" dirty="0"/>
          </a:p>
        </p:txBody>
      </p:sp>
      <p:sp>
        <p:nvSpPr>
          <p:cNvPr id="114" name="Line 115"/>
          <p:cNvSpPr/>
          <p:nvPr/>
        </p:nvSpPr>
        <p:spPr>
          <a:xfrm>
            <a:off x="539496" y="3447288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15" name="TextBox 116"/>
          <p:cNvSpPr txBox="1"/>
          <p:nvPr/>
        </p:nvSpPr>
        <p:spPr>
          <a:xfrm>
            <a:off x="539496" y="352044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800" b="1" dirty="0">
                <a:solidFill>
                  <a:srgbClr val="6DC1C9"/>
                </a:solidFill>
                <a:latin typeface="Arial"/>
                <a:cs typeface="Arial"/>
              </a:rPr>
              <a:t>04</a:t>
            </a:r>
            <a:endParaRPr lang="en-US" dirty="0"/>
          </a:p>
        </p:txBody>
      </p:sp>
      <p:sp>
        <p:nvSpPr>
          <p:cNvPr id="116" name="TextBox 117"/>
          <p:cNvSpPr txBox="1"/>
          <p:nvPr/>
        </p:nvSpPr>
        <p:spPr>
          <a:xfrm>
            <a:off x="1325880" y="35204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b="1" dirty="0">
                <a:solidFill>
                  <a:srgbClr val="000000"/>
                </a:solidFill>
                <a:latin typeface="Arial"/>
                <a:cs typeface="Arial"/>
              </a:rPr>
              <a:t>Data updates &amp; deployment</a:t>
            </a:r>
            <a:endParaRPr lang="en-US" dirty="0"/>
          </a:p>
        </p:txBody>
      </p:sp>
      <p:sp>
        <p:nvSpPr>
          <p:cNvPr id="117" name="TextBox 118"/>
          <p:cNvSpPr txBox="1"/>
          <p:nvPr/>
        </p:nvSpPr>
        <p:spPr>
          <a:xfrm>
            <a:off x="1325880" y="377647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dirty="0">
                <a:solidFill>
                  <a:srgbClr val="666666"/>
                </a:solidFill>
                <a:latin typeface="Arial"/>
                <a:cs typeface="Arial"/>
              </a:rPr>
              <a:t>Build pipeline, scripts, Microsoft updates, ISV extensions</a:t>
            </a:r>
            <a:endParaRPr lang="en-US" dirty="0"/>
          </a:p>
        </p:txBody>
      </p:sp>
      <p:sp>
        <p:nvSpPr>
          <p:cNvPr id="118" name="Line 119"/>
          <p:cNvSpPr/>
          <p:nvPr/>
        </p:nvSpPr>
        <p:spPr>
          <a:xfrm>
            <a:off x="539496" y="4178808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19" name="TextBox 120"/>
          <p:cNvSpPr txBox="1"/>
          <p:nvPr/>
        </p:nvSpPr>
        <p:spPr>
          <a:xfrm>
            <a:off x="539496" y="425196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800" b="1" dirty="0">
                <a:solidFill>
                  <a:srgbClr val="6DC1C9"/>
                </a:solidFill>
                <a:latin typeface="Arial"/>
                <a:cs typeface="Arial"/>
              </a:rPr>
              <a:t>05</a:t>
            </a:r>
            <a:endParaRPr lang="en-US" dirty="0"/>
          </a:p>
        </p:txBody>
      </p:sp>
      <p:sp>
        <p:nvSpPr>
          <p:cNvPr id="120" name="TextBox 121"/>
          <p:cNvSpPr txBox="1"/>
          <p:nvPr/>
        </p:nvSpPr>
        <p:spPr>
          <a:xfrm>
            <a:off x="1325880" y="42519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b="1" dirty="0">
                <a:solidFill>
                  <a:srgbClr val="000000"/>
                </a:solidFill>
                <a:latin typeface="Arial"/>
                <a:cs typeface="Arial"/>
              </a:rPr>
              <a:t>Before &amp; After examples</a:t>
            </a:r>
            <a:endParaRPr lang="en-US" dirty="0"/>
          </a:p>
        </p:txBody>
      </p:sp>
      <p:sp>
        <p:nvSpPr>
          <p:cNvPr id="121" name="TextBox 122"/>
          <p:cNvSpPr txBox="1"/>
          <p:nvPr/>
        </p:nvSpPr>
        <p:spPr>
          <a:xfrm>
            <a:off x="1325880" y="450799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dirty="0">
                <a:solidFill>
                  <a:srgbClr val="666666"/>
                </a:solidFill>
                <a:latin typeface="Arial"/>
                <a:cs typeface="Arial"/>
              </a:rPr>
              <a:t>Support tickets, SQL queries, OData, BI reporting, impact analysis</a:t>
            </a:r>
            <a:endParaRPr lang="en-US" dirty="0"/>
          </a:p>
        </p:txBody>
      </p:sp>
      <p:sp>
        <p:nvSpPr>
          <p:cNvPr id="122" name="Line 123"/>
          <p:cNvSpPr/>
          <p:nvPr/>
        </p:nvSpPr>
        <p:spPr>
          <a:xfrm>
            <a:off x="539496" y="4910328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23" name="TextBox 124"/>
          <p:cNvSpPr txBox="1"/>
          <p:nvPr/>
        </p:nvSpPr>
        <p:spPr>
          <a:xfrm>
            <a:off x="539496" y="498348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800" b="1" dirty="0">
                <a:solidFill>
                  <a:srgbClr val="6DC1C9"/>
                </a:solidFill>
                <a:latin typeface="Arial"/>
                <a:cs typeface="Arial"/>
              </a:rPr>
              <a:t>06</a:t>
            </a:r>
            <a:endParaRPr lang="en-US" dirty="0"/>
          </a:p>
        </p:txBody>
      </p:sp>
      <p:sp>
        <p:nvSpPr>
          <p:cNvPr id="124" name="TextBox 125"/>
          <p:cNvSpPr txBox="1"/>
          <p:nvPr/>
        </p:nvSpPr>
        <p:spPr>
          <a:xfrm>
            <a:off x="1325880" y="49834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300" b="1" dirty="0">
                <a:solidFill>
                  <a:srgbClr val="000000"/>
                </a:solidFill>
                <a:latin typeface="Arial"/>
                <a:cs typeface="Arial"/>
              </a:rPr>
              <a:t>Future MCP services</a:t>
            </a:r>
            <a:endParaRPr lang="en-US" dirty="0"/>
          </a:p>
        </p:txBody>
      </p:sp>
      <p:sp>
        <p:nvSpPr>
          <p:cNvPr id="125" name="TextBox 126"/>
          <p:cNvSpPr txBox="1"/>
          <p:nvPr/>
        </p:nvSpPr>
        <p:spPr>
          <a:xfrm>
            <a:off x="1325880" y="523951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dirty="0">
                <a:solidFill>
                  <a:srgbClr val="666666"/>
                </a:solidFill>
                <a:latin typeface="Arial"/>
                <a:cs typeface="Arial"/>
              </a:rPr>
              <a:t>Additional value opportunities beyond KB and XRef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H 15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What is MCP?</a:t>
            </a:r>
            <a:endParaRPr lang="en-US" dirty="0"/>
          </a:p>
        </p:txBody>
      </p:sp>
      <p:sp>
        <p:nvSpPr>
          <p:cNvPr id="127" name="Rect 128"/>
          <p:cNvSpPr/>
          <p:nvPr/>
        </p:nvSpPr>
        <p:spPr>
          <a:xfrm>
            <a:off x="539496" y="128016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128" name="TextBox 129"/>
          <p:cNvSpPr txBox="1"/>
          <p:nvPr/>
        </p:nvSpPr>
        <p:spPr>
          <a:xfrm>
            <a:off x="685800" y="1353312"/>
            <a:ext cx="5010912" cy="104241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200"/>
              </a:spcAft>
            </a:pPr>
            <a:r>
              <a:rPr lang="en-US" sz="1200" b="1" dirty="0">
                <a:solidFill>
                  <a:srgbClr val="333333"/>
                </a:solidFill>
                <a:latin typeface="Arial"/>
                <a:cs typeface="Arial"/>
              </a:rPr>
              <a:t>Model Context Protocol (MCP)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An open standard by Anthropic that lets AI assistants connect to external data sources and tools via a unified protocol — like a USB-C port for AI.</a:t>
            </a:r>
            <a:endParaRPr lang="en-US" dirty="0"/>
          </a:p>
        </p:txBody>
      </p:sp>
      <p:sp>
        <p:nvSpPr>
          <p:cNvPr id="129" name="Rect 130"/>
          <p:cNvSpPr/>
          <p:nvPr/>
        </p:nvSpPr>
        <p:spPr>
          <a:xfrm>
            <a:off x="539496" y="2788920"/>
            <a:ext cx="1691640" cy="365760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130" name="TextBox 131"/>
          <p:cNvSpPr txBox="1"/>
          <p:nvPr/>
        </p:nvSpPr>
        <p:spPr>
          <a:xfrm>
            <a:off x="539496" y="27889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endParaRPr lang="en-US" dirty="0"/>
          </a:p>
        </p:txBody>
      </p:sp>
      <p:sp>
        <p:nvSpPr>
          <p:cNvPr id="131" name="Rect 132"/>
          <p:cNvSpPr/>
          <p:nvPr/>
        </p:nvSpPr>
        <p:spPr>
          <a:xfrm>
            <a:off x="539496" y="3154680"/>
            <a:ext cx="1691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132" name="TextBox 133"/>
          <p:cNvSpPr txBox="1"/>
          <p:nvPr/>
        </p:nvSpPr>
        <p:spPr>
          <a:xfrm>
            <a:off x="630936" y="3246120"/>
            <a:ext cx="1508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5000"/>
              </a:lnSpc>
            </a:pP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Functions the AI can call to query data, validate names, read source code</a:t>
            </a:r>
            <a:endParaRPr lang="en-US" dirty="0"/>
          </a:p>
        </p:txBody>
      </p:sp>
      <p:sp>
        <p:nvSpPr>
          <p:cNvPr id="133" name="Rect 134"/>
          <p:cNvSpPr/>
          <p:nvPr/>
        </p:nvSpPr>
        <p:spPr>
          <a:xfrm>
            <a:off x="2368296" y="2788920"/>
            <a:ext cx="1691640" cy="365760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134" name="TextBox 135"/>
          <p:cNvSpPr txBox="1"/>
          <p:nvPr/>
        </p:nvSpPr>
        <p:spPr>
          <a:xfrm>
            <a:off x="2368296" y="27889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endParaRPr lang="en-US" dirty="0"/>
          </a:p>
        </p:txBody>
      </p:sp>
      <p:sp>
        <p:nvSpPr>
          <p:cNvPr id="135" name="Rect 136"/>
          <p:cNvSpPr/>
          <p:nvPr/>
        </p:nvSpPr>
        <p:spPr>
          <a:xfrm>
            <a:off x="2368296" y="3154680"/>
            <a:ext cx="1691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136" name="TextBox 137"/>
          <p:cNvSpPr txBox="1"/>
          <p:nvPr/>
        </p:nvSpPr>
        <p:spPr>
          <a:xfrm>
            <a:off x="2459736" y="3246120"/>
            <a:ext cx="1508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5000"/>
              </a:lnSpc>
            </a:pP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Structured data the AI can access: schemas, metadata, documentation</a:t>
            </a:r>
            <a:endParaRPr lang="en-US" dirty="0"/>
          </a:p>
        </p:txBody>
      </p:sp>
      <p:sp>
        <p:nvSpPr>
          <p:cNvPr id="137" name="Rect 138"/>
          <p:cNvSpPr/>
          <p:nvPr/>
        </p:nvSpPr>
        <p:spPr>
          <a:xfrm>
            <a:off x="4197096" y="2788920"/>
            <a:ext cx="1691640" cy="365760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138" name="TextBox 139"/>
          <p:cNvSpPr txBox="1"/>
          <p:nvPr/>
        </p:nvSpPr>
        <p:spPr>
          <a:xfrm>
            <a:off x="4197096" y="27889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Transport</a:t>
            </a:r>
            <a:endParaRPr lang="en-US" dirty="0"/>
          </a:p>
        </p:txBody>
      </p:sp>
      <p:sp>
        <p:nvSpPr>
          <p:cNvPr id="139" name="Rect 140"/>
          <p:cNvSpPr/>
          <p:nvPr/>
        </p:nvSpPr>
        <p:spPr>
          <a:xfrm>
            <a:off x="4197096" y="3154680"/>
            <a:ext cx="1691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140" name="TextBox 141"/>
          <p:cNvSpPr txBox="1"/>
          <p:nvPr/>
        </p:nvSpPr>
        <p:spPr>
          <a:xfrm>
            <a:off x="4288536" y="3246120"/>
            <a:ext cx="150876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5000"/>
              </a:lnSpc>
            </a:pP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Communication layer: stdio for local dev, HTTP/SSE for Azure cloud</a:t>
            </a:r>
            <a:endParaRPr lang="en-US" dirty="0"/>
          </a:p>
        </p:txBody>
      </p:sp>
      <p:sp>
        <p:nvSpPr>
          <p:cNvPr id="141" name="TextBox 142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400" b="1" dirty="0">
                <a:solidFill>
                  <a:srgbClr val="000000"/>
                </a:solidFill>
                <a:latin typeface="Arial"/>
                <a:cs typeface="Arial"/>
              </a:rPr>
              <a:t>How MCP works</a:t>
            </a:r>
            <a:endParaRPr lang="en-US" dirty="0"/>
          </a:p>
        </p:txBody>
      </p:sp>
      <p:sp>
        <p:nvSpPr>
          <p:cNvPr id="142" name="Rect 143"/>
          <p:cNvSpPr/>
          <p:nvPr/>
        </p:nvSpPr>
        <p:spPr>
          <a:xfrm>
            <a:off x="6583680" y="182880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</p:sp>
      <p:sp>
        <p:nvSpPr>
          <p:cNvPr id="143" name="TextBox 144"/>
          <p:cNvSpPr txBox="1"/>
          <p:nvPr/>
        </p:nvSpPr>
        <p:spPr>
          <a:xfrm>
            <a:off x="6583680" y="182880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dirty="0">
                <a:solidFill>
                  <a:srgbClr val="FFFFFF"/>
                </a:solidFill>
                <a:latin typeface="Arial"/>
                <a:cs typeface="Arial"/>
              </a:rPr>
              <a:t>AI Assistant (Copilot, Claude, Cursor, ...)</a:t>
            </a:r>
            <a:endParaRPr lang="en-US" dirty="0"/>
          </a:p>
        </p:txBody>
      </p:sp>
      <p:sp>
        <p:nvSpPr>
          <p:cNvPr id="144" name="TextBox 145"/>
          <p:cNvSpPr txBox="1"/>
          <p:nvPr/>
        </p:nvSpPr>
        <p:spPr>
          <a:xfrm>
            <a:off x="8732520" y="239572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2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45" name="Rect 146"/>
          <p:cNvSpPr/>
          <p:nvPr/>
        </p:nvSpPr>
        <p:spPr>
          <a:xfrm>
            <a:off x="6583680" y="278892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146" name="TextBox 147"/>
          <p:cNvSpPr txBox="1"/>
          <p:nvPr/>
        </p:nvSpPr>
        <p:spPr>
          <a:xfrm>
            <a:off x="6583680" y="278892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dirty="0">
                <a:solidFill>
                  <a:srgbClr val="FFFFFF"/>
                </a:solidFill>
                <a:latin typeface="Arial"/>
                <a:cs typeface="Arial"/>
              </a:rPr>
              <a:t>MCP Client (built into the AI tool)</a:t>
            </a:r>
            <a:endParaRPr lang="en-US" dirty="0"/>
          </a:p>
        </p:txBody>
      </p:sp>
      <p:sp>
        <p:nvSpPr>
          <p:cNvPr id="147" name="TextBox 148"/>
          <p:cNvSpPr txBox="1"/>
          <p:nvPr/>
        </p:nvSpPr>
        <p:spPr>
          <a:xfrm>
            <a:off x="8732520" y="335584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2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48" name="Rect 149"/>
          <p:cNvSpPr/>
          <p:nvPr/>
        </p:nvSpPr>
        <p:spPr>
          <a:xfrm>
            <a:off x="6583680" y="374904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149" name="TextBox 150"/>
          <p:cNvSpPr txBox="1"/>
          <p:nvPr/>
        </p:nvSpPr>
        <p:spPr>
          <a:xfrm>
            <a:off x="6583680" y="374904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dirty="0">
                <a:solidFill>
                  <a:srgbClr val="FFFFFF"/>
                </a:solidFill>
                <a:latin typeface="Arial"/>
                <a:cs typeface="Arial"/>
              </a:rPr>
              <a:t>MCP Server (our D365 KB &amp; XRef services)</a:t>
            </a:r>
            <a:endParaRPr lang="en-US" dirty="0"/>
          </a:p>
        </p:txBody>
      </p:sp>
      <p:sp>
        <p:nvSpPr>
          <p:cNvPr id="150" name="TextBox 151"/>
          <p:cNvSpPr txBox="1"/>
          <p:nvPr/>
        </p:nvSpPr>
        <p:spPr>
          <a:xfrm>
            <a:off x="8732520" y="431596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2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51" name="Rect 152"/>
          <p:cNvSpPr/>
          <p:nvPr/>
        </p:nvSpPr>
        <p:spPr>
          <a:xfrm>
            <a:off x="6583680" y="4709160"/>
            <a:ext cx="4754880" cy="594360"/>
          </a:xfrm>
          <a:prstGeom prst="roundRect">
            <a:avLst>
              <a:gd name="adj" fmla="val 5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152" name="TextBox 153"/>
          <p:cNvSpPr txBox="1"/>
          <p:nvPr/>
        </p:nvSpPr>
        <p:spPr>
          <a:xfrm>
            <a:off x="6583680" y="47091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dirty="0">
                <a:solidFill>
                  <a:srgbClr val="FFFFFF"/>
                </a:solidFill>
                <a:latin typeface="Arial"/>
                <a:cs typeface="Arial"/>
              </a:rPr>
              <a:t>D365 F&amp;O Metadata (SQLite databases)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H 1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Why MCP for D365 F&amp;O?</a:t>
            </a:r>
            <a:endParaRPr lang="en-US" dirty="0"/>
          </a:p>
        </p:txBody>
      </p:sp>
      <p:sp>
        <p:nvSpPr>
          <p:cNvPr id="155" name="PH 156"/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pPr/>
            <a:r>
              <a:rPr lang="en-US" sz="1200" b="1" dirty="0">
                <a:solidFill>
                  <a:srgbClr val="813341"/>
                </a:solidFill>
                <a:latin typeface="Arial"/>
                <a:cs typeface="Arial"/>
              </a:rPr>
              <a:t>The Problem</a:t>
            </a:r>
            <a:endParaRPr lang="en-US" dirty="0"/>
          </a:p>
        </p:txBody>
      </p:sp>
      <p:sp>
        <p:nvSpPr>
          <p:cNvPr id="156" name="PH 157"/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>
              <a:spcAft>
                <a:spcPts val="300"/>
              </a:spcAft>
              <a:lnSpc>
                <a:spcPct val="115000"/>
              </a:lnSpc>
            </a:pPr>
            <a:r>
              <a:rPr lang="en-US" sz="1000" b="1" dirty="0">
                <a:solidFill>
                  <a:srgbClr val="813341"/>
                </a:solidFill>
                <a:latin typeface="Arial"/>
                <a:cs typeface="Arial"/>
              </a:rPr>
              <a:t>✖ </a:t>
            </a: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AI LLMs have no knowledge of D365 F&amp;O metadata — they hallucinate table names, field names, and join conditions</a:t>
            </a:r>
            <a:endParaRPr lang="en-US" dirty="0"/>
          </a:p>
          <a:p>
            <a:pPr>
              <a:spcAft>
                <a:spcPts val="300"/>
              </a:spcAft>
              <a:lnSpc>
                <a:spcPct val="115000"/>
              </a:lnSpc>
            </a:pPr>
            <a:r>
              <a:rPr lang="en-US" sz="1000" b="1" dirty="0">
                <a:solidFill>
                  <a:srgbClr val="813341"/>
                </a:solidFill>
                <a:latin typeface="Arial"/>
                <a:cs typeface="Arial"/>
              </a:rPr>
              <a:t>✖ </a:t>
            </a: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D365 F&amp;O has 17,000+ tables, 63,000+ classes, 820,000+ methods — impossible for LLMs to memorize</a:t>
            </a:r>
            <a:endParaRPr lang="en-US" dirty="0"/>
          </a:p>
          <a:p>
            <a:pPr>
              <a:spcAft>
                <a:spcPts val="300"/>
              </a:spcAft>
              <a:lnSpc>
                <a:spcPct val="115000"/>
              </a:lnSpc>
            </a:pPr>
            <a:r>
              <a:rPr lang="en-US" sz="1000" b="1" dirty="0">
                <a:solidFill>
                  <a:srgbClr val="813341"/>
                </a:solidFill>
                <a:latin typeface="Arial"/>
                <a:cs typeface="Arial"/>
              </a:rPr>
              <a:t>✖ </a:t>
            </a: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Without metadata, every AI-generated SQL query, OData filter, or X++ code snippet is unreliable</a:t>
            </a:r>
            <a:endParaRPr lang="en-US" dirty="0"/>
          </a:p>
          <a:p>
            <a:pPr>
              <a:spcAft>
                <a:spcPts val="300"/>
              </a:spcAft>
              <a:lnSpc>
                <a:spcPct val="115000"/>
              </a:lnSpc>
            </a:pPr>
            <a:r>
              <a:rPr lang="en-US" sz="1000" b="1" dirty="0">
                <a:solidFill>
                  <a:srgbClr val="813341"/>
                </a:solidFill>
                <a:latin typeface="Arial"/>
                <a:cs typeface="Arial"/>
              </a:rPr>
              <a:t>✖ </a:t>
            </a: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Support teams waste time verifying AI outputs against actual D365 schema</a:t>
            </a:r>
            <a:endParaRPr lang="en-US" dirty="0"/>
          </a:p>
        </p:txBody>
      </p:sp>
      <p:sp>
        <p:nvSpPr>
          <p:cNvPr id="157" name="PH 158"/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pPr/>
            <a:r>
              <a:rPr lang="en-US" sz="1200" b="1" dirty="0">
                <a:solidFill>
                  <a:srgbClr val="6DC1C9"/>
                </a:solidFill>
                <a:latin typeface="Arial"/>
                <a:cs typeface="Arial"/>
              </a:rPr>
              <a:t>The MCP Solution</a:t>
            </a:r>
            <a:endParaRPr lang="en-US" dirty="0"/>
          </a:p>
        </p:txBody>
      </p:sp>
      <p:sp>
        <p:nvSpPr>
          <p:cNvPr id="158" name="PH 159"/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pPr>
              <a:spcAft>
                <a:spcPts val="300"/>
              </a:spcAft>
              <a:lnSpc>
                <a:spcPct val="115000"/>
              </a:lnSpc>
            </a:pPr>
            <a:r>
              <a:rPr lang="en-US" sz="1000" b="1" dirty="0">
                <a:solidFill>
                  <a:srgbClr val="6DC1C9"/>
                </a:solidFill>
                <a:latin typeface="Arial"/>
                <a:cs typeface="Arial"/>
              </a:rPr>
              <a:t>✔ </a:t>
            </a: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Real-time lookup of actual table schemas, fields, data types, and relations</a:t>
            </a:r>
            <a:endParaRPr lang="en-US" dirty="0"/>
          </a:p>
          <a:p>
            <a:pPr>
              <a:spcAft>
                <a:spcPts val="300"/>
              </a:spcAft>
              <a:lnSpc>
                <a:spcPct val="115000"/>
              </a:lnSpc>
            </a:pPr>
            <a:r>
              <a:rPr lang="en-US" sz="1000" b="1" dirty="0">
                <a:solidFill>
                  <a:srgbClr val="6DC1C9"/>
                </a:solidFill>
                <a:latin typeface="Arial"/>
                <a:cs typeface="Arial"/>
              </a:rPr>
              <a:t>✔ </a:t>
            </a: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Validated join conditions with hallucination warnings for known LLM mistakes</a:t>
            </a:r>
            <a:endParaRPr lang="en-US" dirty="0"/>
          </a:p>
          <a:p>
            <a:pPr>
              <a:spcAft>
                <a:spcPts val="300"/>
              </a:spcAft>
              <a:lnSpc>
                <a:spcPct val="115000"/>
              </a:lnSpc>
            </a:pPr>
            <a:r>
              <a:rPr lang="en-US" sz="1000" b="1" dirty="0">
                <a:solidFill>
                  <a:srgbClr val="6DC1C9"/>
                </a:solidFill>
                <a:latin typeface="Arial"/>
                <a:cs typeface="Arial"/>
              </a:rPr>
              <a:t>✔ </a:t>
            </a: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Full X++ source code for classes and methods — AI reads the real implementation</a:t>
            </a:r>
            <a:endParaRPr lang="en-US" dirty="0"/>
          </a:p>
          <a:p>
            <a:pPr>
              <a:spcAft>
                <a:spcPts val="300"/>
              </a:spcAft>
              <a:lnSpc>
                <a:spcPct val="115000"/>
              </a:lnSpc>
            </a:pPr>
            <a:r>
              <a:rPr lang="en-US" sz="1000" b="1" dirty="0">
                <a:solidFill>
                  <a:srgbClr val="6DC1C9"/>
                </a:solidFill>
                <a:latin typeface="Arial"/>
                <a:cs typeface="Arial"/>
              </a:rPr>
              <a:t>✔ </a:t>
            </a:r>
            <a:r>
              <a:rPr lang="en-US" sz="900" dirty="0">
                <a:solidFill>
                  <a:srgbClr val="333333"/>
                </a:solidFill>
                <a:latin typeface="Arial"/>
                <a:cs typeface="Arial"/>
              </a:rPr>
              <a:t>Code dependency graph: who calls what, who extends what, full impact analysis</a:t>
            </a:r>
            <a:endParaRPr lang="en-US" dirty="0"/>
          </a:p>
        </p:txBody>
      </p:sp>
      <p:sp>
        <p:nvSpPr>
          <p:cNvPr id="159" name="Rect 160"/>
          <p:cNvSpPr/>
          <p:nvPr/>
        </p:nvSpPr>
        <p:spPr>
          <a:xfrm>
            <a:off x="539496" y="5074920"/>
            <a:ext cx="1719072" cy="91440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 w="9525">
            <a:solidFill>
              <a:srgbClr val="6DC1C9"/>
            </a:solidFill>
          </a:ln>
        </p:spPr>
      </p:sp>
      <p:sp>
        <p:nvSpPr>
          <p:cNvPr id="160" name="TextBox 161"/>
          <p:cNvSpPr txBox="1"/>
          <p:nvPr/>
        </p:nvSpPr>
        <p:spPr>
          <a:xfrm>
            <a:off x="539496" y="50749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wrap="square" anchor="b" lIns="91440" tIns="45720" rIns="91440" bIns="45720"/>
          <a:lstStyle/>
          <a:p>
            <a:pPr algn="ct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17,000+</a:t>
            </a:r>
            <a:endParaRPr lang="en-US" dirty="0"/>
          </a:p>
        </p:txBody>
      </p:sp>
      <p:sp>
        <p:nvSpPr>
          <p:cNvPr id="161" name="TextBox 162"/>
          <p:cNvSpPr txBox="1"/>
          <p:nvPr/>
        </p:nvSpPr>
        <p:spPr>
          <a:xfrm>
            <a:off x="539496" y="5623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Tables</a:t>
            </a:r>
            <a:endParaRPr lang="en-US" dirty="0"/>
          </a:p>
        </p:txBody>
      </p:sp>
      <p:sp>
        <p:nvSpPr>
          <p:cNvPr id="162" name="Rect 163"/>
          <p:cNvSpPr/>
          <p:nvPr/>
        </p:nvSpPr>
        <p:spPr>
          <a:xfrm>
            <a:off x="2414016" y="5074920"/>
            <a:ext cx="171907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163" name="TextBox 164"/>
          <p:cNvSpPr txBox="1"/>
          <p:nvPr/>
        </p:nvSpPr>
        <p:spPr>
          <a:xfrm>
            <a:off x="2414016" y="50749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wrap="square" anchor="b" lIns="91440" tIns="45720" rIns="91440" bIns="45720"/>
          <a:lstStyle/>
          <a:p>
            <a:pPr algn="ct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63,000+</a:t>
            </a:r>
            <a:endParaRPr lang="en-US" dirty="0"/>
          </a:p>
        </p:txBody>
      </p:sp>
      <p:sp>
        <p:nvSpPr>
          <p:cNvPr id="164" name="TextBox 165"/>
          <p:cNvSpPr txBox="1"/>
          <p:nvPr/>
        </p:nvSpPr>
        <p:spPr>
          <a:xfrm>
            <a:off x="2414016" y="5623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Classes</a:t>
            </a:r>
            <a:endParaRPr lang="en-US" dirty="0"/>
          </a:p>
        </p:txBody>
      </p:sp>
      <p:sp>
        <p:nvSpPr>
          <p:cNvPr id="165" name="Rect 166"/>
          <p:cNvSpPr/>
          <p:nvPr/>
        </p:nvSpPr>
        <p:spPr>
          <a:xfrm>
            <a:off x="4288536" y="5074920"/>
            <a:ext cx="1719072" cy="91440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 w="9525">
            <a:solidFill>
              <a:srgbClr val="6DC1C9"/>
            </a:solidFill>
          </a:ln>
        </p:spPr>
      </p:sp>
      <p:sp>
        <p:nvSpPr>
          <p:cNvPr id="166" name="TextBox 167"/>
          <p:cNvSpPr txBox="1"/>
          <p:nvPr/>
        </p:nvSpPr>
        <p:spPr>
          <a:xfrm>
            <a:off x="4288536" y="50749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wrap="square" anchor="b" lIns="91440" tIns="45720" rIns="91440" bIns="45720"/>
          <a:lstStyle/>
          <a:p>
            <a:pPr algn="ct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820,000+</a:t>
            </a:r>
            <a:endParaRPr lang="en-US" dirty="0"/>
          </a:p>
        </p:txBody>
      </p:sp>
      <p:sp>
        <p:nvSpPr>
          <p:cNvPr id="167" name="TextBox 168"/>
          <p:cNvSpPr txBox="1"/>
          <p:nvPr/>
        </p:nvSpPr>
        <p:spPr>
          <a:xfrm>
            <a:off x="4288536" y="5623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Methods</a:t>
            </a:r>
            <a:endParaRPr lang="en-US" dirty="0"/>
          </a:p>
        </p:txBody>
      </p:sp>
      <p:sp>
        <p:nvSpPr>
          <p:cNvPr id="168" name="Rect 169"/>
          <p:cNvSpPr/>
          <p:nvPr/>
        </p:nvSpPr>
        <p:spPr>
          <a:xfrm>
            <a:off x="6163056" y="5074920"/>
            <a:ext cx="171907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169" name="TextBox 170"/>
          <p:cNvSpPr txBox="1"/>
          <p:nvPr/>
        </p:nvSpPr>
        <p:spPr>
          <a:xfrm>
            <a:off x="6163056" y="50749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wrap="square" anchor="b" lIns="91440" tIns="45720" rIns="91440" bIns="45720"/>
          <a:lstStyle/>
          <a:p>
            <a:pPr algn="ct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369,000+</a:t>
            </a:r>
            <a:endParaRPr lang="en-US" dirty="0"/>
          </a:p>
        </p:txBody>
      </p:sp>
      <p:sp>
        <p:nvSpPr>
          <p:cNvPr id="170" name="TextBox 171"/>
          <p:cNvSpPr txBox="1"/>
          <p:nvPr/>
        </p:nvSpPr>
        <p:spPr>
          <a:xfrm>
            <a:off x="6163056" y="5623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Labels</a:t>
            </a:r>
            <a:endParaRPr lang="en-US" dirty="0"/>
          </a:p>
        </p:txBody>
      </p:sp>
      <p:sp>
        <p:nvSpPr>
          <p:cNvPr id="171" name="Rect 172"/>
          <p:cNvSpPr/>
          <p:nvPr/>
        </p:nvSpPr>
        <p:spPr>
          <a:xfrm>
            <a:off x="8037576" y="5074920"/>
            <a:ext cx="1719072" cy="91440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 w="9525">
            <a:solidFill>
              <a:srgbClr val="6DC1C9"/>
            </a:solidFill>
          </a:ln>
        </p:spPr>
      </p:sp>
      <p:sp>
        <p:nvSpPr>
          <p:cNvPr id="172" name="TextBox 173"/>
          <p:cNvSpPr txBox="1"/>
          <p:nvPr/>
        </p:nvSpPr>
        <p:spPr>
          <a:xfrm>
            <a:off x="8037576" y="50749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wrap="square" anchor="b" lIns="91440" tIns="45720" rIns="91440" bIns="45720"/>
          <a:lstStyle/>
          <a:p>
            <a:pPr algn="ct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26.6M</a:t>
            </a:r>
            <a:endParaRPr lang="en-US" dirty="0"/>
          </a:p>
        </p:txBody>
      </p:sp>
      <p:sp>
        <p:nvSpPr>
          <p:cNvPr id="173" name="TextBox 174"/>
          <p:cNvSpPr txBox="1"/>
          <p:nvPr/>
        </p:nvSpPr>
        <p:spPr>
          <a:xfrm>
            <a:off x="8037576" y="5623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Cross-refs</a:t>
            </a:r>
            <a:endParaRPr lang="en-US" dirty="0"/>
          </a:p>
        </p:txBody>
      </p:sp>
      <p:sp>
        <p:nvSpPr>
          <p:cNvPr id="174" name="Rect 175"/>
          <p:cNvSpPr/>
          <p:nvPr/>
        </p:nvSpPr>
        <p:spPr>
          <a:xfrm>
            <a:off x="9912096" y="5074920"/>
            <a:ext cx="171907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175" name="TextBox 176"/>
          <p:cNvSpPr txBox="1"/>
          <p:nvPr/>
        </p:nvSpPr>
        <p:spPr>
          <a:xfrm>
            <a:off x="9912096" y="5074920"/>
            <a:ext cx="1719072" cy="548640"/>
          </a:xfrm>
          <a:prstGeom prst="rect">
            <a:avLst/>
          </a:prstGeom>
          <a:noFill/>
          <a:ln>
            <a:noFill/>
          </a:ln>
        </p:spPr>
        <p:txBody>
          <a:bodyPr wrap="square" anchor="b" lIns="91440" tIns="45720" rIns="91440" bIns="45720"/>
          <a:lstStyle/>
          <a:p>
            <a:pPr algn="ct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33</a:t>
            </a:r>
            <a:endParaRPr lang="en-US" dirty="0"/>
          </a:p>
        </p:txBody>
      </p:sp>
      <p:sp>
        <p:nvSpPr>
          <p:cNvPr id="176" name="TextBox 177"/>
          <p:cNvSpPr txBox="1"/>
          <p:nvPr/>
        </p:nvSpPr>
        <p:spPr>
          <a:xfrm>
            <a:off x="9912096" y="5623560"/>
            <a:ext cx="171907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MCP Tools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H 19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MCP Service 1: Knowledge Base (KB)</a:t>
            </a:r>
            <a:endParaRPr lang="en-US" dirty="0"/>
          </a:p>
        </p:txBody>
      </p:sp>
      <p:sp>
        <p:nvSpPr>
          <p:cNvPr id="177" name="TextBox 178"/>
          <p:cNvSpPr txBox="1"/>
          <p:nvPr/>
        </p:nvSpPr>
        <p:spPr>
          <a:xfrm>
            <a:off x="539496" y="1207008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i="1" dirty="0">
                <a:solidFill>
                  <a:srgbClr val="666666"/>
                </a:solidFill>
                <a:latin typeface="Arial"/>
                <a:cs typeface="Arial"/>
              </a:rPr>
              <a:t>Structured D365 F&amp;O metadata — tables, classes, enums, entities, security objects, labels, and X++ source code</a:t>
            </a:r>
            <a:endParaRPr lang="en-US" dirty="0"/>
          </a:p>
        </p:txBody>
      </p:sp>
      <p:sp>
        <p:nvSpPr>
          <p:cNvPr id="178" name="Rect 179"/>
          <p:cNvSpPr/>
          <p:nvPr/>
        </p:nvSpPr>
        <p:spPr>
          <a:xfrm>
            <a:off x="539496" y="1572768"/>
            <a:ext cx="3547872" cy="347472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179" name="TextBox 180"/>
          <p:cNvSpPr txBox="1"/>
          <p:nvPr/>
        </p:nvSpPr>
        <p:spPr>
          <a:xfrm>
            <a:off x="539496" y="1572768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Schema &amp; Lookup</a:t>
            </a:r>
            <a:endParaRPr lang="en-US" dirty="0"/>
          </a:p>
        </p:txBody>
      </p:sp>
      <p:sp>
        <p:nvSpPr>
          <p:cNvPr id="180" name="TextBox 181"/>
          <p:cNvSpPr txBox="1"/>
          <p:nvPr/>
        </p:nvSpPr>
        <p:spPr>
          <a:xfrm>
            <a:off x="630936" y="2011680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d365_lookup_table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Full table metadata (fields, indexes, relations)</a:t>
            </a:r>
            <a:endParaRPr lang="en-US" dirty="0"/>
          </a:p>
        </p:txBody>
      </p:sp>
      <p:sp>
        <p:nvSpPr>
          <p:cNvPr id="181" name="TextBox 182"/>
          <p:cNvSpPr txBox="1"/>
          <p:nvPr/>
        </p:nvSpPr>
        <p:spPr>
          <a:xfrm>
            <a:off x="630936" y="2679192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d365_check_field_exists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Validate field names with fuzzy suggestions</a:t>
            </a:r>
            <a:endParaRPr lang="en-US" dirty="0"/>
          </a:p>
        </p:txBody>
      </p:sp>
      <p:sp>
        <p:nvSpPr>
          <p:cNvPr id="182" name="TextBox 183"/>
          <p:cNvSpPr txBox="1"/>
          <p:nvPr/>
        </p:nvSpPr>
        <p:spPr>
          <a:xfrm>
            <a:off x="630936" y="3346704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d365_get_enum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Enum values with numeric IDs</a:t>
            </a:r>
            <a:endParaRPr lang="en-US" dirty="0"/>
          </a:p>
        </p:txBody>
      </p:sp>
      <p:sp>
        <p:nvSpPr>
          <p:cNvPr id="183" name="TextBox 184"/>
          <p:cNvSpPr txBox="1"/>
          <p:nvPr/>
        </p:nvSpPr>
        <p:spPr>
          <a:xfrm>
            <a:off x="630936" y="4014216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d365_get_join_keys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Join conditions with hallucination warnings</a:t>
            </a:r>
            <a:endParaRPr lang="en-US" dirty="0"/>
          </a:p>
        </p:txBody>
      </p:sp>
      <p:sp>
        <p:nvSpPr>
          <p:cNvPr id="184" name="Rect 185"/>
          <p:cNvSpPr/>
          <p:nvPr/>
        </p:nvSpPr>
        <p:spPr>
          <a:xfrm>
            <a:off x="4242816" y="1572768"/>
            <a:ext cx="3547872" cy="347472"/>
          </a:xfrm>
          <a:prstGeom prst="rect">
            <a:avLst/>
          </a:prstGeom>
          <a:solidFill>
            <a:srgbClr val="AD9B68"/>
          </a:solidFill>
          <a:ln>
            <a:noFill/>
          </a:ln>
        </p:spPr>
      </p:sp>
      <p:sp>
        <p:nvSpPr>
          <p:cNvPr id="185" name="TextBox 186"/>
          <p:cNvSpPr txBox="1"/>
          <p:nvPr/>
        </p:nvSpPr>
        <p:spPr>
          <a:xfrm>
            <a:off x="4242816" y="1572768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Code &amp; Search</a:t>
            </a:r>
            <a:endParaRPr lang="en-US" dirty="0"/>
          </a:p>
        </p:txBody>
      </p:sp>
      <p:sp>
        <p:nvSpPr>
          <p:cNvPr id="186" name="TextBox 187"/>
          <p:cNvSpPr txBox="1"/>
          <p:nvPr/>
        </p:nvSpPr>
        <p:spPr>
          <a:xfrm>
            <a:off x="4334256" y="2011680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d365_get_class_methods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Method signatures + full X++ source</a:t>
            </a:r>
            <a:endParaRPr lang="en-US" dirty="0"/>
          </a:p>
        </p:txBody>
      </p:sp>
      <p:sp>
        <p:nvSpPr>
          <p:cNvPr id="187" name="TextBox 188"/>
          <p:cNvSpPr txBox="1"/>
          <p:nvPr/>
        </p:nvSpPr>
        <p:spPr>
          <a:xfrm>
            <a:off x="4334256" y="2679192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d365_get_method_source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Complete X++ source code</a:t>
            </a:r>
            <a:endParaRPr lang="en-US" dirty="0"/>
          </a:p>
        </p:txBody>
      </p:sp>
      <p:sp>
        <p:nvSpPr>
          <p:cNvPr id="188" name="TextBox 189"/>
          <p:cNvSpPr txBox="1"/>
          <p:nvPr/>
        </p:nvSpPr>
        <p:spPr>
          <a:xfrm>
            <a:off x="4334256" y="3346704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d365_search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Full-text search across all D365 objects</a:t>
            </a:r>
            <a:endParaRPr lang="en-US" dirty="0"/>
          </a:p>
        </p:txBody>
      </p:sp>
      <p:sp>
        <p:nvSpPr>
          <p:cNvPr id="189" name="TextBox 190"/>
          <p:cNvSpPr txBox="1"/>
          <p:nvPr/>
        </p:nvSpPr>
        <p:spPr>
          <a:xfrm>
            <a:off x="4334256" y="4014216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d365_get_entity_sources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Data entity field mappings &amp; OData names</a:t>
            </a:r>
            <a:endParaRPr lang="en-US" dirty="0"/>
          </a:p>
        </p:txBody>
      </p:sp>
      <p:sp>
        <p:nvSpPr>
          <p:cNvPr id="190" name="Rect 191"/>
          <p:cNvSpPr/>
          <p:nvPr/>
        </p:nvSpPr>
        <p:spPr>
          <a:xfrm>
            <a:off x="7946136" y="1572768"/>
            <a:ext cx="3547872" cy="347472"/>
          </a:xfrm>
          <a:prstGeom prst="rect">
            <a:avLst/>
          </a:prstGeom>
          <a:solidFill>
            <a:srgbClr val="647772"/>
          </a:solidFill>
          <a:ln>
            <a:noFill/>
          </a:ln>
        </p:spPr>
      </p:sp>
      <p:sp>
        <p:nvSpPr>
          <p:cNvPr id="191" name="TextBox 192"/>
          <p:cNvSpPr txBox="1"/>
          <p:nvPr/>
        </p:nvSpPr>
        <p:spPr>
          <a:xfrm>
            <a:off x="7946136" y="1572768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Safety &amp; Reference</a:t>
            </a:r>
            <a:endParaRPr lang="en-US" dirty="0"/>
          </a:p>
        </p:txBody>
      </p:sp>
      <p:sp>
        <p:nvSpPr>
          <p:cNvPr id="192" name="TextBox 193"/>
          <p:cNvSpPr txBox="1"/>
          <p:nvPr/>
        </p:nvSpPr>
        <p:spPr>
          <a:xfrm>
            <a:off x="8037576" y="2011680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d365_hallucination_check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Known LLM mistakes and corrections</a:t>
            </a:r>
            <a:endParaRPr lang="en-US" dirty="0"/>
          </a:p>
        </p:txBody>
      </p:sp>
      <p:sp>
        <p:nvSpPr>
          <p:cNvPr id="193" name="TextBox 194"/>
          <p:cNvSpPr txBox="1"/>
          <p:nvPr/>
        </p:nvSpPr>
        <p:spPr>
          <a:xfrm>
            <a:off x="8037576" y="2679192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d365_sql_template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Pre-validated SQL query templates</a:t>
            </a:r>
            <a:endParaRPr lang="en-US" dirty="0"/>
          </a:p>
        </p:txBody>
      </p:sp>
      <p:sp>
        <p:nvSpPr>
          <p:cNvPr id="194" name="TextBox 195"/>
          <p:cNvSpPr txBox="1"/>
          <p:nvPr/>
        </p:nvSpPr>
        <p:spPr>
          <a:xfrm>
            <a:off x="8037576" y="3346704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d365_field_renames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AX2012-to-D365 field name mappings</a:t>
            </a:r>
            <a:endParaRPr lang="en-US" dirty="0"/>
          </a:p>
        </p:txBody>
      </p:sp>
      <p:sp>
        <p:nvSpPr>
          <p:cNvPr id="195" name="TextBox 196"/>
          <p:cNvSpPr txBox="1"/>
          <p:nvPr/>
        </p:nvSpPr>
        <p:spPr>
          <a:xfrm>
            <a:off x="8037576" y="4014216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d365_resolve_label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Label IDs (@SYS...) to display text</a:t>
            </a:r>
            <a:endParaRPr lang="en-US" dirty="0"/>
          </a:p>
        </p:txBody>
      </p:sp>
      <p:sp>
        <p:nvSpPr>
          <p:cNvPr id="196" name="Rect 197"/>
          <p:cNvSpPr/>
          <p:nvPr/>
        </p:nvSpPr>
        <p:spPr>
          <a:xfrm>
            <a:off x="539496" y="4846320"/>
            <a:ext cx="11109960" cy="50292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197" name="TextBox 198"/>
          <p:cNvSpPr txBox="1"/>
          <p:nvPr/>
        </p:nvSpPr>
        <p:spPr>
          <a:xfrm>
            <a:off x="685800" y="4864608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Database: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d365fo_kb.sqlite (1,063 MB)  │  Built from D365 F&amp;O XML metadata  │  SQLite with better-sqlite3  │  200 MB cache + 3 GB mmap I/O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H 2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MCP Service 2: Cross-Reference (XRef)</a:t>
            </a:r>
            <a:endParaRPr lang="en-US" dirty="0"/>
          </a:p>
        </p:txBody>
      </p:sp>
      <p:sp>
        <p:nvSpPr>
          <p:cNvPr id="199" name="TextBox 200"/>
          <p:cNvSpPr txBox="1"/>
          <p:nvPr/>
        </p:nvSpPr>
        <p:spPr>
          <a:xfrm>
            <a:off x="539496" y="1207008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i="1" dirty="0">
                <a:solidFill>
                  <a:srgbClr val="666666"/>
                </a:solidFill>
                <a:latin typeface="Arial"/>
                <a:cs typeface="Arial"/>
              </a:rPr>
              <a:t>Code dependency graph — who calls, reads, extends, implements what — with line-level precision across 5.8M objects</a:t>
            </a:r>
            <a:endParaRPr lang="en-US" dirty="0"/>
          </a:p>
        </p:txBody>
      </p:sp>
      <p:sp>
        <p:nvSpPr>
          <p:cNvPr id="200" name="Rect 201"/>
          <p:cNvSpPr/>
          <p:nvPr/>
        </p:nvSpPr>
        <p:spPr>
          <a:xfrm>
            <a:off x="539496" y="1572768"/>
            <a:ext cx="3547872" cy="347472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201" name="TextBox 202"/>
          <p:cNvSpPr txBox="1"/>
          <p:nvPr/>
        </p:nvSpPr>
        <p:spPr>
          <a:xfrm>
            <a:off x="539496" y="1572768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Reference Analysis</a:t>
            </a:r>
            <a:endParaRPr lang="en-US" dirty="0"/>
          </a:p>
        </p:txBody>
      </p:sp>
      <p:sp>
        <p:nvSpPr>
          <p:cNvPr id="202" name="TextBox 203"/>
          <p:cNvSpPr txBox="1"/>
          <p:nvPr/>
        </p:nvSpPr>
        <p:spPr>
          <a:xfrm>
            <a:off x="630936" y="2011680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xref_find_references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Who references this object? (incoming)</a:t>
            </a:r>
            <a:endParaRPr lang="en-US" dirty="0"/>
          </a:p>
        </p:txBody>
      </p:sp>
      <p:sp>
        <p:nvSpPr>
          <p:cNvPr id="203" name="TextBox 204"/>
          <p:cNvSpPr txBox="1"/>
          <p:nvPr/>
        </p:nvSpPr>
        <p:spPr>
          <a:xfrm>
            <a:off x="630936" y="2679192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xref_find_usages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What does this object use? (outgoing)</a:t>
            </a:r>
            <a:endParaRPr lang="en-US" dirty="0"/>
          </a:p>
        </p:txBody>
      </p:sp>
      <p:sp>
        <p:nvSpPr>
          <p:cNvPr id="204" name="TextBox 205"/>
          <p:cNvSpPr txBox="1"/>
          <p:nvPr/>
        </p:nvSpPr>
        <p:spPr>
          <a:xfrm>
            <a:off x="630936" y="3346704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xref_find_method_callers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All callers of a method + line numbers</a:t>
            </a:r>
            <a:endParaRPr lang="en-US" dirty="0"/>
          </a:p>
        </p:txBody>
      </p:sp>
      <p:sp>
        <p:nvSpPr>
          <p:cNvPr id="205" name="TextBox 206"/>
          <p:cNvSpPr txBox="1"/>
          <p:nvPr/>
        </p:nvSpPr>
        <p:spPr>
          <a:xfrm>
            <a:off x="630936" y="4014216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xref_method_references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Outgoing references from a method</a:t>
            </a:r>
            <a:endParaRPr lang="en-US" dirty="0"/>
          </a:p>
        </p:txBody>
      </p:sp>
      <p:sp>
        <p:nvSpPr>
          <p:cNvPr id="206" name="Rect 207"/>
          <p:cNvSpPr/>
          <p:nvPr/>
        </p:nvSpPr>
        <p:spPr>
          <a:xfrm>
            <a:off x="4242816" y="1572768"/>
            <a:ext cx="3547872" cy="347472"/>
          </a:xfrm>
          <a:prstGeom prst="rect">
            <a:avLst/>
          </a:prstGeom>
          <a:solidFill>
            <a:srgbClr val="B77133"/>
          </a:solidFill>
          <a:ln>
            <a:noFill/>
          </a:ln>
        </p:spPr>
      </p:sp>
      <p:sp>
        <p:nvSpPr>
          <p:cNvPr id="207" name="TextBox 208"/>
          <p:cNvSpPr txBox="1"/>
          <p:nvPr/>
        </p:nvSpPr>
        <p:spPr>
          <a:xfrm>
            <a:off x="4242816" y="1572768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Hierarchy &amp; Structure</a:t>
            </a:r>
            <a:endParaRPr lang="en-US" dirty="0"/>
          </a:p>
        </p:txBody>
      </p:sp>
      <p:sp>
        <p:nvSpPr>
          <p:cNvPr id="208" name="TextBox 209"/>
          <p:cNvSpPr txBox="1"/>
          <p:nvPr/>
        </p:nvSpPr>
        <p:spPr>
          <a:xfrm>
            <a:off x="4334256" y="2011680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xref_class_hierarchy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Full inheritance tree (recursive)</a:t>
            </a:r>
            <a:endParaRPr lang="en-US" dirty="0"/>
          </a:p>
        </p:txBody>
      </p:sp>
      <p:sp>
        <p:nvSpPr>
          <p:cNvPr id="209" name="TextBox 210"/>
          <p:cNvSpPr txBox="1"/>
          <p:nvPr/>
        </p:nvSpPr>
        <p:spPr>
          <a:xfrm>
            <a:off x="4334256" y="2679192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xref_interface_implementors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Classes implementing an interface</a:t>
            </a:r>
            <a:endParaRPr lang="en-US" dirty="0"/>
          </a:p>
        </p:txBody>
      </p:sp>
      <p:sp>
        <p:nvSpPr>
          <p:cNvPr id="210" name="TextBox 211"/>
          <p:cNvSpPr txBox="1"/>
          <p:nvPr/>
        </p:nvSpPr>
        <p:spPr>
          <a:xfrm>
            <a:off x="4334256" y="3346704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xref_find_extensions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Chain of Command &amp; table/form extensions</a:t>
            </a:r>
            <a:endParaRPr lang="en-US" dirty="0"/>
          </a:p>
        </p:txBody>
      </p:sp>
      <p:sp>
        <p:nvSpPr>
          <p:cNvPr id="211" name="TextBox 212"/>
          <p:cNvSpPr txBox="1"/>
          <p:nvPr/>
        </p:nvSpPr>
        <p:spPr>
          <a:xfrm>
            <a:off x="4334256" y="4014216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xref_find_event_handlers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Event handlers and delegates</a:t>
            </a:r>
            <a:endParaRPr lang="en-US" dirty="0"/>
          </a:p>
        </p:txBody>
      </p:sp>
      <p:sp>
        <p:nvSpPr>
          <p:cNvPr id="212" name="Rect 213"/>
          <p:cNvSpPr/>
          <p:nvPr/>
        </p:nvSpPr>
        <p:spPr>
          <a:xfrm>
            <a:off x="7946136" y="1572768"/>
            <a:ext cx="3547872" cy="347472"/>
          </a:xfrm>
          <a:prstGeom prst="rect">
            <a:avLst/>
          </a:prstGeom>
          <a:solidFill>
            <a:srgbClr val="813341"/>
          </a:solidFill>
          <a:ln>
            <a:noFill/>
          </a:ln>
        </p:spPr>
      </p:sp>
      <p:sp>
        <p:nvSpPr>
          <p:cNvPr id="213" name="TextBox 214"/>
          <p:cNvSpPr txBox="1"/>
          <p:nvPr/>
        </p:nvSpPr>
        <p:spPr>
          <a:xfrm>
            <a:off x="7946136" y="1572768"/>
            <a:ext cx="35478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cs typeface="Arial"/>
              </a:rPr>
              <a:t>Impact &amp; Modules</a:t>
            </a:r>
            <a:endParaRPr lang="en-US" dirty="0"/>
          </a:p>
        </p:txBody>
      </p:sp>
      <p:sp>
        <p:nvSpPr>
          <p:cNvPr id="214" name="TextBox 215"/>
          <p:cNvSpPr txBox="1"/>
          <p:nvPr/>
        </p:nvSpPr>
        <p:spPr>
          <a:xfrm>
            <a:off x="8037576" y="2011680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xref_impact_analysis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Change impact (direct + indirect)</a:t>
            </a:r>
            <a:endParaRPr lang="en-US" dirty="0"/>
          </a:p>
        </p:txBody>
      </p:sp>
      <p:sp>
        <p:nvSpPr>
          <p:cNvPr id="215" name="TextBox 216"/>
          <p:cNvSpPr txBox="1"/>
          <p:nvPr/>
        </p:nvSpPr>
        <p:spPr>
          <a:xfrm>
            <a:off x="8037576" y="2679192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xref_cross_module_deps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Cross-module dependency analysis</a:t>
            </a:r>
            <a:endParaRPr lang="en-US" dirty="0"/>
          </a:p>
        </p:txBody>
      </p:sp>
      <p:sp>
        <p:nvSpPr>
          <p:cNvPr id="216" name="TextBox 217"/>
          <p:cNvSpPr txBox="1"/>
          <p:nvPr/>
        </p:nvSpPr>
        <p:spPr>
          <a:xfrm>
            <a:off x="8037576" y="3346704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xref_find_field_usages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Code locations reading/writing a field</a:t>
            </a:r>
            <a:endParaRPr lang="en-US" dirty="0"/>
          </a:p>
        </p:txBody>
      </p:sp>
      <p:sp>
        <p:nvSpPr>
          <p:cNvPr id="217" name="TextBox 218"/>
          <p:cNvSpPr txBox="1"/>
          <p:nvPr/>
        </p:nvSpPr>
        <p:spPr>
          <a:xfrm>
            <a:off x="8037576" y="4014216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xref_object_summary</a:t>
            </a:r>
            <a:endParaRPr lang="en-US" dirty="0"/>
          </a:p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Compact overview with reference counts</a:t>
            </a:r>
            <a:endParaRPr lang="en-US" dirty="0"/>
          </a:p>
        </p:txBody>
      </p:sp>
      <p:sp>
        <p:nvSpPr>
          <p:cNvPr id="218" name="Rect 219"/>
          <p:cNvSpPr/>
          <p:nvPr/>
        </p:nvSpPr>
        <p:spPr>
          <a:xfrm>
            <a:off x="539496" y="4846320"/>
            <a:ext cx="11109960" cy="50292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219" name="TextBox 220"/>
          <p:cNvSpPr txBox="1"/>
          <p:nvPr/>
        </p:nvSpPr>
        <p:spPr>
          <a:xfrm>
            <a:off x="685800" y="4864608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Database: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d365fo_xref.sqlite (3,300 MB)  │  Built from VS LocalDB cross-reference data  │  5.8M AOT paths  │  26.6M references with kind, line &amp; column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H 2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Architecture Overview</a:t>
            </a:r>
            <a:endParaRPr lang="en-US" dirty="0"/>
          </a:p>
        </p:txBody>
      </p:sp>
      <p:sp>
        <p:nvSpPr>
          <p:cNvPr id="222" name="PH 223"/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pPr/>
            <a:r>
              <a:rPr lang="en-US" sz="1100" b="1" dirty="0">
                <a:solidFill>
                  <a:srgbClr val="6DC1C9"/>
                </a:solidFill>
                <a:latin typeface="Arial"/>
                <a:cs typeface="Arial"/>
              </a:rPr>
              <a:t>Local Development (stdio)</a:t>
            </a:r>
            <a:endParaRPr lang="en-US" dirty="0"/>
          </a:p>
        </p:txBody>
      </p:sp>
      <p:sp>
        <p:nvSpPr>
          <p:cNvPr id="223" name="PH 224"/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pPr/>
            <a:r>
              <a:rPr lang="en-US" sz="1100" b="1" dirty="0">
                <a:solidFill>
                  <a:srgbClr val="6DC1C9"/>
                </a:solidFill>
                <a:latin typeface="Arial"/>
                <a:cs typeface="Arial"/>
              </a:rPr>
              <a:t>Azure Production (HTTP/SSE)</a:t>
            </a:r>
            <a:endParaRPr lang="en-US" dirty="0"/>
          </a:p>
        </p:txBody>
      </p:sp>
      <p:sp>
        <p:nvSpPr>
          <p:cNvPr id="224" name="Rect 225"/>
          <p:cNvSpPr/>
          <p:nvPr/>
        </p:nvSpPr>
        <p:spPr>
          <a:xfrm>
            <a:off x="539496" y="1783080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</p:sp>
      <p:sp>
        <p:nvSpPr>
          <p:cNvPr id="225" name="TextBox 226"/>
          <p:cNvSpPr txBox="1"/>
          <p:nvPr/>
        </p:nvSpPr>
        <p:spPr>
          <a:xfrm>
            <a:off x="539496" y="1783080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Developer Machine</a:t>
            </a:r>
            <a:endParaRPr lang="en-US" dirty="0"/>
          </a:p>
        </p:txBody>
      </p:sp>
      <p:sp>
        <p:nvSpPr>
          <p:cNvPr id="226" name="TextBox 227"/>
          <p:cNvSpPr txBox="1"/>
          <p:nvPr/>
        </p:nvSpPr>
        <p:spPr>
          <a:xfrm>
            <a:off x="2926080" y="219456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27" name="Rect 228"/>
          <p:cNvSpPr/>
          <p:nvPr/>
        </p:nvSpPr>
        <p:spPr>
          <a:xfrm>
            <a:off x="539496" y="2532888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228" name="TextBox 229"/>
          <p:cNvSpPr txBox="1"/>
          <p:nvPr/>
        </p:nvSpPr>
        <p:spPr>
          <a:xfrm>
            <a:off x="539496" y="2532888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Claude Code / Cursor / VS Code</a:t>
            </a:r>
            <a:endParaRPr lang="en-US" dirty="0"/>
          </a:p>
        </p:txBody>
      </p:sp>
      <p:sp>
        <p:nvSpPr>
          <p:cNvPr id="229" name="TextBox 230"/>
          <p:cNvSpPr txBox="1"/>
          <p:nvPr/>
        </p:nvSpPr>
        <p:spPr>
          <a:xfrm>
            <a:off x="2926080" y="2944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30" name="Rect 231"/>
          <p:cNvSpPr/>
          <p:nvPr/>
        </p:nvSpPr>
        <p:spPr>
          <a:xfrm>
            <a:off x="539496" y="3282696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231" name="TextBox 232"/>
          <p:cNvSpPr txBox="1"/>
          <p:nvPr/>
        </p:nvSpPr>
        <p:spPr>
          <a:xfrm>
            <a:off x="539496" y="3282696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MCP Client (stdio transport)</a:t>
            </a:r>
            <a:endParaRPr lang="en-US" dirty="0"/>
          </a:p>
        </p:txBody>
      </p:sp>
      <p:sp>
        <p:nvSpPr>
          <p:cNvPr id="232" name="TextBox 233"/>
          <p:cNvSpPr txBox="1"/>
          <p:nvPr/>
        </p:nvSpPr>
        <p:spPr>
          <a:xfrm>
            <a:off x="2926080" y="3694176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33" name="Rect 234"/>
          <p:cNvSpPr/>
          <p:nvPr/>
        </p:nvSpPr>
        <p:spPr>
          <a:xfrm>
            <a:off x="539496" y="4032504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234" name="TextBox 235"/>
          <p:cNvSpPr txBox="1"/>
          <p:nvPr/>
        </p:nvSpPr>
        <p:spPr>
          <a:xfrm>
            <a:off x="539496" y="4032504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mcp-server-kb.js  |  mcp-server-xref.js</a:t>
            </a:r>
            <a:endParaRPr lang="en-US" dirty="0"/>
          </a:p>
        </p:txBody>
      </p:sp>
      <p:sp>
        <p:nvSpPr>
          <p:cNvPr id="235" name="TextBox 236"/>
          <p:cNvSpPr txBox="1"/>
          <p:nvPr/>
        </p:nvSpPr>
        <p:spPr>
          <a:xfrm>
            <a:off x="2926080" y="4443984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36" name="Rect 237"/>
          <p:cNvSpPr/>
          <p:nvPr/>
        </p:nvSpPr>
        <p:spPr>
          <a:xfrm>
            <a:off x="539496" y="4782312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B77133"/>
          </a:solidFill>
          <a:ln>
            <a:noFill/>
          </a:ln>
        </p:spPr>
      </p:sp>
      <p:sp>
        <p:nvSpPr>
          <p:cNvPr id="237" name="TextBox 238"/>
          <p:cNvSpPr txBox="1"/>
          <p:nvPr/>
        </p:nvSpPr>
        <p:spPr>
          <a:xfrm>
            <a:off x="539496" y="4782312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SQLite databases (~4.4 GB on local disk)</a:t>
            </a:r>
            <a:endParaRPr lang="en-US" dirty="0"/>
          </a:p>
        </p:txBody>
      </p:sp>
      <p:sp>
        <p:nvSpPr>
          <p:cNvPr id="238" name="Rect 239"/>
          <p:cNvSpPr/>
          <p:nvPr/>
        </p:nvSpPr>
        <p:spPr>
          <a:xfrm>
            <a:off x="6364224" y="1783080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</p:sp>
      <p:sp>
        <p:nvSpPr>
          <p:cNvPr id="239" name="TextBox 240"/>
          <p:cNvSpPr txBox="1"/>
          <p:nvPr/>
        </p:nvSpPr>
        <p:spPr>
          <a:xfrm>
            <a:off x="6364224" y="1783080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Multiple Users / AI Assistants</a:t>
            </a:r>
            <a:endParaRPr lang="en-US" dirty="0"/>
          </a:p>
        </p:txBody>
      </p:sp>
      <p:sp>
        <p:nvSpPr>
          <p:cNvPr id="240" name="TextBox 241"/>
          <p:cNvSpPr txBox="1"/>
          <p:nvPr/>
        </p:nvSpPr>
        <p:spPr>
          <a:xfrm>
            <a:off x="8750808" y="2194560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41" name="Rect 242"/>
          <p:cNvSpPr/>
          <p:nvPr/>
        </p:nvSpPr>
        <p:spPr>
          <a:xfrm>
            <a:off x="6364224" y="2532888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242" name="TextBox 243"/>
          <p:cNvSpPr txBox="1"/>
          <p:nvPr/>
        </p:nvSpPr>
        <p:spPr>
          <a:xfrm>
            <a:off x="6364224" y="2532888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Any MCP Client (ChatGPT, Gemini, ...)</a:t>
            </a:r>
            <a:endParaRPr lang="en-US" dirty="0"/>
          </a:p>
        </p:txBody>
      </p:sp>
      <p:sp>
        <p:nvSpPr>
          <p:cNvPr id="243" name="TextBox 244"/>
          <p:cNvSpPr txBox="1"/>
          <p:nvPr/>
        </p:nvSpPr>
        <p:spPr>
          <a:xfrm>
            <a:off x="8750808" y="2944368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44" name="Rect 245"/>
          <p:cNvSpPr/>
          <p:nvPr/>
        </p:nvSpPr>
        <p:spPr>
          <a:xfrm>
            <a:off x="6364224" y="3282696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245" name="TextBox 246"/>
          <p:cNvSpPr txBox="1"/>
          <p:nvPr/>
        </p:nvSpPr>
        <p:spPr>
          <a:xfrm>
            <a:off x="6364224" y="3282696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HTTPS + Streamable HTTP transport</a:t>
            </a:r>
            <a:endParaRPr lang="en-US" dirty="0"/>
          </a:p>
        </p:txBody>
      </p:sp>
      <p:sp>
        <p:nvSpPr>
          <p:cNvPr id="246" name="TextBox 247"/>
          <p:cNvSpPr txBox="1"/>
          <p:nvPr/>
        </p:nvSpPr>
        <p:spPr>
          <a:xfrm>
            <a:off x="8750808" y="3694176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47" name="Rect 248"/>
          <p:cNvSpPr/>
          <p:nvPr/>
        </p:nvSpPr>
        <p:spPr>
          <a:xfrm>
            <a:off x="6364224" y="4032504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248" name="TextBox 249"/>
          <p:cNvSpPr txBox="1"/>
          <p:nvPr/>
        </p:nvSpPr>
        <p:spPr>
          <a:xfrm>
            <a:off x="6364224" y="4032504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Azure Function App (Node.js 20, Linux)</a:t>
            </a:r>
            <a:endParaRPr lang="en-US" dirty="0"/>
          </a:p>
        </p:txBody>
      </p:sp>
      <p:sp>
        <p:nvSpPr>
          <p:cNvPr id="249" name="TextBox 250"/>
          <p:cNvSpPr txBox="1"/>
          <p:nvPr/>
        </p:nvSpPr>
        <p:spPr>
          <a:xfrm>
            <a:off x="8750808" y="4443984"/>
            <a:ext cx="502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50" name="Rect 251"/>
          <p:cNvSpPr/>
          <p:nvPr/>
        </p:nvSpPr>
        <p:spPr>
          <a:xfrm>
            <a:off x="6364224" y="4782312"/>
            <a:ext cx="5285232" cy="457200"/>
          </a:xfrm>
          <a:prstGeom prst="roundRect">
            <a:avLst>
              <a:gd name="adj" fmla="val 5000"/>
            </a:avLst>
          </a:prstGeom>
          <a:solidFill>
            <a:srgbClr val="B77133"/>
          </a:solidFill>
          <a:ln>
            <a:noFill/>
          </a:ln>
        </p:spPr>
      </p:sp>
      <p:sp>
        <p:nvSpPr>
          <p:cNvPr id="251" name="TextBox 252"/>
          <p:cNvSpPr txBox="1"/>
          <p:nvPr/>
        </p:nvSpPr>
        <p:spPr>
          <a:xfrm>
            <a:off x="6364224" y="4782312"/>
            <a:ext cx="52852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SQLite on /home/data/ persistent storage</a:t>
            </a:r>
            <a:endParaRPr lang="en-US" dirty="0"/>
          </a:p>
        </p:txBody>
      </p:sp>
      <p:sp>
        <p:nvSpPr>
          <p:cNvPr id="252" name="Rect 253"/>
          <p:cNvSpPr/>
          <p:nvPr/>
        </p:nvSpPr>
        <p:spPr>
          <a:xfrm>
            <a:off x="539496" y="5532120"/>
            <a:ext cx="11109960" cy="41148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253" name="TextBox 254"/>
          <p:cNvSpPr txBox="1"/>
          <p:nvPr/>
        </p:nvSpPr>
        <p:spPr>
          <a:xfrm>
            <a:off x="685800" y="5550408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Key: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Shared tool logic (kb-tools.js + xref-tools.js) — only transport and DB initialization differ between deployments.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H 28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Data Update Pipeline: From D365 F&amp;O to AI</a:t>
            </a:r>
            <a:endParaRPr lang="en-US" dirty="0"/>
          </a:p>
        </p:txBody>
      </p:sp>
      <p:sp>
        <p:nvSpPr>
          <p:cNvPr id="254" name="TextBox 255"/>
          <p:cNvSpPr txBox="1"/>
          <p:nvPr/>
        </p:nvSpPr>
        <p:spPr>
          <a:xfrm>
            <a:off x="539496" y="1207008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i="1" dirty="0">
                <a:solidFill>
                  <a:srgbClr val="666666"/>
                </a:solidFill>
                <a:latin typeface="Arial"/>
                <a:cs typeface="Arial"/>
              </a:rPr>
              <a:t>End-to-end flow from D365 F&amp;O source metadata to running MCP services — fully automated via PowerShell scripts</a:t>
            </a:r>
            <a:endParaRPr lang="en-US" dirty="0"/>
          </a:p>
        </p:txBody>
      </p:sp>
      <p:sp>
        <p:nvSpPr>
          <p:cNvPr id="255" name="TextBox 256"/>
          <p:cNvSpPr txBox="1"/>
          <p:nvPr/>
        </p:nvSpPr>
        <p:spPr>
          <a:xfrm>
            <a:off x="539496" y="1572768"/>
            <a:ext cx="1097280" cy="29260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SOURCE</a:t>
            </a:r>
            <a:endParaRPr lang="en-US" dirty="0"/>
          </a:p>
        </p:txBody>
      </p:sp>
      <p:sp>
        <p:nvSpPr>
          <p:cNvPr id="256" name="Rect 257"/>
          <p:cNvSpPr/>
          <p:nvPr/>
        </p:nvSpPr>
        <p:spPr>
          <a:xfrm>
            <a:off x="1737360" y="1572768"/>
            <a:ext cx="438912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257" name="TextBox 258"/>
          <p:cNvSpPr txBox="1"/>
          <p:nvPr/>
        </p:nvSpPr>
        <p:spPr>
          <a:xfrm>
            <a:off x="1828800" y="159105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PackagesLocalDirectory (XML)</a:t>
            </a:r>
            <a:endParaRPr lang="en-US" dirty="0"/>
          </a:p>
        </p:txBody>
      </p:sp>
      <p:sp>
        <p:nvSpPr>
          <p:cNvPr id="258" name="TextBox 259"/>
          <p:cNvSpPr txBox="1"/>
          <p:nvPr/>
        </p:nvSpPr>
        <p:spPr>
          <a:xfrm>
            <a:off x="1828800" y="1920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Microsoft standard + ISV/custom models + label files (.label.txt)</a:t>
            </a:r>
            <a:endParaRPr lang="en-US" dirty="0"/>
          </a:p>
        </p:txBody>
      </p:sp>
      <p:sp>
        <p:nvSpPr>
          <p:cNvPr id="259" name="Rect 260"/>
          <p:cNvSpPr/>
          <p:nvPr/>
        </p:nvSpPr>
        <p:spPr>
          <a:xfrm>
            <a:off x="6309360" y="1572768"/>
            <a:ext cx="49377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D9B68"/>
            </a:solidFill>
          </a:ln>
        </p:spPr>
      </p:sp>
      <p:sp>
        <p:nvSpPr>
          <p:cNvPr id="260" name="TextBox 261"/>
          <p:cNvSpPr txBox="1"/>
          <p:nvPr/>
        </p:nvSpPr>
        <p:spPr>
          <a:xfrm>
            <a:off x="6400800" y="159105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Visual Studio LocalDB (SQL Server)</a:t>
            </a:r>
            <a:endParaRPr lang="en-US" dirty="0"/>
          </a:p>
        </p:txBody>
      </p:sp>
      <p:sp>
        <p:nvSpPr>
          <p:cNvPr id="261" name="TextBox 262"/>
          <p:cNvSpPr txBox="1"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Cross-reference data: 5.8M objects, 26.6M references with line numbers</a:t>
            </a:r>
            <a:endParaRPr lang="en-US" dirty="0"/>
          </a:p>
        </p:txBody>
      </p:sp>
      <p:sp>
        <p:nvSpPr>
          <p:cNvPr id="262" name="TextBox 263"/>
          <p:cNvSpPr txBox="1"/>
          <p:nvPr/>
        </p:nvSpPr>
        <p:spPr>
          <a:xfrm>
            <a:off x="5486400" y="2331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1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63" name="TextBox 264"/>
          <p:cNvSpPr txBox="1"/>
          <p:nvPr/>
        </p:nvSpPr>
        <p:spPr>
          <a:xfrm>
            <a:off x="539496" y="2606040"/>
            <a:ext cx="1097280" cy="292608"/>
          </a:xfrm>
          <a:prstGeom prst="rect">
            <a:avLst/>
          </a:prstGeom>
          <a:solidFill>
            <a:srgbClr val="6DC1C9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BUILD</a:t>
            </a:r>
            <a:endParaRPr lang="en-US" dirty="0"/>
          </a:p>
        </p:txBody>
      </p:sp>
      <p:sp>
        <p:nvSpPr>
          <p:cNvPr id="264" name="Rect 265"/>
          <p:cNvSpPr/>
          <p:nvPr/>
        </p:nvSpPr>
        <p:spPr>
          <a:xfrm>
            <a:off x="1737360" y="2606040"/>
            <a:ext cx="4389120" cy="77724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265" name="TextBox 266"/>
          <p:cNvSpPr txBox="1"/>
          <p:nvPr/>
        </p:nvSpPr>
        <p:spPr>
          <a:xfrm>
            <a:off x="1828800" y="262432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6DC1C9"/>
                </a:solidFill>
                <a:latin typeface="Consolas"/>
                <a:cs typeface="Consolas"/>
              </a:rPr>
              <a:t>build-kb.js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  (~10 min)</a:t>
            </a:r>
            <a:endParaRPr lang="en-US" dirty="0"/>
          </a:p>
        </p:txBody>
      </p:sp>
      <p:sp>
        <p:nvSpPr>
          <p:cNvPr id="266" name="TextBox 267"/>
          <p:cNvSpPr txBox="1"/>
          <p:nvPr/>
        </p:nvSpPr>
        <p:spPr>
          <a:xfrm>
            <a:off x="1828800" y="294436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Phase 0: Load 369K labels → Phase 1: Parse XML (10 object types, X++ source) → Phase 2: FTS index + curated data</a:t>
            </a:r>
            <a:endParaRPr lang="en-US" dirty="0"/>
          </a:p>
        </p:txBody>
      </p:sp>
      <p:sp>
        <p:nvSpPr>
          <p:cNvPr id="267" name="Rect 268"/>
          <p:cNvSpPr/>
          <p:nvPr/>
        </p:nvSpPr>
        <p:spPr>
          <a:xfrm>
            <a:off x="6309360" y="2606040"/>
            <a:ext cx="4937760" cy="77724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268" name="TextBox 269"/>
          <p:cNvSpPr txBox="1"/>
          <p:nvPr/>
        </p:nvSpPr>
        <p:spPr>
          <a:xfrm>
            <a:off x="6400800" y="262432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AD9B68"/>
                </a:solidFill>
                <a:latin typeface="Consolas"/>
                <a:cs typeface="Consolas"/>
              </a:rPr>
              <a:t>build-xref-db.js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  (~22 min, 8 GB heap)</a:t>
            </a:r>
            <a:endParaRPr lang="en-US" dirty="0"/>
          </a:p>
        </p:txBody>
      </p:sp>
      <p:sp>
        <p:nvSpPr>
          <p:cNvPr id="269" name="TextBox 270"/>
          <p:cNvSpPr txBox="1"/>
          <p:nvPr/>
        </p:nvSpPr>
        <p:spPr>
          <a:xfrm>
            <a:off x="6400800" y="2944368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Stream Names in 500K batches + References in 1M batches from LocalDB → SQLite with 7 covering indexes</a:t>
            </a:r>
            <a:endParaRPr lang="en-US" dirty="0"/>
          </a:p>
        </p:txBody>
      </p:sp>
      <p:sp>
        <p:nvSpPr>
          <p:cNvPr id="270" name="TextBox 271"/>
          <p:cNvSpPr txBox="1"/>
          <p:nvPr/>
        </p:nvSpPr>
        <p:spPr>
          <a:xfrm>
            <a:off x="5486400" y="336499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1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71" name="TextBox 272"/>
          <p:cNvSpPr txBox="1"/>
          <p:nvPr/>
        </p:nvSpPr>
        <p:spPr>
          <a:xfrm>
            <a:off x="539496" y="3639312"/>
            <a:ext cx="1097280" cy="292608"/>
          </a:xfrm>
          <a:prstGeom prst="rect">
            <a:avLst/>
          </a:prstGeom>
          <a:solidFill>
            <a:srgbClr val="B77133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OUTPUT</a:t>
            </a:r>
            <a:endParaRPr lang="en-US" dirty="0"/>
          </a:p>
        </p:txBody>
      </p:sp>
      <p:sp>
        <p:nvSpPr>
          <p:cNvPr id="272" name="Rect 273"/>
          <p:cNvSpPr/>
          <p:nvPr/>
        </p:nvSpPr>
        <p:spPr>
          <a:xfrm>
            <a:off x="1737360" y="3639312"/>
            <a:ext cx="438912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273" name="TextBox 274"/>
          <p:cNvSpPr txBox="1"/>
          <p:nvPr/>
        </p:nvSpPr>
        <p:spPr>
          <a:xfrm>
            <a:off x="1828800" y="365760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6DC1C9"/>
                </a:solidFill>
                <a:latin typeface="Consolas"/>
                <a:cs typeface="Consolas"/>
              </a:rPr>
              <a:t>d365fo_kb.sqlite</a:t>
            </a:r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  (1,063 MB)</a:t>
            </a:r>
            <a:endParaRPr lang="en-US" dirty="0"/>
          </a:p>
          <a:p>
            <a:pPr/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18 tables: tables, fields, classes, methods, enums, entities, security, labels</a:t>
            </a:r>
            <a:endParaRPr lang="en-US" dirty="0"/>
          </a:p>
        </p:txBody>
      </p:sp>
      <p:sp>
        <p:nvSpPr>
          <p:cNvPr id="274" name="Rect 275"/>
          <p:cNvSpPr/>
          <p:nvPr/>
        </p:nvSpPr>
        <p:spPr>
          <a:xfrm>
            <a:off x="6309360" y="3639312"/>
            <a:ext cx="493776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D9B68"/>
            </a:solidFill>
          </a:ln>
        </p:spPr>
      </p:sp>
      <p:sp>
        <p:nvSpPr>
          <p:cNvPr id="275" name="TextBox 276"/>
          <p:cNvSpPr txBox="1"/>
          <p:nvPr/>
        </p:nvSpPr>
        <p:spPr>
          <a:xfrm>
            <a:off x="6400800" y="365760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AD9B68"/>
                </a:solidFill>
                <a:latin typeface="Consolas"/>
                <a:cs typeface="Consolas"/>
              </a:rPr>
              <a:t>d365fo_xref.sqlite</a:t>
            </a:r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  (3,300 MB)</a:t>
            </a:r>
            <a:endParaRPr lang="en-US" dirty="0"/>
          </a:p>
          <a:p>
            <a:pPr/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6 tables + 7 indexes: names, references (kind, line, col), modules, providers</a:t>
            </a:r>
            <a:endParaRPr lang="en-US" dirty="0"/>
          </a:p>
        </p:txBody>
      </p:sp>
      <p:sp>
        <p:nvSpPr>
          <p:cNvPr id="276" name="TextBox 277"/>
          <p:cNvSpPr txBox="1"/>
          <p:nvPr/>
        </p:nvSpPr>
        <p:spPr>
          <a:xfrm>
            <a:off x="5486400" y="416966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1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77" name="TextBox 278"/>
          <p:cNvSpPr txBox="1"/>
          <p:nvPr/>
        </p:nvSpPr>
        <p:spPr>
          <a:xfrm>
            <a:off x="539496" y="4443984"/>
            <a:ext cx="1097280" cy="292608"/>
          </a:xfrm>
          <a:prstGeom prst="rect">
            <a:avLst/>
          </a:prstGeom>
          <a:solidFill>
            <a:srgbClr val="813341"/>
          </a:solidFill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DEPLOY</a:t>
            </a:r>
            <a:endParaRPr lang="en-US" dirty="0"/>
          </a:p>
        </p:txBody>
      </p:sp>
      <p:sp>
        <p:nvSpPr>
          <p:cNvPr id="278" name="Rect 279"/>
          <p:cNvSpPr/>
          <p:nvPr/>
        </p:nvSpPr>
        <p:spPr>
          <a:xfrm>
            <a:off x="1737360" y="4443984"/>
            <a:ext cx="438912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47772"/>
            </a:solidFill>
          </a:ln>
        </p:spPr>
      </p:sp>
      <p:sp>
        <p:nvSpPr>
          <p:cNvPr id="279" name="TextBox 280"/>
          <p:cNvSpPr txBox="1"/>
          <p:nvPr/>
        </p:nvSpPr>
        <p:spPr>
          <a:xfrm>
            <a:off x="1828800" y="446227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647772"/>
                </a:solidFill>
                <a:latin typeface="Arial"/>
                <a:cs typeface="Arial"/>
              </a:rPr>
              <a:t>Local: ~/.claude/</a:t>
            </a:r>
            <a:endParaRPr lang="en-US" dirty="0"/>
          </a:p>
        </p:txBody>
      </p:sp>
      <p:sp>
        <p:nvSpPr>
          <p:cNvPr id="280" name="TextBox 281"/>
          <p:cNvSpPr txBox="1"/>
          <p:nvPr/>
        </p:nvSpPr>
        <p:spPr>
          <a:xfrm>
            <a:off x="1828800" y="479145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Direct file access via stdio MCP servers. Build writes to local disk automatically.</a:t>
            </a:r>
            <a:endParaRPr lang="en-US" dirty="0"/>
          </a:p>
        </p:txBody>
      </p:sp>
      <p:sp>
        <p:nvSpPr>
          <p:cNvPr id="281" name="Rect 282"/>
          <p:cNvSpPr/>
          <p:nvPr/>
        </p:nvSpPr>
        <p:spPr>
          <a:xfrm>
            <a:off x="6309360" y="4443984"/>
            <a:ext cx="49377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13341"/>
            </a:solidFill>
          </a:ln>
        </p:spPr>
      </p:sp>
      <p:sp>
        <p:nvSpPr>
          <p:cNvPr id="282" name="TextBox 283"/>
          <p:cNvSpPr txBox="1"/>
          <p:nvPr/>
        </p:nvSpPr>
        <p:spPr>
          <a:xfrm>
            <a:off x="6400800" y="446227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813341"/>
                </a:solidFill>
                <a:latin typeface="Arial"/>
                <a:cs typeface="Arial"/>
              </a:rPr>
              <a:t>Azure: /home/data/ (Kudu VFS upload)</a:t>
            </a:r>
            <a:endParaRPr lang="en-US" dirty="0"/>
          </a:p>
        </p:txBody>
      </p:sp>
      <p:sp>
        <p:nvSpPr>
          <p:cNvPr id="283" name="TextBox 284"/>
          <p:cNvSpPr txBox="1"/>
          <p:nvPr/>
        </p:nvSpPr>
        <p:spPr>
          <a:xfrm>
            <a:off x="6400800" y="479145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Deploy-Databases.ps1 uploads via Kudu API → restarts Function App → validates health checks.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H 30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Automation: PowerShell Scripts</a:t>
            </a:r>
            <a:endParaRPr lang="en-US" dirty="0"/>
          </a:p>
        </p:txBody>
      </p:sp>
      <p:sp>
        <p:nvSpPr>
          <p:cNvPr id="285" name="TextBox 286"/>
          <p:cNvSpPr txBox="1"/>
          <p:nvPr/>
        </p:nvSpPr>
        <p:spPr>
          <a:xfrm>
            <a:off x="539496" y="1207008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i="1" dirty="0">
                <a:solidFill>
                  <a:srgbClr val="666666"/>
                </a:solidFill>
                <a:latin typeface="Arial"/>
                <a:cs typeface="Arial"/>
              </a:rPr>
              <a:t>Complete automation from configuration discovery to database build, deployment, and validation</a:t>
            </a:r>
            <a:endParaRPr lang="en-US" dirty="0"/>
          </a:p>
        </p:txBody>
      </p:sp>
      <p:sp>
        <p:nvSpPr>
          <p:cNvPr id="286" name="Rect 287"/>
          <p:cNvSpPr/>
          <p:nvPr/>
        </p:nvSpPr>
        <p:spPr>
          <a:xfrm>
            <a:off x="539496" y="1572768"/>
            <a:ext cx="5495544" cy="347472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287" name="TextBox 288"/>
          <p:cNvSpPr txBox="1"/>
          <p:nvPr/>
        </p:nvSpPr>
        <p:spPr>
          <a:xfrm>
            <a:off x="539496" y="1572768"/>
            <a:ext cx="54955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onsolas"/>
                <a:cs typeface="Consolas"/>
              </a:rPr>
              <a:t>Update-Databases.ps1</a:t>
            </a:r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  — Smart orchestrator (recommended)</a:t>
            </a:r>
            <a:endParaRPr lang="en-US" dirty="0"/>
          </a:p>
        </p:txBody>
      </p:sp>
      <p:sp>
        <p:nvSpPr>
          <p:cNvPr id="288" name="Rect 289"/>
          <p:cNvSpPr/>
          <p:nvPr/>
        </p:nvSpPr>
        <p:spPr>
          <a:xfrm>
            <a:off x="539496" y="1920240"/>
            <a:ext cx="54955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6DC1C9"/>
            </a:solidFill>
          </a:ln>
        </p:spPr>
      </p:sp>
      <p:sp>
        <p:nvSpPr>
          <p:cNvPr id="289" name="TextBox 290"/>
          <p:cNvSpPr txBox="1"/>
          <p:nvPr/>
        </p:nvSpPr>
        <p:spPr>
          <a:xfrm>
            <a:off x="676656" y="1984248"/>
            <a:ext cx="5221224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Reads D365 F&amp;O XPP configurations automatically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Detects active config from Windows registry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Extracts PackagesLocalDirectory + LocalDB paths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Stops running MCP servers (releases file locks)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Starts LocalDB if needed, validates all paths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Calls build scripts with correct memory flags</a:t>
            </a:r>
            <a:endParaRPr lang="en-US" dirty="0"/>
          </a:p>
        </p:txBody>
      </p:sp>
      <p:sp>
        <p:nvSpPr>
          <p:cNvPr id="290" name="Rect 291"/>
          <p:cNvSpPr/>
          <p:nvPr/>
        </p:nvSpPr>
        <p:spPr>
          <a:xfrm>
            <a:off x="6190488" y="1572768"/>
            <a:ext cx="5495544" cy="347472"/>
          </a:xfrm>
          <a:prstGeom prst="rect">
            <a:avLst/>
          </a:prstGeom>
          <a:solidFill>
            <a:srgbClr val="813341"/>
          </a:solidFill>
          <a:ln>
            <a:noFill/>
          </a:ln>
        </p:spPr>
      </p:sp>
      <p:sp>
        <p:nvSpPr>
          <p:cNvPr id="291" name="TextBox 292"/>
          <p:cNvSpPr txBox="1"/>
          <p:nvPr/>
        </p:nvSpPr>
        <p:spPr>
          <a:xfrm>
            <a:off x="6190488" y="1572768"/>
            <a:ext cx="54955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onsolas"/>
                <a:cs typeface="Consolas"/>
              </a:rPr>
              <a:t>Deploy-Databases.ps1</a:t>
            </a:r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  — Azure upload + restart</a:t>
            </a:r>
            <a:endParaRPr lang="en-US" dirty="0"/>
          </a:p>
        </p:txBody>
      </p:sp>
      <p:sp>
        <p:nvSpPr>
          <p:cNvPr id="292" name="Rect 293"/>
          <p:cNvSpPr/>
          <p:nvPr/>
        </p:nvSpPr>
        <p:spPr>
          <a:xfrm>
            <a:off x="6190488" y="1920240"/>
            <a:ext cx="54955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813341"/>
            </a:solidFill>
          </a:ln>
        </p:spPr>
      </p:sp>
      <p:sp>
        <p:nvSpPr>
          <p:cNvPr id="293" name="TextBox 294"/>
          <p:cNvSpPr txBox="1"/>
          <p:nvPr/>
        </p:nvSpPr>
        <p:spPr>
          <a:xfrm>
            <a:off x="6327648" y="1984248"/>
            <a:ext cx="5221224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Uploads SQLite files via Kudu VFS API (HTTPS PUT)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Restarts Function App to release file locks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Waits for cold start, validates health endpoints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Supports -KbOnly, -XrefOnly, -SkipRestart flags</a:t>
            </a:r>
            <a:endParaRPr lang="en-US" dirty="0"/>
          </a:p>
        </p:txBody>
      </p:sp>
      <p:sp>
        <p:nvSpPr>
          <p:cNvPr id="294" name="Rect 295"/>
          <p:cNvSpPr/>
          <p:nvPr/>
        </p:nvSpPr>
        <p:spPr>
          <a:xfrm>
            <a:off x="539496" y="3538728"/>
            <a:ext cx="5495544" cy="347472"/>
          </a:xfrm>
          <a:prstGeom prst="rect">
            <a:avLst/>
          </a:prstGeom>
          <a:solidFill>
            <a:srgbClr val="AD9B68"/>
          </a:solidFill>
          <a:ln>
            <a:noFill/>
          </a:ln>
        </p:spPr>
      </p:sp>
      <p:sp>
        <p:nvSpPr>
          <p:cNvPr id="295" name="TextBox 296"/>
          <p:cNvSpPr txBox="1"/>
          <p:nvPr/>
        </p:nvSpPr>
        <p:spPr>
          <a:xfrm>
            <a:off x="539496" y="3538728"/>
            <a:ext cx="54955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onsolas"/>
                <a:cs typeface="Consolas"/>
              </a:rPr>
              <a:t>Deploy-FunctionApp.ps1</a:t>
            </a:r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  — Full code + data deployment</a:t>
            </a:r>
            <a:endParaRPr lang="en-US" dirty="0"/>
          </a:p>
        </p:txBody>
      </p:sp>
      <p:sp>
        <p:nvSpPr>
          <p:cNvPr id="296" name="Rect 297"/>
          <p:cNvSpPr/>
          <p:nvPr/>
        </p:nvSpPr>
        <p:spPr>
          <a:xfrm>
            <a:off x="539496" y="3886200"/>
            <a:ext cx="54955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AD9B68"/>
            </a:solidFill>
          </a:ln>
        </p:spPr>
      </p:sp>
      <p:sp>
        <p:nvSpPr>
          <p:cNvPr id="297" name="TextBox 298"/>
          <p:cNvSpPr txBox="1"/>
          <p:nvPr/>
        </p:nvSpPr>
        <p:spPr>
          <a:xfrm>
            <a:off x="676656" y="3950208"/>
            <a:ext cx="5221224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Uploads databases + application code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Runs npm install --omit=dev for production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Cross-installs Linux better-sqlite3 binary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Deploys via az functionapp config-zip</a:t>
            </a:r>
            <a:endParaRPr lang="en-US" dirty="0"/>
          </a:p>
        </p:txBody>
      </p:sp>
      <p:sp>
        <p:nvSpPr>
          <p:cNvPr id="298" name="Rect 299"/>
          <p:cNvSpPr/>
          <p:nvPr/>
        </p:nvSpPr>
        <p:spPr>
          <a:xfrm>
            <a:off x="6190488" y="3538728"/>
            <a:ext cx="5495544" cy="347472"/>
          </a:xfrm>
          <a:prstGeom prst="rect">
            <a:avLst/>
          </a:prstGeom>
          <a:solidFill>
            <a:srgbClr val="647772"/>
          </a:solidFill>
          <a:ln>
            <a:noFill/>
          </a:ln>
        </p:spPr>
      </p:sp>
      <p:sp>
        <p:nvSpPr>
          <p:cNvPr id="299" name="TextBox 300"/>
          <p:cNvSpPr txBox="1"/>
          <p:nvPr/>
        </p:nvSpPr>
        <p:spPr>
          <a:xfrm>
            <a:off x="6190488" y="3538728"/>
            <a:ext cx="54955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onsolas"/>
                <a:cs typeface="Consolas"/>
              </a:rPr>
              <a:t>Get-D365Configurations.ps1</a:t>
            </a:r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  — Configuration inspector</a:t>
            </a:r>
            <a:endParaRPr lang="en-US" dirty="0"/>
          </a:p>
        </p:txBody>
      </p:sp>
      <p:sp>
        <p:nvSpPr>
          <p:cNvPr id="300" name="Rect 301"/>
          <p:cNvSpPr/>
          <p:nvPr/>
        </p:nvSpPr>
        <p:spPr>
          <a:xfrm>
            <a:off x="6190488" y="3886200"/>
            <a:ext cx="549554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647772"/>
            </a:solidFill>
          </a:ln>
        </p:spPr>
      </p:sp>
      <p:sp>
        <p:nvSpPr>
          <p:cNvPr id="301" name="TextBox 302"/>
          <p:cNvSpPr txBox="1"/>
          <p:nvPr/>
        </p:nvSpPr>
        <p:spPr>
          <a:xfrm>
            <a:off x="6327648" y="3950208"/>
            <a:ext cx="5221224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Exports all XPP configs as structured XML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Reads JSON configs, folder configs, registry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Shows versions, paths, active configuration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0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Useful for auditing multi-environment setups</a:t>
            </a:r>
            <a:endParaRPr lang="en-US" dirty="0"/>
          </a:p>
        </p:txBody>
      </p:sp>
      <p:sp>
        <p:nvSpPr>
          <p:cNvPr id="302" name="Rect 303"/>
          <p:cNvSpPr/>
          <p:nvPr/>
        </p:nvSpPr>
        <p:spPr>
          <a:xfrm>
            <a:off x="539496" y="4892040"/>
            <a:ext cx="11109960" cy="4572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303" name="TextBox 304"/>
          <p:cNvSpPr txBox="1"/>
          <p:nvPr/>
        </p:nvSpPr>
        <p:spPr>
          <a:xfrm>
            <a:off x="685800" y="4910328"/>
            <a:ext cx="10817352" cy="420624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Quick start: </a:t>
            </a:r>
            <a:r>
              <a:rPr lang="en-US" sz="800" dirty="0">
                <a:solidFill>
                  <a:srgbClr val="333333"/>
                </a:solidFill>
                <a:latin typeface="Consolas"/>
                <a:cs typeface="Consolas"/>
              </a:rPr>
              <a:t>.\Update-Databases.ps1</a:t>
            </a:r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  →  </a:t>
            </a:r>
            <a:r>
              <a:rPr lang="en-US" sz="800" dirty="0">
                <a:solidFill>
                  <a:srgbClr val="333333"/>
                </a:solidFill>
                <a:latin typeface="Consolas"/>
                <a:cs typeface="Consolas"/>
              </a:rPr>
              <a:t>.\Deploy-Databases.ps1 -Environment d</a:t>
            </a:r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  →  AI tools have fresh data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H 30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Keeping Data Current: Updates &amp; Extensions</a:t>
            </a:r>
            <a:endParaRPr lang="en-US" dirty="0"/>
          </a:p>
        </p:txBody>
      </p:sp>
      <p:sp>
        <p:nvSpPr>
          <p:cNvPr id="306" name="PH 307"/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pPr/>
            <a:r>
              <a:rPr lang="en-US" sz="1100" b="1" dirty="0">
                <a:solidFill>
                  <a:srgbClr val="6DC1C9"/>
                </a:solidFill>
                <a:latin typeface="Arial"/>
                <a:cs typeface="Arial"/>
              </a:rPr>
              <a:t>Microsoft D365 F&amp;O Updates</a:t>
            </a:r>
            <a:endParaRPr lang="en-US" dirty="0"/>
          </a:p>
        </p:txBody>
      </p:sp>
      <p:sp>
        <p:nvSpPr>
          <p:cNvPr id="307" name="PH 308"/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en-US" sz="900" b="1" dirty="0">
                <a:solidFill>
                  <a:srgbClr val="333333"/>
                </a:solidFill>
                <a:latin typeface="Arial"/>
                <a:cs typeface="Arial"/>
              </a:rPr>
              <a:t>When a new D365 F&amp;O version is installed:</a:t>
            </a:r>
            <a:endParaRPr lang="en-US" dirty="0"/>
          </a:p>
          <a:p>
            <a:pPr>
              <a:spcAft>
                <a:spcPts val="150"/>
              </a:spcAft>
              <a:lnSpc>
                <a:spcPct val="115000"/>
              </a:lnSpc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1.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New PackagesLocalDirectory is created with updated XML metadata (new tables, fields, classes, methods)</a:t>
            </a:r>
            <a:endParaRPr lang="en-US" dirty="0"/>
          </a:p>
          <a:p>
            <a:pPr>
              <a:spcAft>
                <a:spcPts val="150"/>
              </a:spcAft>
              <a:lnSpc>
                <a:spcPct val="115000"/>
              </a:lnSpc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2.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New LocalDB cross-reference database is populated by Visual Studio with updated code references</a:t>
            </a:r>
            <a:endParaRPr lang="en-US" dirty="0"/>
          </a:p>
          <a:p>
            <a:pPr>
              <a:spcAft>
                <a:spcPts val="150"/>
              </a:spcAft>
              <a:lnSpc>
                <a:spcPct val="115000"/>
              </a:lnSpc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3.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D365 XPP configuration is updated automatically, pointing to the new version paths</a:t>
            </a:r>
            <a:endParaRPr lang="en-US" dirty="0"/>
          </a:p>
          <a:p>
            <a:pPr>
              <a:spcAft>
                <a:spcPts val="150"/>
              </a:spcAft>
              <a:lnSpc>
                <a:spcPct val="115000"/>
              </a:lnSpc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4.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Run Update-Databases.ps1 — it auto-detects the new config and rebuilds both databases from the new source</a:t>
            </a:r>
            <a:endParaRPr lang="en-US" dirty="0"/>
          </a:p>
          <a:p>
            <a:pPr>
              <a:spcAft>
                <a:spcPts val="150"/>
              </a:spcAft>
              <a:lnSpc>
                <a:spcPct val="115000"/>
              </a:lnSpc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5.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Run Deploy-Databases.ps1 to push updated databases to Azure for all users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1100" dirty="0">
                <a:solidFill>
                  <a:srgbClr val="333333"/>
                </a:solidFill>
                <a:latin typeface="Arial"/>
                <a:cs typeface="Arial"/>
              </a:rPr>
              <a:t/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Result: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All new Microsoft tables, fields, classes, enums, labels, and code dependencies are immediately available to every AI assistant.</a:t>
            </a:r>
            <a:endParaRPr lang="en-US" dirty="0"/>
          </a:p>
        </p:txBody>
      </p:sp>
      <p:sp>
        <p:nvSpPr>
          <p:cNvPr id="308" name="PH 309"/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pPr/>
            <a:r>
              <a:rPr lang="en-US" sz="1100" b="1" dirty="0">
                <a:solidFill>
                  <a:srgbClr val="AD9B68"/>
                </a:solidFill>
                <a:latin typeface="Arial"/>
                <a:cs typeface="Arial"/>
              </a:rPr>
              <a:t>ISV &amp; Custom Extensions</a:t>
            </a:r>
            <a:endParaRPr lang="en-US" dirty="0"/>
          </a:p>
        </p:txBody>
      </p:sp>
      <p:sp>
        <p:nvSpPr>
          <p:cNvPr id="309" name="PH 310"/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en-US" sz="900" b="1" dirty="0">
                <a:solidFill>
                  <a:srgbClr val="333333"/>
                </a:solidFill>
                <a:latin typeface="Arial"/>
                <a:cs typeface="Arial"/>
              </a:rPr>
              <a:t>When ISV or custom models change:</a:t>
            </a:r>
            <a:endParaRPr lang="en-US" dirty="0"/>
          </a:p>
          <a:p>
            <a:pPr>
              <a:spcAft>
                <a:spcPts val="200"/>
              </a:spcAft>
              <a:lnSpc>
                <a:spcPct val="115000"/>
              </a:lnSpc>
            </a:pPr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KB: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build-kb.js scans both Microsoft PackagesLocalDirectory and ISV ModelStoreFolder together. All custom tables, classes, entities, and labels are included in a single unified database.</a:t>
            </a:r>
            <a:endParaRPr lang="en-US" dirty="0"/>
          </a:p>
          <a:p>
            <a:pPr>
              <a:spcAft>
                <a:spcPts val="200"/>
              </a:spcAft>
              <a:lnSpc>
                <a:spcPct val="115000"/>
              </a:lnSpc>
            </a:pPr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XRef: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ISV code references require running "Dynamics 365 → Build Cross Reference Data" in Visual Studio first. This populates LocalDB with ISV references. Then rebuild with Update-Databases.ps1.</a:t>
            </a:r>
            <a:endParaRPr lang="en-US" dirty="0"/>
          </a:p>
          <a:p>
            <a:pPr>
              <a:spcAft>
                <a:spcPts val="200"/>
              </a:spcAft>
              <a:lnSpc>
                <a:spcPct val="115000"/>
              </a:lnSpc>
            </a:pPr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Deploy: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Same deployment process — Deploy-Databases.ps1 uploads the unified databases containing both Microsoft standard and ISV/custom metadata.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1100" dirty="0">
                <a:solidFill>
                  <a:srgbClr val="333333"/>
                </a:solidFill>
                <a:latin typeface="Arial"/>
                <a:cs typeface="Arial"/>
              </a:rPr>
              <a:t/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Key: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ISV and custom models are first-class citizens — AI assistants see the complete D365 environment, not just Microsoft standard.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H 3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Before &amp; After: Support Tickets</a:t>
            </a:r>
            <a:endParaRPr lang="en-US" dirty="0"/>
          </a:p>
        </p:txBody>
      </p:sp>
      <p:sp>
        <p:nvSpPr>
          <p:cNvPr id="310" name="Rect 311"/>
          <p:cNvSpPr/>
          <p:nvPr/>
        </p:nvSpPr>
        <p:spPr>
          <a:xfrm>
            <a:off x="539496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</p:sp>
      <p:sp>
        <p:nvSpPr>
          <p:cNvPr id="311" name="TextBox 312"/>
          <p:cNvSpPr txBox="1"/>
          <p:nvPr/>
        </p:nvSpPr>
        <p:spPr>
          <a:xfrm>
            <a:off x="676656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✖  </a:t>
            </a:r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WITHOUT MCP</a:t>
            </a:r>
            <a:endParaRPr lang="en-US" dirty="0"/>
          </a:p>
        </p:txBody>
      </p:sp>
      <p:sp>
        <p:nvSpPr>
          <p:cNvPr id="312" name="TextBox 313"/>
          <p:cNvSpPr txBox="1"/>
          <p:nvPr/>
        </p:nvSpPr>
        <p:spPr>
          <a:xfrm>
            <a:off x="676656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User asks: "Which table stores purchase order headers?"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666666"/>
                </a:solidFill>
                <a:latin typeface="Arial"/>
                <a:cs typeface="Arial"/>
              </a:rPr>
              <a:t>AI responds:</a:t>
            </a:r>
            <a:endParaRPr lang="en-US" dirty="0"/>
          </a:p>
          <a:p>
            <a:pPr>
              <a:spcAft>
                <a:spcPts val="300"/>
              </a:spcAft>
              <a:lnSpc>
                <a:spcPct val="120000"/>
              </a:lnSpc>
            </a:pPr>
            <a:r>
              <a:rPr lang="en-US" sz="900" dirty="0">
                <a:solidFill>
                  <a:srgbClr val="813341"/>
                </a:solidFill>
                <a:latin typeface="Consolas"/>
                <a:cs typeface="Consolas"/>
              </a:rPr>
              <a:t>"The purchase order headers are stored in the PurchOrderHeader table with fields like PurchOrderId, VendorAccount, OrderDate..."</a:t>
            </a:r>
            <a:endParaRPr lang="en-US" dirty="0"/>
          </a:p>
          <a:p>
            <a:pPr>
              <a:spcAft>
                <a:spcPts val="300"/>
              </a:spcAft>
              <a:lnSpc>
                <a:spcPct val="120000"/>
              </a:lnSpc>
            </a:pPr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⚠ WRONG! </a:t>
            </a:r>
            <a:r>
              <a:rPr lang="en-US" sz="900" dirty="0">
                <a:solidFill>
                  <a:srgbClr val="813341"/>
                </a:solidFill>
                <a:latin typeface="Arial"/>
                <a:cs typeface="Arial"/>
              </a:rPr>
              <a:t>The actual table is </a:t>
            </a:r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PurchTable</a:t>
            </a:r>
            <a:r>
              <a:rPr lang="en-US" sz="900" dirty="0">
                <a:solidFill>
                  <a:srgbClr val="813341"/>
                </a:solidFill>
                <a:latin typeface="Arial"/>
                <a:cs typeface="Arial"/>
              </a:rPr>
              <a:t>. Field VendorAccount is actually </a:t>
            </a:r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OrderAccount</a:t>
            </a:r>
            <a:r>
              <a:rPr lang="en-US" sz="900" dirty="0">
                <a:solidFill>
                  <a:srgbClr val="813341"/>
                </a:solidFill>
                <a:latin typeface="Arial"/>
                <a:cs typeface="Arial"/>
              </a:rPr>
              <a:t>. The AI hallucinated plausible-sounding but incorrect names.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sz="850" dirty="0">
                <a:solidFill>
                  <a:srgbClr val="666666"/>
                </a:solidFill>
                <a:latin typeface="Arial"/>
                <a:cs typeface="Arial"/>
              </a:rPr>
              <a:t>Consequence: Developer writes code against non-existent table → compile error → time wasted researching the correct schema manually.</a:t>
            </a:r>
            <a:endParaRPr lang="en-US" dirty="0"/>
          </a:p>
        </p:txBody>
      </p:sp>
      <p:sp>
        <p:nvSpPr>
          <p:cNvPr id="313" name="Rect 314"/>
          <p:cNvSpPr/>
          <p:nvPr/>
        </p:nvSpPr>
        <p:spPr>
          <a:xfrm>
            <a:off x="6144768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</p:spPr>
      </p:sp>
      <p:sp>
        <p:nvSpPr>
          <p:cNvPr id="314" name="TextBox 315"/>
          <p:cNvSpPr txBox="1"/>
          <p:nvPr/>
        </p:nvSpPr>
        <p:spPr>
          <a:xfrm>
            <a:off x="6281928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✔  </a:t>
            </a:r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WITH MCP</a:t>
            </a:r>
            <a:endParaRPr lang="en-US" dirty="0"/>
          </a:p>
        </p:txBody>
      </p:sp>
      <p:sp>
        <p:nvSpPr>
          <p:cNvPr id="315" name="TextBox 316"/>
          <p:cNvSpPr txBox="1"/>
          <p:nvPr/>
        </p:nvSpPr>
        <p:spPr>
          <a:xfrm>
            <a:off x="6281928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Same question — AI automatically calls d365_search + d365_lookup_table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666666"/>
                </a:solidFill>
                <a:latin typeface="Arial"/>
                <a:cs typeface="Arial"/>
              </a:rPr>
              <a:t>AI responds (after MCP lookup):</a:t>
            </a:r>
            <a:endParaRPr lang="en-US" dirty="0"/>
          </a:p>
          <a:p>
            <a:pPr>
              <a:spcAft>
                <a:spcPts val="300"/>
              </a:spcAft>
              <a:lnSpc>
                <a:spcPct val="120000"/>
              </a:lnSpc>
            </a:pPr>
            <a:r>
              <a:rPr lang="en-US" sz="900" dirty="0">
                <a:solidFill>
                  <a:srgbClr val="2E7D32"/>
                </a:solidFill>
                <a:latin typeface="Consolas"/>
                <a:cs typeface="Consolas"/>
              </a:rPr>
              <a:t>"Purchase order headers are in PurchTable. Key fields: PurchId (PK), OrderAccount (vendor), PurchStatus (enum), InvoiceAccount, DeliveryDate, CurrencyCode..."</a:t>
            </a:r>
            <a:endParaRPr lang="en-US" dirty="0"/>
          </a:p>
          <a:p>
            <a:pPr>
              <a:spcAft>
                <a:spcPts val="300"/>
              </a:spcAft>
              <a:lnSpc>
                <a:spcPct val="120000"/>
              </a:lnSpc>
            </a:pPr>
            <a:r>
              <a:rPr lang="en-US" sz="900" b="1" dirty="0">
                <a:solidFill>
                  <a:srgbClr val="2E7D32"/>
                </a:solidFill>
                <a:latin typeface="Arial"/>
                <a:cs typeface="Arial"/>
              </a:rPr>
              <a:t>✔ CORRECT! </a:t>
            </a:r>
            <a:r>
              <a:rPr lang="en-US" sz="900" dirty="0">
                <a:solidFill>
                  <a:srgbClr val="2E7D32"/>
                </a:solidFill>
                <a:latin typeface="Arial"/>
                <a:cs typeface="Arial"/>
              </a:rPr>
              <a:t>MCP verified the actual table name, returned real field names with data types, and flagged that </a:t>
            </a:r>
            <a:r>
              <a:rPr lang="en-US" sz="900" b="1" dirty="0">
                <a:solidFill>
                  <a:srgbClr val="2E7D32"/>
                </a:solidFill>
                <a:latin typeface="Arial"/>
                <a:cs typeface="Arial"/>
              </a:rPr>
              <a:t>OrderAccount</a:t>
            </a:r>
            <a:r>
              <a:rPr lang="en-US" sz="900" dirty="0">
                <a:solidFill>
                  <a:srgbClr val="2E7D32"/>
                </a:solidFill>
                <a:latin typeface="Arial"/>
                <a:cs typeface="Arial"/>
              </a:rPr>
              <a:t> (not VendorAccount) is the correct vendor field.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sz="850" dirty="0">
                <a:solidFill>
                  <a:srgbClr val="666666"/>
                </a:solidFill>
                <a:latin typeface="Arial"/>
                <a:cs typeface="Arial"/>
              </a:rPr>
              <a:t>Result: Developer gets accurate schema info instantly → correct code first time → no back-and-forth with documentation.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H 32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Before &amp; After: SQL Queries</a:t>
            </a:r>
            <a:endParaRPr lang="en-US" dirty="0"/>
          </a:p>
        </p:txBody>
      </p:sp>
      <p:sp>
        <p:nvSpPr>
          <p:cNvPr id="317" name="Rect 318"/>
          <p:cNvSpPr/>
          <p:nvPr/>
        </p:nvSpPr>
        <p:spPr>
          <a:xfrm>
            <a:off x="539496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</p:sp>
      <p:sp>
        <p:nvSpPr>
          <p:cNvPr id="318" name="TextBox 319"/>
          <p:cNvSpPr txBox="1"/>
          <p:nvPr/>
        </p:nvSpPr>
        <p:spPr>
          <a:xfrm>
            <a:off x="676656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✖  </a:t>
            </a:r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WITHOUT MCP</a:t>
            </a:r>
            <a:endParaRPr lang="en-US" dirty="0"/>
          </a:p>
        </p:txBody>
      </p:sp>
      <p:sp>
        <p:nvSpPr>
          <p:cNvPr id="319" name="TextBox 320"/>
          <p:cNvSpPr txBox="1"/>
          <p:nvPr/>
        </p:nvSpPr>
        <p:spPr>
          <a:xfrm>
            <a:off x="676656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"Give me SQL to find open sales orders with customer details"</a:t>
            </a:r>
            <a:endParaRPr lang="en-US" dirty="0"/>
          </a:p>
          <a:p>
            <a:pPr>
              <a:spcAft>
                <a:spcPts val="300"/>
              </a:spcAft>
              <a:lnSpc>
                <a:spcPct val="110000"/>
              </a:lnSpc>
            </a:pPr>
            <a:r>
              <a:rPr lang="en-US" sz="800" dirty="0">
                <a:solidFill>
                  <a:srgbClr val="813341"/>
                </a:solidFill>
                <a:latin typeface="Consolas"/>
                <a:cs typeface="Consolas"/>
              </a:rPr>
              <a:t>SELECT s.SalesOrderId, s.CustomerAccount,
       c.CustomerName, s.OrderStatus
FROM   SalesOrderHeader s
JOIN   CustomerMaster c
  ON   s.CustomerAccount = c.AccountNum
WHERE  s.OrderStatus = 'Open'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⚠ Every name is wrong: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SalesOrderHeader → SalesTable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SalesOrderId → SalesId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CustomerMaster → CustTable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CustomerName → name() method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OrderStatus → SalesStatus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'Open' → enum value 1 (Backorder)</a:t>
            </a:r>
            <a:endParaRPr lang="en-US" dirty="0"/>
          </a:p>
        </p:txBody>
      </p:sp>
      <p:sp>
        <p:nvSpPr>
          <p:cNvPr id="320" name="Rect 321"/>
          <p:cNvSpPr/>
          <p:nvPr/>
        </p:nvSpPr>
        <p:spPr>
          <a:xfrm>
            <a:off x="6144768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</p:spPr>
      </p:sp>
      <p:sp>
        <p:nvSpPr>
          <p:cNvPr id="321" name="TextBox 322"/>
          <p:cNvSpPr txBox="1"/>
          <p:nvPr/>
        </p:nvSpPr>
        <p:spPr>
          <a:xfrm>
            <a:off x="6281928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✔  </a:t>
            </a:r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WITH MCP</a:t>
            </a:r>
            <a:endParaRPr lang="en-US" dirty="0"/>
          </a:p>
        </p:txBody>
      </p:sp>
      <p:sp>
        <p:nvSpPr>
          <p:cNvPr id="322" name="TextBox 323"/>
          <p:cNvSpPr txBox="1"/>
          <p:nvPr/>
        </p:nvSpPr>
        <p:spPr>
          <a:xfrm>
            <a:off x="6281928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AI calls d365_lookup_table, d365_get_join_keys, d365_get_enum first</a:t>
            </a:r>
            <a:endParaRPr lang="en-US" dirty="0"/>
          </a:p>
          <a:p>
            <a:pPr>
              <a:spcAft>
                <a:spcPts val="300"/>
              </a:spcAft>
              <a:lnSpc>
                <a:spcPct val="110000"/>
              </a:lnSpc>
            </a:pPr>
            <a:r>
              <a:rPr lang="en-US" sz="800" dirty="0">
                <a:solidFill>
                  <a:srgbClr val="2E7D32"/>
                </a:solidFill>
                <a:latin typeface="Consolas"/>
                <a:cs typeface="Consolas"/>
              </a:rPr>
              <a:t>SELECT st.SalesId, st.CustAccount,
       ct.Name AS CustomerName,
       st.SalesStatus
FROM   SalesTable st
JOIN   CustTable ct
  ON   st.CustAccount = ct.AccountNum
WHERE  st.SalesStatus = 1  -- Backorder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2E7D32"/>
                </a:solidFill>
                <a:latin typeface="Arial"/>
                <a:cs typeface="Arial"/>
              </a:rPr>
              <a:t>✔ Every name is validated: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MCP verified SalesTable schema and field names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d365_get_join_keys confirmed CustAccount → AccountNum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d365_get_enum returned SalesStatus values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d365_hallucination_check flagged common mistakes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H 3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Before &amp; After: OData Queries</a:t>
            </a:r>
            <a:endParaRPr lang="en-US" dirty="0"/>
          </a:p>
        </p:txBody>
      </p:sp>
      <p:sp>
        <p:nvSpPr>
          <p:cNvPr id="324" name="Rect 325"/>
          <p:cNvSpPr/>
          <p:nvPr/>
        </p:nvSpPr>
        <p:spPr>
          <a:xfrm>
            <a:off x="539496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</p:sp>
      <p:sp>
        <p:nvSpPr>
          <p:cNvPr id="325" name="TextBox 326"/>
          <p:cNvSpPr txBox="1"/>
          <p:nvPr/>
        </p:nvSpPr>
        <p:spPr>
          <a:xfrm>
            <a:off x="676656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✖  </a:t>
            </a:r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WITHOUT MCP</a:t>
            </a:r>
            <a:endParaRPr lang="en-US" dirty="0"/>
          </a:p>
        </p:txBody>
      </p:sp>
      <p:sp>
        <p:nvSpPr>
          <p:cNvPr id="326" name="TextBox 327"/>
          <p:cNvSpPr txBox="1"/>
          <p:nvPr/>
        </p:nvSpPr>
        <p:spPr>
          <a:xfrm>
            <a:off x="676656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"Build an OData query for vendor invoices with payment status"</a:t>
            </a:r>
            <a:endParaRPr lang="en-US" dirty="0"/>
          </a:p>
          <a:p>
            <a:pPr>
              <a:spcAft>
                <a:spcPts val="300"/>
              </a:spcAft>
              <a:lnSpc>
                <a:spcPct val="110000"/>
              </a:lnSpc>
            </a:pPr>
            <a:r>
              <a:rPr lang="en-US" sz="800" dirty="0">
                <a:solidFill>
                  <a:srgbClr val="813341"/>
                </a:solidFill>
                <a:latin typeface="Consolas"/>
                <a:cs typeface="Consolas"/>
              </a:rPr>
              <a:t>GET /data/VendorInvoices?
  $filter=PaymentStatus eq 'Pending'
  &amp;$select=InvoiceNumber,VendorName,
    Amount,DueDate,PaymentStatus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⚠ Problems: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Entity name VendorInvoices doesn't exist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OData field names differ from table fields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PaymentStatus is not a valid filter field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No way for AI to discover available entities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Result: 404 errors, trial-and-error debugging</a:t>
            </a:r>
            <a:endParaRPr lang="en-US" dirty="0"/>
          </a:p>
        </p:txBody>
      </p:sp>
      <p:sp>
        <p:nvSpPr>
          <p:cNvPr id="327" name="Rect 328"/>
          <p:cNvSpPr/>
          <p:nvPr/>
        </p:nvSpPr>
        <p:spPr>
          <a:xfrm>
            <a:off x="6144768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</p:spPr>
      </p:sp>
      <p:sp>
        <p:nvSpPr>
          <p:cNvPr id="328" name="TextBox 329"/>
          <p:cNvSpPr txBox="1"/>
          <p:nvPr/>
        </p:nvSpPr>
        <p:spPr>
          <a:xfrm>
            <a:off x="6281928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✔  </a:t>
            </a:r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WITH MCP</a:t>
            </a:r>
            <a:endParaRPr lang="en-US" dirty="0"/>
          </a:p>
        </p:txBody>
      </p:sp>
      <p:sp>
        <p:nvSpPr>
          <p:cNvPr id="329" name="TextBox 330"/>
          <p:cNvSpPr txBox="1"/>
          <p:nvPr/>
        </p:nvSpPr>
        <p:spPr>
          <a:xfrm>
            <a:off x="6281928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AI calls d365_search + d365_get_entity_sources first</a:t>
            </a:r>
            <a:endParaRPr lang="en-US" dirty="0"/>
          </a:p>
          <a:p>
            <a:pPr>
              <a:spcAft>
                <a:spcPts val="300"/>
              </a:spcAft>
              <a:lnSpc>
                <a:spcPct val="110000"/>
              </a:lnSpc>
            </a:pPr>
            <a:r>
              <a:rPr lang="en-US" sz="800" dirty="0">
                <a:solidFill>
                  <a:srgbClr val="2E7D32"/>
                </a:solidFill>
                <a:latin typeface="Consolas"/>
                <a:cs typeface="Consolas"/>
              </a:rPr>
              <a:t>GET /data/VendInvoiceJour?
  $filter=Approved eq
    Microsoft.Dynamics.DataEntities.
    NoYes'Yes'
  &amp;$select=InvoiceId,InvoiceAccount,
    InvoiceAmount,DueDate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2E7D32"/>
                </a:solidFill>
                <a:latin typeface="Arial"/>
                <a:cs typeface="Arial"/>
              </a:rPr>
              <a:t>✔ MCP provided: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Exact entity name and OData property names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Data entity field mappings (table → OData)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Available filter fields and data types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Working query on first attempt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H 3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Before &amp; After: BI Reporting</a:t>
            </a:r>
            <a:endParaRPr lang="en-US" dirty="0"/>
          </a:p>
        </p:txBody>
      </p:sp>
      <p:sp>
        <p:nvSpPr>
          <p:cNvPr id="331" name="Rect 332"/>
          <p:cNvSpPr/>
          <p:nvPr/>
        </p:nvSpPr>
        <p:spPr>
          <a:xfrm>
            <a:off x="539496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</p:sp>
      <p:sp>
        <p:nvSpPr>
          <p:cNvPr id="332" name="TextBox 333"/>
          <p:cNvSpPr txBox="1"/>
          <p:nvPr/>
        </p:nvSpPr>
        <p:spPr>
          <a:xfrm>
            <a:off x="676656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✖  </a:t>
            </a:r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WITHOUT MCP</a:t>
            </a:r>
            <a:endParaRPr lang="en-US" dirty="0"/>
          </a:p>
        </p:txBody>
      </p:sp>
      <p:sp>
        <p:nvSpPr>
          <p:cNvPr id="333" name="TextBox 334"/>
          <p:cNvSpPr txBox="1"/>
          <p:nvPr/>
        </p:nvSpPr>
        <p:spPr>
          <a:xfrm>
            <a:off x="676656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"Help me build a Power BI report for inventory by warehouse"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666666"/>
                </a:solidFill>
                <a:latin typeface="Arial"/>
                <a:cs typeface="Arial"/>
              </a:rPr>
              <a:t>AI suggests: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813341"/>
                </a:solidFill>
                <a:latin typeface="Arial"/>
                <a:cs typeface="Arial"/>
              </a:rPr>
              <a:t>• InventoryOnHand (not a real table)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813341"/>
                </a:solidFill>
                <a:latin typeface="Arial"/>
                <a:cs typeface="Arial"/>
              </a:rPr>
              <a:t>• ProductMaster (wrong — it's EcoResProduct)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813341"/>
                </a:solidFill>
                <a:latin typeface="Arial"/>
                <a:cs typeface="Arial"/>
              </a:rPr>
              <a:t>• WarehouseTable (wrong — it's InventLocation)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813341"/>
                </a:solidFill>
                <a:latin typeface="Arial"/>
                <a:cs typeface="Arial"/>
              </a:rPr>
              <a:t>• Joining on 'ProductId' (doesn't exist)</a:t>
            </a:r>
            <a:endParaRPr lang="en-US" dirty="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Consequences: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Hours wasted finding correct tables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Wrong joins → wrong aggregations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Business decisions based on wrong data</a:t>
            </a:r>
            <a:endParaRPr lang="en-US" dirty="0"/>
          </a:p>
        </p:txBody>
      </p:sp>
      <p:sp>
        <p:nvSpPr>
          <p:cNvPr id="334" name="Rect 335"/>
          <p:cNvSpPr/>
          <p:nvPr/>
        </p:nvSpPr>
        <p:spPr>
          <a:xfrm>
            <a:off x="6144768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</p:spPr>
      </p:sp>
      <p:sp>
        <p:nvSpPr>
          <p:cNvPr id="335" name="TextBox 336"/>
          <p:cNvSpPr txBox="1"/>
          <p:nvPr/>
        </p:nvSpPr>
        <p:spPr>
          <a:xfrm>
            <a:off x="6281928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✔  </a:t>
            </a:r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WITH MCP</a:t>
            </a:r>
            <a:endParaRPr lang="en-US" dirty="0"/>
          </a:p>
        </p:txBody>
      </p:sp>
      <p:sp>
        <p:nvSpPr>
          <p:cNvPr id="336" name="TextBox 337"/>
          <p:cNvSpPr txBox="1"/>
          <p:nvPr/>
        </p:nvSpPr>
        <p:spPr>
          <a:xfrm>
            <a:off x="6281928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AI calls d365_search, d365_lookup_table, d365_get_join_keys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666666"/>
                </a:solidFill>
                <a:latin typeface="Arial"/>
                <a:cs typeface="Arial"/>
              </a:rPr>
              <a:t>Verified data model: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InventSum — on-hand inventory by dimension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InventDim — warehouse + site + config dims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InventTable — product master (ItemId)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InventItemGroup — product grouping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Validated joins: InventDimId, ItemId, ItemGroupId</a:t>
            </a:r>
            <a:endParaRPr lang="en-US" dirty="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900" b="1" dirty="0">
                <a:solidFill>
                  <a:srgbClr val="2E7D32"/>
                </a:solidFill>
                <a:latin typeface="Arial"/>
                <a:cs typeface="Arial"/>
              </a:rPr>
              <a:t>Benefits: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Correct table/field names from the start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Report built correctly on first iteration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H 3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Before &amp; After: Code Change Impact Analysis</a:t>
            </a:r>
            <a:endParaRPr lang="en-US" dirty="0"/>
          </a:p>
        </p:txBody>
      </p:sp>
      <p:sp>
        <p:nvSpPr>
          <p:cNvPr id="338" name="Rect 339"/>
          <p:cNvSpPr/>
          <p:nvPr/>
        </p:nvSpPr>
        <p:spPr>
          <a:xfrm>
            <a:off x="539496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</p:sp>
      <p:sp>
        <p:nvSpPr>
          <p:cNvPr id="339" name="TextBox 340"/>
          <p:cNvSpPr txBox="1"/>
          <p:nvPr/>
        </p:nvSpPr>
        <p:spPr>
          <a:xfrm>
            <a:off x="676656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✖  </a:t>
            </a:r>
            <a:r>
              <a:rPr lang="en-US" sz="1200" b="1" dirty="0">
                <a:solidFill>
                  <a:srgbClr val="C62828"/>
                </a:solidFill>
                <a:latin typeface="Arial"/>
                <a:cs typeface="Arial"/>
              </a:rPr>
              <a:t>WITHOUT MCP</a:t>
            </a:r>
            <a:endParaRPr lang="en-US" dirty="0"/>
          </a:p>
        </p:txBody>
      </p:sp>
      <p:sp>
        <p:nvSpPr>
          <p:cNvPr id="340" name="TextBox 341"/>
          <p:cNvSpPr txBox="1"/>
          <p:nvPr/>
        </p:nvSpPr>
        <p:spPr>
          <a:xfrm>
            <a:off x="676656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"I need to modify PurchTable.confirmPurchOrder. What will be affected?"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666666"/>
                </a:solidFill>
                <a:latin typeface="Arial"/>
                <a:cs typeface="Arial"/>
              </a:rPr>
              <a:t>AI guesses: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813341"/>
                </a:solidFill>
                <a:latin typeface="Arial"/>
                <a:cs typeface="Arial"/>
              </a:rPr>
              <a:t>• "Probably called from PurchFormLetter" (maybe)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813341"/>
                </a:solidFill>
                <a:latin typeface="Arial"/>
                <a:cs typeface="Arial"/>
              </a:rPr>
              <a:t>• "Check for event handlers" (can't tell which)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813341"/>
                </a:solidFill>
                <a:latin typeface="Arial"/>
                <a:cs typeface="Arial"/>
              </a:rPr>
              <a:t>• "There might be extensions" (can't verify)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813341"/>
                </a:solidFill>
                <a:latin typeface="Arial"/>
                <a:cs typeface="Arial"/>
              </a:rPr>
              <a:t>• "Other modules may depend on it" (unclear which)</a:t>
            </a:r>
            <a:endParaRPr lang="en-US" dirty="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Developer must: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Manually search Visual Studio for references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Check each module one by one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Risk: untested downstream breakage in production</a:t>
            </a:r>
            <a:endParaRPr lang="en-US" dirty="0"/>
          </a:p>
        </p:txBody>
      </p:sp>
      <p:sp>
        <p:nvSpPr>
          <p:cNvPr id="341" name="Rect 342"/>
          <p:cNvSpPr/>
          <p:nvPr/>
        </p:nvSpPr>
        <p:spPr>
          <a:xfrm>
            <a:off x="6144768" y="132588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</p:spPr>
      </p:sp>
      <p:sp>
        <p:nvSpPr>
          <p:cNvPr id="342" name="TextBox 343"/>
          <p:cNvSpPr txBox="1"/>
          <p:nvPr/>
        </p:nvSpPr>
        <p:spPr>
          <a:xfrm>
            <a:off x="6281928" y="139903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✔  </a:t>
            </a:r>
            <a:r>
              <a:rPr lang="en-US" sz="1200" b="1" dirty="0">
                <a:solidFill>
                  <a:srgbClr val="2E7D32"/>
                </a:solidFill>
                <a:latin typeface="Arial"/>
                <a:cs typeface="Arial"/>
              </a:rPr>
              <a:t>WITH MCP (XRef Service)</a:t>
            </a:r>
            <a:endParaRPr lang="en-US" dirty="0"/>
          </a:p>
        </p:txBody>
      </p:sp>
      <p:sp>
        <p:nvSpPr>
          <p:cNvPr id="343" name="TextBox 344"/>
          <p:cNvSpPr txBox="1"/>
          <p:nvPr/>
        </p:nvSpPr>
        <p:spPr>
          <a:xfrm>
            <a:off x="6281928" y="1737360"/>
            <a:ext cx="4846320" cy="40690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300"/>
              </a:spcAft>
            </a:pPr>
            <a:r>
              <a:rPr lang="en-US" sz="900" i="1" dirty="0">
                <a:solidFill>
                  <a:srgbClr val="333333"/>
                </a:solidFill>
                <a:latin typeface="Arial"/>
                <a:cs typeface="Arial"/>
              </a:rPr>
              <a:t>AI calls xref_impact_analysis + xref_find_extensions + xref_find_event_handlers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900" b="1" dirty="0">
                <a:solidFill>
                  <a:srgbClr val="666666"/>
                </a:solidFill>
                <a:latin typeface="Arial"/>
                <a:cs typeface="Arial"/>
              </a:rPr>
              <a:t>Complete impact report: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12 direct callers (with file + line numbers)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3 Chain of Command extensions (ISV modules)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2 event handlers (pre/post)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47 indirect dependents across 5 modules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850" dirty="0">
                <a:solidFill>
                  <a:srgbClr val="2E7D32"/>
                </a:solidFill>
                <a:latin typeface="Arial"/>
                <a:cs typeface="Arial"/>
              </a:rPr>
              <a:t>• Cross-module dependency map</a:t>
            </a:r>
            <a:endParaRPr lang="en-US" dirty="0"/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lang="en-US" sz="900" b="1" dirty="0">
                <a:solidFill>
                  <a:srgbClr val="2E7D32"/>
                </a:solidFill>
                <a:latin typeface="Arial"/>
                <a:cs typeface="Arial"/>
              </a:rPr>
              <a:t>Developer gets: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Full blast radius before making any change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ISV extensions that need compatibility checks</a:t>
            </a:r>
            <a:endParaRPr lang="en-US" dirty="0"/>
          </a:p>
          <a:p>
            <a:pPr/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• Confidence to make changes safely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H 37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Who Benefits from MCP?</a:t>
            </a:r>
            <a:endParaRPr lang="en-US" dirty="0"/>
          </a:p>
        </p:txBody>
      </p:sp>
      <p:sp>
        <p:nvSpPr>
          <p:cNvPr id="345" name="Rect 346"/>
          <p:cNvSpPr/>
          <p:nvPr/>
        </p:nvSpPr>
        <p:spPr>
          <a:xfrm>
            <a:off x="539496" y="1280160"/>
            <a:ext cx="3547872" cy="365760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346" name="TextBox 347"/>
          <p:cNvSpPr txBox="1"/>
          <p:nvPr/>
        </p:nvSpPr>
        <p:spPr>
          <a:xfrm>
            <a:off x="539496" y="1280160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D365 Developers</a:t>
            </a:r>
            <a:endParaRPr lang="en-US" dirty="0"/>
          </a:p>
        </p:txBody>
      </p:sp>
      <p:sp>
        <p:nvSpPr>
          <p:cNvPr id="347" name="Rect 348"/>
          <p:cNvSpPr/>
          <p:nvPr/>
        </p:nvSpPr>
        <p:spPr>
          <a:xfrm>
            <a:off x="539496" y="1645920"/>
            <a:ext cx="354787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6DC1C9"/>
            </a:solidFill>
          </a:ln>
        </p:spPr>
      </p:sp>
      <p:sp>
        <p:nvSpPr>
          <p:cNvPr id="348" name="TextBox 349"/>
          <p:cNvSpPr txBox="1"/>
          <p:nvPr/>
        </p:nvSpPr>
        <p:spPr>
          <a:xfrm>
            <a:off x="676656" y="1737360"/>
            <a:ext cx="3273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Accurate X++ code generation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Verified table schemas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Impact analysis before changes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Faster debugging with real source</a:t>
            </a:r>
            <a:endParaRPr lang="en-US" dirty="0"/>
          </a:p>
        </p:txBody>
      </p:sp>
      <p:sp>
        <p:nvSpPr>
          <p:cNvPr id="349" name="Rect 350"/>
          <p:cNvSpPr/>
          <p:nvPr/>
        </p:nvSpPr>
        <p:spPr>
          <a:xfrm>
            <a:off x="4242816" y="1280160"/>
            <a:ext cx="3547872" cy="365760"/>
          </a:xfrm>
          <a:prstGeom prst="rect">
            <a:avLst/>
          </a:prstGeom>
          <a:solidFill>
            <a:srgbClr val="AD9B68"/>
          </a:solidFill>
          <a:ln>
            <a:noFill/>
          </a:ln>
        </p:spPr>
      </p:sp>
      <p:sp>
        <p:nvSpPr>
          <p:cNvPr id="350" name="TextBox 351"/>
          <p:cNvSpPr txBox="1"/>
          <p:nvPr/>
        </p:nvSpPr>
        <p:spPr>
          <a:xfrm>
            <a:off x="4242816" y="1280160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Functional Consultants</a:t>
            </a:r>
            <a:endParaRPr lang="en-US" dirty="0"/>
          </a:p>
        </p:txBody>
      </p:sp>
      <p:sp>
        <p:nvSpPr>
          <p:cNvPr id="351" name="Rect 352"/>
          <p:cNvSpPr/>
          <p:nvPr/>
        </p:nvSpPr>
        <p:spPr>
          <a:xfrm>
            <a:off x="4242816" y="1645920"/>
            <a:ext cx="354787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AD9B68"/>
            </a:solidFill>
          </a:ln>
        </p:spPr>
      </p:sp>
      <p:sp>
        <p:nvSpPr>
          <p:cNvPr id="352" name="TextBox 353"/>
          <p:cNvSpPr txBox="1"/>
          <p:nvPr/>
        </p:nvSpPr>
        <p:spPr>
          <a:xfrm>
            <a:off x="4379976" y="1737360"/>
            <a:ext cx="3273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Quick schema lookups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Entity/field mapping for integrations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Enum value references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Label resolution for UI text</a:t>
            </a:r>
            <a:endParaRPr lang="en-US" dirty="0"/>
          </a:p>
        </p:txBody>
      </p:sp>
      <p:sp>
        <p:nvSpPr>
          <p:cNvPr id="353" name="Rect 354"/>
          <p:cNvSpPr/>
          <p:nvPr/>
        </p:nvSpPr>
        <p:spPr>
          <a:xfrm>
            <a:off x="7946136" y="1280160"/>
            <a:ext cx="3547872" cy="365760"/>
          </a:xfrm>
          <a:prstGeom prst="rect">
            <a:avLst/>
          </a:prstGeom>
          <a:solidFill>
            <a:srgbClr val="B77133"/>
          </a:solidFill>
          <a:ln>
            <a:noFill/>
          </a:ln>
        </p:spPr>
      </p:sp>
      <p:sp>
        <p:nvSpPr>
          <p:cNvPr id="354" name="TextBox 355"/>
          <p:cNvSpPr txBox="1"/>
          <p:nvPr/>
        </p:nvSpPr>
        <p:spPr>
          <a:xfrm>
            <a:off x="7946136" y="1280160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Support Teams</a:t>
            </a:r>
            <a:endParaRPr lang="en-US" dirty="0"/>
          </a:p>
        </p:txBody>
      </p:sp>
      <p:sp>
        <p:nvSpPr>
          <p:cNvPr id="355" name="Rect 356"/>
          <p:cNvSpPr/>
          <p:nvPr/>
        </p:nvSpPr>
        <p:spPr>
          <a:xfrm>
            <a:off x="7946136" y="1645920"/>
            <a:ext cx="354787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B77133"/>
            </a:solidFill>
          </a:ln>
        </p:spPr>
      </p:sp>
      <p:sp>
        <p:nvSpPr>
          <p:cNvPr id="356" name="TextBox 357"/>
          <p:cNvSpPr txBox="1"/>
          <p:nvPr/>
        </p:nvSpPr>
        <p:spPr>
          <a:xfrm>
            <a:off x="8083296" y="1737360"/>
            <a:ext cx="3273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B77133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Instant table/field verification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B77133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Pre-validated SQL templates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B77133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Faster ticket resolution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B77133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No more guessing at field names</a:t>
            </a:r>
            <a:endParaRPr lang="en-US" dirty="0"/>
          </a:p>
        </p:txBody>
      </p:sp>
      <p:sp>
        <p:nvSpPr>
          <p:cNvPr id="357" name="Rect 358"/>
          <p:cNvSpPr/>
          <p:nvPr/>
        </p:nvSpPr>
        <p:spPr>
          <a:xfrm>
            <a:off x="539496" y="3566160"/>
            <a:ext cx="3547872" cy="365760"/>
          </a:xfrm>
          <a:prstGeom prst="rect">
            <a:avLst/>
          </a:prstGeom>
          <a:solidFill>
            <a:srgbClr val="647772"/>
          </a:solidFill>
          <a:ln>
            <a:noFill/>
          </a:ln>
        </p:spPr>
      </p:sp>
      <p:sp>
        <p:nvSpPr>
          <p:cNvPr id="358" name="TextBox 359"/>
          <p:cNvSpPr txBox="1"/>
          <p:nvPr/>
        </p:nvSpPr>
        <p:spPr>
          <a:xfrm>
            <a:off x="539496" y="3566160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BI / Data Teams</a:t>
            </a:r>
            <a:endParaRPr lang="en-US" dirty="0"/>
          </a:p>
        </p:txBody>
      </p:sp>
      <p:sp>
        <p:nvSpPr>
          <p:cNvPr id="359" name="Rect 360"/>
          <p:cNvSpPr/>
          <p:nvPr/>
        </p:nvSpPr>
        <p:spPr>
          <a:xfrm>
            <a:off x="539496" y="3931920"/>
            <a:ext cx="354787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647772"/>
            </a:solidFill>
          </a:ln>
        </p:spPr>
      </p:sp>
      <p:sp>
        <p:nvSpPr>
          <p:cNvPr id="360" name="TextBox 361"/>
          <p:cNvSpPr txBox="1"/>
          <p:nvPr/>
        </p:nvSpPr>
        <p:spPr>
          <a:xfrm>
            <a:off x="676656" y="4023360"/>
            <a:ext cx="3273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Correct D365 data models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Verified join conditions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Entity-to-table field mappings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Reliable Power BI reports</a:t>
            </a:r>
            <a:endParaRPr lang="en-US" dirty="0"/>
          </a:p>
        </p:txBody>
      </p:sp>
      <p:sp>
        <p:nvSpPr>
          <p:cNvPr id="361" name="Rect 362"/>
          <p:cNvSpPr/>
          <p:nvPr/>
        </p:nvSpPr>
        <p:spPr>
          <a:xfrm>
            <a:off x="4242816" y="3566160"/>
            <a:ext cx="3547872" cy="365760"/>
          </a:xfrm>
          <a:prstGeom prst="rect">
            <a:avLst/>
          </a:prstGeom>
          <a:solidFill>
            <a:srgbClr val="813341"/>
          </a:solidFill>
          <a:ln>
            <a:noFill/>
          </a:ln>
        </p:spPr>
      </p:sp>
      <p:sp>
        <p:nvSpPr>
          <p:cNvPr id="362" name="TextBox 363"/>
          <p:cNvSpPr txBox="1"/>
          <p:nvPr/>
        </p:nvSpPr>
        <p:spPr>
          <a:xfrm>
            <a:off x="4242816" y="3566160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Integration Devs</a:t>
            </a:r>
            <a:endParaRPr lang="en-US" dirty="0"/>
          </a:p>
        </p:txBody>
      </p:sp>
      <p:sp>
        <p:nvSpPr>
          <p:cNvPr id="363" name="Rect 364"/>
          <p:cNvSpPr/>
          <p:nvPr/>
        </p:nvSpPr>
        <p:spPr>
          <a:xfrm>
            <a:off x="4242816" y="3931920"/>
            <a:ext cx="354787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813341"/>
            </a:solidFill>
          </a:ln>
        </p:spPr>
      </p:sp>
      <p:sp>
        <p:nvSpPr>
          <p:cNvPr id="364" name="TextBox 365"/>
          <p:cNvSpPr txBox="1"/>
          <p:nvPr/>
        </p:nvSpPr>
        <p:spPr>
          <a:xfrm>
            <a:off x="4379976" y="4023360"/>
            <a:ext cx="3273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Accurate OData entity names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Data entity field mapping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API endpoint discovery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Correct filter/query syntax</a:t>
            </a:r>
            <a:endParaRPr lang="en-US" dirty="0"/>
          </a:p>
        </p:txBody>
      </p:sp>
      <p:sp>
        <p:nvSpPr>
          <p:cNvPr id="365" name="Rect 366"/>
          <p:cNvSpPr/>
          <p:nvPr/>
        </p:nvSpPr>
        <p:spPr>
          <a:xfrm>
            <a:off x="7946136" y="3566160"/>
            <a:ext cx="3547872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366" name="TextBox 367"/>
          <p:cNvSpPr txBox="1"/>
          <p:nvPr/>
        </p:nvSpPr>
        <p:spPr>
          <a:xfrm>
            <a:off x="7946136" y="3566160"/>
            <a:ext cx="35478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Project Managers</a:t>
            </a:r>
            <a:endParaRPr lang="en-US" dirty="0"/>
          </a:p>
        </p:txBody>
      </p:sp>
      <p:sp>
        <p:nvSpPr>
          <p:cNvPr id="367" name="Rect 368"/>
          <p:cNvSpPr/>
          <p:nvPr/>
        </p:nvSpPr>
        <p:spPr>
          <a:xfrm>
            <a:off x="7946136" y="3931920"/>
            <a:ext cx="354787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666666"/>
            </a:solidFill>
          </a:ln>
        </p:spPr>
      </p:sp>
      <p:sp>
        <p:nvSpPr>
          <p:cNvPr id="368" name="TextBox 369"/>
          <p:cNvSpPr txBox="1"/>
          <p:nvPr/>
        </p:nvSpPr>
        <p:spPr>
          <a:xfrm>
            <a:off x="8083296" y="4023360"/>
            <a:ext cx="3273552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66666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Change impact assessment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66666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Cross-module visibility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66666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Risk evaluation for mods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66666"/>
                </a:solidFill>
                <a:latin typeface="Arial"/>
                <a:cs typeface="Arial"/>
              </a:rPr>
              <a:t>• </a:t>
            </a:r>
            <a:r>
              <a:rPr lang="en-US" sz="850" dirty="0">
                <a:solidFill>
                  <a:srgbClr val="333333"/>
                </a:solidFill>
                <a:latin typeface="Arial"/>
                <a:cs typeface="Arial"/>
              </a:rPr>
              <a:t>Faster delivery cycles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H 40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Future MCP Services: Additional Value Opportunities</a:t>
            </a:r>
            <a:endParaRPr lang="en-US" dirty="0"/>
          </a:p>
        </p:txBody>
      </p:sp>
      <p:sp>
        <p:nvSpPr>
          <p:cNvPr id="370" name="TextBox 371"/>
          <p:cNvSpPr txBox="1"/>
          <p:nvPr/>
        </p:nvSpPr>
        <p:spPr>
          <a:xfrm>
            <a:off x="539496" y="1207008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i="1" dirty="0">
                <a:solidFill>
                  <a:srgbClr val="666666"/>
                </a:solidFill>
                <a:latin typeface="Arial"/>
                <a:cs typeface="Arial"/>
              </a:rPr>
              <a:t>Potential MCP services that would extend AI capabilities for D365 F&amp;O and beyond</a:t>
            </a:r>
            <a:endParaRPr lang="en-US" dirty="0"/>
          </a:p>
        </p:txBody>
      </p:sp>
      <p:sp>
        <p:nvSpPr>
          <p:cNvPr id="371" name="Rect 372"/>
          <p:cNvSpPr/>
          <p:nvPr/>
        </p:nvSpPr>
        <p:spPr>
          <a:xfrm>
            <a:off x="539496" y="1572768"/>
            <a:ext cx="54864" cy="1097280"/>
          </a:xfrm>
          <a:prstGeom prst="rect">
            <a:avLst/>
          </a:prstGeom>
          <a:solidFill>
            <a:srgbClr val="813341"/>
          </a:solidFill>
          <a:ln>
            <a:noFill/>
          </a:ln>
        </p:spPr>
      </p:sp>
      <p:sp>
        <p:nvSpPr>
          <p:cNvPr id="372" name="Rect 373"/>
          <p:cNvSpPr/>
          <p:nvPr/>
        </p:nvSpPr>
        <p:spPr>
          <a:xfrm>
            <a:off x="594360" y="1572768"/>
            <a:ext cx="5440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</p:sp>
      <p:sp>
        <p:nvSpPr>
          <p:cNvPr id="373" name="TextBox 374"/>
          <p:cNvSpPr txBox="1"/>
          <p:nvPr/>
        </p:nvSpPr>
        <p:spPr>
          <a:xfrm>
            <a:off x="704088" y="1618488"/>
            <a:ext cx="5230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813341"/>
                </a:solidFill>
                <a:latin typeface="Arial"/>
                <a:cs typeface="Arial"/>
              </a:rPr>
              <a:t>D365 Security Model</a:t>
            </a:r>
            <a:endParaRPr lang="en-US" dirty="0"/>
          </a:p>
        </p:txBody>
      </p:sp>
      <p:sp>
        <p:nvSpPr>
          <p:cNvPr id="374" name="TextBox 375"/>
          <p:cNvSpPr txBox="1"/>
          <p:nvPr/>
        </p:nvSpPr>
        <p:spPr>
          <a:xfrm>
            <a:off x="704088" y="1865376"/>
            <a:ext cx="523036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Expose roles, duties, privileges, and permission mappings. Answer: "Which role grants access to PurchTable?"</a:t>
            </a:r>
            <a:endParaRPr lang="en-US" dirty="0"/>
          </a:p>
        </p:txBody>
      </p:sp>
      <p:sp>
        <p:nvSpPr>
          <p:cNvPr id="375" name="TextBox 376"/>
          <p:cNvSpPr txBox="1"/>
          <p:nvPr/>
        </p:nvSpPr>
        <p:spPr>
          <a:xfrm>
            <a:off x="704088" y="2322576"/>
            <a:ext cx="52303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813341"/>
                </a:solidFill>
                <a:latin typeface="Arial"/>
                <a:cs typeface="Arial"/>
              </a:rPr>
              <a:t>Impact: 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Security audits, compliance reporting</a:t>
            </a:r>
            <a:endParaRPr lang="en-US" dirty="0"/>
          </a:p>
        </p:txBody>
      </p:sp>
      <p:sp>
        <p:nvSpPr>
          <p:cNvPr id="376" name="Rect 377"/>
          <p:cNvSpPr/>
          <p:nvPr/>
        </p:nvSpPr>
        <p:spPr>
          <a:xfrm>
            <a:off x="6190488" y="1572768"/>
            <a:ext cx="54864" cy="1097280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377" name="Rect 378"/>
          <p:cNvSpPr/>
          <p:nvPr/>
        </p:nvSpPr>
        <p:spPr>
          <a:xfrm>
            <a:off x="6245352" y="1572768"/>
            <a:ext cx="5440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</p:sp>
      <p:sp>
        <p:nvSpPr>
          <p:cNvPr id="378" name="TextBox 379"/>
          <p:cNvSpPr txBox="1"/>
          <p:nvPr/>
        </p:nvSpPr>
        <p:spPr>
          <a:xfrm>
            <a:off x="6355080" y="1618488"/>
            <a:ext cx="5230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DC1C9"/>
                </a:solidFill>
                <a:latin typeface="Arial"/>
                <a:cs typeface="Arial"/>
              </a:rPr>
              <a:t>Configuration &amp; Parameters</a:t>
            </a:r>
            <a:endParaRPr lang="en-US" dirty="0"/>
          </a:p>
        </p:txBody>
      </p:sp>
      <p:sp>
        <p:nvSpPr>
          <p:cNvPr id="379" name="TextBox 380"/>
          <p:cNvSpPr txBox="1"/>
          <p:nvPr/>
        </p:nvSpPr>
        <p:spPr>
          <a:xfrm>
            <a:off x="6355080" y="1865376"/>
            <a:ext cx="523036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Surface module parameters, number sequences, config keys. Validate features before suggesting code.</a:t>
            </a:r>
            <a:endParaRPr lang="en-US" dirty="0"/>
          </a:p>
        </p:txBody>
      </p:sp>
      <p:sp>
        <p:nvSpPr>
          <p:cNvPr id="380" name="TextBox 381"/>
          <p:cNvSpPr txBox="1"/>
          <p:nvPr/>
        </p:nvSpPr>
        <p:spPr>
          <a:xfrm>
            <a:off x="6355080" y="2322576"/>
            <a:ext cx="52303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Impact: 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Environment-aware AI assistance</a:t>
            </a:r>
            <a:endParaRPr lang="en-US" dirty="0"/>
          </a:p>
        </p:txBody>
      </p:sp>
      <p:sp>
        <p:nvSpPr>
          <p:cNvPr id="381" name="Rect 382"/>
          <p:cNvSpPr/>
          <p:nvPr/>
        </p:nvSpPr>
        <p:spPr>
          <a:xfrm>
            <a:off x="539496" y="2852928"/>
            <a:ext cx="54864" cy="1097280"/>
          </a:xfrm>
          <a:prstGeom prst="rect">
            <a:avLst/>
          </a:prstGeom>
          <a:solidFill>
            <a:srgbClr val="AD9B68"/>
          </a:solidFill>
          <a:ln>
            <a:noFill/>
          </a:ln>
        </p:spPr>
      </p:sp>
      <p:sp>
        <p:nvSpPr>
          <p:cNvPr id="382" name="Rect 383"/>
          <p:cNvSpPr/>
          <p:nvPr/>
        </p:nvSpPr>
        <p:spPr>
          <a:xfrm>
            <a:off x="594360" y="2852928"/>
            <a:ext cx="5440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</p:sp>
      <p:sp>
        <p:nvSpPr>
          <p:cNvPr id="383" name="TextBox 384"/>
          <p:cNvSpPr txBox="1"/>
          <p:nvPr/>
        </p:nvSpPr>
        <p:spPr>
          <a:xfrm>
            <a:off x="704088" y="2898648"/>
            <a:ext cx="5230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AD9B68"/>
                </a:solidFill>
                <a:latin typeface="Arial"/>
                <a:cs typeface="Arial"/>
              </a:rPr>
              <a:t>Azure DevOps / ALM Integration</a:t>
            </a:r>
            <a:endParaRPr lang="en-US" dirty="0"/>
          </a:p>
        </p:txBody>
      </p:sp>
      <p:sp>
        <p:nvSpPr>
          <p:cNvPr id="384" name="TextBox 385"/>
          <p:cNvSpPr txBox="1"/>
          <p:nvPr/>
        </p:nvSpPr>
        <p:spPr>
          <a:xfrm>
            <a:off x="704088" y="3145536"/>
            <a:ext cx="523036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Connect work items, pipelines, deployment history. Link code changes to requirements.</a:t>
            </a:r>
            <a:endParaRPr lang="en-US" dirty="0"/>
          </a:p>
        </p:txBody>
      </p:sp>
      <p:sp>
        <p:nvSpPr>
          <p:cNvPr id="385" name="TextBox 386"/>
          <p:cNvSpPr txBox="1"/>
          <p:nvPr/>
        </p:nvSpPr>
        <p:spPr>
          <a:xfrm>
            <a:off x="704088" y="3602736"/>
            <a:ext cx="52303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AD9B68"/>
                </a:solidFill>
                <a:latin typeface="Arial"/>
                <a:cs typeface="Arial"/>
              </a:rPr>
              <a:t>Impact: 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End-to-end traceability, release notes</a:t>
            </a:r>
            <a:endParaRPr lang="en-US" dirty="0"/>
          </a:p>
        </p:txBody>
      </p:sp>
      <p:sp>
        <p:nvSpPr>
          <p:cNvPr id="386" name="Rect 387"/>
          <p:cNvSpPr/>
          <p:nvPr/>
        </p:nvSpPr>
        <p:spPr>
          <a:xfrm>
            <a:off x="6190488" y="2852928"/>
            <a:ext cx="54864" cy="1097280"/>
          </a:xfrm>
          <a:prstGeom prst="rect">
            <a:avLst/>
          </a:prstGeom>
          <a:solidFill>
            <a:srgbClr val="B77133"/>
          </a:solidFill>
          <a:ln>
            <a:noFill/>
          </a:ln>
        </p:spPr>
      </p:sp>
      <p:sp>
        <p:nvSpPr>
          <p:cNvPr id="387" name="Rect 388"/>
          <p:cNvSpPr/>
          <p:nvPr/>
        </p:nvSpPr>
        <p:spPr>
          <a:xfrm>
            <a:off x="6245352" y="2852928"/>
            <a:ext cx="5440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</p:sp>
      <p:sp>
        <p:nvSpPr>
          <p:cNvPr id="388" name="TextBox 389"/>
          <p:cNvSpPr txBox="1"/>
          <p:nvPr/>
        </p:nvSpPr>
        <p:spPr>
          <a:xfrm>
            <a:off x="6355080" y="2898648"/>
            <a:ext cx="5230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B77133"/>
                </a:solidFill>
                <a:latin typeface="Arial"/>
                <a:cs typeface="Arial"/>
              </a:rPr>
              <a:t>Data Dictionary &amp; ERD</a:t>
            </a:r>
            <a:endParaRPr lang="en-US" dirty="0"/>
          </a:p>
        </p:txBody>
      </p:sp>
      <p:sp>
        <p:nvSpPr>
          <p:cNvPr id="389" name="TextBox 390"/>
          <p:cNvSpPr txBox="1"/>
          <p:nvPr/>
        </p:nvSpPr>
        <p:spPr>
          <a:xfrm>
            <a:off x="6355080" y="3145536"/>
            <a:ext cx="523036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Generate ER diagrams, data flow maps, field-level lineage for complex integrations.</a:t>
            </a:r>
            <a:endParaRPr lang="en-US" dirty="0"/>
          </a:p>
        </p:txBody>
      </p:sp>
      <p:sp>
        <p:nvSpPr>
          <p:cNvPr id="390" name="TextBox 391"/>
          <p:cNvSpPr txBox="1"/>
          <p:nvPr/>
        </p:nvSpPr>
        <p:spPr>
          <a:xfrm>
            <a:off x="6355080" y="3602736"/>
            <a:ext cx="52303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B77133"/>
                </a:solidFill>
                <a:latin typeface="Arial"/>
                <a:cs typeface="Arial"/>
              </a:rPr>
              <a:t>Impact: 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Faster onboarding, integration specs</a:t>
            </a:r>
            <a:endParaRPr lang="en-US" dirty="0"/>
          </a:p>
        </p:txBody>
      </p:sp>
      <p:sp>
        <p:nvSpPr>
          <p:cNvPr id="391" name="Rect 392"/>
          <p:cNvSpPr/>
          <p:nvPr/>
        </p:nvSpPr>
        <p:spPr>
          <a:xfrm>
            <a:off x="539496" y="4133088"/>
            <a:ext cx="54864" cy="1097280"/>
          </a:xfrm>
          <a:prstGeom prst="rect">
            <a:avLst/>
          </a:prstGeom>
          <a:solidFill>
            <a:srgbClr val="647772"/>
          </a:solidFill>
          <a:ln>
            <a:noFill/>
          </a:ln>
        </p:spPr>
      </p:sp>
      <p:sp>
        <p:nvSpPr>
          <p:cNvPr id="392" name="Rect 393"/>
          <p:cNvSpPr/>
          <p:nvPr/>
        </p:nvSpPr>
        <p:spPr>
          <a:xfrm>
            <a:off x="594360" y="4133088"/>
            <a:ext cx="5440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</p:sp>
      <p:sp>
        <p:nvSpPr>
          <p:cNvPr id="393" name="TextBox 394"/>
          <p:cNvSpPr txBox="1"/>
          <p:nvPr/>
        </p:nvSpPr>
        <p:spPr>
          <a:xfrm>
            <a:off x="704088" y="4178808"/>
            <a:ext cx="5230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47772"/>
                </a:solidFill>
                <a:latin typeface="Arial"/>
                <a:cs typeface="Arial"/>
              </a:rPr>
              <a:t>Power Platform / Dataverse</a:t>
            </a:r>
            <a:endParaRPr lang="en-US" dirty="0"/>
          </a:p>
        </p:txBody>
      </p:sp>
      <p:sp>
        <p:nvSpPr>
          <p:cNvPr id="394" name="TextBox 395"/>
          <p:cNvSpPr txBox="1"/>
          <p:nvPr/>
        </p:nvSpPr>
        <p:spPr>
          <a:xfrm>
            <a:off x="704088" y="4425696"/>
            <a:ext cx="523036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Expose Dataverse schemas, Power Automate flows, Power Apps connections.</a:t>
            </a:r>
            <a:endParaRPr lang="en-US" dirty="0"/>
          </a:p>
        </p:txBody>
      </p:sp>
      <p:sp>
        <p:nvSpPr>
          <p:cNvPr id="395" name="TextBox 396"/>
          <p:cNvSpPr txBox="1"/>
          <p:nvPr/>
        </p:nvSpPr>
        <p:spPr>
          <a:xfrm>
            <a:off x="704088" y="4882896"/>
            <a:ext cx="52303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Impact: 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Unified cross-platform AI assistance</a:t>
            </a:r>
            <a:endParaRPr lang="en-US" dirty="0"/>
          </a:p>
        </p:txBody>
      </p:sp>
      <p:sp>
        <p:nvSpPr>
          <p:cNvPr id="396" name="Rect 397"/>
          <p:cNvSpPr/>
          <p:nvPr/>
        </p:nvSpPr>
        <p:spPr>
          <a:xfrm>
            <a:off x="6190488" y="4133088"/>
            <a:ext cx="54864" cy="109728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397" name="Rect 398"/>
          <p:cNvSpPr/>
          <p:nvPr/>
        </p:nvSpPr>
        <p:spPr>
          <a:xfrm>
            <a:off x="6245352" y="4133088"/>
            <a:ext cx="5440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</p:sp>
      <p:sp>
        <p:nvSpPr>
          <p:cNvPr id="398" name="TextBox 399"/>
          <p:cNvSpPr txBox="1"/>
          <p:nvPr/>
        </p:nvSpPr>
        <p:spPr>
          <a:xfrm>
            <a:off x="6355080" y="4178808"/>
            <a:ext cx="52303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66666"/>
                </a:solidFill>
                <a:latin typeface="Arial"/>
                <a:cs typeface="Arial"/>
              </a:rPr>
              <a:t>Performance &amp; Telemetry</a:t>
            </a:r>
            <a:endParaRPr lang="en-US" dirty="0"/>
          </a:p>
        </p:txBody>
      </p:sp>
      <p:sp>
        <p:nvSpPr>
          <p:cNvPr id="399" name="TextBox 400"/>
          <p:cNvSpPr txBox="1"/>
          <p:nvPr/>
        </p:nvSpPr>
        <p:spPr>
          <a:xfrm>
            <a:off x="6355080" y="4425696"/>
            <a:ext cx="5230368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Surface App Insights traces, slow queries, batch job data. Proactive optimization suggestions.</a:t>
            </a:r>
            <a:endParaRPr lang="en-US" dirty="0"/>
          </a:p>
        </p:txBody>
      </p:sp>
      <p:sp>
        <p:nvSpPr>
          <p:cNvPr id="400" name="TextBox 401"/>
          <p:cNvSpPr txBox="1"/>
          <p:nvPr/>
        </p:nvSpPr>
        <p:spPr>
          <a:xfrm>
            <a:off x="6355080" y="4882896"/>
            <a:ext cx="5230368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666666"/>
                </a:solidFill>
                <a:latin typeface="Arial"/>
                <a:cs typeface="Arial"/>
              </a:rPr>
              <a:t>Impact: 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Performance tuning, root-cause analysis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H 40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How to Get Started</a:t>
            </a:r>
            <a:endParaRPr lang="en-US" dirty="0"/>
          </a:p>
        </p:txBody>
      </p:sp>
      <p:sp>
        <p:nvSpPr>
          <p:cNvPr id="403" name="PH 404"/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pPr/>
            <a:r>
              <a:rPr lang="en-US" sz="1100" b="1" dirty="0">
                <a:solidFill>
                  <a:srgbClr val="6DC1C9"/>
                </a:solidFill>
                <a:latin typeface="Arial"/>
                <a:cs typeface="Arial"/>
              </a:rPr>
              <a:t>Azure (Remote) — for all users</a:t>
            </a:r>
            <a:endParaRPr lang="en-US" dirty="0"/>
          </a:p>
        </p:txBody>
      </p:sp>
      <p:sp>
        <p:nvSpPr>
          <p:cNvPr id="404" name="PH 405"/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800" dirty="0">
                <a:solidFill>
                  <a:srgbClr val="333333"/>
                </a:solidFill>
                <a:latin typeface="Consolas"/>
                <a:cs typeface="Consolas"/>
              </a:rPr>
              <a:t>{
  "mcpServers": {
    "d365kb": {
      "type": "url",
      "url": "https://tis-p-mcpd365fo-
        func.azurewebsites.net
        /api/d365kb"
    },
    "d365xref": {
      "type": "url",
      "url": "https://tis-p-mcpd365fo-
        func.azurewebsites.net
        /api/d365xref"
    }
  }
}</a:t>
            </a:r>
            <a:endParaRPr lang="en-US" dirty="0"/>
          </a:p>
        </p:txBody>
      </p:sp>
      <p:sp>
        <p:nvSpPr>
          <p:cNvPr id="405" name="PH 406"/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pPr/>
            <a:r>
              <a:rPr lang="en-US" sz="1100" b="1" dirty="0">
                <a:solidFill>
                  <a:srgbClr val="AD9B68"/>
                </a:solidFill>
                <a:latin typeface="Arial"/>
                <a:cs typeface="Arial"/>
              </a:rPr>
              <a:t>Local (stdio) — for developers</a:t>
            </a:r>
            <a:endParaRPr lang="en-US" dirty="0"/>
          </a:p>
        </p:txBody>
      </p:sp>
      <p:sp>
        <p:nvSpPr>
          <p:cNvPr id="406" name="PH 407"/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en-US" sz="800" dirty="0">
                <a:solidFill>
                  <a:srgbClr val="333333"/>
                </a:solidFill>
                <a:latin typeface="Consolas"/>
                <a:cs typeface="Consolas"/>
              </a:rPr>
              <a:t>{
  "mcpServers": {
    "d365kb": {
      "type": "stdio",
      "command": "node",
      "args": ["...src/local/
        mcp-server-kb.js"]
    },
    "d365xref": {
      "type": "stdio",
      "command": "node",
      "args": ["...src/local/
        mcp-server-xref.js"]
    }
  }
}</a:t>
            </a:r>
            <a:endParaRPr lang="en-US" dirty="0"/>
          </a:p>
        </p:txBody>
      </p:sp>
      <p:sp>
        <p:nvSpPr>
          <p:cNvPr id="407" name="TextBox 408"/>
          <p:cNvSpPr txBox="1"/>
          <p:nvPr/>
        </p:nvSpPr>
        <p:spPr>
          <a:xfrm>
            <a:off x="539496" y="5029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000" b="1" dirty="0">
                <a:solidFill>
                  <a:srgbClr val="333333"/>
                </a:solidFill>
                <a:latin typeface="Arial"/>
                <a:cs typeface="Arial"/>
              </a:rPr>
              <a:t>Supported AI clients:</a:t>
            </a:r>
            <a:endParaRPr lang="en-US" dirty="0"/>
          </a:p>
        </p:txBody>
      </p:sp>
      <p:sp>
        <p:nvSpPr>
          <p:cNvPr id="408" name="Rect 409"/>
          <p:cNvSpPr/>
          <p:nvPr/>
        </p:nvSpPr>
        <p:spPr>
          <a:xfrm>
            <a:off x="539496" y="539496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09" name="TextBox 410"/>
          <p:cNvSpPr txBox="1"/>
          <p:nvPr/>
        </p:nvSpPr>
        <p:spPr>
          <a:xfrm>
            <a:off x="539496" y="539496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Claude Code</a:t>
            </a:r>
            <a:endParaRPr lang="en-US" dirty="0"/>
          </a:p>
        </p:txBody>
      </p:sp>
      <p:sp>
        <p:nvSpPr>
          <p:cNvPr id="410" name="Rect 411"/>
          <p:cNvSpPr/>
          <p:nvPr/>
        </p:nvSpPr>
        <p:spPr>
          <a:xfrm>
            <a:off x="2414016" y="539496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11" name="TextBox 412"/>
          <p:cNvSpPr txBox="1"/>
          <p:nvPr/>
        </p:nvSpPr>
        <p:spPr>
          <a:xfrm>
            <a:off x="2414016" y="539496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Claude Desktop</a:t>
            </a:r>
            <a:endParaRPr lang="en-US" dirty="0"/>
          </a:p>
        </p:txBody>
      </p:sp>
      <p:sp>
        <p:nvSpPr>
          <p:cNvPr id="412" name="Rect 413"/>
          <p:cNvSpPr/>
          <p:nvPr/>
        </p:nvSpPr>
        <p:spPr>
          <a:xfrm>
            <a:off x="4288536" y="539496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</p:sp>
      <p:sp>
        <p:nvSpPr>
          <p:cNvPr id="413" name="TextBox 414"/>
          <p:cNvSpPr txBox="1"/>
          <p:nvPr/>
        </p:nvSpPr>
        <p:spPr>
          <a:xfrm>
            <a:off x="4288536" y="539496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GitHub Copilot</a:t>
            </a:r>
            <a:endParaRPr lang="en-US" dirty="0"/>
          </a:p>
        </p:txBody>
      </p:sp>
      <p:sp>
        <p:nvSpPr>
          <p:cNvPr id="414" name="Rect 415"/>
          <p:cNvSpPr/>
          <p:nvPr/>
        </p:nvSpPr>
        <p:spPr>
          <a:xfrm>
            <a:off x="6163056" y="539496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415" name="TextBox 416"/>
          <p:cNvSpPr txBox="1"/>
          <p:nvPr/>
        </p:nvSpPr>
        <p:spPr>
          <a:xfrm>
            <a:off x="6163056" y="539496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Cursor</a:t>
            </a:r>
            <a:endParaRPr lang="en-US" dirty="0"/>
          </a:p>
        </p:txBody>
      </p:sp>
      <p:sp>
        <p:nvSpPr>
          <p:cNvPr id="416" name="Rect 417"/>
          <p:cNvSpPr/>
          <p:nvPr/>
        </p:nvSpPr>
        <p:spPr>
          <a:xfrm>
            <a:off x="8037576" y="539496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</p:sp>
      <p:sp>
        <p:nvSpPr>
          <p:cNvPr id="417" name="TextBox 418"/>
          <p:cNvSpPr txBox="1"/>
          <p:nvPr/>
        </p:nvSpPr>
        <p:spPr>
          <a:xfrm>
            <a:off x="8037576" y="539496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ChatGPT</a:t>
            </a:r>
            <a:endParaRPr lang="en-US" dirty="0"/>
          </a:p>
        </p:txBody>
      </p:sp>
      <p:sp>
        <p:nvSpPr>
          <p:cNvPr id="418" name="Rect 419"/>
          <p:cNvSpPr/>
          <p:nvPr/>
        </p:nvSpPr>
        <p:spPr>
          <a:xfrm>
            <a:off x="9912096" y="5394960"/>
            <a:ext cx="1737360" cy="438912"/>
          </a:xfrm>
          <a:prstGeom prst="roundRect">
            <a:avLst>
              <a:gd name="adj" fmla="val 8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419" name="TextBox 420"/>
          <p:cNvSpPr txBox="1"/>
          <p:nvPr/>
        </p:nvSpPr>
        <p:spPr>
          <a:xfrm>
            <a:off x="9912096" y="5394960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Arial"/>
                <a:cs typeface="Arial"/>
              </a:rPr>
              <a:t>Gemini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H 44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Summary &amp; Key Takeaways</a:t>
            </a:r>
            <a:endParaRPr lang="en-US" dirty="0"/>
          </a:p>
        </p:txBody>
      </p:sp>
      <p:sp>
        <p:nvSpPr>
          <p:cNvPr id="420" name="Rect 421"/>
          <p:cNvSpPr/>
          <p:nvPr/>
        </p:nvSpPr>
        <p:spPr>
          <a:xfrm>
            <a:off x="539496" y="1307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21" name="TextBox 422"/>
          <p:cNvSpPr txBox="1"/>
          <p:nvPr/>
        </p:nvSpPr>
        <p:spPr>
          <a:xfrm>
            <a:off x="539496" y="1307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dirty="0"/>
          </a:p>
        </p:txBody>
      </p:sp>
      <p:sp>
        <p:nvSpPr>
          <p:cNvPr id="422" name="TextBox 423"/>
          <p:cNvSpPr txBox="1"/>
          <p:nvPr/>
        </p:nvSpPr>
        <p:spPr>
          <a:xfrm>
            <a:off x="1051560" y="1280160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333333"/>
                </a:solidFill>
                <a:latin typeface="Arial"/>
                <a:cs typeface="Arial"/>
              </a:rPr>
              <a:t>MCP eliminates AI hallucinations for D365 F&amp;O</a:t>
            </a:r>
            <a:endParaRPr lang="en-US" dirty="0"/>
          </a:p>
        </p:txBody>
      </p:sp>
      <p:sp>
        <p:nvSpPr>
          <p:cNvPr id="423" name="TextBox 424"/>
          <p:cNvSpPr txBox="1"/>
          <p:nvPr/>
        </p:nvSpPr>
        <p:spPr>
          <a:xfrm>
            <a:off x="1051560" y="1600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Real-time access to actual metadata means every table name, field name, join condition, and enum value is verified.</a:t>
            </a:r>
            <a:endParaRPr lang="en-US" dirty="0"/>
          </a:p>
        </p:txBody>
      </p:sp>
      <p:sp>
        <p:nvSpPr>
          <p:cNvPr id="424" name="Rect 425"/>
          <p:cNvSpPr/>
          <p:nvPr/>
        </p:nvSpPr>
        <p:spPr>
          <a:xfrm>
            <a:off x="539496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25" name="TextBox 426"/>
          <p:cNvSpPr txBox="1"/>
          <p:nvPr/>
        </p:nvSpPr>
        <p:spPr>
          <a:xfrm>
            <a:off x="539496" y="21488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dirty="0"/>
          </a:p>
        </p:txBody>
      </p:sp>
      <p:sp>
        <p:nvSpPr>
          <p:cNvPr id="426" name="TextBox 427"/>
          <p:cNvSpPr txBox="1"/>
          <p:nvPr/>
        </p:nvSpPr>
        <p:spPr>
          <a:xfrm>
            <a:off x="1051560" y="2121408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333333"/>
                </a:solidFill>
                <a:latin typeface="Arial"/>
                <a:cs typeface="Arial"/>
              </a:rPr>
              <a:t>Two complementary services cover schema + code</a:t>
            </a:r>
            <a:endParaRPr lang="en-US" dirty="0"/>
          </a:p>
        </p:txBody>
      </p:sp>
      <p:sp>
        <p:nvSpPr>
          <p:cNvPr id="427" name="TextBox 428"/>
          <p:cNvSpPr txBox="1"/>
          <p:nvPr/>
        </p:nvSpPr>
        <p:spPr>
          <a:xfrm>
            <a:off x="1051560" y="2441448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Knowledge Base provides structured metadata. Cross-Reference provides the dependency graph with impact analysis.</a:t>
            </a:r>
            <a:endParaRPr lang="en-US" dirty="0"/>
          </a:p>
        </p:txBody>
      </p:sp>
      <p:sp>
        <p:nvSpPr>
          <p:cNvPr id="428" name="Rect 429"/>
          <p:cNvSpPr/>
          <p:nvPr/>
        </p:nvSpPr>
        <p:spPr>
          <a:xfrm>
            <a:off x="539496" y="2990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29" name="TextBox 430"/>
          <p:cNvSpPr txBox="1"/>
          <p:nvPr/>
        </p:nvSpPr>
        <p:spPr>
          <a:xfrm>
            <a:off x="539496" y="29900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dirty="0"/>
          </a:p>
        </p:txBody>
      </p:sp>
      <p:sp>
        <p:nvSpPr>
          <p:cNvPr id="430" name="TextBox 431"/>
          <p:cNvSpPr txBox="1"/>
          <p:nvPr/>
        </p:nvSpPr>
        <p:spPr>
          <a:xfrm>
            <a:off x="1051560" y="2962656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333333"/>
                </a:solidFill>
                <a:latin typeface="Arial"/>
                <a:cs typeface="Arial"/>
              </a:rPr>
              <a:t>33 specialized tools for every D365 task</a:t>
            </a:r>
            <a:endParaRPr lang="en-US" dirty="0"/>
          </a:p>
        </p:txBody>
      </p:sp>
      <p:sp>
        <p:nvSpPr>
          <p:cNvPr id="431" name="TextBox 432"/>
          <p:cNvSpPr txBox="1"/>
          <p:nvPr/>
        </p:nvSpPr>
        <p:spPr>
          <a:xfrm>
            <a:off x="1051560" y="3282696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From simple field lookups to full impact analysis — purpose-built tools AI assistants call automatically.</a:t>
            </a:r>
            <a:endParaRPr lang="en-US" dirty="0"/>
          </a:p>
        </p:txBody>
      </p:sp>
      <p:sp>
        <p:nvSpPr>
          <p:cNvPr id="432" name="Rect 433"/>
          <p:cNvSpPr/>
          <p:nvPr/>
        </p:nvSpPr>
        <p:spPr>
          <a:xfrm>
            <a:off x="539496" y="3831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33" name="TextBox 434"/>
          <p:cNvSpPr txBox="1"/>
          <p:nvPr/>
        </p:nvSpPr>
        <p:spPr>
          <a:xfrm>
            <a:off x="539496" y="38313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US" dirty="0"/>
          </a:p>
        </p:txBody>
      </p:sp>
      <p:sp>
        <p:nvSpPr>
          <p:cNvPr id="434" name="TextBox 435"/>
          <p:cNvSpPr txBox="1"/>
          <p:nvPr/>
        </p:nvSpPr>
        <p:spPr>
          <a:xfrm>
            <a:off x="1051560" y="3803904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333333"/>
                </a:solidFill>
                <a:latin typeface="Arial"/>
                <a:cs typeface="Arial"/>
              </a:rPr>
              <a:t>Works with any MCP-compatible AI assistant</a:t>
            </a:r>
            <a:endParaRPr lang="en-US" dirty="0"/>
          </a:p>
        </p:txBody>
      </p:sp>
      <p:sp>
        <p:nvSpPr>
          <p:cNvPr id="435" name="TextBox 436"/>
          <p:cNvSpPr txBox="1"/>
          <p:nvPr/>
        </p:nvSpPr>
        <p:spPr>
          <a:xfrm>
            <a:off x="1051560" y="4123944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Claude, Copilot, Cursor, ChatGPT, Gemini — one investment, universal access. Local or Azure deployment.</a:t>
            </a:r>
            <a:endParaRPr lang="en-US" dirty="0"/>
          </a:p>
        </p:txBody>
      </p:sp>
      <p:sp>
        <p:nvSpPr>
          <p:cNvPr id="436" name="Rect 437"/>
          <p:cNvSpPr/>
          <p:nvPr/>
        </p:nvSpPr>
        <p:spPr>
          <a:xfrm>
            <a:off x="539496" y="46725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37" name="TextBox 438"/>
          <p:cNvSpPr txBox="1"/>
          <p:nvPr/>
        </p:nvSpPr>
        <p:spPr>
          <a:xfrm>
            <a:off x="539496" y="46725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US" dirty="0"/>
          </a:p>
        </p:txBody>
      </p:sp>
      <p:sp>
        <p:nvSpPr>
          <p:cNvPr id="438" name="TextBox 439"/>
          <p:cNvSpPr txBox="1"/>
          <p:nvPr/>
        </p:nvSpPr>
        <p:spPr>
          <a:xfrm>
            <a:off x="1051560" y="4645152"/>
            <a:ext cx="105156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200" b="1" dirty="0">
                <a:solidFill>
                  <a:srgbClr val="333333"/>
                </a:solidFill>
                <a:latin typeface="Arial"/>
                <a:cs typeface="Arial"/>
              </a:rPr>
              <a:t>Measurable productivity gains across all roles</a:t>
            </a:r>
            <a:endParaRPr lang="en-US" dirty="0"/>
          </a:p>
        </p:txBody>
      </p:sp>
      <p:sp>
        <p:nvSpPr>
          <p:cNvPr id="439" name="TextBox 440"/>
          <p:cNvSpPr txBox="1"/>
          <p:nvPr/>
        </p:nvSpPr>
        <p:spPr>
          <a:xfrm>
            <a:off x="1051560" y="4965192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66666"/>
                </a:solidFill>
                <a:latin typeface="Arial"/>
                <a:cs typeface="Arial"/>
              </a:rPr>
              <a:t>Developers, consultants, support, BI, integration developers, and project managers all benefit.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relleborg layout WITHOUT subtitles">
  <a:themeElements>
    <a:clrScheme name="230905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lIns="72000" tIns="72000" rIns="72000" bIns="72000" rtlCol="0" anchor="t"/>
      <a:lstStyle>
        <a:defPPr algn="l">
          <a:lnSpc>
            <a:spcPct val="110000"/>
          </a:lnSpc>
          <a:spcBef>
            <a:spcPts val="800"/>
          </a:spcBef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noFill/>
        </a:ln>
      </a:spPr>
      <a:bodyPr wrap="square" lIns="0" tIns="0" rIns="0" bIns="0" rtlCol="0">
        <a:spAutoFit/>
      </a:bodyPr>
      <a:lstStyle>
        <a:defPPr algn="l">
          <a:lnSpc>
            <a:spcPct val="110000"/>
          </a:lnSpc>
          <a:spcBef>
            <a:spcPts val="800"/>
          </a:spcBef>
          <a:defRPr smtClean="0"/>
        </a:defPPr>
      </a:lstStyle>
    </a:txDef>
  </a:objectDefaults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Trelleborg template and toolbox v.1.pptx" id="{8AD82F21-6A70-4867-959E-EC1657297534}" vid="{5F8BE65A-4006-4694-B021-2BD2E6B59404}"/>
    </a:ext>
  </a:extLst>
</a:theme>
</file>

<file path=ppt/theme/theme2.xml><?xml version="1.0" encoding="utf-8"?>
<a:theme xmlns:a="http://schemas.openxmlformats.org/drawingml/2006/main" name="Trelleborg layout WITH subtitles">
  <a:themeElements>
    <a:clrScheme name="230905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lIns="72000" tIns="72000" rIns="72000" bIns="72000" rtlCol="0" anchor="t"/>
      <a:lstStyle>
        <a:defPPr algn="l">
          <a:lnSpc>
            <a:spcPct val="110000"/>
          </a:lnSpc>
          <a:spcBef>
            <a:spcPts val="800"/>
          </a:spcBef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noFill/>
        </a:ln>
      </a:spPr>
      <a:bodyPr wrap="square" lIns="0" tIns="0" rIns="0" bIns="0" rtlCol="0">
        <a:spAutoFit/>
      </a:bodyPr>
      <a:lstStyle>
        <a:defPPr algn="l">
          <a:lnSpc>
            <a:spcPct val="110000"/>
          </a:lnSpc>
          <a:spcBef>
            <a:spcPts val="800"/>
          </a:spcBef>
          <a:defRPr smtClean="0"/>
        </a:defPPr>
      </a:lstStyle>
    </a:txDef>
  </a:objectDefaults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Trelleborg template and toolbox v.1.pptx" id="{8AD82F21-6A70-4867-959E-EC1657297534}" vid="{8F1BF63D-33B0-4415-930E-3A22A2F5B076}"/>
    </a:ext>
  </a:extLst>
</a:theme>
</file>

<file path=ppt/theme/theme3.xml><?xml version="1.0" encoding="utf-8"?>
<a:theme xmlns:a="http://schemas.openxmlformats.org/drawingml/2006/main" name="Office Theme">
  <a:themeElements>
    <a:clrScheme name="240116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8cdf2a-c704-434a-a26b-e9d2b58a1b26">
      <Terms xmlns="http://schemas.microsoft.com/office/infopath/2007/PartnerControls"/>
    </lcf76f155ced4ddcb4097134ff3c332f>
    <TaxCatchAll xmlns="0740f516-8edd-43f4-a74a-adbc026fc50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85F51D834CA7479B73624D2E5D9188" ma:contentTypeVersion="14" ma:contentTypeDescription="Create a new document." ma:contentTypeScope="" ma:versionID="b194a5834eeb41edcc762a7d90077f41">
  <xsd:schema xmlns:xsd="http://www.w3.org/2001/XMLSchema" xmlns:xs="http://www.w3.org/2001/XMLSchema" xmlns:p="http://schemas.microsoft.com/office/2006/metadata/properties" xmlns:ns2="d68cdf2a-c704-434a-a26b-e9d2b58a1b26" xmlns:ns3="0740f516-8edd-43f4-a74a-adbc026fc50a" targetNamespace="http://schemas.microsoft.com/office/2006/metadata/properties" ma:root="true" ma:fieldsID="7110e4dc8e3e71c9bebd305723e395f6" ns2:_="" ns3:_="">
    <xsd:import namespace="d68cdf2a-c704-434a-a26b-e9d2b58a1b26"/>
    <xsd:import namespace="0740f516-8edd-43f4-a74a-adbc026fc5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8cdf2a-c704-434a-a26b-e9d2b58a1b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7bf3288-28e8-4ef9-9788-6427bad48b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0f516-8edd-43f4-a74a-adbc026fc50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7704284-9cbd-4fb2-b966-ad0726a87052}" ma:internalName="TaxCatchAll" ma:showField="CatchAllData" ma:web="0740f516-8edd-43f4-a74a-adbc026fc5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44F83A-07EB-48D2-9842-5998DA6117F3}">
  <ds:schemaRefs>
    <ds:schemaRef ds:uri="0740f516-8edd-43f4-a74a-adbc026fc50a"/>
    <ds:schemaRef ds:uri="d68cdf2a-c704-434a-a26b-e9d2b58a1b2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E5017B-E149-4287-BF71-2B76ACBD05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CA9699-493C-450E-90A2-49F72AAE0E91}">
  <ds:schemaRefs>
    <ds:schemaRef ds:uri="0740f516-8edd-43f4-a74a-adbc026fc50a"/>
    <ds:schemaRef ds:uri="d68cdf2a-c704-434a-a26b-e9d2b58a1b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2a0926b8-bf16-4a60-adaf-5bd46f8df9ae}" enabled="1" method="Standard" siteId="{0f861177-7722-4f06-8db9-3384e5321a9f}" removed="0"/>
  <clbl:label id="{50a58a55-8d55-4c7b-aa85-1ae890a4cc64}" enabled="1" method="Standard" siteId="{e85feadf-11e7-47bb-a160-43b98dcc96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Trelleborg_template_2024__v.1</Template>
  <TotalTime>170</TotalTime>
  <Words>98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Trelleborg layout WITHOUT subtitles</vt:lpstr>
      <vt:lpstr>Trelleborg layout WITH subtitles</vt:lpstr>
      <vt:lpstr>think-cell Slide</vt:lpstr>
      <vt:lpstr>D365 F&amp;O – Change requests management</vt:lpstr>
      <vt:lpstr>Change request management</vt:lpstr>
      <vt:lpstr>Decision matrix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Veronica Åkermo</dc:creator>
  <cp:lastModifiedBy>Antoine Bastian</cp:lastModifiedBy>
  <cp:revision>4</cp:revision>
  <dcterms:created xsi:type="dcterms:W3CDTF">2025-02-17T05:03:08Z</dcterms:created>
  <dcterms:modified xsi:type="dcterms:W3CDTF">2026-03-03T13:49:34Z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0x010100EE85F51D834CA7479B73624D2E5D9188</vt:lpwstr>
  </property>
  <property fmtid="{D5CDD505-2E9C-101B-9397-08002B2CF9AE}" pid="3" name="MediaServiceImageTags">
    <vt:lpwstr/>
  </property>
  <property fmtid="{D5CDD505-2E9C-101B-9397-08002B2CF9AE}" pid="4" name="NXPowerLiteLastOptimized">
    <vt:lpwstr>1079019</vt:lpwstr>
  </property>
  <property fmtid="{D5CDD505-2E9C-101B-9397-08002B2CF9AE}" pid="5" name="NXPowerLiteSettings">
    <vt:lpwstr>F70005D002A000</vt:lpwstr>
  </property>
  <property fmtid="{D5CDD505-2E9C-101B-9397-08002B2CF9AE}" pid="6" name="NXPowerLiteVersion">
    <vt:lpwstr>D10.0.1</vt:lpwstr>
  </property>
  <property fmtid="{D5CDD505-2E9C-101B-9397-08002B2CF9AE}" pid="7" name="ClassificationContentMarkingFooterLocations">
    <vt:lpwstr>Trelleborg layout WITHOUT subtitles:10\Trelleborg layout WITH subtitles:10</vt:lpwstr>
  </property>
  <property fmtid="{D5CDD505-2E9C-101B-9397-08002B2CF9AE}" pid="8" name="ClassificationContentMarkingFooterText">
    <vt:lpwstr>Internal document</vt:lpwstr>
  </property>
</Properties>
</file>