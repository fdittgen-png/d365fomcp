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2.xml" ContentType="application/vnd.openxmlformats-officedocument.presentationml.tags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4155" r:id="rId4"/>
    <p:sldMasterId id="2147484156" r:id="rId5"/>
  </p:sldMasterIdLst>
  <p:notesMasterIdLst>
    <p:notesMasterId r:id="rId10"/>
  </p:notesMasterIdLst>
  <p:handoutMasterIdLst>
    <p:handoutMasterId r:id="rId11"/>
  </p:handoutMasterIdLst>
  <p:sldIdLst>
    <p:sldId id="300" r:id="rId100"/>
    <p:sldId id="301" r:id="rId101"/>
    <p:sldId id="302" r:id="rId102"/>
    <p:sldId id="303" r:id="rId103"/>
    <p:sldId id="304" r:id="rId104"/>
    <p:sldId id="305" r:id="rId105"/>
    <p:sldId id="306" r:id="rId106"/>
    <p:sldId id="307" r:id="rId107"/>
    <p:sldId id="308" r:id="rId108"/>
    <p:sldId id="309" r:id="rId109"/>
    <p:sldId id="310" r:id="rId110"/>
    <p:sldId id="311" r:id="rId111"/>
    <p:sldId id="312" r:id="rId112"/>
    <p:sldId id="313" r:id="rId113"/>
    <p:sldId id="314" r:id="rId114"/>
  </p:sldIdLst>
  <p:sldSz cx="12192000" cy="6858000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A1C916-6EE0-F152-37D1-5D7186435031}" name="Criselda Olanday" initials="" userId="S::colanday@hsdyn.com::631923f0-de08-4c34-9b60-231f39a03558" providerId="AD"/>
  <p188:author id="{BD038BF0-4252-EFCA-73A1-1C06A7BFD751}" name="Rebecca Ziedén" initials="RZ" userId="S::rebecca.zieden@trelleborg.com::8e1a3bf3-e463-4fc2-ab7b-87cc8e7518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E1E1E1"/>
    <a:srgbClr val="F8CBAD"/>
    <a:srgbClr val="FFE699"/>
    <a:srgbClr val="BDD7EE"/>
    <a:srgbClr val="C6E0B4"/>
    <a:srgbClr val="002664"/>
    <a:srgbClr val="0070C0"/>
    <a:srgbClr val="191919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DB511-BBF4-4F67-9E07-019295306042}" v="15" dt="2026-03-03T13:45:03.8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07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14" Type="http://schemas.openxmlformats.org/officeDocument/2006/relationships/viewProps" Target="viewProps.xml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Relationship Id="rId104" Type="http://schemas.openxmlformats.org/officeDocument/2006/relationships/slide" Target="slides/slide5.xml"/><Relationship Id="rId105" Type="http://schemas.openxmlformats.org/officeDocument/2006/relationships/slide" Target="slides/slide6.xml"/><Relationship Id="rId106" Type="http://schemas.openxmlformats.org/officeDocument/2006/relationships/slide" Target="slides/slide7.xml"/><Relationship Id="rId107" Type="http://schemas.openxmlformats.org/officeDocument/2006/relationships/slide" Target="slides/slide8.xml"/><Relationship Id="rId108" Type="http://schemas.openxmlformats.org/officeDocument/2006/relationships/slide" Target="slides/slide9.xml"/><Relationship Id="rId109" Type="http://schemas.openxmlformats.org/officeDocument/2006/relationships/slide" Target="slides/slide10.xml"/><Relationship Id="rId110" Type="http://schemas.openxmlformats.org/officeDocument/2006/relationships/slide" Target="slides/slide11.xml"/><Relationship Id="rId111" Type="http://schemas.openxmlformats.org/officeDocument/2006/relationships/slide" Target="slides/slide12.xml"/><Relationship Id="rId112" Type="http://schemas.openxmlformats.org/officeDocument/2006/relationships/slide" Target="slides/slide13.xml"/><Relationship Id="rId113" Type="http://schemas.openxmlformats.org/officeDocument/2006/relationships/slide" Target="slides/slide14.xml"/><Relationship Id="rId1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A76584-D3F2-B57E-BF02-D7C999AA7B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CC6F94-9BC4-3846-F58E-D1D68C191F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>
            <a:spAutoFit/>
          </a:bodyPr>
          <a:lstStyle>
            <a:lvl1pPr algn="r">
              <a:defRPr sz="1300"/>
            </a:lvl1pPr>
          </a:lstStyle>
          <a:p>
            <a:fld id="{CC0BB003-453D-49F4-9E2C-B0AABA0AB37D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9171E-418A-FCC6-7291-647574BEF4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8DF413-5A80-0E4B-FAC6-ED9C1B6AAD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247437"/>
            <a:ext cx="3169920" cy="353763"/>
          </a:xfrm>
          <a:prstGeom prst="rect">
            <a:avLst/>
          </a:prstGeom>
        </p:spPr>
        <p:txBody>
          <a:bodyPr vert="horz" lIns="76111" tIns="76111" rIns="76111" bIns="76111" rtlCol="0" anchor="b">
            <a:spAutoFit/>
          </a:bodyPr>
          <a:lstStyle>
            <a:lvl1pPr algn="r">
              <a:defRPr sz="1300"/>
            </a:lvl1pPr>
          </a:lstStyle>
          <a:p>
            <a:fld id="{5CEEF8C8-A39C-426A-A785-874186603B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76371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>
            <a:spAutoFit/>
          </a:bodyPr>
          <a:lstStyle>
            <a:lvl1pPr algn="r">
              <a:defRPr sz="1300"/>
            </a:lvl1pPr>
          </a:lstStyle>
          <a:p>
            <a:fld id="{17C9ACF2-9523-4E24-AB2A-AA40E013F93F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4975" y="377825"/>
            <a:ext cx="6443663" cy="3624263"/>
          </a:xfrm>
          <a:prstGeom prst="rect">
            <a:avLst/>
          </a:prstGeom>
          <a:noFill/>
          <a:ln w="3175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08419" y="4376764"/>
            <a:ext cx="5852160" cy="4954198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324290"/>
            <a:ext cx="3169920" cy="276910"/>
          </a:xfrm>
          <a:prstGeom prst="rect">
            <a:avLst/>
          </a:prstGeom>
        </p:spPr>
        <p:txBody>
          <a:bodyPr vert="horz" lIns="38056" tIns="38056" rIns="38056" bIns="38056" rtlCol="0" anchor="b">
            <a:spAutoFit/>
          </a:bodyPr>
          <a:lstStyle>
            <a:lvl1pPr algn="r">
              <a:defRPr sz="1300"/>
            </a:lvl1pPr>
          </a:lstStyle>
          <a:p>
            <a:fld id="{79F5A480-A98C-4E91-8166-A054DD06EBA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30">
            <a:extLst>
              <a:ext uri="{FF2B5EF4-FFF2-40B4-BE49-F238E27FC236}">
                <a16:creationId xmlns:a16="http://schemas.microsoft.com/office/drawing/2014/main" id="{B5AB089E-4160-1789-5FB9-5606598D96E9}"/>
              </a:ext>
            </a:extLst>
          </p:cNvPr>
          <p:cNvSpPr txBox="1">
            <a:spLocks/>
          </p:cNvSpPr>
          <p:nvPr/>
        </p:nvSpPr>
        <p:spPr>
          <a:xfrm>
            <a:off x="7708419" y="4177085"/>
            <a:ext cx="4865963" cy="2030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00">
                <a:solidFill>
                  <a:srgbClr val="FF0000"/>
                </a:solidFill>
              </a:rPr>
              <a:t>PLACEHOLDER FOR SPEAKER NOTES. </a:t>
            </a:r>
            <a:r>
              <a:rPr lang="en-US" sz="1300" b="1">
                <a:solidFill>
                  <a:srgbClr val="FF0000"/>
                </a:solidFill>
              </a:rPr>
              <a:t>DO NOT DELETE!</a:t>
            </a:r>
          </a:p>
        </p:txBody>
      </p:sp>
    </p:spTree>
    <p:extLst>
      <p:ext uri="{BB962C8B-B14F-4D97-AF65-F5344CB8AC3E}">
        <p14:creationId xmlns:p14="http://schemas.microsoft.com/office/powerpoint/2010/main" val="551558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97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1950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2925" indent="-180975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14375" indent="-17145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755" userDrawn="1">
          <p15:clr>
            <a:srgbClr val="F26B43"/>
          </p15:clr>
        </p15:guide>
        <p15:guide id="2" pos="242" userDrawn="1">
          <p15:clr>
            <a:srgbClr val="F26B43"/>
          </p15:clr>
        </p15:guide>
        <p15:guide id="3" pos="4365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81108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4271837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3087849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ile of blue round objects&#10;&#10;Description automatically generated">
            <a:extLst>
              <a:ext uri="{FF2B5EF4-FFF2-40B4-BE49-F238E27FC236}">
                <a16:creationId xmlns:a16="http://schemas.microsoft.com/office/drawing/2014/main" id="{21039A13-5E24-01BD-7AE6-E21BAF2FF5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12192000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75A65D-43E7-43CB-B1DC-1AA3498557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BF84820-31F1-B83D-4E26-E092B59B035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8279A15E-E54F-4DAA-5039-C13CF5FB75D7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4A4F2AD-5ADC-6997-65BD-83EACEA7E73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98932B-31B6-5487-DFA4-E7A48CC3FFA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8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lose-up of a molecule model&#10;&#10;Description automatically generated">
            <a:extLst>
              <a:ext uri="{FF2B5EF4-FFF2-40B4-BE49-F238E27FC236}">
                <a16:creationId xmlns:a16="http://schemas.microsoft.com/office/drawing/2014/main" id="{B59F7929-18C9-D935-8A79-ADDD408D3A5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next slides with either black or white text. Choose the option with the best legibility.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119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6A3F4F4-7BBD-6943-C498-8A7432F35526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0584D7D-FC54-134E-D60E-77615076D29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6B4D6DF-C38B-8BF5-6884-66C97524E19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EA28B8FE-7831-4D03-F7FB-DD767237FA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E62AA2A-3974-9045-FBE4-6193CD40BBB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A65224-5F6E-8C17-CF93-017355C6E88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216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EC9CC24-D5A1-293B-9B6C-F6B05C74A45B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12" name="Title 12">
            <a:extLst>
              <a:ext uri="{FF2B5EF4-FFF2-40B4-BE49-F238E27FC236}">
                <a16:creationId xmlns:a16="http://schemas.microsoft.com/office/drawing/2014/main" id="{B631AC8A-C28B-2276-BBC2-E2094C1D95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13" name="Text Placeholder 20">
            <a:extLst>
              <a:ext uri="{FF2B5EF4-FFF2-40B4-BE49-F238E27FC236}">
                <a16:creationId xmlns:a16="http://schemas.microsoft.com/office/drawing/2014/main" id="{BA87814B-D74C-7E13-0334-6544D472DD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701AB1-BA42-17D3-EADA-8CA27E06B62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9757374E-7FB7-5928-E71B-EE966B8CD30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91EFE4E1-E895-95A1-DA9C-6922E3FE13C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659CBF1-350C-4D27-D419-177B583FEA0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79317C-BA14-2104-07A5-C5447AE5FEA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664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1349467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E3F97B24-C0D7-5D5D-E8C3-A41B24560D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4168" cy="631799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DCD17DF-27AC-4A99-9425-A3094F9CB30D}" type="datetime4">
              <a:rPr lang="en-US" smtClean="0"/>
              <a:t>March 3, 2026</a:t>
            </a:fld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FF09D-081B-AB3E-4B44-FA17D925AA76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37E0588-03FC-58A5-2D48-A55679FDE5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1259B1A-1C82-5DEF-6A4D-B7BBE17DAD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F0E6B4F-3095-4BD0-7EE3-63266938F5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A5BC62B4-6EA7-3164-7EB4-A7C7090AF2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96CAD89-7CBE-6878-2AD0-186D8E1C1B5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3F0DF00-E256-BE3F-0522-B7F48B692DB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E62DA0B-D26E-4273-30E9-40A74A4F982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D098AC2E-7F34-9C23-662B-15AE620CE9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83EC1EFB-0A10-6CF7-B8D9-A527427E1B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2744B1B-C4AF-383B-FA2B-42B096861E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C1D8073D-E809-4AFD-F13D-A31DEC46ED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058C5436-90C0-B14F-E462-114AF5C1DF4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30AF1BD-F4F7-6587-C38F-58AEEB8C6EB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7AA62A2D-66F0-2046-5500-5D3A2A0E90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6A33176-BF33-67B1-DB48-F6C24814E7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DA646A20-84EB-6BFA-E2E3-2F143D5D7B9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0AE8C673-852C-6607-245E-0D62351058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0160124-8D64-6220-6389-959C12744C91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3CC72B2-92A7-59D9-F3F6-82B5ABD0D43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2208CF7-50A2-E4FE-AE38-DB96E4C8382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4F3EE16-62FB-8179-7BDB-E2B2DC83982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A1520DB-DC79-88D2-AB36-0E1D14D9C8B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6831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Line">
            <a:extLst>
              <a:ext uri="{FF2B5EF4-FFF2-40B4-BE49-F238E27FC236}">
                <a16:creationId xmlns:a16="http://schemas.microsoft.com/office/drawing/2014/main" id="{699564C9-E5C3-E632-EC13-0F0571598E9D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483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9DF86BC4-59F0-2637-65E0-55A5A0194A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/>
          <a:p>
            <a:r>
              <a:rPr lang="en-US"/>
              <a:t>Click to add title – max 2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69A388-0668-E3BA-040D-26643B2F64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433AB0E-C022-E9C1-55AA-2D0DBFDF3D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81460C1-772B-9650-0D54-38F0353A5EF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0C8BC95-CB59-C133-CB6F-0E2DB1F5453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0D426C4-B5F6-7542-1D6C-193286A8371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Line">
            <a:extLst>
              <a:ext uri="{FF2B5EF4-FFF2-40B4-BE49-F238E27FC236}">
                <a16:creationId xmlns:a16="http://schemas.microsoft.com/office/drawing/2014/main" id="{835D7BB8-9942-24B6-C9B9-9A47D011B095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76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7101AF5-F148-9768-1958-2E366CE82412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6" name="Pladsholder til tekst 45">
            <a:extLst>
              <a:ext uri="{FF2B5EF4-FFF2-40B4-BE49-F238E27FC236}">
                <a16:creationId xmlns:a16="http://schemas.microsoft.com/office/drawing/2014/main" id="{89B9DE34-8ABF-BA64-1E5A-2C22615BEE6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-1" y="-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8614FAC-4F99-A018-085D-423B44F4C3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C2B682-98E6-349C-0176-8A4810E0A2F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D22CA28-A0C9-3E35-9ECC-AB5396971096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971AB745-404C-4D44-A15A-03EA16B1A0D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D0368A2-1F36-B909-3639-2BA06FFB13E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FCB287-AAC8-88F3-6E22-96915914F13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ACEA48E-2A50-3CDE-DDC8-0FEC307BD22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38" name="Pladsholder til tekst 13">
            <a:extLst>
              <a:ext uri="{FF2B5EF4-FFF2-40B4-BE49-F238E27FC236}">
                <a16:creationId xmlns:a16="http://schemas.microsoft.com/office/drawing/2014/main" id="{ABD63393-A27E-64F9-FAC9-D0BD2A57020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801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40834982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         Title +          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93F5B-4B0B-4F35-B137-C73DCBEFE0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4"/>
            <a:ext cx="11111997" cy="4840286"/>
          </a:xfrm>
          <a:ln w="12700">
            <a:noFill/>
          </a:ln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70F760CC-EB81-1B52-CB77-0751D3F2DC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81C618C2-76F3-7029-7C9E-17893EDB0F2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0878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016B0-873B-4D63-9325-924D4CDC68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5"/>
            <a:ext cx="5285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8903B7-457A-31FB-D4AD-99B8A68D5C5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BDED1D-B412-AD16-FA88-2C6FB91BC21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5B26F13-8D04-19B3-9A99-75C06691D18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8D5E408-CD80-103B-C407-9CC505DD1BD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91A839-838F-F001-350F-371F377F195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993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71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9A6D0-4FB7-46CD-9B06-EE97F1E482E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9C8BE9-283B-D03E-891D-9B81509E985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EF0C279F-9262-DAB8-4C49-84F031339C5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23479838-93B8-149B-6DC7-E491DF3BD3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7BBA0A3-ED50-091D-3179-32B8AF2E397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549196-2416-450A-3A2D-32AF66AABF4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6483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A5AC9F-000A-820C-FCD3-BF852968EAD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E7262B6C-05EE-24A0-5004-0ECCCE1186C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9B673292-0108-C19A-F546-513D96C46235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5AFEFD6-1B7D-80D9-5A0F-6F16D1DFBB6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CC283CA-1E9C-BC2D-B77F-5AB33544ABA6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6016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8741E89-9D74-241F-B0B1-ACE37136CD16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78B7045B-054E-0D81-3A22-EE4F72FC16A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1A666DE-97FF-C04C-CD02-9CFF9A8F044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4806538-065B-112E-73BA-B6E90DD6E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E79C413-AFF7-F044-EA41-63F54371DC5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0559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7823691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4A9CA9-E97F-CCE8-8F23-0FEA5BE62B6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609FEEF2-9075-5A94-9151-B24854853AE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DB34A00-26BA-43D3-02E6-55181091771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4FC7402-ECC1-E688-3C56-A6815141FCD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5413917-3356-254F-FCD2-3FCC6E32283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45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D6FB-2050-4479-8767-F535260FBE2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871CA24-6567-356B-26A9-AFE696ECC4C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FBBDB2A-2223-2537-5339-1BEB17F7B1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5AF8C0-E372-9B50-5392-A21E3C3CEA9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72CF0CD7-F775-86F9-2C16-C4CAB5AFFDB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F7DA84-2CDC-52FD-3DEF-8744B210438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E4C1BEE0-21DA-DBA3-5D83-1728B22CFAB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0D792B-10ED-C869-F544-C61071FD460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15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8D39FE-7DD8-C7BE-A185-D93FB54614E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052E8917-98B8-1A40-413E-443F4F84F50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712BABF-9947-DAD0-5CF3-B9E323F84F76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4FA701B-3DDC-7384-4818-400221E04E9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057E77-F45B-80AB-FC3E-696929B685F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78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Title +     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A457AB0C-87F5-3881-502C-83B67E5FD20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9A6BD-B347-42A0-BA33-CF740CC356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E7941-4AAA-B2C2-2792-6DA3BEA7DB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3891"/>
            <a:ext cx="5285999" cy="66479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404FB4B-638F-464D-0DBA-A1BB81D0D3D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CC2D1647-239E-6953-0934-35FD91592F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5CF310B-E66A-E79C-A4D5-FC41DB30714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B1AD031-8567-DC8C-907B-A6F797E1078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2A30C48-4464-43F6-ED6F-323F26B94A3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38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59875-23E9-43C9-9883-CE97839F158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D442347-66C0-3AC5-363B-B6A3649FDC2B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441258-7B44-816E-5F67-9F844A77A7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0EF042A2-E5DF-5175-F66F-F72319A9BCD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40050-1E99-6AB6-AF34-917ABBF1F20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7CF19401-8897-78C8-10AD-A39183A9E34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9CED8BD-EAC4-4514-7E1F-814F4EC1333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FE76C90-39C2-B05E-1532-781F038FD3C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703441-9730-71C4-4A91-7696000E31E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4214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BBDA6-5B4A-453D-B342-C2505ECDBEA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EA8DB66A-D2CC-D810-675A-F43E35D8E07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4FC28CC-FD7E-6A9C-BB41-796D36971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AEE614E9-6E39-7A6F-1281-EFE6FDDECE9D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505D42D-DBC1-5375-B31C-C1373C0F90D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474CFF-73A8-DC60-2B9C-1A07FD50E52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42E232F6-CCC4-1371-1E74-B3CF04C2545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B830415-8383-BA70-6648-70A2E11E4E9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7828632-C99B-D8F2-2FA8-7737030C290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A286678-FEA6-5028-5A5C-3AD45F9B71C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1393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Title +          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EFCA647-6B27-5C47-34E4-97A0BFE509D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033B1A93-3158-8F08-FEB9-35D3CB903F4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BC45DBA-A38C-68B5-BB9B-E4199DC1F38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A5EEC2A8-B5A7-A3CF-2471-3168B61FF14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6C802D-9825-DF57-8EEF-18E90C41DB2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07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         Title +          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2 lines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B20C146-4A57-FE84-F9F7-F53F610A94B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52B72080-A9DE-AC12-6289-80ECD4C1F6F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B32BB803-852B-F858-FFF4-D7C4C3A079F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5EB40EA3-45D0-4769-7EF1-15CF3765647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 a subtitle. (See the second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F111A0-6C70-988D-E3B8-5D711B9D268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747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608824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4D0B3D3-BA2C-2FEB-8C02-DEFEDEF4C69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FB02E7-1D53-AD29-7A84-12EF89515D2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5BB9824-6658-A405-A19C-E7F174DA35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95F5933-3CB1-A24F-05AF-810F25169E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90287A-2DEA-EA4F-F2DF-2984F661895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DBDD0FFF-5EFE-8252-3DCF-B1C4F8A644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2371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04B0DF0-6A5C-9D2A-BCCA-B4F6A4DD8A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46A1EB-78E6-C911-3486-AFD7E2E4530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B8FFEAD-A022-9BD5-7C39-8C71C74BE97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063685F-78D8-4EDE-8162-993FEFD9DC0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155D10-7C2F-E972-FE17-5550F306AF1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EEE6ABC-957D-76CE-554C-AB9AE9E010E2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586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A69C33C-A823-AB73-96C5-616BB04D2BB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9198C6-18AD-B948-C3E3-F5D9C471E31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46F114-601F-99FE-9212-346B9D90DFE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C2A3CDD-1A59-6F83-FAB0-E59A397C053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3EEE170-BE87-8E79-B8A8-6A712CD98BE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BEDF33B-43AB-C513-13D0-B4AF46D6BAA0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053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E6D0F6FB-6C6A-A316-65E3-21E4F016B4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49F761-BEE2-A53B-6242-B3C1A8BF0E9D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3C2E87-14DA-E0D4-5F12-0B387EFA68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1EF5BD85-CE21-7450-DF80-12142997DB16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CD4093-BA46-B30A-3DE8-D87CC93B0F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8380EF-6188-7953-1395-B42A191F7B5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77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31C85D43-7198-311C-42C3-32E0EBCBC2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E9B890-D9E1-12AB-6A98-A6DFADB720AF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D332EE90-B3A6-D045-6906-DF42611C5C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3D2FA41-5974-02ED-BFA0-AD0530180CC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A3749F7-4A83-A1E3-0822-4E1501B6727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8AA7ECA-721E-07A5-7366-58D72140C1ED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20639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52E8F4F2-4CF5-20AA-C330-055737901CD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840BB9-9B4D-F063-C182-83505AB36D4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1EAE5AB-8073-EC5F-7543-906407B9F9D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0846C63-B27E-9F89-A437-34F51FFEE3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4C1474-ECF9-6D0B-5627-7C818FF0A021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21ADEBE-6124-1F1F-FED8-77F90794445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7223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4840733B-15EC-9093-54BB-E7391FF71FC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9513A5-9586-F580-38A5-F8FCE12EF77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C98E470-C356-1A03-23CE-2A61482C13A4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54EA44A-6E92-16F9-EA07-B0CD00B2463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1AB75F-B8BD-AE26-DAD8-FDE8FACFE49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9405032D-31E6-1D44-B6A4-32C6C6BB5FDE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2858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DEAF3BC-AC55-6BBF-E832-58A1DE4E14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BC93D-EFFC-E999-9A87-F67F62880D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F0EF083-9CF2-C1FC-4EFE-5284854FBCD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E40690-D1DF-BBFC-B703-4E7B71E07D5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78228F3-844C-37E1-C6B8-F41053C85F5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5F4A822-B676-DF7C-F52E-8B56749DFF6F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059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36422378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3AB048-B611-DE2A-18D9-88EA82D87C05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FFA83D3-D6A4-0581-D713-C161575E6C7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C40B9DB4-9A20-4D76-D71C-2E2D50064E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ED2106D-9AE0-031C-7B83-F511DD7E86F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22515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EA276-1CAD-56D6-6982-6B570F11000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654A5925-E410-9B1B-3C52-F9744A41330A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1EFF5072-6D72-1C5D-056B-9040EFCBF02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2DB0CD0-1E94-5315-0351-69F583409E6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 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60A8CE-2B28-F59C-432E-4D0CB08C0AF7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6533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4820747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FED7A3A3-370E-8E53-82F8-84D568B1CC0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FA609-5214-2601-064E-5161C32C183C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47A962D-9441-E0BB-7AC7-AEFC587746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C2216F6-4218-A9B7-495B-6948DB60498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05352C-46B2-607C-D7F7-A66755C76F9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53CBF535-DF2A-E315-6F9F-D080C1FE162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be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the last slide of the presentation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layout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1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4893727-33C4-6661-11ED-837B77A5A3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End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6949FB-49FC-1A8F-C989-9640D70328B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460514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37402931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1279984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bridge over water with a city in the background&#10;&#10;Description automatically generated">
            <a:extLst>
              <a:ext uri="{FF2B5EF4-FFF2-40B4-BE49-F238E27FC236}">
                <a16:creationId xmlns:a16="http://schemas.microsoft.com/office/drawing/2014/main" id="{2FF56083-EF44-4D03-F22B-D8BF3915BE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7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2EEBA4-8D7D-C7D6-8079-8475A22BBE0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D6C6BAD-1F86-7B7B-4E7C-5A8F4112B93F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467231C2-8EC2-FDAA-4BD7-1A4FD42785A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should always start the presentation.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may not be altered or exchanged.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you would like an image tailored to your presentation, it should be on a slide following this one. A suggested layout for that type of slide is the chapter divider.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add date or text boxes in the black footer.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0D785D4-DE7B-68D2-23F6-0754A584AF81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82ADE1-E5B9-F688-D4F4-33C02E09A37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tshållare för text 5">
            <a:extLst>
              <a:ext uri="{FF2B5EF4-FFF2-40B4-BE49-F238E27FC236}">
                <a16:creationId xmlns:a16="http://schemas.microsoft.com/office/drawing/2014/main" id="{91D07A75-093C-CC29-0295-DD1A43DF9891}"/>
              </a:ext>
            </a:extLst>
          </p:cNvPr>
          <p:cNvSpPr txBox="1">
            <a:spLocks/>
          </p:cNvSpPr>
          <p:nvPr userDrawn="1"/>
        </p:nvSpPr>
        <p:spPr>
          <a:xfrm>
            <a:off x="4447548" y="2863373"/>
            <a:ext cx="5527988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65000"/>
                  </a:schemeClr>
                </a:solidFill>
                <a:latin typeface="Arial"/>
                <a:ea typeface="ＭＳ Ｐゴシック" charset="0"/>
                <a:cs typeface="Arial"/>
              </a:rPr>
              <a:t>Welcome to the</a:t>
            </a:r>
          </a:p>
        </p:txBody>
      </p:sp>
      <p:sp>
        <p:nvSpPr>
          <p:cNvPr id="18" name="Platshållare för text 6">
            <a:extLst>
              <a:ext uri="{FF2B5EF4-FFF2-40B4-BE49-F238E27FC236}">
                <a16:creationId xmlns:a16="http://schemas.microsoft.com/office/drawing/2014/main" id="{9CA49248-ADE0-5317-90A4-4884DA335D1E}"/>
              </a:ext>
            </a:extLst>
          </p:cNvPr>
          <p:cNvSpPr txBox="1">
            <a:spLocks/>
          </p:cNvSpPr>
          <p:nvPr userDrawn="1"/>
        </p:nvSpPr>
        <p:spPr>
          <a:xfrm>
            <a:off x="5080230" y="3327778"/>
            <a:ext cx="6702091" cy="1123384"/>
          </a:xfrm>
          <a:prstGeom prst="rect">
            <a:avLst/>
          </a:prstGeom>
        </p:spPr>
        <p:txBody>
          <a:bodyPr wrap="none">
            <a:sp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200"/>
              </a:spcBef>
              <a:buSzPct val="120000"/>
              <a:buNone/>
            </a:pPr>
            <a:r>
              <a:rPr lang="en-US" sz="6700" b="1" kern="2400" spc="-550">
                <a:solidFill>
                  <a:schemeClr val="bg1">
                    <a:alpha val="90000"/>
                  </a:schemeClr>
                </a:solidFill>
                <a:latin typeface="Arial"/>
                <a:ea typeface="ＭＳ Ｐゴシック" charset="0"/>
                <a:cs typeface="Arial"/>
              </a:rPr>
              <a:t>World of Trelleborg</a:t>
            </a:r>
          </a:p>
        </p:txBody>
      </p:sp>
      <p:sp>
        <p:nvSpPr>
          <p:cNvPr id="19" name="Title 5">
            <a:extLst>
              <a:ext uri="{FF2B5EF4-FFF2-40B4-BE49-F238E27FC236}">
                <a16:creationId xmlns:a16="http://schemas.microsoft.com/office/drawing/2014/main" id="{EE4E0A4E-F1A4-4C53-6FCB-78BDB2150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2201" y="4492547"/>
            <a:ext cx="6400800" cy="429348"/>
          </a:xfrm>
        </p:spPr>
        <p:txBody>
          <a:bodyPr wrap="square">
            <a:spAutoFit/>
          </a:bodyPr>
          <a:lstStyle>
            <a:lvl1pPr>
              <a:defRPr sz="310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add presentation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9A31CA47-65E2-612A-723D-E0638444D2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72201" y="499450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location and date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30FA783-13B7-CC24-C426-21199798B8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2201" y="5338754"/>
            <a:ext cx="6400800" cy="324000"/>
          </a:xfrm>
        </p:spPr>
        <p:txBody>
          <a:bodyPr wrap="square">
            <a:spAutoFit/>
          </a:bodyPr>
          <a:lstStyle>
            <a:lvl1pPr marL="0" indent="0">
              <a:buNone/>
              <a:defRPr sz="2400">
                <a:solidFill>
                  <a:schemeClr val="bg1">
                    <a:alpha val="90000"/>
                  </a:schemeClr>
                </a:solidFill>
              </a:defRPr>
            </a:lvl1pPr>
            <a:lvl2pPr marL="178775" indent="0">
              <a:buNone/>
              <a:defRPr>
                <a:solidFill>
                  <a:schemeClr val="bg1"/>
                </a:solidFill>
              </a:defRPr>
            </a:lvl2pPr>
            <a:lvl3pPr marL="360000" indent="0">
              <a:buNone/>
              <a:defRPr>
                <a:solidFill>
                  <a:schemeClr val="bg1"/>
                </a:solidFill>
              </a:defRPr>
            </a:lvl3pPr>
            <a:lvl4pPr marL="539138" indent="0">
              <a:buNone/>
              <a:defRPr>
                <a:solidFill>
                  <a:schemeClr val="bg1"/>
                </a:solidFill>
              </a:defRPr>
            </a:lvl4pPr>
            <a:lvl5pPr marL="7200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name and title</a:t>
            </a:r>
          </a:p>
        </p:txBody>
      </p:sp>
    </p:spTree>
    <p:extLst>
      <p:ext uri="{BB962C8B-B14F-4D97-AF65-F5344CB8AC3E}">
        <p14:creationId xmlns:p14="http://schemas.microsoft.com/office/powerpoint/2010/main" val="144857366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Section divider</a:t>
            </a:r>
          </a:p>
        </p:txBody>
      </p:sp>
    </p:spTree>
    <p:extLst>
      <p:ext uri="{BB962C8B-B14F-4D97-AF65-F5344CB8AC3E}">
        <p14:creationId xmlns:p14="http://schemas.microsoft.com/office/powerpoint/2010/main" val="20022142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le of blue round objects&#10;&#10;Description automatically generated">
            <a:extLst>
              <a:ext uri="{FF2B5EF4-FFF2-40B4-BE49-F238E27FC236}">
                <a16:creationId xmlns:a16="http://schemas.microsoft.com/office/drawing/2014/main" id="{A5D78FF6-AC81-C982-4659-4CA811ADE34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7778"/>
          <a:stretch/>
        </p:blipFill>
        <p:spPr>
          <a:xfrm>
            <a:off x="1" y="0"/>
            <a:ext cx="12186217" cy="63216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343B7AF6-E61D-4D5E-AA5E-F0A0FEE57720}" type="datetime4">
              <a:rPr lang="en-US" smtClean="0"/>
              <a:t>March 3, 2026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B5E219-96E4-B92D-AE36-E2D19DEBA3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9115E250-E415-ADB7-5CD0-E7600905911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80A4D0-62DF-1D03-2CBF-172ABDF7AE5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0222FCD-6EFA-D57F-3CCB-25A6F4818FF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FA6D5942-2F9C-5E1F-D2C4-2BEF6EB128B9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3141728-31EC-6AB0-5F94-ADA984279C1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(option 1)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2D8BAE-8265-943B-4F1A-5211C25E9C08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89298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 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lose-up of a molecule model&#10;&#10;Description automatically generated">
            <a:extLst>
              <a:ext uri="{FF2B5EF4-FFF2-40B4-BE49-F238E27FC236}">
                <a16:creationId xmlns:a16="http://schemas.microsoft.com/office/drawing/2014/main" id="{74B99D62-9F91-5C92-67D0-79C3034972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32358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do so, please use the next slides with either black or white text. Choose the option with the best legibility.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(option 2)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15016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white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0DA28AF9-6B31-A8DE-F8D6-C4B3FAF3273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bg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bg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2582B-B814-EAB8-3D6E-D6AC89177A7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84C7EB64-5E1A-9222-5FA6-49C6F7F9009D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612A211E-01A4-071E-72EC-4DC6854341F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333772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black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7E9DDD8-A8FD-1769-4AF5-3433EB05625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(white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285B26E-7DCC-BF3F-F5A4-F0978CB640D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698116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ection divider    (black tex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7C3D02A2-500F-8322-38B5-0A1AB415FAD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2E82C4-E4C4-75F7-134D-532AAFEFE9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BCA23C-5C32-5088-F69D-1334AF24ED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A2ADD-C034-0CE2-60D7-A98BC33CC8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1576624-D3C2-40D0-A3F0-D4FECC101AFD}" type="datetime4">
              <a:rPr lang="en-US" smtClean="0"/>
              <a:t>March 3, 2026</a:t>
            </a:fld>
            <a:endParaRPr lang="en-US"/>
          </a:p>
        </p:txBody>
      </p:sp>
      <p:sp>
        <p:nvSpPr>
          <p:cNvPr id="8" name="Title 12">
            <a:extLst>
              <a:ext uri="{FF2B5EF4-FFF2-40B4-BE49-F238E27FC236}">
                <a16:creationId xmlns:a16="http://schemas.microsoft.com/office/drawing/2014/main" id="{17646EFD-1BA6-B9D0-1A4E-4B29DA263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999" y="3717156"/>
            <a:ext cx="10859839" cy="927946"/>
          </a:xfrm>
        </p:spPr>
        <p:txBody>
          <a:bodyPr wrap="square" anchor="t">
            <a:spAutoFit/>
          </a:bodyPr>
          <a:lstStyle>
            <a:lvl1pPr>
              <a:defRPr sz="6700" kern="2400" spc="-550" baseline="0">
                <a:solidFill>
                  <a:schemeClr val="tx1">
                    <a:alpha val="65000"/>
                  </a:schemeClr>
                </a:solidFill>
              </a:defRPr>
            </a:lvl1pPr>
          </a:lstStyle>
          <a:p>
            <a:r>
              <a:rPr lang="en-US"/>
              <a:t>Click to add section divider text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7979CC9F-AAF7-2AF9-D714-EB52A17293D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17648" y="4058698"/>
            <a:ext cx="10236189" cy="1046184"/>
          </a:xfrm>
        </p:spPr>
        <p:txBody>
          <a:bodyPr wrap="square">
            <a:spAutoFit/>
          </a:bodyPr>
          <a:lstStyle>
            <a:lvl1pPr marL="0" indent="0">
              <a:buNone/>
              <a:defRPr sz="6700" b="1" kern="2400" spc="-550" baseline="0">
                <a:solidFill>
                  <a:schemeClr val="tx1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preferably two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56BE92-B6AF-4EBF-C16F-778DC6C57D4D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954EA71-083A-12A4-22DD-BB27C3CE0C5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30B1C6D-BEDE-9B44-1534-C7F64762F418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dividing the presentation into sections.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picture. To do so,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Check the legibility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the text and consider if this text color works the best, or if the layout option with white text is better. 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77B16C4-9D9B-7425-9943-F5F8AEA356F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Section divider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(black text)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B737E4-A90E-3E2E-DD24-E48CC21B9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614017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77001242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 descr="A white flag with black text on a pole&#10;&#10;Description automatically generated">
            <a:extLst>
              <a:ext uri="{FF2B5EF4-FFF2-40B4-BE49-F238E27FC236}">
                <a16:creationId xmlns:a16="http://schemas.microsoft.com/office/drawing/2014/main" id="{763E3F4E-B0BB-E808-818B-D3020FABE9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6637" cy="631799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5DC66A-771E-9A4A-20CA-8A95549278F9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27C53BBA-60D4-B8FC-1583-0BEAFE774A9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18C0ECBE-554A-10C5-1042-4FCA8DAE9CDA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75FB66CE-A1E5-862C-E320-2BD569AEF43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1)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5DC5C47-A914-D75C-ED4C-B911589321A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A91AD660-4FC9-EA6F-9BBB-E77AC7D6C4E2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955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agenda (option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close up of a fabric&#10;&#10;Description automatically generated">
            <a:extLst>
              <a:ext uri="{FF2B5EF4-FFF2-40B4-BE49-F238E27FC236}">
                <a16:creationId xmlns:a16="http://schemas.microsoft.com/office/drawing/2014/main" id="{A1958D24-4412-031A-38F6-D2D40D568D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31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14357D-A5EF-D152-D9C5-B27976AFDF2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A311020-FF54-9690-3446-9B2FB7BC0A1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3953F82-9228-DA17-725D-C75898DFBA8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picture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one of two default options.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be exchanged. To do so, please use the layout “Title + agenda (option 3)”.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F0C94062-0E92-632B-A0B7-7F7F5C8C2F8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2)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77BC3B6-1D5C-2AA0-FB83-D6727D4D366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Line">
            <a:extLst>
              <a:ext uri="{FF2B5EF4-FFF2-40B4-BE49-F238E27FC236}">
                <a16:creationId xmlns:a16="http://schemas.microsoft.com/office/drawing/2014/main" id="{450EBB9D-7777-AEEE-64BC-D7EF219575A9}"/>
              </a:ext>
            </a:extLst>
          </p:cNvPr>
          <p:cNvSpPr>
            <a:spLocks/>
          </p:cNvSpPr>
          <p:nvPr userDrawn="1"/>
        </p:nvSpPr>
        <p:spPr>
          <a:xfrm flipH="1" flipV="1">
            <a:off x="540000" y="1006831"/>
            <a:ext cx="528954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60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Title &amp; subtitle + agenda (option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8">
            <a:extLst>
              <a:ext uri="{FF2B5EF4-FFF2-40B4-BE49-F238E27FC236}">
                <a16:creationId xmlns:a16="http://schemas.microsoft.com/office/drawing/2014/main" id="{1F00182A-2046-6DC2-ABAE-D4E164B19AB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552000" tIns="3024000" rIns="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E2B6D3F5-A9E1-4C05-A84C-980329DB0E1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0" y="1841"/>
            <a:ext cx="6365876" cy="6317997"/>
          </a:xfr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409B1779-E2DE-DF5A-0420-9C2D6AA62B0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654801" y="2184917"/>
            <a:ext cx="5248274" cy="1950003"/>
          </a:xfrm>
          <a:solidFill>
            <a:schemeClr val="accent1"/>
          </a:solidFill>
        </p:spPr>
        <p:txBody>
          <a:bodyPr wrap="square" lIns="72000" tIns="72000" rIns="72000" bIns="72000">
            <a:spAutoFit/>
          </a:bodyPr>
          <a:lstStyle>
            <a:lvl1pPr marL="0" indent="0">
              <a:buFont typeface="+mj-lt"/>
              <a:buNone/>
              <a:defRPr i="1">
                <a:solidFill>
                  <a:schemeClr val="bg1"/>
                </a:solidFill>
              </a:defRPr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en-GB"/>
              <a:t>To insert a picture:                                                1. Delete the transparent box on the left-hand side                                                        2. Click the picture icon to add a picture               3. Go to Home &gt;&gt; Reset (to bring the box back)  4. Type your text                                                   5. Delete this instruction</a:t>
            </a: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F97CC1-C8F3-57AD-6461-1870B0EDC7FC}"/>
              </a:ext>
            </a:extLst>
          </p:cNvPr>
          <p:cNvSpPr>
            <a:spLocks/>
          </p:cNvSpPr>
          <p:nvPr userDrawn="1"/>
        </p:nvSpPr>
        <p:spPr>
          <a:xfrm>
            <a:off x="-1" y="-1"/>
            <a:ext cx="6365876" cy="6317997"/>
          </a:xfrm>
          <a:prstGeom prst="rect">
            <a:avLst/>
          </a:prstGeom>
          <a:solidFill>
            <a:schemeClr val="bg1">
              <a:alpha val="80000"/>
            </a:schemeClr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t"/>
          <a:lstStyle/>
          <a:p>
            <a:pPr algn="l">
              <a:lnSpc>
                <a:spcPct val="110000"/>
              </a:lnSpc>
              <a:spcBef>
                <a:spcPts val="800"/>
              </a:spcBef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38266D-6CBF-98C2-53D8-F9EF63586C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FA822-9C83-46E0-11C2-02F0F885C8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C05BFD-D292-2868-9CDC-E2C672DB1BA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D8D5793-8DAA-4E66-BEA3-B39FF0FAAA6C}" type="datetime4">
              <a:rPr lang="en-US" smtClean="0"/>
              <a:t>March 3, 2026</a:t>
            </a:fld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4998956-E43A-F3AB-7595-667FEA1CE2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37260" y="120491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D8B2A71-1E91-052E-05E9-2052BBDCC0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9999" y="120491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79E254E-98D5-5A9E-ADF4-B8405E3A42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37260" y="176924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ACC4BAA2-6BCC-4828-A794-FA95A0A6306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999" y="176924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A26915-F7BB-55EF-0F30-6ADA6B97986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7260" y="233357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57CB600-F9B0-1864-97F6-1D774ECF80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999" y="233357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560897C-1AD8-3377-6871-4272FF90094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" y="289790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D301C9E1-08CE-BFB6-4698-D0156087E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9999" y="289790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CC2E283-D3BF-9260-EB0C-1FC89129E5D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37260" y="346223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CCA538C9-A95B-B77A-306A-0A21B6167A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9999" y="346223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BC031F2-00E6-BD42-A50A-E5BBBCC2096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260" y="402656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29D2051-2F3E-4FBB-9F68-5F10EC405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999" y="402656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E98DD467-EFE2-B4DA-351E-F3F2A4FBAA4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7260" y="459089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80D3DEFE-783C-331B-AB1D-E81C1C98013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39999" y="459089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901CA78-DF83-4732-0646-9DC429F8C71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7260" y="5155223"/>
            <a:ext cx="4888738" cy="312330"/>
          </a:xfrm>
        </p:spPr>
        <p:txBody>
          <a:bodyPr wrap="square" anchor="ctr">
            <a:spAutoFit/>
          </a:bodyPr>
          <a:lstStyle>
            <a:lvl1pPr marL="0" indent="0">
              <a:buNone/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BF171B47-BB86-A5AF-6D5C-5D271E9A05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9999" y="5155223"/>
            <a:ext cx="285335" cy="312330"/>
          </a:xfrm>
        </p:spPr>
        <p:txBody>
          <a:bodyPr wrap="none" anchor="ctr">
            <a:noAutofit/>
          </a:bodyPr>
          <a:lstStyle>
            <a:lvl1pPr marL="0" indent="0" algn="l">
              <a:buNone/>
              <a:defRPr sz="2000" b="1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5A9461-212B-2481-9B8B-1C07C603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/>
          <a:p>
            <a:r>
              <a:rPr lang="en-US"/>
              <a:t>Click to add title – max 1 line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D2474749-3AF2-5EAB-2CCB-5CAC4BD1D5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Insert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FF2BAC6-0A88-F19E-5642-EB0621BB407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7" name="Content Placeholder 7">
            <a:extLst>
              <a:ext uri="{FF2B5EF4-FFF2-40B4-BE49-F238E27FC236}">
                <a16:creationId xmlns:a16="http://schemas.microsoft.com/office/drawing/2014/main" id="{35974C6E-E3E1-DAA9-DC97-5EFA381F830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B5A514B-73EC-D1ED-BE3B-913B4F27F41C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the presentation’s  agenda.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this slide to insert a picture, by following the slide’s  instructions.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Please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the legibility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 of the text when selecting a picture. If needed, crop the picture differently or select another picture.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E5A080A-96FA-EC45-B3D3-4E5362CE0919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agenda (option 3)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0F65DD3-D44C-8A23-E83B-FFF512305C5C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ladsholder til tekst 13">
            <a:extLst>
              <a:ext uri="{FF2B5EF4-FFF2-40B4-BE49-F238E27FC236}">
                <a16:creationId xmlns:a16="http://schemas.microsoft.com/office/drawing/2014/main" id="{4B55BAE9-2321-1810-8D49-741B5A56077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40000" y="1000850"/>
            <a:ext cx="5289549" cy="10800"/>
          </a:xfrm>
          <a:solidFill>
            <a:schemeClr val="tx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>
            <a:lvl1pPr marL="0" indent="0">
              <a:buNone/>
              <a:defRPr sz="100"/>
            </a:lvl1pPr>
            <a:lvl2pPr marL="178775" indent="0">
              <a:buNone/>
              <a:defRPr/>
            </a:lvl2pPr>
            <a:lvl3pPr marL="360000" indent="0">
              <a:buNone/>
              <a:defRPr/>
            </a:lvl3pPr>
            <a:lvl4pPr marL="539138" indent="0">
              <a:buNone/>
              <a:defRPr/>
            </a:lvl4pPr>
            <a:lvl5pPr marL="720000" indent="0">
              <a:buNone/>
              <a:defRPr/>
            </a:lvl5pPr>
          </a:lstStyle>
          <a:p>
            <a:pPr lvl="0"/>
            <a:r>
              <a:rPr lang="da-DK"/>
              <a:t> 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457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content</a:t>
            </a:r>
          </a:p>
        </p:txBody>
      </p:sp>
    </p:spTree>
    <p:extLst>
      <p:ext uri="{BB962C8B-B14F-4D97-AF65-F5344CB8AC3E}">
        <p14:creationId xmlns:p14="http://schemas.microsoft.com/office/powerpoint/2010/main" val="352064653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D3EBB-921D-433C-8D4A-4A2A96453BB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0000" y="1204913"/>
            <a:ext cx="11111997" cy="48402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or use the icons to 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FF8ABCD-5AF0-C7E1-ED2E-2ACFB77C80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</p:spTree>
    <p:extLst>
      <p:ext uri="{BB962C8B-B14F-4D97-AF65-F5344CB8AC3E}">
        <p14:creationId xmlns:p14="http://schemas.microsoft.com/office/powerpoint/2010/main" val="16875819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82D35-38BA-4733-8072-AC0A1C130EB1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8">
            <a:extLst>
              <a:ext uri="{FF2B5EF4-FFF2-40B4-BE49-F238E27FC236}">
                <a16:creationId xmlns:a16="http://schemas.microsoft.com/office/drawing/2014/main" id="{A2DA405C-8706-D6A0-A804-4E31612EBBEC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DBC5536A-7708-7318-4D3F-51D16B72F69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6365998" y="1666016"/>
            <a:ext cx="5285999" cy="4380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965313-D434-0F18-5942-EB32B41AE258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37C98B6E-7E2E-2498-353C-EF8F3AEB97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624AEC5-8C19-4C3E-511E-2150AE8AB95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two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F073324-8E4A-93A0-6049-12C5566177C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content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35999C-CA17-E62C-1CC0-A105713A4DA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9299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BD86-3EF5-4E31-A7F4-8C55A94494F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D71D8E4A-10D7-09A9-F88F-FCA898147C9F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8">
            <a:extLst>
              <a:ext uri="{FF2B5EF4-FFF2-40B4-BE49-F238E27FC236}">
                <a16:creationId xmlns:a16="http://schemas.microsoft.com/office/drawing/2014/main" id="{02598A2E-56D7-E713-566B-47E4BC1C0AFB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4423999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no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FAC640A2-0195-E324-897E-17CFA2A8BF94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8307998" y="1666015"/>
            <a:ext cx="3343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5EDDF3-19EB-7066-8A87-076AB50EDD77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E88EAE1-3542-3A7E-6DB8-309E2AA851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CA4B89A6-1502-365A-C6AC-9A17DACEC73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content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ACE9DE05-3C7D-E743-889F-6B7E651BFB15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three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E280CB7-B326-03C9-51E6-571B8D5ABD9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661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75278-6FFE-4FE0-B4AD-82CA49CC656E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6"/>
            <a:ext cx="2372999" cy="43807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3452999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365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278998" y="1666015"/>
            <a:ext cx="2372999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8766355-B0A8-EFF8-3C48-02C74F4FF62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5533D350-94D5-A063-69CD-43D7D2130A65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F8B7001A-B966-98D3-2A6C-138B3687DFC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content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F3E3F50-F046-5E93-0C2B-2F04ABA6E4E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four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910E0B-75BA-79D1-5019-70D4750B63E9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9948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82C12-6116-4D0A-A8BF-BDF48B0530B3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9DA29294-B370-BE0B-AA44-52BC588825D6}"/>
              </a:ext>
            </a:extLst>
          </p:cNvPr>
          <p:cNvSpPr>
            <a:spLocks noGrp="1"/>
          </p:cNvSpPr>
          <p:nvPr>
            <p:ph sz="quarter" idx="29"/>
          </p:nvPr>
        </p:nvSpPr>
        <p:spPr>
          <a:xfrm>
            <a:off x="540000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FB010857-DAD1-112A-354A-5088F47BC525}"/>
              </a:ext>
            </a:extLst>
          </p:cNvPr>
          <p:cNvSpPr>
            <a:spLocks noGrp="1"/>
          </p:cNvSpPr>
          <p:nvPr>
            <p:ph sz="quarter" idx="31"/>
          </p:nvPr>
        </p:nvSpPr>
        <p:spPr>
          <a:xfrm>
            <a:off x="28343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67B6A0EB-2F5B-8851-0BB7-A1EEEDCB3983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74231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8">
            <a:extLst>
              <a:ext uri="{FF2B5EF4-FFF2-40B4-BE49-F238E27FC236}">
                <a16:creationId xmlns:a16="http://schemas.microsoft.com/office/drawing/2014/main" id="{436E464D-8264-2949-76B7-F62F6C647C7C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9717598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A2D3DC5-9629-2C38-7C2F-3AD97B71C73A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9F4ACD4F-192F-9FB1-E965-6891944E0D59}"/>
              </a:ext>
            </a:extLst>
          </p:cNvPr>
          <p:cNvSpPr>
            <a:spLocks noGrp="1"/>
          </p:cNvSpPr>
          <p:nvPr>
            <p:ph sz="quarter" idx="37"/>
          </p:nvPr>
        </p:nvSpPr>
        <p:spPr>
          <a:xfrm>
            <a:off x="5128799" y="1666015"/>
            <a:ext cx="1934400" cy="43807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19278E8-A303-097D-56D8-9154FA5D9F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0E9A25CD-DC6C-4BA6-CAA2-700D7BF505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D10875-0F15-C0B9-139B-18DFD2F1D6A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9" name="Content Placeholder 7">
            <a:extLst>
              <a:ext uri="{FF2B5EF4-FFF2-40B4-BE49-F238E27FC236}">
                <a16:creationId xmlns:a16="http://schemas.microsoft.com/office/drawing/2014/main" id="{364D91F1-AE67-3CAF-010F-47D403A3F42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453BAFE-6F4F-1D93-B873-86D119ECC71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content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F3E8F93-07CA-E51A-7C5E-07E35DF5158B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five sections of content with headers.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remain in ratio while the place-holder size adjusts. Pictures seem “centered”.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pictures to instead resize to the placeholder, 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use the “text and picture layouts” in the next section.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8F5FE41-793C-6000-7AD6-D0757033E530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9519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40">
          <p15:clr>
            <a:srgbClr val="5ACBF0"/>
          </p15:clr>
        </p15:guide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0" pos="7339">
          <p15:clr>
            <a:srgbClr val="FBAE40"/>
          </p15:clr>
        </p15:guide>
        <p15:guide id="12" pos="7341">
          <p15:clr>
            <a:srgbClr val="FBAE40"/>
          </p15:clr>
        </p15:guide>
        <p15:guide id="13" pos="3230">
          <p15:clr>
            <a:srgbClr val="5ACBF0"/>
          </p15:clr>
        </p15:guide>
        <p15:guide id="14" pos="4449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 and pictures</a:t>
            </a:r>
          </a:p>
        </p:txBody>
      </p:sp>
    </p:spTree>
    <p:extLst>
      <p:ext uri="{BB962C8B-B14F-4D97-AF65-F5344CB8AC3E}">
        <p14:creationId xmlns:p14="http://schemas.microsoft.com/office/powerpoint/2010/main" val="21849070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53999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27900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EEE384-FAF4-0C0D-97B4-8711ECA19E0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6C2CA3F-9CCA-56A8-5202-687ACC3375B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E088003F-7276-D3C2-2F9A-AA5A5B65FD8F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943F63F-56C1-DF92-B276-701FD3AACC4B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right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E0DFC8-2A8B-B46C-AA48-09DB03AB105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848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505">
          <p15:clr>
            <a:srgbClr val="5ACBF0"/>
          </p15:clr>
        </p15:guide>
        <p15:guide id="2" pos="5844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slim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401FC2FE-A3A1-060E-2506-68883377CAC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2912999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F0E67C-A8AF-477D-B5A6-DF50AB980D3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54839" y="1204913"/>
            <a:ext cx="8199000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Line">
            <a:extLst>
              <a:ext uri="{FF2B5EF4-FFF2-40B4-BE49-F238E27FC236}">
                <a16:creationId xmlns:a16="http://schemas.microsoft.com/office/drawing/2014/main" id="{B56F61D2-3C24-6F54-C3D6-60D9690C6CAC}"/>
              </a:ext>
            </a:extLst>
          </p:cNvPr>
          <p:cNvSpPr>
            <a:spLocks/>
          </p:cNvSpPr>
          <p:nvPr/>
        </p:nvSpPr>
        <p:spPr>
          <a:xfrm flipH="1" flipV="1">
            <a:off x="3454839" y="1006831"/>
            <a:ext cx="8199000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357B0456-0660-ADC3-0DE7-79DA1941DC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4839" y="262800"/>
            <a:ext cx="8199000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CD62068-8A16-6BD4-CC28-2A7B40234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54839" y="660922"/>
            <a:ext cx="8199000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800433-19C5-20B8-A83C-954F564D4A53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4889FBC4-AA4D-6CF0-5C19-9748040B0A3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2C9D9A99-61B6-A125-DF5E-2F413D037871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content and a slim picture to 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AB4D71B-61AA-DBEA-EDA1-DB7CA05F3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slim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A9F0A93-8635-6635-A00D-A1A805A7A20B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7353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35">
          <p15:clr>
            <a:srgbClr val="5ACBF0"/>
          </p15:clr>
        </p15:guide>
        <p15:guide id="2" pos="2175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999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6600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B1C73F-695C-0FA3-5749-FE4BE4F4698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84E4620E-512F-61DB-5863-83788ED2A44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7B5CE9C-58B7-9E26-A586-3E1A12E85314}"/>
              </a:ext>
            </a:extLst>
          </p:cNvPr>
          <p:cNvSpPr txBox="1">
            <a:spLocks/>
          </p:cNvSpPr>
          <p:nvPr userDrawn="1"/>
        </p:nvSpPr>
        <p:spPr>
          <a:xfrm>
            <a:off x="-1568878" y="133349"/>
            <a:ext cx="1476000" cy="839673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right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A8F615D1-6619-0F48-DE1C-17AD299603A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3313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right.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238A71-62DA-223A-6456-6C70EF73EF6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26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+ wid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9A6BE8BA-C14C-9E21-3561-5EB4623BE1D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5826000" cy="6319838"/>
          </a:xfrm>
          <a:solidFill>
            <a:schemeClr val="bg2"/>
          </a:solidFill>
        </p:spPr>
        <p:txBody>
          <a:bodyPr tIns="2628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D4414-90DE-4D1E-A014-EA43D7273702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427219-1D81-E10D-BD15-31752761C3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67840" y="1204913"/>
            <a:ext cx="5285999" cy="48402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>
            <a:extLst>
              <a:ext uri="{FF2B5EF4-FFF2-40B4-BE49-F238E27FC236}">
                <a16:creationId xmlns:a16="http://schemas.microsoft.com/office/drawing/2014/main" id="{D899BB51-BE91-4E29-E888-16BADF14414B}"/>
              </a:ext>
            </a:extLst>
          </p:cNvPr>
          <p:cNvSpPr>
            <a:spLocks/>
          </p:cNvSpPr>
          <p:nvPr/>
        </p:nvSpPr>
        <p:spPr>
          <a:xfrm flipH="1" flipV="1">
            <a:off x="6367840" y="1006831"/>
            <a:ext cx="528599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FFCE8F3-6862-6B6D-62B9-CB1467D4E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67840" y="262800"/>
            <a:ext cx="5285999" cy="33239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F132D34-B217-A51B-E49D-D3FB9CF7BE6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67840" y="660922"/>
            <a:ext cx="528599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FB655C-800B-DDC0-B18D-CBECD2FA525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AB5EEAE-E2D1-BAF1-DB90-6E245DBAF3D0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CA07CA6F-2828-85A9-04CD-351214E535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content and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a wide picture to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left.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a picture that picks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picture may need to be cropped or adjusted. A guide is available in the “How to – work with images” section.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957DC8-CABD-06DD-E9A7-321D9643651F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wide picture left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E53B51-7C39-EE8B-7025-24A5E1A7C6F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9413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71">
          <p15:clr>
            <a:srgbClr val="5ACBF0"/>
          </p15:clr>
        </p15:guide>
        <p15:guide id="2" pos="4010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2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0C4F7-AF5B-4414-B6BA-0846096FBF8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832CD91-0663-5EA7-69DC-090BBDE27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DB30E45-6F87-8E48-B964-3FA12CA949F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0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38082699-78CA-E7E5-2C78-99B124A1093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365999" y="1204913"/>
            <a:ext cx="5285998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73787096-17DE-D6C6-85AD-12E004FF8769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C0A8268-FAEF-AF38-EFA8-909A0DBF14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08D07AB-2B9B-C897-404E-3F154936C42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39750" y="3608998"/>
            <a:ext cx="5285999" cy="24362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167DA1CD-29F9-95FE-CAD9-638DD00D98E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6365998" y="3608999"/>
            <a:ext cx="5285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3ACCC18-7C32-171A-E4C5-B2FD803E56F7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4F4D7C12-1C2B-22D7-6701-B97EF936947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6367840" y="1666016"/>
            <a:ext cx="5285999" cy="1762984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D17864-8059-15A3-26F5-C1FC50C4C4C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9A15E77B-A0EA-F57F-A044-37C37D06D84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4CB6A39A-7E9E-E30A-25F3-A9A27A8B1BD3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two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B63ED3-70D8-4286-C3E2-A46BAB7C0D3D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2 x pictures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B919B03-5292-B62C-4D6B-F2917061BE3D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2252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669">
          <p15:clr>
            <a:srgbClr val="5ACBF0"/>
          </p15:clr>
        </p15:guide>
        <p15:guide id="7" pos="401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3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59245-5432-4453-9B54-6798998A5518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EBCCF1A-5373-C252-8F92-AB834B448F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4B4B1EC-6838-6EB5-9EEC-D7F0BDF09CD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8FF0BA9-C34C-8519-FFE7-F5A3F6E6332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24000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CD500465-5545-706A-2FF5-95107F801A26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307998" y="1204913"/>
            <a:ext cx="3343999" cy="281103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1613170D-9A95-868A-AF41-8940F82CE8FC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DE6A9DC-5EF6-5951-04EC-C8FC55AFA6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E0048019-BB1F-364C-C0FD-E0E76B01C99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3975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E98B6C1-0C94-BB29-E1C8-3955ABC754D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424000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83A7867-CE08-7924-457C-F27331277EB4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307998" y="3608999"/>
            <a:ext cx="3343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A9D992DC-CF8C-3015-EDC6-89F451D2D6C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D027F15B-F68A-AAEC-AA89-6DB744131BB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4424000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03921C8C-DD79-2ED2-B6AB-C9723B559C4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8307998" y="1666015"/>
            <a:ext cx="3343999" cy="1762985"/>
          </a:xfrm>
          <a:solidFill>
            <a:schemeClr val="bg2"/>
          </a:solidFill>
        </p:spPr>
        <p:txBody>
          <a:bodyPr tIns="396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065C39-C946-60D6-D2BD-E5A4A40F648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3FBD469-B50F-439F-5DBE-65B0EB1978F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67A4813D-E6F3-197C-20FB-CD5F14BB8290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three sections of content with picture and header.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A68728F0-2038-B102-6ED1-FD3A303CDA8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3 x pictures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0059AE8-4B5F-9637-5E16-D91DB48279B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66928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8" pos="2446">
          <p15:clr>
            <a:srgbClr val="5ACBF0"/>
          </p15:clr>
        </p15:guide>
        <p15:guide id="9" pos="2786">
          <p15:clr>
            <a:srgbClr val="5ACBF0"/>
          </p15:clr>
        </p15:guide>
        <p15:guide id="10" pos="4893">
          <p15:clr>
            <a:srgbClr val="5ACBF0"/>
          </p15:clr>
        </p15:guide>
        <p15:guide id="11" pos="5233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4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10258-A92E-485E-A8C3-C9FD50EBAB44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52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365999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278998" y="900215"/>
            <a:ext cx="23729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ECBD591-522A-53CA-303E-DE3E6E2E8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DB198B25-2BDD-4E1D-00F9-23AF9DDDFB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452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365999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278998" y="3608999"/>
            <a:ext cx="2372999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68D9100-E89D-643B-5244-677AEFE7E544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89B94A3-2A0F-F3B7-659E-C6B2B5ADA04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452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89DF720-539E-994D-9382-DEB42494672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6365999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26804564-B192-EF73-2729-BF3649A81B51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278998" y="1666015"/>
            <a:ext cx="23729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21723F-8A83-6CD4-9277-66DAACFE5DFA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830AB8D9-7BB4-1018-6C83-0F016D29D88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EBB5FA6B-A7D8-08EB-4A7B-9FDCB367691E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4 x pictures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6DB35472-4B97-B6DB-4766-0CA951BE825E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four sections of content with picture and header.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E43449-C3A3-C087-9CEB-BF2C3AED70E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69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0" pos="1834">
          <p15:clr>
            <a:srgbClr val="5ACBF0"/>
          </p15:clr>
        </p15:guide>
        <p15:guide id="11" pos="2175">
          <p15:clr>
            <a:srgbClr val="5ACBF0"/>
          </p15:clr>
        </p15:guide>
        <p15:guide id="12" pos="3669">
          <p15:clr>
            <a:srgbClr val="5ACBF0"/>
          </p15:clr>
        </p15:guide>
        <p15:guide id="13" pos="4010">
          <p15:clr>
            <a:srgbClr val="5ACBF0"/>
          </p15:clr>
        </p15:guide>
        <p15:guide id="14" pos="5504">
          <p15:clr>
            <a:srgbClr val="5ACBF0"/>
          </p15:clr>
        </p15:guide>
        <p15:guide id="15" pos="5845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Title &amp; subtitle + 5 x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C52FFC-0A99-523D-5B32-F96752FD3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DA048-A37C-480A-B369-9A88739155BB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924246-41D3-F990-B7CF-699B32A63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C88707-1C13-4EA3-366E-E801E257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0032028-DA2C-CE97-EC57-A23C142BB2C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40001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64BC92-E524-61DF-FB8E-39CA0D9DCEB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834400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8F6EE184-8B88-03BD-66E1-B914F3BB2FD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74231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35BF5D85-424D-E19E-C529-BC2C758AB0E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9717598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Line">
            <a:extLst>
              <a:ext uri="{FF2B5EF4-FFF2-40B4-BE49-F238E27FC236}">
                <a16:creationId xmlns:a16="http://schemas.microsoft.com/office/drawing/2014/main" id="{43EA890F-5B38-E749-51D9-2112EC29F236}"/>
              </a:ext>
            </a:extLst>
          </p:cNvPr>
          <p:cNvSpPr>
            <a:spLocks/>
          </p:cNvSpPr>
          <p:nvPr/>
        </p:nvSpPr>
        <p:spPr>
          <a:xfrm flipH="1" flipV="1">
            <a:off x="540000" y="1006831"/>
            <a:ext cx="11113839" cy="0"/>
          </a:xfrm>
          <a:prstGeom prst="line">
            <a:avLst/>
          </a:prstGeom>
          <a:ln w="12700">
            <a:solidFill>
              <a:schemeClr val="tx1"/>
            </a:solidFill>
            <a:miter/>
          </a:ln>
        </p:spPr>
        <p:txBody>
          <a:bodyPr lIns="45719" rIns="45719"/>
          <a:lstStyle/>
          <a:p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327C628-359D-5438-BD78-2E7D722295FD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40000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55B4B3B-D300-47CC-4721-BC796BCAB37B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39750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68F51964-C34C-8B4D-E96C-CC371BC568C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28341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63BFC2B-CDA5-E349-478E-5B9E5782A8C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2309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A2040126-1512-5D60-815A-344EE2B6228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717547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10F469A-D07D-B4B8-2D2A-C9DFEBACBE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 – max 1 line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E49567EE-2175-2FE3-9FD5-CD6EDAB5D4E0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28343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2CE5E6A9-31F7-F858-7F37-A7CEF04878D3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74231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4B65CC7B-FB22-A4AA-DA49-74338CA88554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9717598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B199FC84-D1AC-E5CB-21B0-D342328CA6D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128799" y="900215"/>
            <a:ext cx="1934399" cy="585801"/>
          </a:xfrm>
        </p:spPr>
        <p:txBody>
          <a:bodyPr anchor="b">
            <a:spAutoFit/>
          </a:bodyPr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0FA1DC5B-9B9E-CA25-F9C1-9AF892A54BC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128649" y="3608999"/>
            <a:ext cx="1934450" cy="243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8E35BB86-17EE-7439-C9FE-7D245E970A8E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5128799" y="1666015"/>
            <a:ext cx="1934399" cy="1762985"/>
          </a:xfrm>
          <a:solidFill>
            <a:schemeClr val="bg2"/>
          </a:solidFill>
        </p:spPr>
        <p:txBody>
          <a:bodyPr tIns="144000"/>
          <a:lstStyle>
            <a:lvl1pPr marL="0" indent="0" algn="ctr">
              <a:buNone/>
              <a:defRPr i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B2C8485C-FDC5-4AAD-6D09-87DE3B50F1E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9998" y="660922"/>
            <a:ext cx="11113839" cy="267766"/>
          </a:xfrm>
        </p:spPr>
        <p:txBody>
          <a:bodyPr wrap="square">
            <a:spAutoFit/>
          </a:bodyPr>
          <a:lstStyle>
            <a:lvl1pPr marL="0" indent="0">
              <a:lnSpc>
                <a:spcPct val="87000"/>
              </a:lnSpc>
              <a:spcBef>
                <a:spcPts val="0"/>
              </a:spcBef>
              <a:buNone/>
              <a:defRPr sz="2000">
                <a:solidFill>
                  <a:schemeClr val="accent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 – max 1 line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F492AD-9053-4D93-92FC-CC83B962B2BB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20" name="Content Placeholder 7">
            <a:extLst>
              <a:ext uri="{FF2B5EF4-FFF2-40B4-BE49-F238E27FC236}">
                <a16:creationId xmlns:a16="http://schemas.microsoft.com/office/drawing/2014/main" id="{92867768-2BF5-2CC8-E63E-21D4165BBEAA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DF071FE-2D52-ABBC-19D7-5DF88557D1B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Title + </a:t>
            </a:r>
            <a:br>
              <a:rPr lang="en-US" sz="150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5 x pictures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832B150-A754-E4BC-D5C4-B6DE1238607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five sections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of content with picture and header.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In this layout, pictures resize to fit the placeholder.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the slide. If possible, select pictures that pick up our brand colors.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Pictures may need to be cropped or adjusted. A guide is available in the “How to – work with images”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For pictures not to resize to the place-holders, use the “text and content layouts” in the previous section.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also available without a subtitle. (See the first template part.)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FC50D70-E701-7297-A48B-D93536030F4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74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4" pos="1558">
          <p15:clr>
            <a:srgbClr val="5ACBF0"/>
          </p15:clr>
        </p15:guide>
        <p15:guide id="5" pos="1785">
          <p15:clr>
            <a:srgbClr val="5ACBF0"/>
          </p15:clr>
        </p15:guide>
        <p15:guide id="6" pos="3003">
          <p15:clr>
            <a:srgbClr val="5ACBF0"/>
          </p15:clr>
        </p15:guide>
        <p15:guide id="7" pos="4676">
          <p15:clr>
            <a:srgbClr val="5ACBF0"/>
          </p15:clr>
        </p15:guide>
        <p15:guide id="8" pos="5894">
          <p15:clr>
            <a:srgbClr val="5ACBF0"/>
          </p15:clr>
        </p15:guide>
        <p15:guide id="9" pos="6121">
          <p15:clr>
            <a:srgbClr val="5ACBF0"/>
          </p15:clr>
        </p15:guide>
        <p15:guide id="11" pos="3230">
          <p15:clr>
            <a:srgbClr val="5ACBF0"/>
          </p15:clr>
        </p15:guide>
        <p15:guide id="12" pos="4449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6477898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C9099266-B22D-40D0-AD7A-247DD67131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CD003-B1D6-4D0F-95CF-57954B515B1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93532-A2E6-6685-1408-C17DDE70E2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bg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7377CA1-860C-9692-833D-F266D1392DC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1F2A00EC-89F2-8C6D-A477-7C47D904B01E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D264CE0-ADA5-449A-F673-804773C37DAC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white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C58DF94-32D1-A577-60C2-465866E70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C6684595-189E-BFB7-D9E3-E8DE259DDDE7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white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6600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Statement   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CF28FB3-50B7-9598-2DFE-8CEAD2EBE94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1E385-CEE5-40B1-BE06-A2170ADB2605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71A99FF-1348-B954-4D93-10FE1BCF1D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tx1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1930CBD-E810-83CF-9899-308F93AD016C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EF7CFF1-A506-CDBC-C990-527F07ECA2D3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DB483173-6199-18CF-383A-3B5AF4917E1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black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F4DDD76-A282-8D3C-7EE6-AE4E9B42950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C003F82-893D-F4B9-4076-22254A7ED06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black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270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turquo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A7041F38-B1A4-C153-5B4F-FED5998CBF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280BE-4442-422D-B591-49D2892BD73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7939185-4078-8644-C515-440491B36A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2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121493C-0C4C-1EC6-A745-507F578FCE9F}"/>
              </a:ext>
            </a:extLst>
          </p:cNvPr>
          <p:cNvSpPr/>
          <p:nvPr userDrawn="1"/>
        </p:nvSpPr>
        <p:spPr>
          <a:xfrm>
            <a:off x="-1584001" y="720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BE68E10-83F8-9334-CFC9-F05B441CBC77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BE50A98F-DA08-339E-C5B0-39AD2C07010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turquoise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369B21C-7C21-E5E3-CAF8-208A691C263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74A3F92E-2AF6-936E-E3E5-B7E0E2E166E3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turquoise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0437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 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9A04056-719D-FED8-29F2-3204327192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B751A-D419-4C61-A0FC-D70FB7FC12BA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BC075A0-04C1-D65B-1DE1-EADEDAD947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3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5BCA7-398C-4338-2280-70F15E7AA9C1}"/>
              </a:ext>
            </a:extLst>
          </p:cNvPr>
          <p:cNvSpPr/>
          <p:nvPr userDrawn="1"/>
        </p:nvSpPr>
        <p:spPr>
          <a:xfrm>
            <a:off x="-15840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F48BBB3-6315-C639-E3AA-0145063F8868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2D40AE1B-DD2B-9CE2-543F-643A39D1B270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gold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C33E70-27E4-3624-301C-BBAC2937710E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FB6BC4-AE20-4D3A-9358-90D8113BBEFB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gold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78907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copp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6983F132-113C-3540-B521-3061708E3D0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C17A99-D8A9-4C9C-AD15-2626DF3515BC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697B897-67A4-8811-FAA4-D38FAD3B2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4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07F799-CB4D-3F46-EB19-F4BE750EB0C4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5A3392-016D-AB7F-E9D5-42F20C6815FC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8AC7E12A-65F6-B11C-F60F-0ACFF7D91DEA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copper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4136B7A-44CF-EDAC-FD02-40C1116C0944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667B54C8-F358-729A-1CA1-C03323DF951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copper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186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mo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BDB03BE-C20C-D289-E5A1-168CDF54CDB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352F5-FC93-490A-A2C4-7D98228F4846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24EA5D7-9E6E-93A4-0317-88252D4D28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5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69086C-E819-1488-5839-828DF97190F2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1B3BC37-83C7-8D99-D5B7-6EB45AA05B31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3F9ABDF9-12D8-D198-17F0-475C6B2760A4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moss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89840D-D8A5-4FFF-37F7-4273FAA37C9A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B7AC1E5-F301-CD41-6DAC-8D6A5A418F19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moss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047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br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D11804F9-BCE5-1D01-F53A-E38D5A182FA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A8F3D-30CD-440E-9BED-2660774D184F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D423E6-A47A-9FCC-D958-2918153CE1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chemeClr val="accent6">
              <a:alpha val="80000"/>
            </a:scheme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283109-523D-435F-B01D-B49F35E09A65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0C22DB7-4CD6-F373-47BF-DF4D84B40D82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AC74FBCC-FA93-EF77-8D0E-6E88F03A3CC7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brick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818C500-F56D-81D5-A4D4-9E54FD7ECE35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E304355F-E40D-6E2A-5642-2E4F1B08091C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brick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0660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5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   Statement  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35B003FC-43AC-F08C-0225-88CDA57E0E8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319838"/>
          </a:xfrm>
          <a:solidFill>
            <a:schemeClr val="bg2"/>
          </a:solidFill>
        </p:spPr>
        <p:txBody>
          <a:bodyPr lIns="6336000" tIns="3024000"/>
          <a:lstStyle>
            <a:lvl1pPr marL="0" indent="0" algn="l">
              <a:buNone/>
              <a:defRPr i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DCD191-E029-7BFE-AEE9-6A9455805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518E8-2883-44C0-A44D-85D71A7A19A7}" type="datetime4">
              <a:rPr lang="en-US" smtClean="0"/>
              <a:t>March 3,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5C2E8C-5CA8-5E92-5FDE-292839E3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4E7D5-C0BC-AE32-6DA4-7635BAB2A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BC7644B-07A5-5E66-6048-E522015017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475521"/>
            <a:ext cx="5868000" cy="2267029"/>
          </a:xfrm>
          <a:solidFill>
            <a:srgbClr val="72B86B">
              <a:alpha val="80000"/>
            </a:srgbClr>
          </a:solidFill>
        </p:spPr>
        <p:txBody>
          <a:bodyPr lIns="529200" tIns="144000" rIns="529200" bIns="126000" anchor="t">
            <a:spAutoFit/>
          </a:bodyPr>
          <a:lstStyle>
            <a:lvl1pPr>
              <a:defRPr sz="480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add statement</a:t>
            </a:r>
            <a:br>
              <a:rPr lang="en-US"/>
            </a:br>
            <a:r>
              <a:rPr lang="en-US"/>
              <a:t>max three lines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CF0FD3-8F67-C00F-BE74-B30BC106A6FE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1D9CDAE-3F84-12ED-7C1C-500C10D3D21B}"/>
              </a:ext>
            </a:extLst>
          </p:cNvPr>
          <p:cNvSpPr txBox="1">
            <a:spLocks/>
          </p:cNvSpPr>
          <p:nvPr userDrawn="1"/>
        </p:nvSpPr>
        <p:spPr>
          <a:xfrm>
            <a:off x="-1465942" y="1012114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1E1A569-EDCD-7BD0-3FC9-9836AB28AB43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Statement green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6769CC-6EB9-0D1D-5943-EDADA6716CEF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3BD5F27-E2CB-E3C1-E56B-D3023C3612E1}"/>
              </a:ext>
            </a:extLst>
          </p:cNvPr>
          <p:cNvSpPr txBox="1">
            <a:spLocks/>
          </p:cNvSpPr>
          <p:nvPr userDrawn="1"/>
        </p:nvSpPr>
        <p:spPr>
          <a:xfrm>
            <a:off x="-1584001" y="1105200"/>
            <a:ext cx="1567457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for attention and contrast with a statement or quote,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to be used sparingly</a:t>
            </a: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Do not use more than three lines of text. 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To insert a picture, click the icon on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the slide. Preferably, choose a picture </a:t>
            </a:r>
            <a:br>
              <a:rPr lang="en-US" sz="1050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with green tones and/or elements.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Consider legibility. </a:t>
            </a:r>
            <a:br>
              <a:rPr lang="en-US" sz="1050" b="1">
                <a:solidFill>
                  <a:schemeClr val="tx1">
                    <a:alpha val="90000"/>
                  </a:schemeClr>
                </a:solidFill>
              </a:rPr>
            </a:b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If needed, crop the picture or select another picture. You may also consider trying the statement slides with other text box colors. 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chemeClr val="tx1">
                  <a:alpha val="90000"/>
                </a:schemeClr>
              </a:solidFill>
            </a:endParaRPr>
          </a:p>
          <a:p>
            <a:endParaRPr lang="en-US" sz="1050">
              <a:solidFill>
                <a:schemeClr val="tx1">
                  <a:alpha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2504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54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content</a:t>
            </a:r>
          </a:p>
        </p:txBody>
      </p:sp>
    </p:spTree>
    <p:extLst>
      <p:ext uri="{BB962C8B-B14F-4D97-AF65-F5344CB8AC3E}">
        <p14:creationId xmlns:p14="http://schemas.microsoft.com/office/powerpoint/2010/main" val="274956169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A44DB0-0405-CA6C-E055-F5949138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E1D6E-514F-0376-5C07-A1927A317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C702A6-A533-4456-45FD-CCFAE4F9C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A77557-55C0-6A1C-3A01-0BCC1D3493FF}"/>
              </a:ext>
            </a:extLst>
          </p:cNvPr>
          <p:cNvSpPr/>
          <p:nvPr userDrawn="1"/>
        </p:nvSpPr>
        <p:spPr>
          <a:xfrm>
            <a:off x="-1569600" y="0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057444A0-DE7D-CD1B-F66E-26A5BC99FAE2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Plain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D70EBC8C-299E-B40A-B9CC-2A45E85C4FE2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7B7E1F-1B70-2806-2329-66A51E94992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59350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4D296B-A402-35B3-A1C1-8356F7AAEA40}"/>
              </a:ext>
            </a:extLst>
          </p:cNvPr>
          <p:cNvSpPr/>
          <p:nvPr userDrawn="1"/>
        </p:nvSpPr>
        <p:spPr>
          <a:xfrm>
            <a:off x="-1584000" y="1"/>
            <a:ext cx="1476000" cy="6858000"/>
          </a:xfrm>
          <a:prstGeom prst="rect">
            <a:avLst/>
          </a:prstGeom>
          <a:solidFill>
            <a:srgbClr val="F5F5F5"/>
          </a:solidFill>
          <a:ln w="9525" cap="flat">
            <a:noFill/>
            <a:prstDash val="solid"/>
            <a:miter/>
          </a:ln>
        </p:spPr>
        <p:txBody>
          <a:bodyPr lIns="72000" tIns="72000" rIns="72000" bIns="72000" rtlCol="0" anchor="ctr"/>
          <a:lstStyle/>
          <a:p>
            <a:endParaRPr lang="en-US" sz="1600">
              <a:solidFill>
                <a:schemeClr val="bg1"/>
              </a:solidFill>
            </a:endParaRP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E3073EC3-DFE6-8312-195C-DCCA607195E6}"/>
              </a:ext>
            </a:extLst>
          </p:cNvPr>
          <p:cNvSpPr txBox="1">
            <a:spLocks/>
          </p:cNvSpPr>
          <p:nvPr userDrawn="1"/>
        </p:nvSpPr>
        <p:spPr>
          <a:xfrm>
            <a:off x="-1466969" y="1008000"/>
            <a:ext cx="1231899" cy="5845886"/>
          </a:xfrm>
          <a:prstGeom prst="rect">
            <a:avLst/>
          </a:prstGeom>
        </p:spPr>
        <p:txBody>
          <a:bodyPr/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8775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9138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D3665545-73D1-26F7-8C89-987DFC145B98}"/>
              </a:ext>
            </a:extLst>
          </p:cNvPr>
          <p:cNvSpPr txBox="1">
            <a:spLocks/>
          </p:cNvSpPr>
          <p:nvPr userDrawn="1"/>
        </p:nvSpPr>
        <p:spPr>
          <a:xfrm>
            <a:off x="-1569600" y="133200"/>
            <a:ext cx="1476000" cy="8388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72000" bIns="7200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b="1">
                <a:solidFill>
                  <a:schemeClr val="tx1">
                    <a:alpha val="90000"/>
                  </a:schemeClr>
                </a:solidFill>
              </a:rPr>
              <a:t>Blank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332D4527-3E3C-92C2-3E54-B7AF44F752A6}"/>
              </a:ext>
            </a:extLst>
          </p:cNvPr>
          <p:cNvSpPr txBox="1">
            <a:spLocks/>
          </p:cNvSpPr>
          <p:nvPr userDrawn="1"/>
        </p:nvSpPr>
        <p:spPr>
          <a:xfrm>
            <a:off x="-1584000" y="1105200"/>
            <a:ext cx="1476000" cy="5760000"/>
          </a:xfrm>
          <a:prstGeom prst="rect">
            <a:avLst/>
          </a:prstGeom>
          <a:ln w="12700">
            <a:noFill/>
          </a:ln>
        </p:spPr>
        <p:txBody>
          <a:bodyPr vert="horz" wrap="square" lIns="144000" tIns="72000" rIns="144000" bIns="7200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>
                    <a:alpha val="9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178775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36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539138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720000" indent="0" algn="l" defTabSz="914400" rtl="0" eaLnBrk="1" latinLnBrk="0" hangingPunct="1">
              <a:lnSpc>
                <a:spcPct val="110000"/>
              </a:lnSpc>
              <a:spcBef>
                <a:spcPts val="8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>
                <a:solidFill>
                  <a:schemeClr val="tx1">
                    <a:alpha val="90000"/>
                  </a:schemeClr>
                </a:solidFill>
              </a:rPr>
              <a:t>This layout is </a:t>
            </a:r>
            <a:r>
              <a:rPr lang="en-US" sz="1050" b="1">
                <a:solidFill>
                  <a:schemeClr val="tx1">
                    <a:alpha val="90000"/>
                  </a:schemeClr>
                </a:solidFill>
              </a:rPr>
              <a:t>for exceptional use only</a:t>
            </a: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, such as large screen shots or full size videos.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050" b="0">
                <a:solidFill>
                  <a:schemeClr val="tx1">
                    <a:alpha val="90000"/>
                  </a:schemeClr>
                </a:solidFill>
              </a:rPr>
              <a:t>For content slides, please use the regular layouts</a:t>
            </a:r>
            <a:r>
              <a:rPr lang="en-US" sz="1050" b="0">
                <a:solidFill>
                  <a:srgbClr val="FF0000">
                    <a:alpha val="90000"/>
                  </a:srgbClr>
                </a:solidFill>
              </a:rPr>
              <a:t>.</a:t>
            </a: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endParaRPr lang="en-US" sz="1050">
              <a:solidFill>
                <a:srgbClr val="FF0000">
                  <a:alpha val="90000"/>
                </a:srgbClr>
              </a:solidFill>
            </a:endParaRPr>
          </a:p>
          <a:p>
            <a:endParaRPr lang="en-US" sz="1050">
              <a:solidFill>
                <a:srgbClr val="FF0000">
                  <a:alpha val="90000"/>
                </a:srgbClr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D928EE9-9E04-D3E8-0C2E-C7FA2DD6D2C3}"/>
              </a:ext>
            </a:extLst>
          </p:cNvPr>
          <p:cNvCxnSpPr>
            <a:cxnSpLocks/>
          </p:cNvCxnSpPr>
          <p:nvPr userDrawn="1"/>
        </p:nvCxnSpPr>
        <p:spPr>
          <a:xfrm>
            <a:off x="-1466969" y="1008000"/>
            <a:ext cx="1224000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15876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EDDC495-263F-04A2-9ABB-2BFA62FA2184}"/>
              </a:ext>
            </a:extLst>
          </p:cNvPr>
          <p:cNvSpPr>
            <a:spLocks/>
          </p:cNvSpPr>
          <p:nvPr userDrawn="1"/>
        </p:nvSpPr>
        <p:spPr>
          <a:xfrm>
            <a:off x="555102" y="2764203"/>
            <a:ext cx="11081796" cy="1329595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1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layout</a:t>
            </a:r>
          </a:p>
        </p:txBody>
      </p:sp>
    </p:spTree>
    <p:extLst>
      <p:ext uri="{BB962C8B-B14F-4D97-AF65-F5344CB8AC3E}">
        <p14:creationId xmlns:p14="http://schemas.microsoft.com/office/powerpoint/2010/main" val="3378400075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4B86CA7E-B351-304C-B84A-7D72E7DF7AA2}"/>
              </a:ext>
            </a:extLst>
          </p:cNvPr>
          <p:cNvSpPr>
            <a:spLocks/>
          </p:cNvSpPr>
          <p:nvPr userDrawn="1"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660A0-08E0-5735-7C3F-6B6BB5EA274E}"/>
              </a:ext>
            </a:extLst>
          </p:cNvPr>
          <p:cNvSpPr txBox="1"/>
          <p:nvPr userDrawn="1"/>
        </p:nvSpPr>
        <p:spPr>
          <a:xfrm>
            <a:off x="0" y="4403514"/>
            <a:ext cx="122083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kern="2400">
                <a:solidFill>
                  <a:srgbClr val="998242"/>
                </a:solidFill>
                <a:latin typeface="Arial"/>
                <a:ea typeface="ＭＳ Ｐゴシック" charset="0"/>
                <a:cs typeface="Arial"/>
              </a:rPr>
              <a:t>www.trelleborg.com</a:t>
            </a:r>
            <a:endParaRPr lang="en-US" sz="2000" b="1">
              <a:solidFill>
                <a:srgbClr val="998242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CC4B3-3BF2-53A1-C224-45500A28CC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TRELLEBORG GROUP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E5580-71D1-F9D8-4FA6-18FFE7D466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B1337-2405-2098-B79C-F595478908C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E53CAF16-5AB2-4305-959C-E17B059163E1}" type="datetime4">
              <a:rPr lang="en-US" smtClean="0"/>
              <a:t>March 3, 2026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FE5CE02-FE7B-90AB-1884-6713580439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5790" b="35791"/>
          <a:stretch/>
        </p:blipFill>
        <p:spPr>
          <a:xfrm>
            <a:off x="2835272" y="1515015"/>
            <a:ext cx="6521456" cy="262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557473"/>
      </p:ext>
    </p:extLst>
  </p:cSld>
  <p:clrMapOvr>
    <a:masterClrMapping/>
  </p:clrMapOvr>
  <p:hf sldNum="0"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.........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59FB4E-823E-413B-B741-B28844C666F8}"/>
              </a:ext>
            </a:extLst>
          </p:cNvPr>
          <p:cNvSpPr>
            <a:spLocks/>
          </p:cNvSpPr>
          <p:nvPr userDrawn="1"/>
        </p:nvSpPr>
        <p:spPr>
          <a:xfrm>
            <a:off x="449580" y="778164"/>
            <a:ext cx="11292840" cy="2659190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9600" b="1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not use layouts after this (if any)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F0BA21A-F948-D87E-FA9F-CAC0573B54B4}"/>
              </a:ext>
            </a:extLst>
          </p:cNvPr>
          <p:cNvSpPr>
            <a:spLocks/>
          </p:cNvSpPr>
          <p:nvPr userDrawn="1"/>
        </p:nvSpPr>
        <p:spPr>
          <a:xfrm>
            <a:off x="1011382" y="3628090"/>
            <a:ext cx="10169236" cy="1475001"/>
          </a:xfrm>
          <a:prstGeom prst="rect">
            <a:avLst/>
          </a:prstGeom>
          <a:noFill/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396000" tIns="72000" rIns="180000" bIns="72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Due to how PowerPoint works, more layouts may appear after this one.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000" b="0" i="0" u="none" strike="noStrike" kern="1200" cap="none" spc="-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These layouts are duplicates from other templates and should not be used.</a:t>
            </a:r>
          </a:p>
        </p:txBody>
      </p:sp>
    </p:spTree>
    <p:extLst>
      <p:ext uri="{BB962C8B-B14F-4D97-AF65-F5344CB8AC3E}">
        <p14:creationId xmlns:p14="http://schemas.microsoft.com/office/powerpoint/2010/main" val="853230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2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9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oleObject" Target="../embeddings/oleObject2.bin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tags" Target="../tags/tag3.xml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61.xml"/><Relationship Id="rId41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30B406A-BFCE-F837-88A3-85108C2A4F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18369788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30B406A-BFCE-F837-88A3-85108C2A4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664797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46A44CF-3ED3-3E6A-FE65-0456FC616E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3092273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240" r:id="rId2"/>
    <p:sldLayoutId id="2147484159" r:id="rId3"/>
    <p:sldLayoutId id="2147484160" r:id="rId4"/>
    <p:sldLayoutId id="2147484238" r:id="rId5"/>
    <p:sldLayoutId id="2147484161" r:id="rId6"/>
    <p:sldLayoutId id="2147484162" r:id="rId7"/>
    <p:sldLayoutId id="2147484163" r:id="rId8"/>
    <p:sldLayoutId id="2147484164" r:id="rId9"/>
    <p:sldLayoutId id="2147484165" r:id="rId10"/>
    <p:sldLayoutId id="2147484166" r:id="rId11"/>
    <p:sldLayoutId id="2147484167" r:id="rId12"/>
    <p:sldLayoutId id="2147484168" r:id="rId13"/>
    <p:sldLayoutId id="2147484169" r:id="rId14"/>
    <p:sldLayoutId id="2147484170" r:id="rId15"/>
    <p:sldLayoutId id="2147484171" r:id="rId16"/>
    <p:sldLayoutId id="2147484172" r:id="rId17"/>
    <p:sldLayoutId id="2147484173" r:id="rId18"/>
    <p:sldLayoutId id="2147484174" r:id="rId19"/>
    <p:sldLayoutId id="2147484175" r:id="rId20"/>
    <p:sldLayoutId id="2147484176" r:id="rId21"/>
    <p:sldLayoutId id="2147484177" r:id="rId22"/>
    <p:sldLayoutId id="2147484178" r:id="rId23"/>
    <p:sldLayoutId id="2147484179" r:id="rId24"/>
    <p:sldLayoutId id="2147484180" r:id="rId25"/>
    <p:sldLayoutId id="2147484181" r:id="rId26"/>
    <p:sldLayoutId id="2147484182" r:id="rId27"/>
    <p:sldLayoutId id="2147484183" r:id="rId28"/>
    <p:sldLayoutId id="2147484184" r:id="rId29"/>
    <p:sldLayoutId id="2147484185" r:id="rId30"/>
    <p:sldLayoutId id="2147484186" r:id="rId31"/>
    <p:sldLayoutId id="2147484187" r:id="rId32"/>
    <p:sldLayoutId id="2147484188" r:id="rId33"/>
    <p:sldLayoutId id="2147484189" r:id="rId34"/>
    <p:sldLayoutId id="2147484190" r:id="rId35"/>
    <p:sldLayoutId id="2147484191" r:id="rId36"/>
    <p:sldLayoutId id="2147484192" r:id="rId37"/>
    <p:sldLayoutId id="2147484193" r:id="rId38"/>
    <p:sldLayoutId id="2147484194" r:id="rId39"/>
    <p:sldLayoutId id="2147484195" r:id="rId40"/>
    <p:sldLayoutId id="214748419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61F95D7E-4B23-4652-0DFB-30B84247D93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9696221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6" imgH="275" progId="TCLayout.ActiveDocument.1">
                  <p:embed/>
                </p:oleObj>
              </mc:Choice>
              <mc:Fallback>
                <p:oleObj name="think-cell Slide" r:id="rId44" imgW="276" imgH="27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1F95D7E-4B23-4652-0DFB-30B84247D93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0">
            <a:extLst>
              <a:ext uri="{FF2B5EF4-FFF2-40B4-BE49-F238E27FC236}">
                <a16:creationId xmlns:a16="http://schemas.microsoft.com/office/drawing/2014/main" id="{78FC0C7A-FDB3-9D5F-2DF2-A4E0633FD6FC}"/>
              </a:ext>
            </a:extLst>
          </p:cNvPr>
          <p:cNvSpPr>
            <a:spLocks/>
          </p:cNvSpPr>
          <p:nvPr/>
        </p:nvSpPr>
        <p:spPr>
          <a:xfrm>
            <a:off x="0" y="6318000"/>
            <a:ext cx="12192000" cy="54000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E2F12F-86BB-5982-0A48-2379ABF5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262800"/>
            <a:ext cx="11113839" cy="332399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0F23DB-3FBD-343C-39BF-D36668E5B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204913"/>
            <a:ext cx="11113839" cy="4840287"/>
          </a:xfrm>
          <a:prstGeom prst="rect">
            <a:avLst/>
          </a:prstGeom>
          <a:ln w="12700"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E736D-4E9C-5699-7C27-31DFFD7CCF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flipH="1">
            <a:off x="766637" y="6518751"/>
            <a:ext cx="2754011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TRELLEBORG GROUP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3773-9819-C11B-FCDA-874739360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9209" y="6518751"/>
            <a:ext cx="210885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5EA29875-719B-4A39-A51C-7BDD87443D6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CD961-B06F-DCCD-4BBA-1B1343B740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6000" y="6518751"/>
            <a:ext cx="1800000" cy="1384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>
              <a:defRPr sz="900" cap="all" baseline="0">
                <a:solidFill>
                  <a:schemeClr val="bg1"/>
                </a:solidFill>
              </a:defRPr>
            </a:lvl1pPr>
          </a:lstStyle>
          <a:p>
            <a:fld id="{F66D1A21-DA7F-43FD-8BC0-CF1F1BBA6459}" type="datetime4">
              <a:rPr lang="en-US" smtClean="0"/>
              <a:t>March 3, 2026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7467DED-36C4-2232-7CC5-7925DA4D4319}"/>
              </a:ext>
            </a:extLst>
          </p:cNvPr>
          <p:cNvGrpSpPr>
            <a:grpSpLocks/>
          </p:cNvGrpSpPr>
          <p:nvPr/>
        </p:nvGrpSpPr>
        <p:grpSpPr>
          <a:xfrm>
            <a:off x="10952333" y="6443734"/>
            <a:ext cx="693917" cy="288532"/>
            <a:chOff x="3591717" y="6426680"/>
            <a:chExt cx="442855" cy="184140"/>
          </a:xfrm>
        </p:grpSpPr>
        <p:grpSp>
          <p:nvGrpSpPr>
            <p:cNvPr id="17" name="Graphic 14">
              <a:extLst>
                <a:ext uri="{FF2B5EF4-FFF2-40B4-BE49-F238E27FC236}">
                  <a16:creationId xmlns:a16="http://schemas.microsoft.com/office/drawing/2014/main" id="{4716F08F-D540-EB26-A85F-2D52972561D6}"/>
                </a:ext>
              </a:extLst>
            </p:cNvPr>
            <p:cNvGrpSpPr/>
            <p:nvPr/>
          </p:nvGrpSpPr>
          <p:grpSpPr>
            <a:xfrm>
              <a:off x="3699827" y="6426680"/>
              <a:ext cx="226739" cy="101444"/>
              <a:chOff x="3699827" y="6426680"/>
              <a:chExt cx="226739" cy="101444"/>
            </a:xfrm>
            <a:solidFill>
              <a:srgbClr val="998242"/>
            </a:solidFill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6A09024-4F7B-6443-0F06-C616D6866BB4}"/>
                  </a:ext>
                </a:extLst>
              </p:cNvPr>
              <p:cNvSpPr/>
              <p:nvPr/>
            </p:nvSpPr>
            <p:spPr>
              <a:xfrm>
                <a:off x="3734822" y="6440532"/>
                <a:ext cx="56450" cy="52076"/>
              </a:xfrm>
              <a:custGeom>
                <a:avLst/>
                <a:gdLst>
                  <a:gd name="connsiteX0" fmla="*/ 0 w 56450"/>
                  <a:gd name="connsiteY0" fmla="*/ 0 h 52076"/>
                  <a:gd name="connsiteX1" fmla="*/ 0 w 56450"/>
                  <a:gd name="connsiteY1" fmla="*/ 8228 h 52076"/>
                  <a:gd name="connsiteX2" fmla="*/ 24059 w 56450"/>
                  <a:gd name="connsiteY2" fmla="*/ 8228 h 52076"/>
                  <a:gd name="connsiteX3" fmla="*/ 24059 w 56450"/>
                  <a:gd name="connsiteY3" fmla="*/ 52076 h 52076"/>
                  <a:gd name="connsiteX4" fmla="*/ 32287 w 56450"/>
                  <a:gd name="connsiteY4" fmla="*/ 52076 h 52076"/>
                  <a:gd name="connsiteX5" fmla="*/ 32287 w 56450"/>
                  <a:gd name="connsiteY5" fmla="*/ 8228 h 52076"/>
                  <a:gd name="connsiteX6" fmla="*/ 56451 w 56450"/>
                  <a:gd name="connsiteY6" fmla="*/ 8228 h 52076"/>
                  <a:gd name="connsiteX7" fmla="*/ 56451 w 56450"/>
                  <a:gd name="connsiteY7" fmla="*/ 0 h 520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6450" h="52076">
                    <a:moveTo>
                      <a:pt x="0" y="0"/>
                    </a:moveTo>
                    <a:lnTo>
                      <a:pt x="0" y="8228"/>
                    </a:lnTo>
                    <a:lnTo>
                      <a:pt x="24059" y="8228"/>
                    </a:lnTo>
                    <a:lnTo>
                      <a:pt x="24059" y="52076"/>
                    </a:lnTo>
                    <a:lnTo>
                      <a:pt x="32287" y="52076"/>
                    </a:lnTo>
                    <a:lnTo>
                      <a:pt x="32287" y="8228"/>
                    </a:lnTo>
                    <a:lnTo>
                      <a:pt x="56451" y="8228"/>
                    </a:lnTo>
                    <a:lnTo>
                      <a:pt x="56451" y="0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72AFCC20-0889-811D-5457-9FE4E253F5CD}"/>
                  </a:ext>
                </a:extLst>
              </p:cNvPr>
              <p:cNvSpPr/>
              <p:nvPr/>
            </p:nvSpPr>
            <p:spPr>
              <a:xfrm>
                <a:off x="3699827" y="6426680"/>
                <a:ext cx="226739" cy="101444"/>
              </a:xfrm>
              <a:custGeom>
                <a:avLst/>
                <a:gdLst>
                  <a:gd name="connsiteX0" fmla="*/ 163519 w 226739"/>
                  <a:gd name="connsiteY0" fmla="*/ 101444 h 101444"/>
                  <a:gd name="connsiteX1" fmla="*/ 226739 w 226739"/>
                  <a:gd name="connsiteY1" fmla="*/ 0 h 101444"/>
                  <a:gd name="connsiteX2" fmla="*/ 0 w 226739"/>
                  <a:gd name="connsiteY2" fmla="*/ 0 h 101444"/>
                  <a:gd name="connsiteX3" fmla="*/ 63220 w 226739"/>
                  <a:gd name="connsiteY3" fmla="*/ 101444 h 101444"/>
                  <a:gd name="connsiteX4" fmla="*/ 79885 w 226739"/>
                  <a:gd name="connsiteY4" fmla="*/ 74677 h 101444"/>
                  <a:gd name="connsiteX5" fmla="*/ 96966 w 226739"/>
                  <a:gd name="connsiteY5" fmla="*/ 101444 h 101444"/>
                  <a:gd name="connsiteX6" fmla="*/ 113630 w 226739"/>
                  <a:gd name="connsiteY6" fmla="*/ 74677 h 101444"/>
                  <a:gd name="connsiteX7" fmla="*/ 130294 w 226739"/>
                  <a:gd name="connsiteY7" fmla="*/ 101444 h 101444"/>
                  <a:gd name="connsiteX8" fmla="*/ 146855 w 226739"/>
                  <a:gd name="connsiteY8" fmla="*/ 74781 h 101444"/>
                  <a:gd name="connsiteX9" fmla="*/ 163519 w 226739"/>
                  <a:gd name="connsiteY9" fmla="*/ 101444 h 101444"/>
                  <a:gd name="connsiteX10" fmla="*/ 210075 w 226739"/>
                  <a:gd name="connsiteY10" fmla="*/ 9270 h 101444"/>
                  <a:gd name="connsiteX11" fmla="*/ 163519 w 226739"/>
                  <a:gd name="connsiteY11" fmla="*/ 83947 h 101444"/>
                  <a:gd name="connsiteX12" fmla="*/ 152375 w 226739"/>
                  <a:gd name="connsiteY12" fmla="*/ 66033 h 101444"/>
                  <a:gd name="connsiteX13" fmla="*/ 187682 w 226739"/>
                  <a:gd name="connsiteY13" fmla="*/ 9374 h 101444"/>
                  <a:gd name="connsiteX14" fmla="*/ 210075 w 226739"/>
                  <a:gd name="connsiteY14" fmla="*/ 9270 h 101444"/>
                  <a:gd name="connsiteX15" fmla="*/ 210075 w 226739"/>
                  <a:gd name="connsiteY15" fmla="*/ 9270 h 101444"/>
                  <a:gd name="connsiteX16" fmla="*/ 63220 w 226739"/>
                  <a:gd name="connsiteY16" fmla="*/ 83947 h 101444"/>
                  <a:gd name="connsiteX17" fmla="*/ 16873 w 226739"/>
                  <a:gd name="connsiteY17" fmla="*/ 9270 h 101444"/>
                  <a:gd name="connsiteX18" fmla="*/ 31037 w 226739"/>
                  <a:gd name="connsiteY18" fmla="*/ 9270 h 101444"/>
                  <a:gd name="connsiteX19" fmla="*/ 109777 w 226739"/>
                  <a:gd name="connsiteY19" fmla="*/ 9270 h 101444"/>
                  <a:gd name="connsiteX20" fmla="*/ 63220 w 226739"/>
                  <a:gd name="connsiteY20" fmla="*/ 83947 h 101444"/>
                  <a:gd name="connsiteX21" fmla="*/ 85405 w 226739"/>
                  <a:gd name="connsiteY21" fmla="*/ 65824 h 101444"/>
                  <a:gd name="connsiteX22" fmla="*/ 120608 w 226739"/>
                  <a:gd name="connsiteY22" fmla="*/ 9374 h 101444"/>
                  <a:gd name="connsiteX23" fmla="*/ 143522 w 226739"/>
                  <a:gd name="connsiteY23" fmla="*/ 9374 h 101444"/>
                  <a:gd name="connsiteX24" fmla="*/ 96966 w 226739"/>
                  <a:gd name="connsiteY24" fmla="*/ 84051 h 101444"/>
                  <a:gd name="connsiteX25" fmla="*/ 85405 w 226739"/>
                  <a:gd name="connsiteY25" fmla="*/ 65824 h 101444"/>
                  <a:gd name="connsiteX26" fmla="*/ 119150 w 226739"/>
                  <a:gd name="connsiteY26" fmla="*/ 65824 h 101444"/>
                  <a:gd name="connsiteX27" fmla="*/ 154354 w 226739"/>
                  <a:gd name="connsiteY27" fmla="*/ 9374 h 101444"/>
                  <a:gd name="connsiteX28" fmla="*/ 176746 w 226739"/>
                  <a:gd name="connsiteY28" fmla="*/ 9374 h 101444"/>
                  <a:gd name="connsiteX29" fmla="*/ 130190 w 226739"/>
                  <a:gd name="connsiteY29" fmla="*/ 84051 h 101444"/>
                  <a:gd name="connsiteX30" fmla="*/ 119150 w 226739"/>
                  <a:gd name="connsiteY30" fmla="*/ 65824 h 101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6739" h="101444">
                    <a:moveTo>
                      <a:pt x="163519" y="101444"/>
                    </a:moveTo>
                    <a:lnTo>
                      <a:pt x="226739" y="0"/>
                    </a:lnTo>
                    <a:lnTo>
                      <a:pt x="0" y="0"/>
                    </a:lnTo>
                    <a:lnTo>
                      <a:pt x="63220" y="101444"/>
                    </a:lnTo>
                    <a:lnTo>
                      <a:pt x="79885" y="74677"/>
                    </a:lnTo>
                    <a:lnTo>
                      <a:pt x="96966" y="101444"/>
                    </a:lnTo>
                    <a:lnTo>
                      <a:pt x="113630" y="74677"/>
                    </a:lnTo>
                    <a:lnTo>
                      <a:pt x="130294" y="101444"/>
                    </a:lnTo>
                    <a:lnTo>
                      <a:pt x="146855" y="74781"/>
                    </a:lnTo>
                    <a:lnTo>
                      <a:pt x="163519" y="101444"/>
                    </a:lnTo>
                    <a:close/>
                    <a:moveTo>
                      <a:pt x="210075" y="9270"/>
                    </a:moveTo>
                    <a:lnTo>
                      <a:pt x="163519" y="83947"/>
                    </a:lnTo>
                    <a:lnTo>
                      <a:pt x="152375" y="66033"/>
                    </a:lnTo>
                    <a:lnTo>
                      <a:pt x="187682" y="9374"/>
                    </a:lnTo>
                    <a:lnTo>
                      <a:pt x="210075" y="9270"/>
                    </a:lnTo>
                    <a:lnTo>
                      <a:pt x="210075" y="9270"/>
                    </a:lnTo>
                    <a:close/>
                    <a:moveTo>
                      <a:pt x="63220" y="83947"/>
                    </a:moveTo>
                    <a:lnTo>
                      <a:pt x="16873" y="9270"/>
                    </a:lnTo>
                    <a:lnTo>
                      <a:pt x="31037" y="9270"/>
                    </a:lnTo>
                    <a:lnTo>
                      <a:pt x="109777" y="9270"/>
                    </a:lnTo>
                    <a:lnTo>
                      <a:pt x="63220" y="83947"/>
                    </a:lnTo>
                    <a:close/>
                    <a:moveTo>
                      <a:pt x="85405" y="65824"/>
                    </a:moveTo>
                    <a:lnTo>
                      <a:pt x="120608" y="9374"/>
                    </a:lnTo>
                    <a:lnTo>
                      <a:pt x="143522" y="9374"/>
                    </a:lnTo>
                    <a:lnTo>
                      <a:pt x="96966" y="84051"/>
                    </a:lnTo>
                    <a:lnTo>
                      <a:pt x="85405" y="65824"/>
                    </a:lnTo>
                    <a:close/>
                    <a:moveTo>
                      <a:pt x="119150" y="65824"/>
                    </a:moveTo>
                    <a:lnTo>
                      <a:pt x="154354" y="9374"/>
                    </a:lnTo>
                    <a:lnTo>
                      <a:pt x="176746" y="9374"/>
                    </a:lnTo>
                    <a:lnTo>
                      <a:pt x="130190" y="84051"/>
                    </a:lnTo>
                    <a:lnTo>
                      <a:pt x="119150" y="65824"/>
                    </a:lnTo>
                    <a:close/>
                  </a:path>
                </a:pathLst>
              </a:custGeom>
              <a:solidFill>
                <a:srgbClr val="998242"/>
              </a:solidFill>
              <a:ln w="10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a-DK"/>
              </a:p>
            </p:txBody>
          </p:sp>
        </p:grp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56BDD16-D07C-23D8-ECD0-22B66F86EA4C}"/>
                </a:ext>
              </a:extLst>
            </p:cNvPr>
            <p:cNvSpPr/>
            <p:nvPr/>
          </p:nvSpPr>
          <p:spPr>
            <a:xfrm>
              <a:off x="3591717" y="6545309"/>
              <a:ext cx="39577" cy="64261"/>
            </a:xfrm>
            <a:custGeom>
              <a:avLst/>
              <a:gdLst>
                <a:gd name="connsiteX0" fmla="*/ 0 w 39577"/>
                <a:gd name="connsiteY0" fmla="*/ 8332 h 64261"/>
                <a:gd name="connsiteX1" fmla="*/ 5103 w 39577"/>
                <a:gd name="connsiteY1" fmla="*/ 5833 h 64261"/>
                <a:gd name="connsiteX2" fmla="*/ 16039 w 39577"/>
                <a:gd name="connsiteY2" fmla="*/ 5833 h 64261"/>
                <a:gd name="connsiteX3" fmla="*/ 16039 w 39577"/>
                <a:gd name="connsiteY3" fmla="*/ 59263 h 64261"/>
                <a:gd name="connsiteX4" fmla="*/ 14061 w 39577"/>
                <a:gd name="connsiteY4" fmla="*/ 64262 h 64261"/>
                <a:gd name="connsiteX5" fmla="*/ 25517 w 39577"/>
                <a:gd name="connsiteY5" fmla="*/ 64262 h 64261"/>
                <a:gd name="connsiteX6" fmla="*/ 23538 w 39577"/>
                <a:gd name="connsiteY6" fmla="*/ 59263 h 64261"/>
                <a:gd name="connsiteX7" fmla="*/ 23538 w 39577"/>
                <a:gd name="connsiteY7" fmla="*/ 5728 h 64261"/>
                <a:gd name="connsiteX8" fmla="*/ 34579 w 39577"/>
                <a:gd name="connsiteY8" fmla="*/ 5728 h 64261"/>
                <a:gd name="connsiteX9" fmla="*/ 39578 w 39577"/>
                <a:gd name="connsiteY9" fmla="*/ 8228 h 64261"/>
                <a:gd name="connsiteX10" fmla="*/ 39578 w 39577"/>
                <a:gd name="connsiteY10" fmla="*/ 0 h 64261"/>
                <a:gd name="connsiteX11" fmla="*/ 0 w 39577"/>
                <a:gd name="connsiteY11" fmla="*/ 0 h 64261"/>
                <a:gd name="connsiteX12" fmla="*/ 0 w 39577"/>
                <a:gd name="connsiteY12" fmla="*/ 8332 h 64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577" h="64261">
                  <a:moveTo>
                    <a:pt x="0" y="8332"/>
                  </a:moveTo>
                  <a:cubicBezTo>
                    <a:pt x="1146" y="7082"/>
                    <a:pt x="1250" y="5833"/>
                    <a:pt x="5103" y="5833"/>
                  </a:cubicBezTo>
                  <a:lnTo>
                    <a:pt x="16039" y="5833"/>
                  </a:lnTo>
                  <a:lnTo>
                    <a:pt x="16039" y="59263"/>
                  </a:lnTo>
                  <a:cubicBezTo>
                    <a:pt x="16039" y="62700"/>
                    <a:pt x="15519" y="63116"/>
                    <a:pt x="14061" y="64262"/>
                  </a:cubicBezTo>
                  <a:lnTo>
                    <a:pt x="25517" y="64262"/>
                  </a:lnTo>
                  <a:cubicBezTo>
                    <a:pt x="24059" y="63116"/>
                    <a:pt x="23538" y="62700"/>
                    <a:pt x="23538" y="59263"/>
                  </a:cubicBezTo>
                  <a:lnTo>
                    <a:pt x="23538" y="5728"/>
                  </a:lnTo>
                  <a:lnTo>
                    <a:pt x="34579" y="5728"/>
                  </a:lnTo>
                  <a:cubicBezTo>
                    <a:pt x="38432" y="5728"/>
                    <a:pt x="38432" y="7082"/>
                    <a:pt x="39578" y="8228"/>
                  </a:cubicBezTo>
                  <a:lnTo>
                    <a:pt x="39578" y="0"/>
                  </a:lnTo>
                  <a:lnTo>
                    <a:pt x="0" y="0"/>
                  </a:lnTo>
                  <a:lnTo>
                    <a:pt x="0" y="8332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3522D4A-C207-373D-0ECB-C70402668CE5}"/>
                </a:ext>
              </a:extLst>
            </p:cNvPr>
            <p:cNvSpPr/>
            <p:nvPr/>
          </p:nvSpPr>
          <p:spPr>
            <a:xfrm>
              <a:off x="3635773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765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A047F0C-DEAB-BB35-90AE-16895CA11E0F}"/>
                </a:ext>
              </a:extLst>
            </p:cNvPr>
            <p:cNvSpPr/>
            <p:nvPr/>
          </p:nvSpPr>
          <p:spPr>
            <a:xfrm>
              <a:off x="3939898" y="6545518"/>
              <a:ext cx="43223" cy="63845"/>
            </a:xfrm>
            <a:custGeom>
              <a:avLst/>
              <a:gdLst>
                <a:gd name="connsiteX0" fmla="*/ 39370 w 43223"/>
                <a:gd name="connsiteY0" fmla="*/ 58950 h 63845"/>
                <a:gd name="connsiteX1" fmla="*/ 26351 w 43223"/>
                <a:gd name="connsiteY1" fmla="*/ 32704 h 63845"/>
                <a:gd name="connsiteX2" fmla="*/ 39890 w 43223"/>
                <a:gd name="connsiteY2" fmla="*/ 17706 h 63845"/>
                <a:gd name="connsiteX3" fmla="*/ 17185 w 43223"/>
                <a:gd name="connsiteY3" fmla="*/ 0 h 63845"/>
                <a:gd name="connsiteX4" fmla="*/ 0 w 43223"/>
                <a:gd name="connsiteY4" fmla="*/ 0 h 63845"/>
                <a:gd name="connsiteX5" fmla="*/ 1979 w 43223"/>
                <a:gd name="connsiteY5" fmla="*/ 4999 h 63845"/>
                <a:gd name="connsiteX6" fmla="*/ 1979 w 43223"/>
                <a:gd name="connsiteY6" fmla="*/ 58846 h 63845"/>
                <a:gd name="connsiteX7" fmla="*/ 0 w 43223"/>
                <a:gd name="connsiteY7" fmla="*/ 63845 h 63845"/>
                <a:gd name="connsiteX8" fmla="*/ 11457 w 43223"/>
                <a:gd name="connsiteY8" fmla="*/ 63845 h 63845"/>
                <a:gd name="connsiteX9" fmla="*/ 9478 w 43223"/>
                <a:gd name="connsiteY9" fmla="*/ 58846 h 63845"/>
                <a:gd name="connsiteX10" fmla="*/ 9478 w 43223"/>
                <a:gd name="connsiteY10" fmla="*/ 33745 h 63845"/>
                <a:gd name="connsiteX11" fmla="*/ 9478 w 43223"/>
                <a:gd name="connsiteY11" fmla="*/ 28017 h 63845"/>
                <a:gd name="connsiteX12" fmla="*/ 9478 w 43223"/>
                <a:gd name="connsiteY12" fmla="*/ 5728 h 63845"/>
                <a:gd name="connsiteX13" fmla="*/ 17185 w 43223"/>
                <a:gd name="connsiteY13" fmla="*/ 5728 h 63845"/>
                <a:gd name="connsiteX14" fmla="*/ 32391 w 43223"/>
                <a:gd name="connsiteY14" fmla="*/ 17602 h 63845"/>
                <a:gd name="connsiteX15" fmla="*/ 16039 w 43223"/>
                <a:gd name="connsiteY15" fmla="*/ 28329 h 63845"/>
                <a:gd name="connsiteX16" fmla="*/ 19060 w 43223"/>
                <a:gd name="connsiteY16" fmla="*/ 33745 h 63845"/>
                <a:gd name="connsiteX17" fmla="*/ 33433 w 43223"/>
                <a:gd name="connsiteY17" fmla="*/ 63845 h 63845"/>
                <a:gd name="connsiteX18" fmla="*/ 43223 w 43223"/>
                <a:gd name="connsiteY18" fmla="*/ 63845 h 63845"/>
                <a:gd name="connsiteX19" fmla="*/ 39370 w 43223"/>
                <a:gd name="connsiteY19" fmla="*/ 58950 h 63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3223" h="63845">
                  <a:moveTo>
                    <a:pt x="39370" y="58950"/>
                  </a:moveTo>
                  <a:lnTo>
                    <a:pt x="26351" y="32704"/>
                  </a:lnTo>
                  <a:cubicBezTo>
                    <a:pt x="35620" y="30933"/>
                    <a:pt x="39890" y="23434"/>
                    <a:pt x="39890" y="17706"/>
                  </a:cubicBezTo>
                  <a:cubicBezTo>
                    <a:pt x="39890" y="5208"/>
                    <a:pt x="33225" y="0"/>
                    <a:pt x="1718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846"/>
                  </a:lnTo>
                  <a:cubicBezTo>
                    <a:pt x="1979" y="62283"/>
                    <a:pt x="1458" y="62700"/>
                    <a:pt x="0" y="63845"/>
                  </a:cubicBezTo>
                  <a:lnTo>
                    <a:pt x="11457" y="63845"/>
                  </a:lnTo>
                  <a:cubicBezTo>
                    <a:pt x="9999" y="62700"/>
                    <a:pt x="9478" y="62283"/>
                    <a:pt x="9478" y="58846"/>
                  </a:cubicBezTo>
                  <a:lnTo>
                    <a:pt x="9478" y="33745"/>
                  </a:lnTo>
                  <a:lnTo>
                    <a:pt x="9478" y="28017"/>
                  </a:lnTo>
                  <a:lnTo>
                    <a:pt x="9478" y="5728"/>
                  </a:lnTo>
                  <a:lnTo>
                    <a:pt x="17185" y="5728"/>
                  </a:lnTo>
                  <a:cubicBezTo>
                    <a:pt x="28642" y="5728"/>
                    <a:pt x="32391" y="10624"/>
                    <a:pt x="32391" y="17602"/>
                  </a:cubicBezTo>
                  <a:cubicBezTo>
                    <a:pt x="32391" y="28017"/>
                    <a:pt x="21560" y="28329"/>
                    <a:pt x="16039" y="28329"/>
                  </a:cubicBezTo>
                  <a:lnTo>
                    <a:pt x="19060" y="33745"/>
                  </a:lnTo>
                  <a:lnTo>
                    <a:pt x="33433" y="63845"/>
                  </a:lnTo>
                  <a:lnTo>
                    <a:pt x="43223" y="63845"/>
                  </a:lnTo>
                  <a:cubicBezTo>
                    <a:pt x="42078" y="62804"/>
                    <a:pt x="41661" y="62700"/>
                    <a:pt x="39370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C78186-0C51-B1F5-D4E0-07FA8AE2632B}"/>
                </a:ext>
              </a:extLst>
            </p:cNvPr>
            <p:cNvSpPr/>
            <p:nvPr/>
          </p:nvSpPr>
          <p:spPr>
            <a:xfrm>
              <a:off x="3683892" y="6545518"/>
              <a:ext cx="34161" cy="63949"/>
            </a:xfrm>
            <a:custGeom>
              <a:avLst/>
              <a:gdLst>
                <a:gd name="connsiteX0" fmla="*/ 1979 w 34161"/>
                <a:gd name="connsiteY0" fmla="*/ 4999 h 63949"/>
                <a:gd name="connsiteX1" fmla="*/ 1979 w 34161"/>
                <a:gd name="connsiteY1" fmla="*/ 58950 h 63949"/>
                <a:gd name="connsiteX2" fmla="*/ 0 w 34161"/>
                <a:gd name="connsiteY2" fmla="*/ 63949 h 63949"/>
                <a:gd name="connsiteX3" fmla="*/ 34162 w 34161"/>
                <a:gd name="connsiteY3" fmla="*/ 63949 h 63949"/>
                <a:gd name="connsiteX4" fmla="*/ 34162 w 34161"/>
                <a:gd name="connsiteY4" fmla="*/ 55617 h 63949"/>
                <a:gd name="connsiteX5" fmla="*/ 29058 w 34161"/>
                <a:gd name="connsiteY5" fmla="*/ 58221 h 63949"/>
                <a:gd name="connsiteX6" fmla="*/ 9478 w 34161"/>
                <a:gd name="connsiteY6" fmla="*/ 58221 h 63949"/>
                <a:gd name="connsiteX7" fmla="*/ 9478 w 34161"/>
                <a:gd name="connsiteY7" fmla="*/ 31662 h 63949"/>
                <a:gd name="connsiteX8" fmla="*/ 23226 w 34161"/>
                <a:gd name="connsiteY8" fmla="*/ 31975 h 63949"/>
                <a:gd name="connsiteX9" fmla="*/ 27913 w 34161"/>
                <a:gd name="connsiteY9" fmla="*/ 33849 h 63949"/>
                <a:gd name="connsiteX10" fmla="*/ 27913 w 34161"/>
                <a:gd name="connsiteY10" fmla="*/ 24372 h 63949"/>
                <a:gd name="connsiteX11" fmla="*/ 23018 w 34161"/>
                <a:gd name="connsiteY11" fmla="*/ 26246 h 63949"/>
                <a:gd name="connsiteX12" fmla="*/ 9478 w 34161"/>
                <a:gd name="connsiteY12" fmla="*/ 25934 h 63949"/>
                <a:gd name="connsiteX13" fmla="*/ 9478 w 34161"/>
                <a:gd name="connsiteY13" fmla="*/ 5728 h 63949"/>
                <a:gd name="connsiteX14" fmla="*/ 29058 w 34161"/>
                <a:gd name="connsiteY14" fmla="*/ 5728 h 63949"/>
                <a:gd name="connsiteX15" fmla="*/ 34162 w 34161"/>
                <a:gd name="connsiteY15" fmla="*/ 8332 h 63949"/>
                <a:gd name="connsiteX16" fmla="*/ 34162 w 34161"/>
                <a:gd name="connsiteY16" fmla="*/ 0 h 63949"/>
                <a:gd name="connsiteX17" fmla="*/ 0 w 34161"/>
                <a:gd name="connsiteY17" fmla="*/ 0 h 63949"/>
                <a:gd name="connsiteX18" fmla="*/ 1979 w 34161"/>
                <a:gd name="connsiteY18" fmla="*/ 4999 h 63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949">
                  <a:moveTo>
                    <a:pt x="1979" y="4999"/>
                  </a:moveTo>
                  <a:lnTo>
                    <a:pt x="1979" y="58950"/>
                  </a:lnTo>
                  <a:cubicBezTo>
                    <a:pt x="1979" y="62387"/>
                    <a:pt x="1458" y="62804"/>
                    <a:pt x="0" y="63949"/>
                  </a:cubicBezTo>
                  <a:lnTo>
                    <a:pt x="34162" y="63949"/>
                  </a:lnTo>
                  <a:lnTo>
                    <a:pt x="34162" y="55617"/>
                  </a:lnTo>
                  <a:cubicBezTo>
                    <a:pt x="33225" y="56763"/>
                    <a:pt x="33120" y="58221"/>
                    <a:pt x="29058" y="58221"/>
                  </a:cubicBezTo>
                  <a:lnTo>
                    <a:pt x="9478" y="58221"/>
                  </a:lnTo>
                  <a:lnTo>
                    <a:pt x="9478" y="31662"/>
                  </a:lnTo>
                  <a:lnTo>
                    <a:pt x="23226" y="31975"/>
                  </a:lnTo>
                  <a:cubicBezTo>
                    <a:pt x="27184" y="31975"/>
                    <a:pt x="27184" y="32912"/>
                    <a:pt x="27913" y="33849"/>
                  </a:cubicBezTo>
                  <a:lnTo>
                    <a:pt x="27913" y="24372"/>
                  </a:lnTo>
                  <a:cubicBezTo>
                    <a:pt x="26975" y="25517"/>
                    <a:pt x="26871" y="26246"/>
                    <a:pt x="23018" y="26246"/>
                  </a:cubicBezTo>
                  <a:lnTo>
                    <a:pt x="9478" y="25934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CAA7BB-C0DA-5D7C-9470-8E72890AF0CD}"/>
                </a:ext>
              </a:extLst>
            </p:cNvPr>
            <p:cNvSpPr/>
            <p:nvPr/>
          </p:nvSpPr>
          <p:spPr>
            <a:xfrm>
              <a:off x="3724094" y="6545309"/>
              <a:ext cx="29266" cy="64157"/>
            </a:xfrm>
            <a:custGeom>
              <a:avLst/>
              <a:gdLst>
                <a:gd name="connsiteX0" fmla="*/ 24267 w 29266"/>
                <a:gd name="connsiteY0" fmla="*/ 58429 h 64157"/>
                <a:gd name="connsiteX1" fmla="*/ 9478 w 29266"/>
                <a:gd name="connsiteY1" fmla="*/ 58429 h 64157"/>
                <a:gd name="connsiteX2" fmla="*/ 9478 w 29266"/>
                <a:gd name="connsiteY2" fmla="*/ 4999 h 64157"/>
                <a:gd name="connsiteX3" fmla="*/ 11457 w 29266"/>
                <a:gd name="connsiteY3" fmla="*/ 0 h 64157"/>
                <a:gd name="connsiteX4" fmla="*/ 0 w 29266"/>
                <a:gd name="connsiteY4" fmla="*/ 0 h 64157"/>
                <a:gd name="connsiteX5" fmla="*/ 1979 w 29266"/>
                <a:gd name="connsiteY5" fmla="*/ 4999 h 64157"/>
                <a:gd name="connsiteX6" fmla="*/ 1979 w 29266"/>
                <a:gd name="connsiteY6" fmla="*/ 59158 h 64157"/>
                <a:gd name="connsiteX7" fmla="*/ 0 w 29266"/>
                <a:gd name="connsiteY7" fmla="*/ 64158 h 64157"/>
                <a:gd name="connsiteX8" fmla="*/ 29267 w 29266"/>
                <a:gd name="connsiteY8" fmla="*/ 64158 h 64157"/>
                <a:gd name="connsiteX9" fmla="*/ 29267 w 29266"/>
                <a:gd name="connsiteY9" fmla="*/ 55826 h 64157"/>
                <a:gd name="connsiteX10" fmla="*/ 24267 w 29266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266" h="64157">
                  <a:moveTo>
                    <a:pt x="24267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9267" y="64158"/>
                  </a:lnTo>
                  <a:lnTo>
                    <a:pt x="29267" y="55826"/>
                  </a:lnTo>
                  <a:cubicBezTo>
                    <a:pt x="28434" y="56763"/>
                    <a:pt x="28225" y="58429"/>
                    <a:pt x="24267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CADB1A2-0263-5836-82D2-AD2EB43C50E5}"/>
                </a:ext>
              </a:extLst>
            </p:cNvPr>
            <p:cNvSpPr/>
            <p:nvPr/>
          </p:nvSpPr>
          <p:spPr>
            <a:xfrm>
              <a:off x="3758465" y="6545309"/>
              <a:ext cx="28329" cy="64157"/>
            </a:xfrm>
            <a:custGeom>
              <a:avLst/>
              <a:gdLst>
                <a:gd name="connsiteX0" fmla="*/ 23226 w 28329"/>
                <a:gd name="connsiteY0" fmla="*/ 58429 h 64157"/>
                <a:gd name="connsiteX1" fmla="*/ 9478 w 28329"/>
                <a:gd name="connsiteY1" fmla="*/ 58429 h 64157"/>
                <a:gd name="connsiteX2" fmla="*/ 9478 w 28329"/>
                <a:gd name="connsiteY2" fmla="*/ 4999 h 64157"/>
                <a:gd name="connsiteX3" fmla="*/ 11457 w 28329"/>
                <a:gd name="connsiteY3" fmla="*/ 0 h 64157"/>
                <a:gd name="connsiteX4" fmla="*/ 0 w 28329"/>
                <a:gd name="connsiteY4" fmla="*/ 0 h 64157"/>
                <a:gd name="connsiteX5" fmla="*/ 1979 w 28329"/>
                <a:gd name="connsiteY5" fmla="*/ 4999 h 64157"/>
                <a:gd name="connsiteX6" fmla="*/ 1979 w 28329"/>
                <a:gd name="connsiteY6" fmla="*/ 59158 h 64157"/>
                <a:gd name="connsiteX7" fmla="*/ 0 w 28329"/>
                <a:gd name="connsiteY7" fmla="*/ 64158 h 64157"/>
                <a:gd name="connsiteX8" fmla="*/ 28329 w 28329"/>
                <a:gd name="connsiteY8" fmla="*/ 64158 h 64157"/>
                <a:gd name="connsiteX9" fmla="*/ 28329 w 28329"/>
                <a:gd name="connsiteY9" fmla="*/ 55826 h 64157"/>
                <a:gd name="connsiteX10" fmla="*/ 23226 w 28329"/>
                <a:gd name="connsiteY10" fmla="*/ 58429 h 64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29" h="64157">
                  <a:moveTo>
                    <a:pt x="23226" y="58429"/>
                  </a:moveTo>
                  <a:lnTo>
                    <a:pt x="9478" y="58429"/>
                  </a:lnTo>
                  <a:lnTo>
                    <a:pt x="9478" y="4999"/>
                  </a:lnTo>
                  <a:cubicBezTo>
                    <a:pt x="9478" y="1562"/>
                    <a:pt x="9999" y="1146"/>
                    <a:pt x="11457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9158"/>
                  </a:lnTo>
                  <a:cubicBezTo>
                    <a:pt x="1979" y="62596"/>
                    <a:pt x="1458" y="63012"/>
                    <a:pt x="0" y="64158"/>
                  </a:cubicBezTo>
                  <a:lnTo>
                    <a:pt x="28329" y="64158"/>
                  </a:lnTo>
                  <a:lnTo>
                    <a:pt x="28329" y="55826"/>
                  </a:lnTo>
                  <a:cubicBezTo>
                    <a:pt x="27392" y="56763"/>
                    <a:pt x="27184" y="58429"/>
                    <a:pt x="23226" y="58429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F239AD06-2420-D200-F661-84624A3B313E}"/>
                </a:ext>
              </a:extLst>
            </p:cNvPr>
            <p:cNvSpPr/>
            <p:nvPr/>
          </p:nvSpPr>
          <p:spPr>
            <a:xfrm>
              <a:off x="3792210" y="6546038"/>
              <a:ext cx="34161" cy="63324"/>
            </a:xfrm>
            <a:custGeom>
              <a:avLst/>
              <a:gdLst>
                <a:gd name="connsiteX0" fmla="*/ 1979 w 34161"/>
                <a:gd name="connsiteY0" fmla="*/ 8436 h 63324"/>
                <a:gd name="connsiteX1" fmla="*/ 1979 w 34161"/>
                <a:gd name="connsiteY1" fmla="*/ 61658 h 63324"/>
                <a:gd name="connsiteX2" fmla="*/ 0 w 34161"/>
                <a:gd name="connsiteY2" fmla="*/ 63325 h 63324"/>
                <a:gd name="connsiteX3" fmla="*/ 34162 w 34161"/>
                <a:gd name="connsiteY3" fmla="*/ 63325 h 63324"/>
                <a:gd name="connsiteX4" fmla="*/ 34162 w 34161"/>
                <a:gd name="connsiteY4" fmla="*/ 54992 h 63324"/>
                <a:gd name="connsiteX5" fmla="*/ 29058 w 34161"/>
                <a:gd name="connsiteY5" fmla="*/ 57596 h 63324"/>
                <a:gd name="connsiteX6" fmla="*/ 9478 w 34161"/>
                <a:gd name="connsiteY6" fmla="*/ 57596 h 63324"/>
                <a:gd name="connsiteX7" fmla="*/ 9478 w 34161"/>
                <a:gd name="connsiteY7" fmla="*/ 30621 h 63324"/>
                <a:gd name="connsiteX8" fmla="*/ 24059 w 34161"/>
                <a:gd name="connsiteY8" fmla="*/ 30933 h 63324"/>
                <a:gd name="connsiteX9" fmla="*/ 28746 w 34161"/>
                <a:gd name="connsiteY9" fmla="*/ 32808 h 63324"/>
                <a:gd name="connsiteX10" fmla="*/ 28746 w 34161"/>
                <a:gd name="connsiteY10" fmla="*/ 23330 h 63324"/>
                <a:gd name="connsiteX11" fmla="*/ 23851 w 34161"/>
                <a:gd name="connsiteY11" fmla="*/ 25205 h 63324"/>
                <a:gd name="connsiteX12" fmla="*/ 9478 w 34161"/>
                <a:gd name="connsiteY12" fmla="*/ 24892 h 63324"/>
                <a:gd name="connsiteX13" fmla="*/ 9478 w 34161"/>
                <a:gd name="connsiteY13" fmla="*/ 5728 h 63324"/>
                <a:gd name="connsiteX14" fmla="*/ 29058 w 34161"/>
                <a:gd name="connsiteY14" fmla="*/ 5728 h 63324"/>
                <a:gd name="connsiteX15" fmla="*/ 34162 w 34161"/>
                <a:gd name="connsiteY15" fmla="*/ 8332 h 63324"/>
                <a:gd name="connsiteX16" fmla="*/ 34162 w 34161"/>
                <a:gd name="connsiteY16" fmla="*/ 0 h 63324"/>
                <a:gd name="connsiteX17" fmla="*/ 0 w 34161"/>
                <a:gd name="connsiteY17" fmla="*/ 0 h 63324"/>
                <a:gd name="connsiteX18" fmla="*/ 1979 w 34161"/>
                <a:gd name="connsiteY18" fmla="*/ 8436 h 633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161" h="63324">
                  <a:moveTo>
                    <a:pt x="1979" y="8436"/>
                  </a:moveTo>
                  <a:lnTo>
                    <a:pt x="1979" y="61658"/>
                  </a:lnTo>
                  <a:cubicBezTo>
                    <a:pt x="1979" y="61762"/>
                    <a:pt x="1458" y="62179"/>
                    <a:pt x="0" y="63325"/>
                  </a:cubicBezTo>
                  <a:lnTo>
                    <a:pt x="34162" y="63325"/>
                  </a:lnTo>
                  <a:lnTo>
                    <a:pt x="34162" y="54992"/>
                  </a:lnTo>
                  <a:cubicBezTo>
                    <a:pt x="33225" y="56138"/>
                    <a:pt x="33120" y="57596"/>
                    <a:pt x="29058" y="57596"/>
                  </a:cubicBezTo>
                  <a:lnTo>
                    <a:pt x="9478" y="57596"/>
                  </a:lnTo>
                  <a:lnTo>
                    <a:pt x="9478" y="30621"/>
                  </a:lnTo>
                  <a:lnTo>
                    <a:pt x="24059" y="30933"/>
                  </a:lnTo>
                  <a:cubicBezTo>
                    <a:pt x="28017" y="30933"/>
                    <a:pt x="28017" y="31871"/>
                    <a:pt x="28746" y="32808"/>
                  </a:cubicBezTo>
                  <a:lnTo>
                    <a:pt x="28746" y="23330"/>
                  </a:lnTo>
                  <a:cubicBezTo>
                    <a:pt x="27809" y="24476"/>
                    <a:pt x="27705" y="25205"/>
                    <a:pt x="23851" y="25205"/>
                  </a:cubicBezTo>
                  <a:lnTo>
                    <a:pt x="9478" y="24892"/>
                  </a:lnTo>
                  <a:lnTo>
                    <a:pt x="9478" y="5728"/>
                  </a:lnTo>
                  <a:lnTo>
                    <a:pt x="29058" y="5728"/>
                  </a:lnTo>
                  <a:cubicBezTo>
                    <a:pt x="33120" y="5728"/>
                    <a:pt x="33433" y="7395"/>
                    <a:pt x="34162" y="8332"/>
                  </a:cubicBezTo>
                  <a:lnTo>
                    <a:pt x="34162" y="0"/>
                  </a:lnTo>
                  <a:lnTo>
                    <a:pt x="0" y="0"/>
                  </a:lnTo>
                  <a:cubicBezTo>
                    <a:pt x="1458" y="1250"/>
                    <a:pt x="1979" y="1666"/>
                    <a:pt x="1979" y="843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BACD652-2771-4558-DB56-C6F5C430DF85}"/>
                </a:ext>
              </a:extLst>
            </p:cNvPr>
            <p:cNvSpPr/>
            <p:nvPr/>
          </p:nvSpPr>
          <p:spPr>
            <a:xfrm>
              <a:off x="3832621" y="6546143"/>
              <a:ext cx="41556" cy="63220"/>
            </a:xfrm>
            <a:custGeom>
              <a:avLst/>
              <a:gdLst>
                <a:gd name="connsiteX0" fmla="*/ 27288 w 41556"/>
                <a:gd name="connsiteY0" fmla="*/ 29267 h 63220"/>
                <a:gd name="connsiteX1" fmla="*/ 27288 w 41556"/>
                <a:gd name="connsiteY1" fmla="*/ 29059 h 63220"/>
                <a:gd name="connsiteX2" fmla="*/ 38120 w 41556"/>
                <a:gd name="connsiteY2" fmla="*/ 14790 h 63220"/>
                <a:gd name="connsiteX3" fmla="*/ 15935 w 41556"/>
                <a:gd name="connsiteY3" fmla="*/ 0 h 63220"/>
                <a:gd name="connsiteX4" fmla="*/ 0 w 41556"/>
                <a:gd name="connsiteY4" fmla="*/ 0 h 63220"/>
                <a:gd name="connsiteX5" fmla="*/ 1979 w 41556"/>
                <a:gd name="connsiteY5" fmla="*/ 4999 h 63220"/>
                <a:gd name="connsiteX6" fmla="*/ 1979 w 41556"/>
                <a:gd name="connsiteY6" fmla="*/ 58221 h 63220"/>
                <a:gd name="connsiteX7" fmla="*/ 0 w 41556"/>
                <a:gd name="connsiteY7" fmla="*/ 63220 h 63220"/>
                <a:gd name="connsiteX8" fmla="*/ 15935 w 41556"/>
                <a:gd name="connsiteY8" fmla="*/ 63220 h 63220"/>
                <a:gd name="connsiteX9" fmla="*/ 41557 w 41556"/>
                <a:gd name="connsiteY9" fmla="*/ 45619 h 63220"/>
                <a:gd name="connsiteX10" fmla="*/ 27288 w 41556"/>
                <a:gd name="connsiteY10" fmla="*/ 29267 h 63220"/>
                <a:gd name="connsiteX11" fmla="*/ 15935 w 41556"/>
                <a:gd name="connsiteY11" fmla="*/ 57596 h 63220"/>
                <a:gd name="connsiteX12" fmla="*/ 9478 w 41556"/>
                <a:gd name="connsiteY12" fmla="*/ 57596 h 63220"/>
                <a:gd name="connsiteX13" fmla="*/ 9478 w 41556"/>
                <a:gd name="connsiteY13" fmla="*/ 28225 h 63220"/>
                <a:gd name="connsiteX14" fmla="*/ 9478 w 41556"/>
                <a:gd name="connsiteY14" fmla="*/ 5833 h 63220"/>
                <a:gd name="connsiteX15" fmla="*/ 15935 w 41556"/>
                <a:gd name="connsiteY15" fmla="*/ 5833 h 63220"/>
                <a:gd name="connsiteX16" fmla="*/ 30621 w 41556"/>
                <a:gd name="connsiteY16" fmla="*/ 15623 h 63220"/>
                <a:gd name="connsiteX17" fmla="*/ 16144 w 41556"/>
                <a:gd name="connsiteY17" fmla="*/ 28642 h 63220"/>
                <a:gd name="connsiteX18" fmla="*/ 16144 w 41556"/>
                <a:gd name="connsiteY18" fmla="*/ 30412 h 63220"/>
                <a:gd name="connsiteX19" fmla="*/ 34058 w 41556"/>
                <a:gd name="connsiteY19" fmla="*/ 45410 h 63220"/>
                <a:gd name="connsiteX20" fmla="*/ 15935 w 41556"/>
                <a:gd name="connsiteY20" fmla="*/ 57596 h 63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1556" h="63220">
                  <a:moveTo>
                    <a:pt x="27288" y="29267"/>
                  </a:moveTo>
                  <a:lnTo>
                    <a:pt x="27288" y="29059"/>
                  </a:lnTo>
                  <a:cubicBezTo>
                    <a:pt x="32079" y="28225"/>
                    <a:pt x="38120" y="24059"/>
                    <a:pt x="38120" y="14790"/>
                  </a:cubicBezTo>
                  <a:cubicBezTo>
                    <a:pt x="38120" y="1354"/>
                    <a:pt x="26559" y="0"/>
                    <a:pt x="15935" y="0"/>
                  </a:cubicBezTo>
                  <a:lnTo>
                    <a:pt x="0" y="0"/>
                  </a:lnTo>
                  <a:cubicBezTo>
                    <a:pt x="1458" y="1146"/>
                    <a:pt x="1979" y="1562"/>
                    <a:pt x="1979" y="4999"/>
                  </a:cubicBezTo>
                  <a:lnTo>
                    <a:pt x="1979" y="58221"/>
                  </a:lnTo>
                  <a:cubicBezTo>
                    <a:pt x="1979" y="61658"/>
                    <a:pt x="1458" y="62075"/>
                    <a:pt x="0" y="63220"/>
                  </a:cubicBezTo>
                  <a:lnTo>
                    <a:pt x="15935" y="63220"/>
                  </a:lnTo>
                  <a:cubicBezTo>
                    <a:pt x="25830" y="63220"/>
                    <a:pt x="41557" y="62179"/>
                    <a:pt x="41557" y="45619"/>
                  </a:cubicBezTo>
                  <a:cubicBezTo>
                    <a:pt x="41453" y="33849"/>
                    <a:pt x="32600" y="29267"/>
                    <a:pt x="27288" y="29267"/>
                  </a:cubicBezTo>
                  <a:close/>
                  <a:moveTo>
                    <a:pt x="15935" y="57596"/>
                  </a:moveTo>
                  <a:lnTo>
                    <a:pt x="9478" y="57596"/>
                  </a:lnTo>
                  <a:lnTo>
                    <a:pt x="9478" y="28225"/>
                  </a:lnTo>
                  <a:lnTo>
                    <a:pt x="9478" y="5833"/>
                  </a:lnTo>
                  <a:lnTo>
                    <a:pt x="15935" y="5833"/>
                  </a:lnTo>
                  <a:cubicBezTo>
                    <a:pt x="22705" y="5833"/>
                    <a:pt x="30621" y="6041"/>
                    <a:pt x="30621" y="15623"/>
                  </a:cubicBezTo>
                  <a:cubicBezTo>
                    <a:pt x="30308" y="23226"/>
                    <a:pt x="27705" y="28642"/>
                    <a:pt x="16144" y="28642"/>
                  </a:cubicBezTo>
                  <a:cubicBezTo>
                    <a:pt x="16144" y="28642"/>
                    <a:pt x="13227" y="30412"/>
                    <a:pt x="16144" y="30412"/>
                  </a:cubicBezTo>
                  <a:cubicBezTo>
                    <a:pt x="25517" y="30412"/>
                    <a:pt x="34058" y="34683"/>
                    <a:pt x="34058" y="45410"/>
                  </a:cubicBezTo>
                  <a:cubicBezTo>
                    <a:pt x="34058" y="56451"/>
                    <a:pt x="24372" y="57596"/>
                    <a:pt x="15935" y="57596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1C75F-1798-5D8C-6ABD-AB2224DE47F0}"/>
                </a:ext>
              </a:extLst>
            </p:cNvPr>
            <p:cNvSpPr/>
            <p:nvPr/>
          </p:nvSpPr>
          <p:spPr>
            <a:xfrm>
              <a:off x="3877719" y="6545309"/>
              <a:ext cx="57596" cy="65511"/>
            </a:xfrm>
            <a:custGeom>
              <a:avLst/>
              <a:gdLst>
                <a:gd name="connsiteX0" fmla="*/ 29058 w 57596"/>
                <a:gd name="connsiteY0" fmla="*/ 0 h 65511"/>
                <a:gd name="connsiteX1" fmla="*/ 0 w 57596"/>
                <a:gd name="connsiteY1" fmla="*/ 33016 h 65511"/>
                <a:gd name="connsiteX2" fmla="*/ 28850 w 57596"/>
                <a:gd name="connsiteY2" fmla="*/ 65512 h 65511"/>
                <a:gd name="connsiteX3" fmla="*/ 57596 w 57596"/>
                <a:gd name="connsiteY3" fmla="*/ 33016 h 65511"/>
                <a:gd name="connsiteX4" fmla="*/ 29058 w 57596"/>
                <a:gd name="connsiteY4" fmla="*/ 0 h 65511"/>
                <a:gd name="connsiteX5" fmla="*/ 28954 w 57596"/>
                <a:gd name="connsiteY5" fmla="*/ 58950 h 65511"/>
                <a:gd name="connsiteX6" fmla="*/ 8124 w 57596"/>
                <a:gd name="connsiteY6" fmla="*/ 32808 h 65511"/>
                <a:gd name="connsiteX7" fmla="*/ 29058 w 57596"/>
                <a:gd name="connsiteY7" fmla="*/ 6457 h 65511"/>
                <a:gd name="connsiteX8" fmla="*/ 49576 w 57596"/>
                <a:gd name="connsiteY8" fmla="*/ 32808 h 65511"/>
                <a:gd name="connsiteX9" fmla="*/ 28954 w 57596"/>
                <a:gd name="connsiteY9" fmla="*/ 58950 h 65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7596" h="65511">
                  <a:moveTo>
                    <a:pt x="29058" y="0"/>
                  </a:moveTo>
                  <a:cubicBezTo>
                    <a:pt x="11457" y="0"/>
                    <a:pt x="0" y="15727"/>
                    <a:pt x="0" y="33016"/>
                  </a:cubicBezTo>
                  <a:cubicBezTo>
                    <a:pt x="0" y="50306"/>
                    <a:pt x="12082" y="65512"/>
                    <a:pt x="28850" y="65512"/>
                  </a:cubicBezTo>
                  <a:cubicBezTo>
                    <a:pt x="46556" y="65512"/>
                    <a:pt x="57596" y="49264"/>
                    <a:pt x="57596" y="33016"/>
                  </a:cubicBezTo>
                  <a:cubicBezTo>
                    <a:pt x="57596" y="15415"/>
                    <a:pt x="45931" y="0"/>
                    <a:pt x="29058" y="0"/>
                  </a:cubicBezTo>
                  <a:close/>
                  <a:moveTo>
                    <a:pt x="28954" y="58950"/>
                  </a:moveTo>
                  <a:cubicBezTo>
                    <a:pt x="16039" y="58950"/>
                    <a:pt x="8124" y="45827"/>
                    <a:pt x="8124" y="32808"/>
                  </a:cubicBezTo>
                  <a:cubicBezTo>
                    <a:pt x="8124" y="19164"/>
                    <a:pt x="16144" y="6457"/>
                    <a:pt x="29058" y="6457"/>
                  </a:cubicBezTo>
                  <a:cubicBezTo>
                    <a:pt x="41036" y="6457"/>
                    <a:pt x="49576" y="18643"/>
                    <a:pt x="49576" y="32808"/>
                  </a:cubicBezTo>
                  <a:cubicBezTo>
                    <a:pt x="49472" y="45515"/>
                    <a:pt x="41869" y="58950"/>
                    <a:pt x="28954" y="58950"/>
                  </a:cubicBez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C748165-B783-841D-3F84-F245A9EE7358}"/>
                </a:ext>
              </a:extLst>
            </p:cNvPr>
            <p:cNvSpPr/>
            <p:nvPr/>
          </p:nvSpPr>
          <p:spPr>
            <a:xfrm>
              <a:off x="3984371" y="6544372"/>
              <a:ext cx="50201" cy="66344"/>
            </a:xfrm>
            <a:custGeom>
              <a:avLst/>
              <a:gdLst>
                <a:gd name="connsiteX0" fmla="*/ 34787 w 50201"/>
                <a:gd name="connsiteY0" fmla="*/ 30204 h 66344"/>
                <a:gd name="connsiteX1" fmla="*/ 29892 w 50201"/>
                <a:gd name="connsiteY1" fmla="*/ 28329 h 66344"/>
                <a:gd name="connsiteX2" fmla="*/ 29892 w 50201"/>
                <a:gd name="connsiteY2" fmla="*/ 37807 h 66344"/>
                <a:gd name="connsiteX3" fmla="*/ 34579 w 50201"/>
                <a:gd name="connsiteY3" fmla="*/ 35933 h 66344"/>
                <a:gd name="connsiteX4" fmla="*/ 41557 w 50201"/>
                <a:gd name="connsiteY4" fmla="*/ 35933 h 66344"/>
                <a:gd name="connsiteX5" fmla="*/ 41557 w 50201"/>
                <a:gd name="connsiteY5" fmla="*/ 35933 h 66344"/>
                <a:gd name="connsiteX6" fmla="*/ 41557 w 50201"/>
                <a:gd name="connsiteY6" fmla="*/ 57180 h 66344"/>
                <a:gd name="connsiteX7" fmla="*/ 30308 w 50201"/>
                <a:gd name="connsiteY7" fmla="*/ 59888 h 66344"/>
                <a:gd name="connsiteX8" fmla="*/ 8540 w 50201"/>
                <a:gd name="connsiteY8" fmla="*/ 33745 h 66344"/>
                <a:gd name="connsiteX9" fmla="*/ 30829 w 50201"/>
                <a:gd name="connsiteY9" fmla="*/ 6562 h 66344"/>
                <a:gd name="connsiteX10" fmla="*/ 48222 w 50201"/>
                <a:gd name="connsiteY10" fmla="*/ 16144 h 66344"/>
                <a:gd name="connsiteX11" fmla="*/ 48222 w 50201"/>
                <a:gd name="connsiteY11" fmla="*/ 3854 h 66344"/>
                <a:gd name="connsiteX12" fmla="*/ 46244 w 50201"/>
                <a:gd name="connsiteY12" fmla="*/ 4791 h 66344"/>
                <a:gd name="connsiteX13" fmla="*/ 29683 w 50201"/>
                <a:gd name="connsiteY13" fmla="*/ 0 h 66344"/>
                <a:gd name="connsiteX14" fmla="*/ 0 w 50201"/>
                <a:gd name="connsiteY14" fmla="*/ 33849 h 66344"/>
                <a:gd name="connsiteX15" fmla="*/ 29683 w 50201"/>
                <a:gd name="connsiteY15" fmla="*/ 66345 h 66344"/>
                <a:gd name="connsiteX16" fmla="*/ 50201 w 50201"/>
                <a:gd name="connsiteY16" fmla="*/ 60200 h 66344"/>
                <a:gd name="connsiteX17" fmla="*/ 50201 w 50201"/>
                <a:gd name="connsiteY17" fmla="*/ 30100 h 66344"/>
                <a:gd name="connsiteX18" fmla="*/ 34787 w 50201"/>
                <a:gd name="connsiteY18" fmla="*/ 30204 h 66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0201" h="66344">
                  <a:moveTo>
                    <a:pt x="34787" y="30204"/>
                  </a:moveTo>
                  <a:cubicBezTo>
                    <a:pt x="30933" y="30204"/>
                    <a:pt x="30725" y="29475"/>
                    <a:pt x="29892" y="28329"/>
                  </a:cubicBezTo>
                  <a:lnTo>
                    <a:pt x="29892" y="37807"/>
                  </a:lnTo>
                  <a:cubicBezTo>
                    <a:pt x="30621" y="36870"/>
                    <a:pt x="30621" y="35933"/>
                    <a:pt x="34579" y="35933"/>
                  </a:cubicBezTo>
                  <a:lnTo>
                    <a:pt x="41557" y="35933"/>
                  </a:lnTo>
                  <a:lnTo>
                    <a:pt x="41557" y="35933"/>
                  </a:lnTo>
                  <a:lnTo>
                    <a:pt x="41557" y="57180"/>
                  </a:lnTo>
                  <a:cubicBezTo>
                    <a:pt x="37807" y="59054"/>
                    <a:pt x="34266" y="59888"/>
                    <a:pt x="30308" y="59888"/>
                  </a:cubicBezTo>
                  <a:cubicBezTo>
                    <a:pt x="16769" y="59888"/>
                    <a:pt x="8540" y="48222"/>
                    <a:pt x="8540" y="33745"/>
                  </a:cubicBezTo>
                  <a:cubicBezTo>
                    <a:pt x="8540" y="18122"/>
                    <a:pt x="17914" y="6562"/>
                    <a:pt x="30829" y="6562"/>
                  </a:cubicBezTo>
                  <a:cubicBezTo>
                    <a:pt x="41348" y="6562"/>
                    <a:pt x="47389" y="15415"/>
                    <a:pt x="48222" y="16144"/>
                  </a:cubicBezTo>
                  <a:lnTo>
                    <a:pt x="48222" y="3854"/>
                  </a:lnTo>
                  <a:cubicBezTo>
                    <a:pt x="47389" y="4479"/>
                    <a:pt x="46973" y="4791"/>
                    <a:pt x="46244" y="4791"/>
                  </a:cubicBezTo>
                  <a:cubicBezTo>
                    <a:pt x="43536" y="4791"/>
                    <a:pt x="39786" y="0"/>
                    <a:pt x="29683" y="0"/>
                  </a:cubicBezTo>
                  <a:cubicBezTo>
                    <a:pt x="12915" y="0"/>
                    <a:pt x="0" y="14061"/>
                    <a:pt x="0" y="33849"/>
                  </a:cubicBezTo>
                  <a:cubicBezTo>
                    <a:pt x="0" y="53430"/>
                    <a:pt x="11873" y="66345"/>
                    <a:pt x="29683" y="66345"/>
                  </a:cubicBezTo>
                  <a:cubicBezTo>
                    <a:pt x="36870" y="66345"/>
                    <a:pt x="44994" y="63741"/>
                    <a:pt x="50201" y="60200"/>
                  </a:cubicBezTo>
                  <a:lnTo>
                    <a:pt x="50201" y="30100"/>
                  </a:lnTo>
                  <a:lnTo>
                    <a:pt x="34787" y="30204"/>
                  </a:lnTo>
                  <a:close/>
                </a:path>
              </a:pathLst>
            </a:custGeom>
            <a:solidFill>
              <a:srgbClr val="FFFFFF"/>
            </a:solidFill>
            <a:ln w="1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a-DK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23337208-8E7F-4EAD-BAB4-2BC625858F4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336350" y="6565900"/>
            <a:ext cx="1557337" cy="2286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15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  <p:extLst>
      <p:ext uri="{BB962C8B-B14F-4D97-AF65-F5344CB8AC3E}">
        <p14:creationId xmlns:p14="http://schemas.microsoft.com/office/powerpoint/2010/main" val="1668012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39" r:id="rId5"/>
    <p:sldLayoutId id="2147484201" r:id="rId6"/>
    <p:sldLayoutId id="2147484202" r:id="rId7"/>
    <p:sldLayoutId id="2147484203" r:id="rId8"/>
    <p:sldLayoutId id="2147484204" r:id="rId9"/>
    <p:sldLayoutId id="2147484205" r:id="rId10"/>
    <p:sldLayoutId id="2147484206" r:id="rId11"/>
    <p:sldLayoutId id="2147484207" r:id="rId12"/>
    <p:sldLayoutId id="2147484208" r:id="rId13"/>
    <p:sldLayoutId id="2147484209" r:id="rId14"/>
    <p:sldLayoutId id="2147484210" r:id="rId15"/>
    <p:sldLayoutId id="2147484211" r:id="rId16"/>
    <p:sldLayoutId id="2147484212" r:id="rId17"/>
    <p:sldLayoutId id="2147484213" r:id="rId18"/>
    <p:sldLayoutId id="2147484214" r:id="rId19"/>
    <p:sldLayoutId id="2147484215" r:id="rId20"/>
    <p:sldLayoutId id="2147484216" r:id="rId21"/>
    <p:sldLayoutId id="2147484217" r:id="rId22"/>
    <p:sldLayoutId id="2147484218" r:id="rId23"/>
    <p:sldLayoutId id="2147484219" r:id="rId24"/>
    <p:sldLayoutId id="2147484220" r:id="rId25"/>
    <p:sldLayoutId id="2147484221" r:id="rId26"/>
    <p:sldLayoutId id="2147484222" r:id="rId27"/>
    <p:sldLayoutId id="2147484223" r:id="rId28"/>
    <p:sldLayoutId id="2147484224" r:id="rId29"/>
    <p:sldLayoutId id="2147484225" r:id="rId30"/>
    <p:sldLayoutId id="2147484226" r:id="rId31"/>
    <p:sldLayoutId id="2147484227" r:id="rId32"/>
    <p:sldLayoutId id="2147484228" r:id="rId33"/>
    <p:sldLayoutId id="2147484229" r:id="rId34"/>
    <p:sldLayoutId id="2147484230" r:id="rId35"/>
    <p:sldLayoutId id="2147484231" r:id="rId36"/>
    <p:sldLayoutId id="2147484232" r:id="rId37"/>
    <p:sldLayoutId id="2147484233" r:id="rId38"/>
    <p:sldLayoutId id="2147484234" r:id="rId39"/>
    <p:sldLayoutId id="2147484235" r:id="rId40"/>
    <p:sldLayoutId id="2147484236" r:id="rId4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719138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8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39">
          <p15:clr>
            <a:srgbClr val="F26B43"/>
          </p15:clr>
        </p15:guide>
        <p15:guide id="7" pos="7341">
          <p15:clr>
            <a:srgbClr val="F26B43"/>
          </p15:clr>
        </p15:guide>
        <p15:guide id="8" orient="horz" pos="3808">
          <p15:clr>
            <a:srgbClr val="F26B43"/>
          </p15:clr>
        </p15:guide>
        <p15:guide id="9" orient="horz" pos="759">
          <p15:clr>
            <a:srgbClr val="F26B43"/>
          </p15:clr>
        </p15:guide>
        <p15:guide id="11" orient="horz" pos="585">
          <p15:clr>
            <a:srgbClr val="F26B43"/>
          </p15:clr>
        </p15:guide>
      </p15:sldGuideLst>
    </p:ext>
  </p:ext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H 10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3100" dirty="0">
                <a:solidFill>
                  <a:srgbClr val="FFFFFF"/>
                </a:solidFill>
                <a:latin typeface="Arial"/>
                <a:cs typeface="Arial"/>
              </a:rPr>
              <a:t>D365 F&amp;O MCP Services</a:t>
            </a:r>
            <a:endParaRPr lang="en-US" dirty="0"/>
          </a:p>
        </p:txBody>
      </p:sp>
      <p:sp>
        <p:nvSpPr>
          <p:cNvPr id="101" name="PH 102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Technical Deep Dive</a:t>
            </a:r>
            <a:endParaRPr lang="en-US" dirty="0"/>
          </a:p>
        </p:txBody>
      </p:sp>
      <p:sp>
        <p:nvSpPr>
          <p:cNvPr id="102" name="PH 103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pPr/>
            <a:r>
              <a:rPr lang="en-US" sz="1400" dirty="0">
                <a:solidFill>
                  <a:srgbClr val="FFFFFF"/>
                </a:solidFill>
                <a:latin typeface="Arial"/>
                <a:cs typeface="Arial"/>
              </a:rPr>
              <a:t>Architecture, Implementation, Security &amp; Operations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H 13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Technical Agenda</a:t>
            </a:r>
            <a:endParaRPr lang="en-US" dirty="0"/>
          </a:p>
        </p:txBody>
      </p:sp>
      <p:sp>
        <p:nvSpPr>
          <p:cNvPr id="103" name="TextBox 104"/>
          <p:cNvSpPr txBox="1"/>
          <p:nvPr/>
        </p:nvSpPr>
        <p:spPr>
          <a:xfrm>
            <a:off x="539496" y="11887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01</a:t>
            </a:r>
            <a:endParaRPr lang="en-US" dirty="0"/>
          </a:p>
        </p:txBody>
      </p:sp>
      <p:sp>
        <p:nvSpPr>
          <p:cNvPr id="104" name="TextBox 105"/>
          <p:cNvSpPr txBox="1"/>
          <p:nvPr/>
        </p:nvSpPr>
        <p:spPr>
          <a:xfrm>
            <a:off x="1325880" y="118872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System Architecture</a:t>
            </a:r>
            <a:endParaRPr lang="en-US" dirty="0"/>
          </a:p>
        </p:txBody>
      </p:sp>
      <p:sp>
        <p:nvSpPr>
          <p:cNvPr id="105" name="TextBox 106"/>
          <p:cNvSpPr txBox="1"/>
          <p:nvPr/>
        </p:nvSpPr>
        <p:spPr>
          <a:xfrm>
            <a:off x="1325880" y="140817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End-to-end component diagram: Azure Functions, SQLite, MCP protocol, transport layers</a:t>
            </a:r>
            <a:endParaRPr lang="en-US" dirty="0"/>
          </a:p>
        </p:txBody>
      </p:sp>
      <p:sp>
        <p:nvSpPr>
          <p:cNvPr id="106" name="Line 107"/>
          <p:cNvSpPr/>
          <p:nvPr/>
        </p:nvSpPr>
        <p:spPr>
          <a:xfrm>
            <a:off x="539496" y="1691640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07" name="TextBox 108"/>
          <p:cNvSpPr txBox="1"/>
          <p:nvPr/>
        </p:nvSpPr>
        <p:spPr>
          <a:xfrm>
            <a:off x="539496" y="175564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02</a:t>
            </a:r>
            <a:endParaRPr lang="en-US" dirty="0"/>
          </a:p>
        </p:txBody>
      </p:sp>
      <p:sp>
        <p:nvSpPr>
          <p:cNvPr id="108" name="TextBox 109"/>
          <p:cNvSpPr txBox="1"/>
          <p:nvPr/>
        </p:nvSpPr>
        <p:spPr>
          <a:xfrm>
            <a:off x="1325880" y="175564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Azure Functions Implementation</a:t>
            </a:r>
            <a:endParaRPr lang="en-US" dirty="0"/>
          </a:p>
        </p:txBody>
      </p:sp>
      <p:sp>
        <p:nvSpPr>
          <p:cNvPr id="109" name="TextBox 110"/>
          <p:cNvSpPr txBox="1"/>
          <p:nvPr/>
        </p:nvSpPr>
        <p:spPr>
          <a:xfrm>
            <a:off x="1325880" y="197510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Node.js 20, MCP Streamable HTTP, better-sqlite3 native bindings, EP1 elastic plan</a:t>
            </a:r>
            <a:endParaRPr lang="en-US" dirty="0"/>
          </a:p>
        </p:txBody>
      </p:sp>
      <p:sp>
        <p:nvSpPr>
          <p:cNvPr id="110" name="Line 111"/>
          <p:cNvSpPr/>
          <p:nvPr/>
        </p:nvSpPr>
        <p:spPr>
          <a:xfrm>
            <a:off x="539496" y="225856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1" name="TextBox 112"/>
          <p:cNvSpPr txBox="1"/>
          <p:nvPr/>
        </p:nvSpPr>
        <p:spPr>
          <a:xfrm>
            <a:off x="539496" y="232257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03</a:t>
            </a:r>
            <a:endParaRPr lang="en-US" dirty="0"/>
          </a:p>
        </p:txBody>
      </p:sp>
      <p:sp>
        <p:nvSpPr>
          <p:cNvPr id="112" name="TextBox 113"/>
          <p:cNvSpPr txBox="1"/>
          <p:nvPr/>
        </p:nvSpPr>
        <p:spPr>
          <a:xfrm>
            <a:off x="1325880" y="2322576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Named Pipes &amp; LocalDB</a:t>
            </a:r>
            <a:endParaRPr lang="en-US" dirty="0"/>
          </a:p>
        </p:txBody>
      </p:sp>
      <p:sp>
        <p:nvSpPr>
          <p:cNvPr id="113" name="TextBox 114"/>
          <p:cNvSpPr txBox="1"/>
          <p:nvPr/>
        </p:nvSpPr>
        <p:spPr>
          <a:xfrm>
            <a:off x="1325880" y="254203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How the XRef build connects to SQL Server LocalDB via Windows named pipes</a:t>
            </a:r>
            <a:endParaRPr lang="en-US" dirty="0"/>
          </a:p>
        </p:txBody>
      </p:sp>
      <p:sp>
        <p:nvSpPr>
          <p:cNvPr id="114" name="Line 115"/>
          <p:cNvSpPr/>
          <p:nvPr/>
        </p:nvSpPr>
        <p:spPr>
          <a:xfrm>
            <a:off x="539496" y="2825496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5" name="TextBox 116"/>
          <p:cNvSpPr txBox="1"/>
          <p:nvPr/>
        </p:nvSpPr>
        <p:spPr>
          <a:xfrm>
            <a:off x="539496" y="288950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04</a:t>
            </a:r>
            <a:endParaRPr lang="en-US" dirty="0"/>
          </a:p>
        </p:txBody>
      </p:sp>
      <p:sp>
        <p:nvSpPr>
          <p:cNvPr id="116" name="TextBox 117"/>
          <p:cNvSpPr txBox="1"/>
          <p:nvPr/>
        </p:nvSpPr>
        <p:spPr>
          <a:xfrm>
            <a:off x="1325880" y="2889504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SQLite Database Engine</a:t>
            </a:r>
            <a:endParaRPr lang="en-US" dirty="0"/>
          </a:p>
        </p:txBody>
      </p:sp>
      <p:sp>
        <p:nvSpPr>
          <p:cNvPr id="117" name="TextBox 118"/>
          <p:cNvSpPr txBox="1"/>
          <p:nvPr/>
        </p:nvSpPr>
        <p:spPr>
          <a:xfrm>
            <a:off x="1325880" y="310896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Database schemas, mmap I/O, 200 MB cache, read-only singleton pattern, indexing strategy</a:t>
            </a:r>
            <a:endParaRPr lang="en-US" dirty="0"/>
          </a:p>
        </p:txBody>
      </p:sp>
      <p:sp>
        <p:nvSpPr>
          <p:cNvPr id="118" name="Line 119"/>
          <p:cNvSpPr/>
          <p:nvPr/>
        </p:nvSpPr>
        <p:spPr>
          <a:xfrm>
            <a:off x="539496" y="3392424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19" name="TextBox 120"/>
          <p:cNvSpPr txBox="1"/>
          <p:nvPr/>
        </p:nvSpPr>
        <p:spPr>
          <a:xfrm>
            <a:off x="539496" y="345643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05</a:t>
            </a:r>
            <a:endParaRPr lang="en-US" dirty="0"/>
          </a:p>
        </p:txBody>
      </p:sp>
      <p:sp>
        <p:nvSpPr>
          <p:cNvPr id="120" name="TextBox 121"/>
          <p:cNvSpPr txBox="1"/>
          <p:nvPr/>
        </p:nvSpPr>
        <p:spPr>
          <a:xfrm>
            <a:off x="1325880" y="345643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PowerShell Automation</a:t>
            </a:r>
            <a:endParaRPr lang="en-US" dirty="0"/>
          </a:p>
        </p:txBody>
      </p:sp>
      <p:sp>
        <p:nvSpPr>
          <p:cNvPr id="121" name="TextBox 122"/>
          <p:cNvSpPr txBox="1"/>
          <p:nvPr/>
        </p:nvSpPr>
        <p:spPr>
          <a:xfrm>
            <a:off x="1325880" y="3675888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Configuration discovery, database builds, cross-platform deployment, Kudu VFS uploads</a:t>
            </a:r>
            <a:endParaRPr lang="en-US" dirty="0"/>
          </a:p>
        </p:txBody>
      </p:sp>
      <p:sp>
        <p:nvSpPr>
          <p:cNvPr id="122" name="Line 123"/>
          <p:cNvSpPr/>
          <p:nvPr/>
        </p:nvSpPr>
        <p:spPr>
          <a:xfrm>
            <a:off x="539496" y="3959352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23" name="TextBox 124"/>
          <p:cNvSpPr txBox="1"/>
          <p:nvPr/>
        </p:nvSpPr>
        <p:spPr>
          <a:xfrm>
            <a:off x="539496" y="402336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06</a:t>
            </a:r>
            <a:endParaRPr lang="en-US" dirty="0"/>
          </a:p>
        </p:txBody>
      </p:sp>
      <p:sp>
        <p:nvSpPr>
          <p:cNvPr id="124" name="TextBox 125"/>
          <p:cNvSpPr txBox="1"/>
          <p:nvPr/>
        </p:nvSpPr>
        <p:spPr>
          <a:xfrm>
            <a:off x="1325880" y="4023360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Security Architecture</a:t>
            </a:r>
            <a:endParaRPr lang="en-US" dirty="0"/>
          </a:p>
        </p:txBody>
      </p:sp>
      <p:sp>
        <p:nvSpPr>
          <p:cNvPr id="125" name="TextBox 126"/>
          <p:cNvSpPr txBox="1"/>
          <p:nvPr/>
        </p:nvSpPr>
        <p:spPr>
          <a:xfrm>
            <a:off x="1325880" y="4242816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TLS 1.2, RBAC, managed identity, SQL injection prevention, query sandboxing</a:t>
            </a:r>
            <a:endParaRPr lang="en-US" dirty="0"/>
          </a:p>
        </p:txBody>
      </p:sp>
      <p:sp>
        <p:nvSpPr>
          <p:cNvPr id="126" name="Line 127"/>
          <p:cNvSpPr/>
          <p:nvPr/>
        </p:nvSpPr>
        <p:spPr>
          <a:xfrm>
            <a:off x="539496" y="4526280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27" name="TextBox 128"/>
          <p:cNvSpPr txBox="1"/>
          <p:nvPr/>
        </p:nvSpPr>
        <p:spPr>
          <a:xfrm>
            <a:off x="539496" y="4590288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07</a:t>
            </a:r>
            <a:endParaRPr lang="en-US" dirty="0"/>
          </a:p>
        </p:txBody>
      </p:sp>
      <p:sp>
        <p:nvSpPr>
          <p:cNvPr id="128" name="TextBox 129"/>
          <p:cNvSpPr txBox="1"/>
          <p:nvPr/>
        </p:nvSpPr>
        <p:spPr>
          <a:xfrm>
            <a:off x="1325880" y="4590288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Database Build Scripts</a:t>
            </a:r>
            <a:endParaRPr lang="en-US" dirty="0"/>
          </a:p>
        </p:txBody>
      </p:sp>
      <p:sp>
        <p:nvSpPr>
          <p:cNvPr id="129" name="TextBox 130"/>
          <p:cNvSpPr txBox="1"/>
          <p:nvPr/>
        </p:nvSpPr>
        <p:spPr>
          <a:xfrm>
            <a:off x="1325880" y="480974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KB build (XML parsing, 10 min) and XRef build (SQL Server streaming, 22 min, 8 GB heap)</a:t>
            </a:r>
            <a:endParaRPr lang="en-US" dirty="0"/>
          </a:p>
        </p:txBody>
      </p:sp>
      <p:sp>
        <p:nvSpPr>
          <p:cNvPr id="130" name="Line 131"/>
          <p:cNvSpPr/>
          <p:nvPr/>
        </p:nvSpPr>
        <p:spPr>
          <a:xfrm>
            <a:off x="539496" y="5093208"/>
            <a:ext cx="10789920" cy="0"/>
          </a:xfrm>
          <a:prstGeom prst="line">
            <a:avLst/>
          </a:prstGeom>
          <a:ln w="6350">
            <a:solidFill>
              <a:srgbClr val="CCCCCC"/>
            </a:solidFill>
          </a:ln>
        </p:spPr>
      </p:sp>
      <p:sp>
        <p:nvSpPr>
          <p:cNvPr id="131" name="TextBox 132"/>
          <p:cNvSpPr txBox="1"/>
          <p:nvPr/>
        </p:nvSpPr>
        <p:spPr>
          <a:xfrm>
            <a:off x="539496" y="515721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r"/>
            <a:r>
              <a:rPr lang="en-US" sz="1600" b="1" dirty="0">
                <a:solidFill>
                  <a:srgbClr val="6DC1C9"/>
                </a:solidFill>
                <a:latin typeface="Arial"/>
                <a:cs typeface="Arial"/>
              </a:rPr>
              <a:t>08</a:t>
            </a:r>
            <a:endParaRPr lang="en-US" dirty="0"/>
          </a:p>
        </p:txBody>
      </p:sp>
      <p:sp>
        <p:nvSpPr>
          <p:cNvPr id="132" name="TextBox 133"/>
          <p:cNvSpPr txBox="1"/>
          <p:nvPr/>
        </p:nvSpPr>
        <p:spPr>
          <a:xfrm>
            <a:off x="1325880" y="5157216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000000"/>
                </a:solidFill>
                <a:latin typeface="Arial"/>
                <a:cs typeface="Arial"/>
              </a:rPr>
              <a:t>Cost Estimation</a:t>
            </a:r>
            <a:endParaRPr lang="en-US" dirty="0"/>
          </a:p>
        </p:txBody>
      </p:sp>
      <p:sp>
        <p:nvSpPr>
          <p:cNvPr id="133" name="TextBox 134"/>
          <p:cNvSpPr txBox="1"/>
          <p:nvPr/>
        </p:nvSpPr>
        <p:spPr>
          <a:xfrm>
            <a:off x="1325880" y="53766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dirty="0">
                <a:solidFill>
                  <a:srgbClr val="666666"/>
                </a:solidFill>
                <a:latin typeface="Arial"/>
                <a:cs typeface="Arial"/>
              </a:rPr>
              <a:t>EP1 pricing, storage, monitoring costs, optimization paths, TCO analysis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H 18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System Architecture Overview</a:t>
            </a:r>
            <a:endParaRPr lang="en-US" dirty="0"/>
          </a:p>
        </p:txBody>
      </p:sp>
      <p:sp>
        <p:nvSpPr>
          <p:cNvPr id="135" name="TextBox 136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Two deployment modes share identical tool logic (kb-tools.js, xref-tools.js) — only transport and DB initialization differ</a:t>
            </a:r>
            <a:endParaRPr lang="en-US" dirty="0"/>
          </a:p>
        </p:txBody>
      </p:sp>
      <p:sp>
        <p:nvSpPr>
          <p:cNvPr id="136" name="TextBox 137"/>
          <p:cNvSpPr txBox="1"/>
          <p:nvPr/>
        </p:nvSpPr>
        <p:spPr>
          <a:xfrm>
            <a:off x="539496" y="15361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Build Pipeline (Developer Machine)</a:t>
            </a:r>
            <a:endParaRPr lang="en-US" dirty="0"/>
          </a:p>
        </p:txBody>
      </p:sp>
      <p:sp>
        <p:nvSpPr>
          <p:cNvPr id="137" name="Rect 138"/>
          <p:cNvSpPr/>
          <p:nvPr/>
        </p:nvSpPr>
        <p:spPr>
          <a:xfrm>
            <a:off x="539496" y="1847088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813341"/>
            </a:solidFill>
          </a:ln>
        </p:spPr>
      </p:sp>
      <p:sp>
        <p:nvSpPr>
          <p:cNvPr id="138" name="TextBox 139"/>
          <p:cNvSpPr txBox="1"/>
          <p:nvPr/>
        </p:nvSpPr>
        <p:spPr>
          <a:xfrm>
            <a:off x="630936" y="1865376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813341"/>
                </a:solidFill>
                <a:latin typeface="Consolas"/>
                <a:cs typeface="Consolas"/>
              </a:rPr>
              <a:t>PackagesLocalDirectory</a:t>
            </a:r>
            <a:endParaRPr lang="en-US" dirty="0"/>
          </a:p>
          <a:p>
            <a:pPr/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D365 XML metadata (17K tables, 63K classes)</a:t>
            </a:r>
            <a:endParaRPr lang="en-US" dirty="0"/>
          </a:p>
        </p:txBody>
      </p:sp>
      <p:sp>
        <p:nvSpPr>
          <p:cNvPr id="139" name="TextBox 140"/>
          <p:cNvSpPr txBox="1"/>
          <p:nvPr/>
        </p:nvSpPr>
        <p:spPr>
          <a:xfrm>
            <a:off x="1115568" y="2331720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40" name="Rect 141"/>
          <p:cNvSpPr/>
          <p:nvPr/>
        </p:nvSpPr>
        <p:spPr>
          <a:xfrm>
            <a:off x="539496" y="256032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AD9B68"/>
            </a:solidFill>
          </a:ln>
        </p:spPr>
      </p:sp>
      <p:sp>
        <p:nvSpPr>
          <p:cNvPr id="141" name="TextBox 142"/>
          <p:cNvSpPr txBox="1"/>
          <p:nvPr/>
        </p:nvSpPr>
        <p:spPr>
          <a:xfrm>
            <a:off x="630936" y="2578608"/>
            <a:ext cx="3291840" cy="4754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AD9B68"/>
                </a:solidFill>
                <a:latin typeface="Consolas"/>
                <a:cs typeface="Consolas"/>
              </a:rPr>
              <a:t>SQL Server LocalDB (Named Pipe)</a:t>
            </a:r>
            <a:endParaRPr lang="en-US" dirty="0"/>
          </a:p>
          <a:p>
            <a:pPr/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XRef DB: 5.8M objects, 26.6M references</a:t>
            </a:r>
            <a:endParaRPr lang="en-US" dirty="0"/>
          </a:p>
        </p:txBody>
      </p:sp>
      <p:sp>
        <p:nvSpPr>
          <p:cNvPr id="142" name="TextBox 143"/>
          <p:cNvSpPr txBox="1"/>
          <p:nvPr/>
        </p:nvSpPr>
        <p:spPr>
          <a:xfrm>
            <a:off x="1115568" y="3044952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43" name="Rect 144"/>
          <p:cNvSpPr/>
          <p:nvPr/>
        </p:nvSpPr>
        <p:spPr>
          <a:xfrm>
            <a:off x="539496" y="3273552"/>
            <a:ext cx="1664208" cy="45720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144" name="TextBox 145"/>
          <p:cNvSpPr txBox="1"/>
          <p:nvPr/>
        </p:nvSpPr>
        <p:spPr>
          <a:xfrm>
            <a:off x="539496" y="32735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onsolas"/>
                <a:cs typeface="Consolas"/>
              </a:rPr>
              <a:t>build-kb.js</a:t>
            </a:r>
            <a:endParaRPr lang="en-US" dirty="0"/>
          </a:p>
          <a:p>
            <a:pPr algn="ctr"/>
            <a:r>
              <a:rPr lang="en-US" sz="650" dirty="0">
                <a:solidFill>
                  <a:srgbClr val="FFFFFF"/>
                </a:solidFill>
                <a:latin typeface="Arial"/>
                <a:cs typeface="Arial"/>
              </a:rPr>
              <a:t>~10 min</a:t>
            </a:r>
            <a:endParaRPr lang="en-US" dirty="0"/>
          </a:p>
        </p:txBody>
      </p:sp>
      <p:sp>
        <p:nvSpPr>
          <p:cNvPr id="145" name="Rect 146"/>
          <p:cNvSpPr/>
          <p:nvPr/>
        </p:nvSpPr>
        <p:spPr>
          <a:xfrm>
            <a:off x="2350008" y="3273552"/>
            <a:ext cx="1664208" cy="45720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146" name="TextBox 147"/>
          <p:cNvSpPr txBox="1"/>
          <p:nvPr/>
        </p:nvSpPr>
        <p:spPr>
          <a:xfrm>
            <a:off x="2350008" y="3273552"/>
            <a:ext cx="1664208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Consolas"/>
                <a:cs typeface="Consolas"/>
              </a:rPr>
              <a:t>build-xref-db.js</a:t>
            </a:r>
            <a:endParaRPr lang="en-US" dirty="0"/>
          </a:p>
          <a:p>
            <a:pPr algn="ctr"/>
            <a:r>
              <a:rPr lang="en-US" sz="650" dirty="0">
                <a:solidFill>
                  <a:srgbClr val="FFFFFF"/>
                </a:solidFill>
                <a:latin typeface="Arial"/>
                <a:cs typeface="Arial"/>
              </a:rPr>
              <a:t>~22 min, 8GB</a:t>
            </a:r>
            <a:endParaRPr lang="en-US" dirty="0"/>
          </a:p>
        </p:txBody>
      </p:sp>
      <p:sp>
        <p:nvSpPr>
          <p:cNvPr id="147" name="TextBox 148"/>
          <p:cNvSpPr txBox="1"/>
          <p:nvPr/>
        </p:nvSpPr>
        <p:spPr>
          <a:xfrm>
            <a:off x="1115568" y="371246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48" name="Rect 149"/>
          <p:cNvSpPr/>
          <p:nvPr/>
        </p:nvSpPr>
        <p:spPr>
          <a:xfrm>
            <a:off x="539496" y="3931920"/>
            <a:ext cx="1664208" cy="384048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49" name="TextBox 150"/>
          <p:cNvSpPr txBox="1"/>
          <p:nvPr/>
        </p:nvSpPr>
        <p:spPr>
          <a:xfrm>
            <a:off x="539496" y="393192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KB: 1,063 MB</a:t>
            </a:r>
            <a:endParaRPr lang="en-US" dirty="0"/>
          </a:p>
        </p:txBody>
      </p:sp>
      <p:sp>
        <p:nvSpPr>
          <p:cNvPr id="150" name="Rect 151"/>
          <p:cNvSpPr/>
          <p:nvPr/>
        </p:nvSpPr>
        <p:spPr>
          <a:xfrm>
            <a:off x="2350008" y="3931920"/>
            <a:ext cx="1664208" cy="384048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51" name="TextBox 152"/>
          <p:cNvSpPr txBox="1"/>
          <p:nvPr/>
        </p:nvSpPr>
        <p:spPr>
          <a:xfrm>
            <a:off x="2350008" y="3931920"/>
            <a:ext cx="166420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XRef: 3,300 MB</a:t>
            </a:r>
            <a:endParaRPr lang="en-US" dirty="0"/>
          </a:p>
        </p:txBody>
      </p:sp>
      <p:sp>
        <p:nvSpPr>
          <p:cNvPr id="152" name="TextBox 153"/>
          <p:cNvSpPr txBox="1"/>
          <p:nvPr/>
        </p:nvSpPr>
        <p:spPr>
          <a:xfrm>
            <a:off x="4251960" y="153619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6DC1C9"/>
                </a:solidFill>
                <a:latin typeface="Arial"/>
                <a:cs typeface="Arial"/>
              </a:rPr>
              <a:t>Local Mode (stdio)</a:t>
            </a:r>
            <a:endParaRPr lang="en-US" dirty="0"/>
          </a:p>
        </p:txBody>
      </p:sp>
      <p:sp>
        <p:nvSpPr>
          <p:cNvPr id="153" name="Rect 154"/>
          <p:cNvSpPr/>
          <p:nvPr/>
        </p:nvSpPr>
        <p:spPr>
          <a:xfrm>
            <a:off x="4251960" y="1847088"/>
            <a:ext cx="3200400" cy="347472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154" name="TextBox 155"/>
          <p:cNvSpPr txBox="1"/>
          <p:nvPr/>
        </p:nvSpPr>
        <p:spPr>
          <a:xfrm>
            <a:off x="4251960" y="184708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Claude Code / Cursor / VS Code</a:t>
            </a:r>
            <a:endParaRPr lang="en-US" dirty="0"/>
          </a:p>
        </p:txBody>
      </p:sp>
      <p:sp>
        <p:nvSpPr>
          <p:cNvPr id="155" name="TextBox 156"/>
          <p:cNvSpPr txBox="1"/>
          <p:nvPr/>
        </p:nvSpPr>
        <p:spPr>
          <a:xfrm>
            <a:off x="5596128" y="215798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56" name="Rect 157"/>
          <p:cNvSpPr/>
          <p:nvPr/>
        </p:nvSpPr>
        <p:spPr>
          <a:xfrm>
            <a:off x="4251960" y="2395728"/>
            <a:ext cx="3200400" cy="347472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157" name="TextBox 158"/>
          <p:cNvSpPr txBox="1"/>
          <p:nvPr/>
        </p:nvSpPr>
        <p:spPr>
          <a:xfrm>
            <a:off x="4251960" y="239572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MCP Client (stdio JSON-RPC)</a:t>
            </a:r>
            <a:endParaRPr lang="en-US" dirty="0"/>
          </a:p>
        </p:txBody>
      </p:sp>
      <p:sp>
        <p:nvSpPr>
          <p:cNvPr id="158" name="TextBox 159"/>
          <p:cNvSpPr txBox="1"/>
          <p:nvPr/>
        </p:nvSpPr>
        <p:spPr>
          <a:xfrm>
            <a:off x="5596128" y="270662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59" name="Rect 160"/>
          <p:cNvSpPr/>
          <p:nvPr/>
        </p:nvSpPr>
        <p:spPr>
          <a:xfrm>
            <a:off x="4251960" y="2944368"/>
            <a:ext cx="3200400" cy="347472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160" name="TextBox 161"/>
          <p:cNvSpPr txBox="1"/>
          <p:nvPr/>
        </p:nvSpPr>
        <p:spPr>
          <a:xfrm>
            <a:off x="4251960" y="294436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mcp-server-kb.js | xref.js</a:t>
            </a:r>
            <a:endParaRPr lang="en-US" dirty="0"/>
          </a:p>
        </p:txBody>
      </p:sp>
      <p:sp>
        <p:nvSpPr>
          <p:cNvPr id="161" name="TextBox 162"/>
          <p:cNvSpPr txBox="1"/>
          <p:nvPr/>
        </p:nvSpPr>
        <p:spPr>
          <a:xfrm>
            <a:off x="5596128" y="325526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62" name="Rect 163"/>
          <p:cNvSpPr/>
          <p:nvPr/>
        </p:nvSpPr>
        <p:spPr>
          <a:xfrm>
            <a:off x="4251960" y="3493008"/>
            <a:ext cx="3200400" cy="347472"/>
          </a:xfrm>
          <a:prstGeom prst="roundRect">
            <a:avLst>
              <a:gd name="adj" fmla="val 5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163" name="TextBox 164"/>
          <p:cNvSpPr txBox="1"/>
          <p:nvPr/>
        </p:nvSpPr>
        <p:spPr>
          <a:xfrm>
            <a:off x="4251960" y="349300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better-sqlite3 (read-only)</a:t>
            </a:r>
            <a:endParaRPr lang="en-US" dirty="0"/>
          </a:p>
        </p:txBody>
      </p:sp>
      <p:sp>
        <p:nvSpPr>
          <p:cNvPr id="164" name="TextBox 165"/>
          <p:cNvSpPr txBox="1"/>
          <p:nvPr/>
        </p:nvSpPr>
        <p:spPr>
          <a:xfrm>
            <a:off x="5596128" y="380390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65" name="Rect 166"/>
          <p:cNvSpPr/>
          <p:nvPr/>
        </p:nvSpPr>
        <p:spPr>
          <a:xfrm>
            <a:off x="4251960" y="4041648"/>
            <a:ext cx="3200400" cy="347472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166" name="TextBox 167"/>
          <p:cNvSpPr txBox="1"/>
          <p:nvPr/>
        </p:nvSpPr>
        <p:spPr>
          <a:xfrm>
            <a:off x="4251960" y="4041648"/>
            <a:ext cx="320040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~/.claude/*.sqlite (local disk)</a:t>
            </a:r>
            <a:endParaRPr lang="en-US" dirty="0"/>
          </a:p>
        </p:txBody>
      </p:sp>
      <p:sp>
        <p:nvSpPr>
          <p:cNvPr id="167" name="TextBox 168"/>
          <p:cNvSpPr txBox="1"/>
          <p:nvPr/>
        </p:nvSpPr>
        <p:spPr>
          <a:xfrm>
            <a:off x="7699248" y="1536192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813341"/>
                </a:solidFill>
                <a:latin typeface="Arial"/>
                <a:cs typeface="Arial"/>
              </a:rPr>
              <a:t>Azure Mode (Streamable HTTP)</a:t>
            </a:r>
            <a:endParaRPr lang="en-US" dirty="0"/>
          </a:p>
        </p:txBody>
      </p:sp>
      <p:sp>
        <p:nvSpPr>
          <p:cNvPr id="168" name="Rect 169"/>
          <p:cNvSpPr/>
          <p:nvPr/>
        </p:nvSpPr>
        <p:spPr>
          <a:xfrm>
            <a:off x="7699248" y="1847088"/>
            <a:ext cx="3840480" cy="347472"/>
          </a:xfrm>
          <a:prstGeom prst="roundRect">
            <a:avLst>
              <a:gd name="adj" fmla="val 5000"/>
            </a:avLst>
          </a:prstGeom>
          <a:solidFill>
            <a:srgbClr val="666666"/>
          </a:solidFill>
          <a:ln>
            <a:noFill/>
          </a:ln>
        </p:spPr>
      </p:sp>
      <p:sp>
        <p:nvSpPr>
          <p:cNvPr id="169" name="TextBox 170"/>
          <p:cNvSpPr txBox="1"/>
          <p:nvPr/>
        </p:nvSpPr>
        <p:spPr>
          <a:xfrm>
            <a:off x="7699248" y="184708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Any MCP Client (ChatGPT, Gemini, ...)</a:t>
            </a:r>
            <a:endParaRPr lang="en-US" dirty="0"/>
          </a:p>
        </p:txBody>
      </p:sp>
      <p:sp>
        <p:nvSpPr>
          <p:cNvPr id="170" name="TextBox 171"/>
          <p:cNvSpPr txBox="1"/>
          <p:nvPr/>
        </p:nvSpPr>
        <p:spPr>
          <a:xfrm>
            <a:off x="9363456" y="215798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71" name="Rect 172"/>
          <p:cNvSpPr/>
          <p:nvPr/>
        </p:nvSpPr>
        <p:spPr>
          <a:xfrm>
            <a:off x="7699248" y="2395728"/>
            <a:ext cx="3840480" cy="347472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172" name="TextBox 173"/>
          <p:cNvSpPr txBox="1"/>
          <p:nvPr/>
        </p:nvSpPr>
        <p:spPr>
          <a:xfrm>
            <a:off x="7699248" y="239572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HTTPS + MCP Streamable HTTP</a:t>
            </a:r>
            <a:endParaRPr lang="en-US" dirty="0"/>
          </a:p>
        </p:txBody>
      </p:sp>
      <p:sp>
        <p:nvSpPr>
          <p:cNvPr id="173" name="TextBox 174"/>
          <p:cNvSpPr txBox="1"/>
          <p:nvPr/>
        </p:nvSpPr>
        <p:spPr>
          <a:xfrm>
            <a:off x="9363456" y="270662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74" name="Rect 175"/>
          <p:cNvSpPr/>
          <p:nvPr/>
        </p:nvSpPr>
        <p:spPr>
          <a:xfrm>
            <a:off x="7699248" y="2944368"/>
            <a:ext cx="3840480" cy="347472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175" name="TextBox 176"/>
          <p:cNvSpPr txBox="1"/>
          <p:nvPr/>
        </p:nvSpPr>
        <p:spPr>
          <a:xfrm>
            <a:off x="7699248" y="294436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Azure Function App (Node.js 20, Linux)</a:t>
            </a:r>
            <a:endParaRPr lang="en-US" dirty="0"/>
          </a:p>
        </p:txBody>
      </p:sp>
      <p:sp>
        <p:nvSpPr>
          <p:cNvPr id="176" name="TextBox 177"/>
          <p:cNvSpPr txBox="1"/>
          <p:nvPr/>
        </p:nvSpPr>
        <p:spPr>
          <a:xfrm>
            <a:off x="9363456" y="325526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77" name="Rect 178"/>
          <p:cNvSpPr/>
          <p:nvPr/>
        </p:nvSpPr>
        <p:spPr>
          <a:xfrm>
            <a:off x="7699248" y="3493008"/>
            <a:ext cx="3840480" cy="347472"/>
          </a:xfrm>
          <a:prstGeom prst="roundRect">
            <a:avLst>
              <a:gd name="adj" fmla="val 5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178" name="TextBox 179"/>
          <p:cNvSpPr txBox="1"/>
          <p:nvPr/>
        </p:nvSpPr>
        <p:spPr>
          <a:xfrm>
            <a:off x="7699248" y="349300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better-sqlite3 (read-only, native)</a:t>
            </a:r>
            <a:endParaRPr lang="en-US" dirty="0"/>
          </a:p>
        </p:txBody>
      </p:sp>
      <p:sp>
        <p:nvSpPr>
          <p:cNvPr id="179" name="TextBox 180"/>
          <p:cNvSpPr txBox="1"/>
          <p:nvPr/>
        </p:nvSpPr>
        <p:spPr>
          <a:xfrm>
            <a:off x="9363456" y="380390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180" name="Rect 181"/>
          <p:cNvSpPr/>
          <p:nvPr/>
        </p:nvSpPr>
        <p:spPr>
          <a:xfrm>
            <a:off x="7699248" y="4041648"/>
            <a:ext cx="3840480" cy="347472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181" name="TextBox 182"/>
          <p:cNvSpPr txBox="1"/>
          <p:nvPr/>
        </p:nvSpPr>
        <p:spPr>
          <a:xfrm>
            <a:off x="7699248" y="4041648"/>
            <a:ext cx="38404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FFFFFF"/>
                </a:solidFill>
                <a:latin typeface="Arial"/>
                <a:cs typeface="Arial"/>
              </a:rPr>
              <a:t>/home/data/*.sqlite (persistent)</a:t>
            </a:r>
            <a:endParaRPr lang="en-US" dirty="0"/>
          </a:p>
        </p:txBody>
      </p:sp>
      <p:sp>
        <p:nvSpPr>
          <p:cNvPr id="182" name="TextBox 183"/>
          <p:cNvSpPr txBox="1"/>
          <p:nvPr/>
        </p:nvSpPr>
        <p:spPr>
          <a:xfrm>
            <a:off x="3657600" y="44622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700" b="1" dirty="0">
                <a:solidFill>
                  <a:srgbClr val="813341"/>
                </a:solidFill>
                <a:latin typeface="Consolas"/>
                <a:cs typeface="Consolas"/>
              </a:rPr>
              <a:t>Deploy-FunctionApp.ps1 </a:t>
            </a:r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→ Kudu VFS upload to /home/data/</a:t>
            </a:r>
            <a:endParaRPr lang="en-US" dirty="0"/>
          </a:p>
        </p:txBody>
      </p:sp>
      <p:sp>
        <p:nvSpPr>
          <p:cNvPr id="183" name="Rect 184"/>
          <p:cNvSpPr/>
          <p:nvPr/>
        </p:nvSpPr>
        <p:spPr>
          <a:xfrm>
            <a:off x="539496" y="4846320"/>
            <a:ext cx="11109960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184" name="TextBox 185"/>
          <p:cNvSpPr txBox="1"/>
          <p:nvPr/>
        </p:nvSpPr>
        <p:spPr>
          <a:xfrm>
            <a:off x="685800" y="486460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Tech Stack: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Node.js 20  |  better-sqlite3 (native C++)  |  @modelcontextprotocol/sdk  |  @azure/functions v4  |  fast-xml-parser  |  mssql/tedious  |  Bicep IaC  |  PowerShell 7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H 2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Azure Functions Implementation</a:t>
            </a:r>
            <a:endParaRPr lang="en-US" dirty="0"/>
          </a:p>
        </p:txBody>
      </p:sp>
      <p:sp>
        <p:nvSpPr>
          <p:cNvPr id="186" name="TextBox 187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Azure Functions v4 on Linux EP1 (Elastic Premium) — two HTTP endpoints exposing MCP tools via Streamable HTTP transport</a:t>
            </a:r>
            <a:endParaRPr lang="en-US" dirty="0"/>
          </a:p>
        </p:txBody>
      </p:sp>
      <p:sp>
        <p:nvSpPr>
          <p:cNvPr id="187" name="TextBox 188"/>
          <p:cNvSpPr txBox="1"/>
          <p:nvPr/>
        </p:nvSpPr>
        <p:spPr>
          <a:xfrm>
            <a:off x="539496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Function Entry Point (d365kb.js)</a:t>
            </a:r>
            <a:endParaRPr lang="en-US" dirty="0"/>
          </a:p>
        </p:txBody>
      </p:sp>
      <p:sp>
        <p:nvSpPr>
          <p:cNvPr id="188" name="TextBox 189"/>
          <p:cNvSpPr txBox="1"/>
          <p:nvPr/>
        </p:nvSpPr>
        <p:spPr>
          <a:xfrm>
            <a:off x="539496" y="182880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wrap="square" anchor="t" lIns="72000" tIns="54000" rIns="72000" bIns="54000"/>
          <a:lstStyle/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import { app } from '@azure/functions';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import { McpServer } from '@mcp/sdk/server/mcp.js';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import { WebStandardStreamableHTTPServerTransport }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from '@mcp/sdk/server/webStandardStreamableHttp.js';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/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app.http('d365kb',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methods: ['GET', 'POST', 'DELETE'],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authLevel: 'anonymous',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handler: async (request, context) =&gt;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const db = getKbDb();      // singleton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const server = new McpServer({ ... });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registerKbTools(server, db);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const transport = new WebStandardStreamable...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await server.connect(transport);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return transport.handleRequest(request);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}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});</a:t>
            </a:r>
            <a:endParaRPr lang="en-US" dirty="0"/>
          </a:p>
        </p:txBody>
      </p:sp>
      <p:sp>
        <p:nvSpPr>
          <p:cNvPr id="189" name="TextBox 190"/>
          <p:cNvSpPr txBox="1"/>
          <p:nvPr/>
        </p:nvSpPr>
        <p:spPr>
          <a:xfrm>
            <a:off x="608076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Infrastructure (Bicep IaC)</a:t>
            </a:r>
            <a:endParaRPr lang="en-US" dirty="0"/>
          </a:p>
        </p:txBody>
      </p:sp>
      <p:sp>
        <p:nvSpPr>
          <p:cNvPr id="190" name="Rect 191"/>
          <p:cNvSpPr/>
          <p:nvPr/>
        </p:nvSpPr>
        <p:spPr>
          <a:xfrm>
            <a:off x="6080760" y="1847088"/>
            <a:ext cx="5486400" cy="384048"/>
          </a:xfrm>
          <a:prstGeom prst="roundRect">
            <a:avLst>
              <a:gd name="adj" fmla="val 3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91" name="TextBox 192"/>
          <p:cNvSpPr txBox="1"/>
          <p:nvPr/>
        </p:nvSpPr>
        <p:spPr>
          <a:xfrm>
            <a:off x="6172200" y="186537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App Service Plan</a:t>
            </a:r>
            <a:endParaRPr lang="en-US" dirty="0"/>
          </a:p>
        </p:txBody>
      </p:sp>
      <p:sp>
        <p:nvSpPr>
          <p:cNvPr id="192" name="TextBox 193"/>
          <p:cNvSpPr txBox="1"/>
          <p:nvPr/>
        </p:nvSpPr>
        <p:spPr>
          <a:xfrm>
            <a:off x="7818120" y="186537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DC1C9"/>
                </a:solidFill>
                <a:latin typeface="Consolas"/>
                <a:cs typeface="Consolas"/>
              </a:rPr>
              <a:t>EP1 Elastic Premium</a:t>
            </a:r>
            <a:endParaRPr lang="en-US" dirty="0"/>
          </a:p>
        </p:txBody>
      </p:sp>
      <p:sp>
        <p:nvSpPr>
          <p:cNvPr id="193" name="TextBox 194"/>
          <p:cNvSpPr txBox="1"/>
          <p:nvPr/>
        </p:nvSpPr>
        <p:spPr>
          <a:xfrm>
            <a:off x="9281160" y="186537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Linux, max 3 workers, 1 always-ready</a:t>
            </a:r>
            <a:endParaRPr lang="en-US" dirty="0"/>
          </a:p>
        </p:txBody>
      </p:sp>
      <p:sp>
        <p:nvSpPr>
          <p:cNvPr id="194" name="Rect 195"/>
          <p:cNvSpPr/>
          <p:nvPr/>
        </p:nvSpPr>
        <p:spPr>
          <a:xfrm>
            <a:off x="6080760" y="2258568"/>
            <a:ext cx="54864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95" name="TextBox 196"/>
          <p:cNvSpPr txBox="1"/>
          <p:nvPr/>
        </p:nvSpPr>
        <p:spPr>
          <a:xfrm>
            <a:off x="6172200" y="227685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Function App</a:t>
            </a:r>
            <a:endParaRPr lang="en-US" dirty="0"/>
          </a:p>
        </p:txBody>
      </p:sp>
      <p:sp>
        <p:nvSpPr>
          <p:cNvPr id="196" name="TextBox 197"/>
          <p:cNvSpPr txBox="1"/>
          <p:nvPr/>
        </p:nvSpPr>
        <p:spPr>
          <a:xfrm>
            <a:off x="7818120" y="227685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DC1C9"/>
                </a:solidFill>
                <a:latin typeface="Consolas"/>
                <a:cs typeface="Consolas"/>
              </a:rPr>
              <a:t>Node.js 20</a:t>
            </a:r>
            <a:endParaRPr lang="en-US" dirty="0"/>
          </a:p>
        </p:txBody>
      </p:sp>
      <p:sp>
        <p:nvSpPr>
          <p:cNvPr id="197" name="TextBox 198"/>
          <p:cNvSpPr txBox="1"/>
          <p:nvPr/>
        </p:nvSpPr>
        <p:spPr>
          <a:xfrm>
            <a:off x="9281160" y="227685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httpsOnly, TLS 1.2, FTPS disabled</a:t>
            </a:r>
            <a:endParaRPr lang="en-US" dirty="0"/>
          </a:p>
        </p:txBody>
      </p:sp>
      <p:sp>
        <p:nvSpPr>
          <p:cNvPr id="198" name="Rect 199"/>
          <p:cNvSpPr/>
          <p:nvPr/>
        </p:nvSpPr>
        <p:spPr>
          <a:xfrm>
            <a:off x="6080760" y="2670048"/>
            <a:ext cx="5486400" cy="384048"/>
          </a:xfrm>
          <a:prstGeom prst="roundRect">
            <a:avLst>
              <a:gd name="adj" fmla="val 3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199" name="TextBox 200"/>
          <p:cNvSpPr txBox="1"/>
          <p:nvPr/>
        </p:nvSpPr>
        <p:spPr>
          <a:xfrm>
            <a:off x="6172200" y="268833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Storage Account</a:t>
            </a:r>
            <a:endParaRPr lang="en-US" dirty="0"/>
          </a:p>
        </p:txBody>
      </p:sp>
      <p:sp>
        <p:nvSpPr>
          <p:cNvPr id="200" name="TextBox 201"/>
          <p:cNvSpPr txBox="1"/>
          <p:nvPr/>
        </p:nvSpPr>
        <p:spPr>
          <a:xfrm>
            <a:off x="7818120" y="268833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DC1C9"/>
                </a:solidFill>
                <a:latin typeface="Consolas"/>
                <a:cs typeface="Consolas"/>
              </a:rPr>
              <a:t>Standard_LRS</a:t>
            </a:r>
            <a:endParaRPr lang="en-US" dirty="0"/>
          </a:p>
        </p:txBody>
      </p:sp>
      <p:sp>
        <p:nvSpPr>
          <p:cNvPr id="201" name="TextBox 202"/>
          <p:cNvSpPr txBox="1"/>
          <p:nvPr/>
        </p:nvSpPr>
        <p:spPr>
          <a:xfrm>
            <a:off x="9281160" y="268833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Functions runtime storage only</a:t>
            </a:r>
            <a:endParaRPr lang="en-US" dirty="0"/>
          </a:p>
        </p:txBody>
      </p:sp>
      <p:sp>
        <p:nvSpPr>
          <p:cNvPr id="202" name="Rect 203"/>
          <p:cNvSpPr/>
          <p:nvPr/>
        </p:nvSpPr>
        <p:spPr>
          <a:xfrm>
            <a:off x="6080760" y="3081528"/>
            <a:ext cx="5486400" cy="3840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3" name="TextBox 204"/>
          <p:cNvSpPr txBox="1"/>
          <p:nvPr/>
        </p:nvSpPr>
        <p:spPr>
          <a:xfrm>
            <a:off x="6172200" y="309981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Key Vault</a:t>
            </a:r>
            <a:endParaRPr lang="en-US" dirty="0"/>
          </a:p>
        </p:txBody>
      </p:sp>
      <p:sp>
        <p:nvSpPr>
          <p:cNvPr id="204" name="TextBox 205"/>
          <p:cNvSpPr txBox="1"/>
          <p:nvPr/>
        </p:nvSpPr>
        <p:spPr>
          <a:xfrm>
            <a:off x="7818120" y="309981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DC1C9"/>
                </a:solidFill>
                <a:latin typeface="Consolas"/>
                <a:cs typeface="Consolas"/>
              </a:rPr>
              <a:t>Standard, RBAC</a:t>
            </a:r>
            <a:endParaRPr lang="en-US" dirty="0"/>
          </a:p>
        </p:txBody>
      </p:sp>
      <p:sp>
        <p:nvSpPr>
          <p:cNvPr id="205" name="TextBox 206"/>
          <p:cNvSpPr txBox="1"/>
          <p:nvPr/>
        </p:nvSpPr>
        <p:spPr>
          <a:xfrm>
            <a:off x="9281160" y="309981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Soft delete (7 days), managed identity</a:t>
            </a:r>
            <a:endParaRPr lang="en-US" dirty="0"/>
          </a:p>
        </p:txBody>
      </p:sp>
      <p:sp>
        <p:nvSpPr>
          <p:cNvPr id="206" name="Rect 207"/>
          <p:cNvSpPr/>
          <p:nvPr/>
        </p:nvSpPr>
        <p:spPr>
          <a:xfrm>
            <a:off x="6080760" y="3493008"/>
            <a:ext cx="5486400" cy="384048"/>
          </a:xfrm>
          <a:prstGeom prst="roundRect">
            <a:avLst>
              <a:gd name="adj" fmla="val 3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07" name="TextBox 208"/>
          <p:cNvSpPr txBox="1"/>
          <p:nvPr/>
        </p:nvSpPr>
        <p:spPr>
          <a:xfrm>
            <a:off x="6172200" y="3511296"/>
            <a:ext cx="16459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App Insights</a:t>
            </a:r>
            <a:endParaRPr lang="en-US" dirty="0"/>
          </a:p>
        </p:txBody>
      </p:sp>
      <p:sp>
        <p:nvSpPr>
          <p:cNvPr id="208" name="TextBox 209"/>
          <p:cNvSpPr txBox="1"/>
          <p:nvPr/>
        </p:nvSpPr>
        <p:spPr>
          <a:xfrm>
            <a:off x="7818120" y="3511296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DC1C9"/>
                </a:solidFill>
                <a:latin typeface="Consolas"/>
                <a:cs typeface="Consolas"/>
              </a:rPr>
              <a:t>Log Analytics</a:t>
            </a:r>
            <a:endParaRPr lang="en-US" dirty="0"/>
          </a:p>
        </p:txBody>
      </p:sp>
      <p:sp>
        <p:nvSpPr>
          <p:cNvPr id="209" name="TextBox 210"/>
          <p:cNvSpPr txBox="1"/>
          <p:nvPr/>
        </p:nvSpPr>
        <p:spPr>
          <a:xfrm>
            <a:off x="9281160" y="351129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Sampling enabled, 30-day retention</a:t>
            </a:r>
            <a:endParaRPr lang="en-US" dirty="0"/>
          </a:p>
        </p:txBody>
      </p:sp>
      <p:sp>
        <p:nvSpPr>
          <p:cNvPr id="210" name="TextBox 211"/>
          <p:cNvSpPr txBox="1"/>
          <p:nvPr/>
        </p:nvSpPr>
        <p:spPr>
          <a:xfrm>
            <a:off x="539496" y="41605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HTTP Endpoints</a:t>
            </a:r>
            <a:endParaRPr lang="en-US" dirty="0"/>
          </a:p>
        </p:txBody>
      </p:sp>
      <p:sp>
        <p:nvSpPr>
          <p:cNvPr id="211" name="TextBox 212"/>
          <p:cNvSpPr txBox="1"/>
          <p:nvPr/>
        </p:nvSpPr>
        <p:spPr>
          <a:xfrm>
            <a:off x="630936" y="4462272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GET  /api/d365kb</a:t>
            </a:r>
            <a:endParaRPr lang="en-US" dirty="0"/>
          </a:p>
        </p:txBody>
      </p:sp>
      <p:sp>
        <p:nvSpPr>
          <p:cNvPr id="212" name="TextBox 213"/>
          <p:cNvSpPr txBox="1"/>
          <p:nvPr/>
        </p:nvSpPr>
        <p:spPr>
          <a:xfrm>
            <a:off x="2697480" y="4462272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Health check → { name, version, status }</a:t>
            </a:r>
            <a:endParaRPr lang="en-US" dirty="0"/>
          </a:p>
        </p:txBody>
      </p:sp>
      <p:sp>
        <p:nvSpPr>
          <p:cNvPr id="213" name="TextBox 214"/>
          <p:cNvSpPr txBox="1"/>
          <p:nvPr/>
        </p:nvSpPr>
        <p:spPr>
          <a:xfrm>
            <a:off x="630936" y="4718304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POST /api/d365kb</a:t>
            </a:r>
            <a:endParaRPr lang="en-US" dirty="0"/>
          </a:p>
        </p:txBody>
      </p:sp>
      <p:sp>
        <p:nvSpPr>
          <p:cNvPr id="214" name="TextBox 215"/>
          <p:cNvSpPr txBox="1"/>
          <p:nvPr/>
        </p:nvSpPr>
        <p:spPr>
          <a:xfrm>
            <a:off x="2697480" y="4718304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MCP JSON-RPC tool invocation (17 KB tools)</a:t>
            </a:r>
            <a:endParaRPr lang="en-US" dirty="0"/>
          </a:p>
        </p:txBody>
      </p:sp>
      <p:sp>
        <p:nvSpPr>
          <p:cNvPr id="215" name="TextBox 216"/>
          <p:cNvSpPr txBox="1"/>
          <p:nvPr/>
        </p:nvSpPr>
        <p:spPr>
          <a:xfrm>
            <a:off x="630936" y="4974336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GET  /api/d365xref</a:t>
            </a:r>
            <a:endParaRPr lang="en-US" dirty="0"/>
          </a:p>
        </p:txBody>
      </p:sp>
      <p:sp>
        <p:nvSpPr>
          <p:cNvPr id="216" name="TextBox 217"/>
          <p:cNvSpPr txBox="1"/>
          <p:nvPr/>
        </p:nvSpPr>
        <p:spPr>
          <a:xfrm>
            <a:off x="2697480" y="4974336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Health check → { name, version, status }</a:t>
            </a:r>
            <a:endParaRPr lang="en-US" dirty="0"/>
          </a:p>
        </p:txBody>
      </p:sp>
      <p:sp>
        <p:nvSpPr>
          <p:cNvPr id="217" name="TextBox 218"/>
          <p:cNvSpPr txBox="1"/>
          <p:nvPr/>
        </p:nvSpPr>
        <p:spPr>
          <a:xfrm>
            <a:off x="630936" y="5230368"/>
            <a:ext cx="20116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POST /api/d365xref</a:t>
            </a:r>
            <a:endParaRPr lang="en-US" dirty="0"/>
          </a:p>
        </p:txBody>
      </p:sp>
      <p:sp>
        <p:nvSpPr>
          <p:cNvPr id="218" name="TextBox 219"/>
          <p:cNvSpPr txBox="1"/>
          <p:nvPr/>
        </p:nvSpPr>
        <p:spPr>
          <a:xfrm>
            <a:off x="2697480" y="5230368"/>
            <a:ext cx="3145536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MCP JSON-RPC tool invocation (16 XRef tools)</a:t>
            </a:r>
            <a:endParaRPr lang="en-US" dirty="0"/>
          </a:p>
        </p:txBody>
      </p:sp>
      <p:sp>
        <p:nvSpPr>
          <p:cNvPr id="219" name="TextBox 220"/>
          <p:cNvSpPr txBox="1"/>
          <p:nvPr/>
        </p:nvSpPr>
        <p:spPr>
          <a:xfrm>
            <a:off x="6080760" y="4160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47772"/>
                </a:solidFill>
                <a:latin typeface="Arial"/>
                <a:cs typeface="Arial"/>
              </a:rPr>
              <a:t>Key Design Decisions</a:t>
            </a:r>
            <a:endParaRPr lang="en-US" dirty="0"/>
          </a:p>
        </p:txBody>
      </p:sp>
      <p:sp>
        <p:nvSpPr>
          <p:cNvPr id="220" name="TextBox 221"/>
          <p:cNvSpPr txBox="1"/>
          <p:nvPr/>
        </p:nvSpPr>
        <p:spPr>
          <a:xfrm>
            <a:off x="6172200" y="4462272"/>
            <a:ext cx="530352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Stateless per-request MCP server (no session affinity needed)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Singleton DB connections survive across invocations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enableJsonResponse: true for non-streaming clients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enableHttpStream: true for SSE-capable clients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Linux plan = cheaper than Windows + native SQLite binaries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H 25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Named Pipes &amp; SQL Server LocalDB</a:t>
            </a:r>
            <a:endParaRPr lang="en-US" dirty="0"/>
          </a:p>
        </p:txBody>
      </p:sp>
      <p:sp>
        <p:nvSpPr>
          <p:cNvPr id="222" name="TextBox 223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The XRef build script connects to Microsoft's Visual Studio LocalDB instance via Windows named pipes to extract 26.6M cross-references</a:t>
            </a:r>
            <a:endParaRPr lang="en-US" dirty="0"/>
          </a:p>
        </p:txBody>
      </p:sp>
      <p:sp>
        <p:nvSpPr>
          <p:cNvPr id="223" name="TextBox 224"/>
          <p:cNvSpPr txBox="1"/>
          <p:nvPr/>
        </p:nvSpPr>
        <p:spPr>
          <a:xfrm>
            <a:off x="539496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Named Pipe Resolution Flow</a:t>
            </a:r>
            <a:endParaRPr lang="en-US" dirty="0"/>
          </a:p>
        </p:txBody>
      </p:sp>
      <p:sp>
        <p:nvSpPr>
          <p:cNvPr id="224" name="Rect 225"/>
          <p:cNvSpPr/>
          <p:nvPr/>
        </p:nvSpPr>
        <p:spPr>
          <a:xfrm>
            <a:off x="539496" y="187452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225" name="TextBox 226"/>
          <p:cNvSpPr txBox="1"/>
          <p:nvPr/>
        </p:nvSpPr>
        <p:spPr>
          <a:xfrm>
            <a:off x="539496" y="18745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dirty="0"/>
          </a:p>
        </p:txBody>
      </p:sp>
      <p:sp>
        <p:nvSpPr>
          <p:cNvPr id="226" name="TextBox 227"/>
          <p:cNvSpPr txBox="1"/>
          <p:nvPr/>
        </p:nvSpPr>
        <p:spPr>
          <a:xfrm>
            <a:off x="1005840" y="1874520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SqlLocalDB info MSSQLLocalDB</a:t>
            </a:r>
            <a:endParaRPr lang="en-US" dirty="0"/>
          </a:p>
        </p:txBody>
      </p:sp>
      <p:sp>
        <p:nvSpPr>
          <p:cNvPr id="227" name="TextBox 228"/>
          <p:cNvSpPr txBox="1"/>
          <p:nvPr/>
        </p:nvSpPr>
        <p:spPr>
          <a:xfrm>
            <a:off x="1005840" y="2075688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Query LocalDB CLI for instance metadata</a:t>
            </a:r>
            <a:endParaRPr lang="en-US" dirty="0"/>
          </a:p>
        </p:txBody>
      </p:sp>
      <p:sp>
        <p:nvSpPr>
          <p:cNvPr id="228" name="TextBox 229"/>
          <p:cNvSpPr txBox="1"/>
          <p:nvPr/>
        </p:nvSpPr>
        <p:spPr>
          <a:xfrm>
            <a:off x="475488" y="225856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29" name="Rect 230"/>
          <p:cNvSpPr/>
          <p:nvPr/>
        </p:nvSpPr>
        <p:spPr>
          <a:xfrm>
            <a:off x="539496" y="253288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230" name="TextBox 231"/>
          <p:cNvSpPr txBox="1"/>
          <p:nvPr/>
        </p:nvSpPr>
        <p:spPr>
          <a:xfrm>
            <a:off x="539496" y="253288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231" name="TextBox 232"/>
          <p:cNvSpPr txBox="1"/>
          <p:nvPr/>
        </p:nvSpPr>
        <p:spPr>
          <a:xfrm>
            <a:off x="1005840" y="2532888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Parse pipe: np:\\.\pipe\LOCALDB#...</a:t>
            </a:r>
            <a:endParaRPr lang="en-US" dirty="0"/>
          </a:p>
        </p:txBody>
      </p:sp>
      <p:sp>
        <p:nvSpPr>
          <p:cNvPr id="232" name="TextBox 233"/>
          <p:cNvSpPr txBox="1"/>
          <p:nvPr/>
        </p:nvSpPr>
        <p:spPr>
          <a:xfrm>
            <a:off x="1005840" y="2734056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Extract named pipe string from CLI output</a:t>
            </a:r>
            <a:endParaRPr lang="en-US" dirty="0"/>
          </a:p>
        </p:txBody>
      </p:sp>
      <p:sp>
        <p:nvSpPr>
          <p:cNvPr id="233" name="TextBox 234"/>
          <p:cNvSpPr txBox="1"/>
          <p:nvPr/>
        </p:nvSpPr>
        <p:spPr>
          <a:xfrm>
            <a:off x="475488" y="2916936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34" name="Rect 235"/>
          <p:cNvSpPr/>
          <p:nvPr/>
        </p:nvSpPr>
        <p:spPr>
          <a:xfrm>
            <a:off x="539496" y="31912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235" name="TextBox 236"/>
          <p:cNvSpPr txBox="1"/>
          <p:nvPr/>
        </p:nvSpPr>
        <p:spPr>
          <a:xfrm>
            <a:off x="539496" y="319125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dirty="0"/>
          </a:p>
        </p:txBody>
      </p:sp>
      <p:sp>
        <p:nvSpPr>
          <p:cNvPr id="236" name="TextBox 237"/>
          <p:cNvSpPr txBox="1"/>
          <p:nvPr/>
        </p:nvSpPr>
        <p:spPr>
          <a:xfrm>
            <a:off x="1005840" y="3191256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Start instance if stopped</a:t>
            </a:r>
            <a:endParaRPr lang="en-US" dirty="0"/>
          </a:p>
        </p:txBody>
      </p:sp>
      <p:sp>
        <p:nvSpPr>
          <p:cNvPr id="237" name="TextBox 238"/>
          <p:cNvSpPr txBox="1"/>
          <p:nvPr/>
        </p:nvSpPr>
        <p:spPr>
          <a:xfrm>
            <a:off x="1005840" y="3392424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SqlLocalDB start MSSQLLocalDB</a:t>
            </a:r>
            <a:endParaRPr lang="en-US" dirty="0"/>
          </a:p>
        </p:txBody>
      </p:sp>
      <p:sp>
        <p:nvSpPr>
          <p:cNvPr id="238" name="TextBox 239"/>
          <p:cNvSpPr txBox="1"/>
          <p:nvPr/>
        </p:nvSpPr>
        <p:spPr>
          <a:xfrm>
            <a:off x="475488" y="3575304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1000" dirty="0">
                <a:solidFill>
                  <a:srgbClr val="6DC1C9"/>
                </a:solidFill>
                <a:latin typeface="Arial"/>
                <a:cs typeface="Arial"/>
              </a:rPr>
              <a:t>▼</a:t>
            </a:r>
            <a:endParaRPr lang="en-US" dirty="0"/>
          </a:p>
        </p:txBody>
      </p:sp>
      <p:sp>
        <p:nvSpPr>
          <p:cNvPr id="239" name="Rect 240"/>
          <p:cNvSpPr/>
          <p:nvPr/>
        </p:nvSpPr>
        <p:spPr>
          <a:xfrm>
            <a:off x="539496" y="384962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240" name="TextBox 241"/>
          <p:cNvSpPr txBox="1"/>
          <p:nvPr/>
        </p:nvSpPr>
        <p:spPr>
          <a:xfrm>
            <a:off x="539496" y="384962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dirty="0"/>
          </a:p>
        </p:txBody>
      </p:sp>
      <p:sp>
        <p:nvSpPr>
          <p:cNvPr id="241" name="TextBox 242"/>
          <p:cNvSpPr txBox="1"/>
          <p:nvPr/>
        </p:nvSpPr>
        <p:spPr>
          <a:xfrm>
            <a:off x="1005840" y="3849624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333333"/>
                </a:solidFill>
                <a:latin typeface="Consolas"/>
                <a:cs typeface="Consolas"/>
              </a:rPr>
              <a:t>Connect: Server=np:\\.\pipe\...</a:t>
            </a:r>
            <a:endParaRPr lang="en-US" dirty="0"/>
          </a:p>
        </p:txBody>
      </p:sp>
      <p:sp>
        <p:nvSpPr>
          <p:cNvPr id="242" name="TextBox 243"/>
          <p:cNvSpPr txBox="1"/>
          <p:nvPr/>
        </p:nvSpPr>
        <p:spPr>
          <a:xfrm>
            <a:off x="1005840" y="4050792"/>
            <a:ext cx="4837176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mssql/tedious driver uses pipe directly</a:t>
            </a:r>
            <a:endParaRPr lang="en-US" dirty="0"/>
          </a:p>
        </p:txBody>
      </p:sp>
      <p:sp>
        <p:nvSpPr>
          <p:cNvPr id="243" name="TextBox 244"/>
          <p:cNvSpPr txBox="1"/>
          <p:nvPr/>
        </p:nvSpPr>
        <p:spPr>
          <a:xfrm>
            <a:off x="608076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Connection Fallback Strategy</a:t>
            </a:r>
            <a:endParaRPr lang="en-US" dirty="0"/>
          </a:p>
        </p:txBody>
      </p:sp>
      <p:sp>
        <p:nvSpPr>
          <p:cNvPr id="244" name="TextBox 245"/>
          <p:cNvSpPr txBox="1"/>
          <p:nvPr/>
        </p:nvSpPr>
        <p:spPr>
          <a:xfrm>
            <a:off x="6080760" y="1874520"/>
            <a:ext cx="5486400" cy="164592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wrap="square" anchor="t" lIns="72000" tIns="54000" rIns="72000" bIns="54000"/>
          <a:lstStyle/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Attempt 1: Direct named pipe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pool = await sql.connect(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`Server=${pipe};Database=${db};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Trusted_Connection=yes`);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/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Attempt 2: Server name (if pipe fails)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pool = await sql.connect({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server: "(LocalDB)\\MSSQLLocalDB",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options: { trustedConnection: true }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});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/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Attempt 3: sqlcmd CLI fallback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execSync(`sqlcmd -S "${instance}" -d "${db}"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-Q "${query}" -s "\t" -W -h -1`);</a:t>
            </a:r>
            <a:endParaRPr lang="en-US" dirty="0"/>
          </a:p>
        </p:txBody>
      </p:sp>
      <p:sp>
        <p:nvSpPr>
          <p:cNvPr id="245" name="TextBox 246"/>
          <p:cNvSpPr txBox="1"/>
          <p:nvPr/>
        </p:nvSpPr>
        <p:spPr>
          <a:xfrm>
            <a:off x="6080760" y="37033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What is a Named Pipe?</a:t>
            </a:r>
            <a:endParaRPr lang="en-US" dirty="0"/>
          </a:p>
        </p:txBody>
      </p:sp>
      <p:sp>
        <p:nvSpPr>
          <p:cNvPr id="246" name="Rect 247"/>
          <p:cNvSpPr/>
          <p:nvPr/>
        </p:nvSpPr>
        <p:spPr>
          <a:xfrm>
            <a:off x="6080760" y="4005072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247" name="TextBox 248"/>
          <p:cNvSpPr txBox="1"/>
          <p:nvPr/>
        </p:nvSpPr>
        <p:spPr>
          <a:xfrm>
            <a:off x="6172200" y="4041648"/>
            <a:ext cx="530352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50"/>
              </a:spcAft>
            </a:pPr>
            <a:r>
              <a:rPr lang="en-US" sz="800" b="1" dirty="0">
                <a:solidFill>
                  <a:srgbClr val="333333"/>
                </a:solidFill>
                <a:latin typeface="Arial"/>
                <a:cs typeface="Arial"/>
              </a:rPr>
              <a:t>A Windows inter-process communication (IPC) mechanism.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Behaves like a network socket but entirely in-kernel (no TCP overhead)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LocalDB generates unique pipe names: np:\\.\pipe\LOCALDB#XXXXXXXX\tsql\query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Connection is Windows-authenticated (Trusted_Connection=yes) — no passwords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Process must be on the same machine (no remote access possible)</a:t>
            </a:r>
            <a:endParaRPr lang="en-US" dirty="0"/>
          </a:p>
          <a:p>
            <a:pPr>
              <a:spcAft>
                <a:spcPts val="5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Pipe name changes each time LocalDB instance restarts</a:t>
            </a:r>
            <a:endParaRPr lang="en-US" dirty="0"/>
          </a:p>
        </p:txBody>
      </p:sp>
      <p:sp>
        <p:nvSpPr>
          <p:cNvPr id="248" name="Rect 249"/>
          <p:cNvSpPr/>
          <p:nvPr/>
        </p:nvSpPr>
        <p:spPr>
          <a:xfrm>
            <a:off x="539496" y="4754880"/>
            <a:ext cx="5303520" cy="640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249" name="TextBox 250"/>
          <p:cNvSpPr txBox="1"/>
          <p:nvPr/>
        </p:nvSpPr>
        <p:spPr>
          <a:xfrm>
            <a:off x="630936" y="4773168"/>
            <a:ext cx="5120640" cy="60350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8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Why LocalDB?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Microsoft Visual Studio stores D365 F&amp;O cross-reference data in a LocalDB instance. This is the only source for code dependencies — who calls, extends, implements what.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H 30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SQLite Database Engine</a:t>
            </a:r>
            <a:endParaRPr lang="en-US" dirty="0"/>
          </a:p>
        </p:txBody>
      </p:sp>
      <p:sp>
        <p:nvSpPr>
          <p:cNvPr id="251" name="TextBox 252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SQLite is the runtime database for both MCP services — pre-built, read-only, with aggressive caching for sub-100ms query performance</a:t>
            </a:r>
            <a:endParaRPr lang="en-US" dirty="0"/>
          </a:p>
        </p:txBody>
      </p:sp>
      <p:sp>
        <p:nvSpPr>
          <p:cNvPr id="252" name="TextBox 253"/>
          <p:cNvSpPr txBox="1"/>
          <p:nvPr/>
        </p:nvSpPr>
        <p:spPr>
          <a:xfrm>
            <a:off x="539496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Database Initialization (shared.js)</a:t>
            </a:r>
            <a:endParaRPr lang="en-US" dirty="0"/>
          </a:p>
        </p:txBody>
      </p:sp>
      <p:sp>
        <p:nvSpPr>
          <p:cNvPr id="253" name="TextBox 254"/>
          <p:cNvSpPr txBox="1"/>
          <p:nvPr/>
        </p:nvSpPr>
        <p:spPr>
          <a:xfrm>
            <a:off x="539496" y="1847088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wrap="square" anchor="t" lIns="72000" tIns="54000" rIns="72000" bIns="54000"/>
          <a:lstStyle/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function openDb(filePath)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const db = new Database(filePath,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{ readonly: true });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/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db.pragma('journal_mode = OFF');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db.pragma('cache_size = -200000');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//           ^^^^^^^ 200 MB page cache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db.pragma('mmap_size = 3221225472');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//           ^^^^^^^^ 3 GB memory-mapped I/O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return db;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lang="en-US" dirty="0"/>
          </a:p>
        </p:txBody>
      </p:sp>
      <p:sp>
        <p:nvSpPr>
          <p:cNvPr id="254" name="TextBox 255"/>
          <p:cNvSpPr txBox="1"/>
          <p:nvPr/>
        </p:nvSpPr>
        <p:spPr>
          <a:xfrm>
            <a:off x="608076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Performance Tuning</a:t>
            </a:r>
            <a:endParaRPr lang="en-US" dirty="0"/>
          </a:p>
        </p:txBody>
      </p:sp>
      <p:sp>
        <p:nvSpPr>
          <p:cNvPr id="255" name="TextBox 256"/>
          <p:cNvSpPr txBox="1"/>
          <p:nvPr/>
        </p:nvSpPr>
        <p:spPr>
          <a:xfrm>
            <a:off x="6172200" y="1847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6DC1C9"/>
                </a:solidFill>
                <a:latin typeface="Consolas"/>
                <a:cs typeface="Consolas"/>
              </a:rPr>
              <a:t>journal_mode = OFF</a:t>
            </a:r>
            <a:endParaRPr lang="en-US" dirty="0"/>
          </a:p>
        </p:txBody>
      </p:sp>
      <p:sp>
        <p:nvSpPr>
          <p:cNvPr id="256" name="TextBox 257"/>
          <p:cNvSpPr txBox="1"/>
          <p:nvPr/>
        </p:nvSpPr>
        <p:spPr>
          <a:xfrm>
            <a:off x="8321040" y="18470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No WAL journal — read-only DB needs no crash recovery</a:t>
            </a:r>
            <a:endParaRPr lang="en-US" dirty="0"/>
          </a:p>
        </p:txBody>
      </p:sp>
      <p:sp>
        <p:nvSpPr>
          <p:cNvPr id="257" name="TextBox 258"/>
          <p:cNvSpPr txBox="1"/>
          <p:nvPr/>
        </p:nvSpPr>
        <p:spPr>
          <a:xfrm>
            <a:off x="6172200" y="213969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6DC1C9"/>
                </a:solidFill>
                <a:latin typeface="Consolas"/>
                <a:cs typeface="Consolas"/>
              </a:rPr>
              <a:t>cache_size = -200000</a:t>
            </a:r>
            <a:endParaRPr lang="en-US" dirty="0"/>
          </a:p>
        </p:txBody>
      </p:sp>
      <p:sp>
        <p:nvSpPr>
          <p:cNvPr id="258" name="TextBox 259"/>
          <p:cNvSpPr txBox="1"/>
          <p:nvPr/>
        </p:nvSpPr>
        <p:spPr>
          <a:xfrm>
            <a:off x="8321040" y="2139696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200 MB page cache in process memory for hot pages</a:t>
            </a:r>
            <a:endParaRPr lang="en-US" dirty="0"/>
          </a:p>
        </p:txBody>
      </p:sp>
      <p:sp>
        <p:nvSpPr>
          <p:cNvPr id="259" name="TextBox 260"/>
          <p:cNvSpPr txBox="1"/>
          <p:nvPr/>
        </p:nvSpPr>
        <p:spPr>
          <a:xfrm>
            <a:off x="6172200" y="243230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6DC1C9"/>
                </a:solidFill>
                <a:latin typeface="Consolas"/>
                <a:cs typeface="Consolas"/>
              </a:rPr>
              <a:t>mmap_size = 3 GB</a:t>
            </a:r>
            <a:endParaRPr lang="en-US" dirty="0"/>
          </a:p>
        </p:txBody>
      </p:sp>
      <p:sp>
        <p:nvSpPr>
          <p:cNvPr id="260" name="TextBox 261"/>
          <p:cNvSpPr txBox="1"/>
          <p:nvPr/>
        </p:nvSpPr>
        <p:spPr>
          <a:xfrm>
            <a:off x="8321040" y="2432304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Memory-mapped I/O — OS manages pages, bypasses read() syscalls</a:t>
            </a:r>
            <a:endParaRPr lang="en-US" dirty="0"/>
          </a:p>
        </p:txBody>
      </p:sp>
      <p:sp>
        <p:nvSpPr>
          <p:cNvPr id="261" name="TextBox 262"/>
          <p:cNvSpPr txBox="1"/>
          <p:nvPr/>
        </p:nvSpPr>
        <p:spPr>
          <a:xfrm>
            <a:off x="6172200" y="27249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6DC1C9"/>
                </a:solidFill>
                <a:latin typeface="Consolas"/>
                <a:cs typeface="Consolas"/>
              </a:rPr>
              <a:t>Singleton pattern</a:t>
            </a:r>
            <a:endParaRPr lang="en-US" dirty="0"/>
          </a:p>
        </p:txBody>
      </p:sp>
      <p:sp>
        <p:nvSpPr>
          <p:cNvPr id="262" name="TextBox 263"/>
          <p:cNvSpPr txBox="1"/>
          <p:nvPr/>
        </p:nvSpPr>
        <p:spPr>
          <a:xfrm>
            <a:off x="8321040" y="272491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One DB connection per process lifetime, shared across requests</a:t>
            </a:r>
            <a:endParaRPr lang="en-US" dirty="0"/>
          </a:p>
        </p:txBody>
      </p:sp>
      <p:sp>
        <p:nvSpPr>
          <p:cNvPr id="263" name="TextBox 264"/>
          <p:cNvSpPr txBox="1"/>
          <p:nvPr/>
        </p:nvSpPr>
        <p:spPr>
          <a:xfrm>
            <a:off x="6172200" y="3017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6DC1C9"/>
                </a:solidFill>
                <a:latin typeface="Consolas"/>
                <a:cs typeface="Consolas"/>
              </a:rPr>
              <a:t>Parameterized queries</a:t>
            </a:r>
            <a:endParaRPr lang="en-US" dirty="0"/>
          </a:p>
        </p:txBody>
      </p:sp>
      <p:sp>
        <p:nvSpPr>
          <p:cNvPr id="264" name="TextBox 265"/>
          <p:cNvSpPr txBox="1"/>
          <p:nvPr/>
        </p:nvSpPr>
        <p:spPr>
          <a:xfrm>
            <a:off x="8321040" y="30175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stmt.all(...params) — no string concatenation, prevents SQL injection</a:t>
            </a:r>
            <a:endParaRPr lang="en-US" dirty="0"/>
          </a:p>
        </p:txBody>
      </p:sp>
      <p:sp>
        <p:nvSpPr>
          <p:cNvPr id="265" name="TextBox 266"/>
          <p:cNvSpPr txBox="1"/>
          <p:nvPr/>
        </p:nvSpPr>
        <p:spPr>
          <a:xfrm>
            <a:off x="539496" y="345643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Knowledge Base Schema (20+ tables, 1,063 MB)</a:t>
            </a:r>
            <a:endParaRPr lang="en-US" dirty="0"/>
          </a:p>
        </p:txBody>
      </p:sp>
      <p:sp>
        <p:nvSpPr>
          <p:cNvPr id="266" name="TextBox 267"/>
          <p:cNvSpPr txBox="1"/>
          <p:nvPr/>
        </p:nvSpPr>
        <p:spPr>
          <a:xfrm>
            <a:off x="539496" y="376732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tables</a:t>
            </a:r>
            <a:endParaRPr lang="en-US" dirty="0"/>
          </a:p>
        </p:txBody>
      </p:sp>
      <p:sp>
        <p:nvSpPr>
          <p:cNvPr id="267" name="TextBox 268"/>
          <p:cNvSpPr txBox="1"/>
          <p:nvPr/>
        </p:nvSpPr>
        <p:spPr>
          <a:xfrm>
            <a:off x="1380744" y="376732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~17.6K</a:t>
            </a:r>
            <a:endParaRPr lang="en-US" dirty="0"/>
          </a:p>
        </p:txBody>
      </p:sp>
      <p:sp>
        <p:nvSpPr>
          <p:cNvPr id="268" name="TextBox 269"/>
          <p:cNvSpPr txBox="1"/>
          <p:nvPr/>
        </p:nvSpPr>
        <p:spPr>
          <a:xfrm>
            <a:off x="1956816" y="376732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Table metadata (group, cache, clustering)</a:t>
            </a:r>
            <a:endParaRPr lang="en-US" dirty="0"/>
          </a:p>
        </p:txBody>
      </p:sp>
      <p:sp>
        <p:nvSpPr>
          <p:cNvPr id="269" name="TextBox 270"/>
          <p:cNvSpPr txBox="1"/>
          <p:nvPr/>
        </p:nvSpPr>
        <p:spPr>
          <a:xfrm>
            <a:off x="3236976" y="3767328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fields</a:t>
            </a:r>
            <a:endParaRPr lang="en-US" dirty="0"/>
          </a:p>
        </p:txBody>
      </p:sp>
      <p:sp>
        <p:nvSpPr>
          <p:cNvPr id="270" name="TextBox 271"/>
          <p:cNvSpPr txBox="1"/>
          <p:nvPr/>
        </p:nvSpPr>
        <p:spPr>
          <a:xfrm>
            <a:off x="4078224" y="376732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~250K</a:t>
            </a:r>
            <a:endParaRPr lang="en-US" dirty="0"/>
          </a:p>
        </p:txBody>
      </p:sp>
      <p:sp>
        <p:nvSpPr>
          <p:cNvPr id="271" name="TextBox 272"/>
          <p:cNvSpPr txBox="1"/>
          <p:nvPr/>
        </p:nvSpPr>
        <p:spPr>
          <a:xfrm>
            <a:off x="4654296" y="3767328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Field definitions (type, EDT, enum)</a:t>
            </a:r>
            <a:endParaRPr lang="en-US" dirty="0"/>
          </a:p>
        </p:txBody>
      </p:sp>
      <p:sp>
        <p:nvSpPr>
          <p:cNvPr id="272" name="TextBox 273"/>
          <p:cNvSpPr txBox="1"/>
          <p:nvPr/>
        </p:nvSpPr>
        <p:spPr>
          <a:xfrm>
            <a:off x="539496" y="402336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classes</a:t>
            </a:r>
            <a:endParaRPr lang="en-US" dirty="0"/>
          </a:p>
        </p:txBody>
      </p:sp>
      <p:sp>
        <p:nvSpPr>
          <p:cNvPr id="273" name="TextBox 274"/>
          <p:cNvSpPr txBox="1"/>
          <p:nvPr/>
        </p:nvSpPr>
        <p:spPr>
          <a:xfrm>
            <a:off x="1380744" y="4023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~63.4K</a:t>
            </a:r>
            <a:endParaRPr lang="en-US" dirty="0"/>
          </a:p>
        </p:txBody>
      </p:sp>
      <p:sp>
        <p:nvSpPr>
          <p:cNvPr id="274" name="TextBox 275"/>
          <p:cNvSpPr txBox="1"/>
          <p:nvPr/>
        </p:nvSpPr>
        <p:spPr>
          <a:xfrm>
            <a:off x="1956816" y="40233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Classes with extends, implements</a:t>
            </a:r>
            <a:endParaRPr lang="en-US" dirty="0"/>
          </a:p>
        </p:txBody>
      </p:sp>
      <p:sp>
        <p:nvSpPr>
          <p:cNvPr id="275" name="TextBox 276"/>
          <p:cNvSpPr txBox="1"/>
          <p:nvPr/>
        </p:nvSpPr>
        <p:spPr>
          <a:xfrm>
            <a:off x="3236976" y="402336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methods</a:t>
            </a:r>
            <a:endParaRPr lang="en-US" dirty="0"/>
          </a:p>
        </p:txBody>
      </p:sp>
      <p:sp>
        <p:nvSpPr>
          <p:cNvPr id="276" name="TextBox 277"/>
          <p:cNvSpPr txBox="1"/>
          <p:nvPr/>
        </p:nvSpPr>
        <p:spPr>
          <a:xfrm>
            <a:off x="4078224" y="402336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~820K</a:t>
            </a:r>
            <a:endParaRPr lang="en-US" dirty="0"/>
          </a:p>
        </p:txBody>
      </p:sp>
      <p:sp>
        <p:nvSpPr>
          <p:cNvPr id="277" name="TextBox 278"/>
          <p:cNvSpPr txBox="1"/>
          <p:nvPr/>
        </p:nvSpPr>
        <p:spPr>
          <a:xfrm>
            <a:off x="4654296" y="40233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Full X++ source code + signatures</a:t>
            </a:r>
            <a:endParaRPr lang="en-US" dirty="0"/>
          </a:p>
        </p:txBody>
      </p:sp>
      <p:sp>
        <p:nvSpPr>
          <p:cNvPr id="278" name="TextBox 279"/>
          <p:cNvSpPr txBox="1"/>
          <p:nvPr/>
        </p:nvSpPr>
        <p:spPr>
          <a:xfrm>
            <a:off x="539496" y="42793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enums</a:t>
            </a:r>
            <a:endParaRPr lang="en-US" dirty="0"/>
          </a:p>
        </p:txBody>
      </p:sp>
      <p:sp>
        <p:nvSpPr>
          <p:cNvPr id="279" name="TextBox 280"/>
          <p:cNvSpPr txBox="1"/>
          <p:nvPr/>
        </p:nvSpPr>
        <p:spPr>
          <a:xfrm>
            <a:off x="1380744" y="42793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~7.8K</a:t>
            </a:r>
            <a:endParaRPr lang="en-US" dirty="0"/>
          </a:p>
        </p:txBody>
      </p:sp>
      <p:sp>
        <p:nvSpPr>
          <p:cNvPr id="280" name="TextBox 281"/>
          <p:cNvSpPr txBox="1"/>
          <p:nvPr/>
        </p:nvSpPr>
        <p:spPr>
          <a:xfrm>
            <a:off x="1956816" y="427939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Enum values with numeric IDs/labels</a:t>
            </a:r>
            <a:endParaRPr lang="en-US" dirty="0"/>
          </a:p>
        </p:txBody>
      </p:sp>
      <p:sp>
        <p:nvSpPr>
          <p:cNvPr id="281" name="TextBox 282"/>
          <p:cNvSpPr txBox="1"/>
          <p:nvPr/>
        </p:nvSpPr>
        <p:spPr>
          <a:xfrm>
            <a:off x="3236976" y="4279392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data_entities</a:t>
            </a:r>
            <a:endParaRPr lang="en-US" dirty="0"/>
          </a:p>
        </p:txBody>
      </p:sp>
      <p:sp>
        <p:nvSpPr>
          <p:cNvPr id="282" name="TextBox 283"/>
          <p:cNvSpPr txBox="1"/>
          <p:nvPr/>
        </p:nvSpPr>
        <p:spPr>
          <a:xfrm>
            <a:off x="4078224" y="427939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~5.4K</a:t>
            </a:r>
            <a:endParaRPr lang="en-US" dirty="0"/>
          </a:p>
        </p:txBody>
      </p:sp>
      <p:sp>
        <p:nvSpPr>
          <p:cNvPr id="283" name="TextBox 284"/>
          <p:cNvSpPr txBox="1"/>
          <p:nvPr/>
        </p:nvSpPr>
        <p:spPr>
          <a:xfrm>
            <a:off x="4654296" y="4279392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OData names, field mappings</a:t>
            </a:r>
            <a:endParaRPr lang="en-US" dirty="0"/>
          </a:p>
        </p:txBody>
      </p:sp>
      <p:sp>
        <p:nvSpPr>
          <p:cNvPr id="284" name="TextBox 285"/>
          <p:cNvSpPr txBox="1"/>
          <p:nvPr/>
        </p:nvSpPr>
        <p:spPr>
          <a:xfrm>
            <a:off x="539496" y="453542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labels</a:t>
            </a:r>
            <a:endParaRPr lang="en-US" dirty="0"/>
          </a:p>
        </p:txBody>
      </p:sp>
      <p:sp>
        <p:nvSpPr>
          <p:cNvPr id="285" name="TextBox 286"/>
          <p:cNvSpPr txBox="1"/>
          <p:nvPr/>
        </p:nvSpPr>
        <p:spPr>
          <a:xfrm>
            <a:off x="1380744" y="4535424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~369K</a:t>
            </a:r>
            <a:endParaRPr lang="en-US" dirty="0"/>
          </a:p>
        </p:txBody>
      </p:sp>
      <p:sp>
        <p:nvSpPr>
          <p:cNvPr id="286" name="TextBox 287"/>
          <p:cNvSpPr txBox="1"/>
          <p:nvPr/>
        </p:nvSpPr>
        <p:spPr>
          <a:xfrm>
            <a:off x="1956816" y="453542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Resolved @SYS labels → text</a:t>
            </a:r>
            <a:endParaRPr lang="en-US" dirty="0"/>
          </a:p>
        </p:txBody>
      </p:sp>
      <p:sp>
        <p:nvSpPr>
          <p:cNvPr id="287" name="TextBox 288"/>
          <p:cNvSpPr txBox="1"/>
          <p:nvPr/>
        </p:nvSpPr>
        <p:spPr>
          <a:xfrm>
            <a:off x="3236976" y="4535424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333333"/>
                </a:solidFill>
                <a:latin typeface="Consolas"/>
                <a:cs typeface="Consolas"/>
              </a:rPr>
              <a:t>relations</a:t>
            </a:r>
            <a:endParaRPr lang="en-US" dirty="0"/>
          </a:p>
        </p:txBody>
      </p:sp>
      <p:sp>
        <p:nvSpPr>
          <p:cNvPr id="288" name="TextBox 289"/>
          <p:cNvSpPr txBox="1"/>
          <p:nvPr/>
        </p:nvSpPr>
        <p:spPr>
          <a:xfrm>
            <a:off x="4078224" y="4535424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b="1" dirty="0">
                <a:solidFill>
                  <a:srgbClr val="6DC1C9"/>
                </a:solidFill>
                <a:latin typeface="Arial"/>
                <a:cs typeface="Arial"/>
              </a:rPr>
              <a:t>~60K</a:t>
            </a:r>
            <a:endParaRPr lang="en-US" dirty="0"/>
          </a:p>
        </p:txBody>
      </p:sp>
      <p:sp>
        <p:nvSpPr>
          <p:cNvPr id="289" name="TextBox 290"/>
          <p:cNvSpPr txBox="1"/>
          <p:nvPr/>
        </p:nvSpPr>
        <p:spPr>
          <a:xfrm>
            <a:off x="4654296" y="4535424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00" dirty="0">
                <a:solidFill>
                  <a:srgbClr val="666666"/>
                </a:solidFill>
                <a:latin typeface="Arial"/>
                <a:cs typeface="Arial"/>
              </a:rPr>
              <a:t>FK constraints + join mappings</a:t>
            </a:r>
            <a:endParaRPr lang="en-US" dirty="0"/>
          </a:p>
        </p:txBody>
      </p:sp>
      <p:sp>
        <p:nvSpPr>
          <p:cNvPr id="290" name="TextBox 291"/>
          <p:cNvSpPr txBox="1"/>
          <p:nvPr/>
        </p:nvSpPr>
        <p:spPr>
          <a:xfrm>
            <a:off x="6080760" y="345643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Cross-Reference Schema (5 tables, 3,300 MB)</a:t>
            </a:r>
            <a:endParaRPr lang="en-US" dirty="0"/>
          </a:p>
        </p:txBody>
      </p:sp>
      <p:sp>
        <p:nvSpPr>
          <p:cNvPr id="291" name="TextBox 292"/>
          <p:cNvSpPr txBox="1"/>
          <p:nvPr/>
        </p:nvSpPr>
        <p:spPr>
          <a:xfrm>
            <a:off x="6172200" y="37673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names</a:t>
            </a:r>
            <a:endParaRPr lang="en-US" dirty="0"/>
          </a:p>
        </p:txBody>
      </p:sp>
      <p:sp>
        <p:nvSpPr>
          <p:cNvPr id="292" name="TextBox 293"/>
          <p:cNvSpPr txBox="1"/>
          <p:nvPr/>
        </p:nvSpPr>
        <p:spPr>
          <a:xfrm>
            <a:off x="7296912" y="37673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5.8M rows</a:t>
            </a:r>
            <a:endParaRPr lang="en-US" dirty="0"/>
          </a:p>
        </p:txBody>
      </p:sp>
      <p:sp>
        <p:nvSpPr>
          <p:cNvPr id="293" name="TextBox 294"/>
          <p:cNvSpPr txBox="1"/>
          <p:nvPr/>
        </p:nvSpPr>
        <p:spPr>
          <a:xfrm>
            <a:off x="8430768" y="376732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AOT paths (/Classes/SalesTable/Methods/find)</a:t>
            </a:r>
            <a:endParaRPr lang="en-US" dirty="0"/>
          </a:p>
        </p:txBody>
      </p:sp>
      <p:sp>
        <p:nvSpPr>
          <p:cNvPr id="294" name="TextBox 295"/>
          <p:cNvSpPr txBox="1"/>
          <p:nvPr/>
        </p:nvSpPr>
        <p:spPr>
          <a:xfrm>
            <a:off x="6172200" y="40416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refs</a:t>
            </a:r>
            <a:endParaRPr lang="en-US" dirty="0"/>
          </a:p>
        </p:txBody>
      </p:sp>
      <p:sp>
        <p:nvSpPr>
          <p:cNvPr id="295" name="TextBox 296"/>
          <p:cNvSpPr txBox="1"/>
          <p:nvPr/>
        </p:nvSpPr>
        <p:spPr>
          <a:xfrm>
            <a:off x="7296912" y="40416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26.6M rows</a:t>
            </a:r>
            <a:endParaRPr lang="en-US" dirty="0"/>
          </a:p>
        </p:txBody>
      </p:sp>
      <p:sp>
        <p:nvSpPr>
          <p:cNvPr id="296" name="TextBox 297"/>
          <p:cNvSpPr txBox="1"/>
          <p:nvPr/>
        </p:nvSpPr>
        <p:spPr>
          <a:xfrm>
            <a:off x="8430768" y="404164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source_id → target_id + kind + line/col</a:t>
            </a:r>
            <a:endParaRPr lang="en-US" dirty="0"/>
          </a:p>
        </p:txBody>
      </p:sp>
      <p:sp>
        <p:nvSpPr>
          <p:cNvPr id="297" name="TextBox 298"/>
          <p:cNvSpPr txBox="1"/>
          <p:nvPr/>
        </p:nvSpPr>
        <p:spPr>
          <a:xfrm>
            <a:off x="6172200" y="43159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modules</a:t>
            </a:r>
            <a:endParaRPr lang="en-US" dirty="0"/>
          </a:p>
        </p:txBody>
      </p:sp>
      <p:sp>
        <p:nvSpPr>
          <p:cNvPr id="298" name="TextBox 299"/>
          <p:cNvSpPr txBox="1"/>
          <p:nvPr/>
        </p:nvSpPr>
        <p:spPr>
          <a:xfrm>
            <a:off x="7296912" y="431596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~390 rows</a:t>
            </a:r>
            <a:endParaRPr lang="en-US" dirty="0"/>
          </a:p>
        </p:txBody>
      </p:sp>
      <p:sp>
        <p:nvSpPr>
          <p:cNvPr id="299" name="TextBox 300"/>
          <p:cNvSpPr txBox="1"/>
          <p:nvPr/>
        </p:nvSpPr>
        <p:spPr>
          <a:xfrm>
            <a:off x="8430768" y="431596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Module names (ApplicationSuite, etc.)</a:t>
            </a:r>
            <a:endParaRPr lang="en-US" dirty="0"/>
          </a:p>
        </p:txBody>
      </p:sp>
      <p:sp>
        <p:nvSpPr>
          <p:cNvPr id="300" name="TextBox 301"/>
          <p:cNvSpPr txBox="1"/>
          <p:nvPr/>
        </p:nvSpPr>
        <p:spPr>
          <a:xfrm>
            <a:off x="6172200" y="45902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Consolas"/>
                <a:cs typeface="Consolas"/>
              </a:rPr>
              <a:t>kind_map</a:t>
            </a:r>
            <a:endParaRPr lang="en-US" dirty="0"/>
          </a:p>
        </p:txBody>
      </p:sp>
      <p:sp>
        <p:nvSpPr>
          <p:cNvPr id="301" name="TextBox 302"/>
          <p:cNvSpPr txBox="1"/>
          <p:nvPr/>
        </p:nvSpPr>
        <p:spPr>
          <a:xfrm>
            <a:off x="7296912" y="459028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8 rows</a:t>
            </a:r>
            <a:endParaRPr lang="en-US" dirty="0"/>
          </a:p>
        </p:txBody>
      </p:sp>
      <p:sp>
        <p:nvSpPr>
          <p:cNvPr id="302" name="TextBox 303"/>
          <p:cNvSpPr txBox="1"/>
          <p:nvPr/>
        </p:nvSpPr>
        <p:spPr>
          <a:xfrm>
            <a:off x="8430768" y="459028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Call, Read, Implements, Extends, Delegate, ...</a:t>
            </a:r>
            <a:endParaRPr lang="en-US" dirty="0"/>
          </a:p>
        </p:txBody>
      </p:sp>
      <p:sp>
        <p:nvSpPr>
          <p:cNvPr id="303" name="TextBox 304"/>
          <p:cNvSpPr txBox="1"/>
          <p:nvPr/>
        </p:nvSpPr>
        <p:spPr>
          <a:xfrm>
            <a:off x="6080760" y="48920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50" b="1" dirty="0">
                <a:solidFill>
                  <a:srgbClr val="AD9B68"/>
                </a:solidFill>
                <a:latin typeface="Arial"/>
                <a:cs typeface="Arial"/>
              </a:rPr>
              <a:t>8 Covering Indexes on XRef</a:t>
            </a:r>
            <a:endParaRPr lang="en-US" dirty="0"/>
          </a:p>
        </p:txBody>
      </p:sp>
      <p:sp>
        <p:nvSpPr>
          <p:cNvPr id="304" name="TextBox 305"/>
          <p:cNvSpPr txBox="1"/>
          <p:nvPr/>
        </p:nvSpPr>
        <p:spPr>
          <a:xfrm>
            <a:off x="6172200" y="5138928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600" dirty="0">
                <a:solidFill>
                  <a:srgbClr val="333333"/>
                </a:solidFill>
                <a:latin typeface="Consolas"/>
                <a:cs typeface="Consolas"/>
              </a:rPr>
              <a:t>idx_refs_source, idx_refs_target, idx_refs_kind, idx_refs_source_kind (compound), idx_refs_target_kind, idx_names_path, idx_names_module, idx_modules_module</a:t>
            </a:r>
            <a:endParaRPr lang="en-US" dirty="0"/>
          </a:p>
        </p:txBody>
      </p:sp>
      <p:sp>
        <p:nvSpPr>
          <p:cNvPr id="305" name="Rect 306"/>
          <p:cNvSpPr/>
          <p:nvPr/>
        </p:nvSpPr>
        <p:spPr>
          <a:xfrm>
            <a:off x="539496" y="4892040"/>
            <a:ext cx="5303520" cy="50292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306" name="TextBox 307"/>
          <p:cNvSpPr txBox="1"/>
          <p:nvPr/>
        </p:nvSpPr>
        <p:spPr>
          <a:xfrm>
            <a:off x="630936" y="49103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Why SQLite?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Zero network latency, no connection pooling, no licensing costs, file-based = trivial backup/deploy, better-sqlite3 is synchronous (no async overhead).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H 3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PowerShell Automation Layer</a:t>
            </a:r>
            <a:endParaRPr lang="en-US" dirty="0"/>
          </a:p>
        </p:txBody>
      </p:sp>
      <p:sp>
        <p:nvSpPr>
          <p:cNvPr id="308" name="TextBox 309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End-to-end automation: configuration discovery → database build → cross-platform binary install → Azure deployment → health validation</a:t>
            </a:r>
            <a:endParaRPr lang="en-US" dirty="0"/>
          </a:p>
        </p:txBody>
      </p:sp>
      <p:sp>
        <p:nvSpPr>
          <p:cNvPr id="309" name="Rect 310"/>
          <p:cNvSpPr/>
          <p:nvPr/>
        </p:nvSpPr>
        <p:spPr>
          <a:xfrm>
            <a:off x="539496" y="1536192"/>
            <a:ext cx="5495544" cy="32004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310" name="TextBox 311"/>
          <p:cNvSpPr txBox="1"/>
          <p:nvPr/>
        </p:nvSpPr>
        <p:spPr>
          <a:xfrm>
            <a:off x="539496" y="1536192"/>
            <a:ext cx="54955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onsolas"/>
                <a:cs typeface="Consolas"/>
              </a:rPr>
              <a:t>Update-Databases.ps1</a:t>
            </a:r>
            <a:r>
              <a:rPr lang="en-US" sz="800" dirty="0">
                <a:solidFill>
                  <a:srgbClr val="FFFFFF"/>
                </a:solidFill>
                <a:latin typeface="Arial"/>
                <a:cs typeface="Arial"/>
              </a:rPr>
              <a:t>  — Build Orchestrator</a:t>
            </a:r>
            <a:endParaRPr lang="en-US" dirty="0"/>
          </a:p>
        </p:txBody>
      </p:sp>
      <p:sp>
        <p:nvSpPr>
          <p:cNvPr id="311" name="Rect 312"/>
          <p:cNvSpPr/>
          <p:nvPr/>
        </p:nvSpPr>
        <p:spPr>
          <a:xfrm>
            <a:off x="539496" y="1856232"/>
            <a:ext cx="5495544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6DC1C9"/>
            </a:solidFill>
          </a:ln>
        </p:spPr>
      </p:sp>
      <p:sp>
        <p:nvSpPr>
          <p:cNvPr id="312" name="TextBox 313"/>
          <p:cNvSpPr txBox="1"/>
          <p:nvPr/>
        </p:nvSpPr>
        <p:spPr>
          <a:xfrm>
            <a:off x="649224" y="1901952"/>
            <a:ext cx="5276088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Reads %LOCALAPPDATA%\Microsoft\Dynamics365\XPPConfig\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Parses JSON + registry for active D365 configuration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Extracts FrameworkDirectory, ModelStoreFolder paths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Extracts CrossReferencesDbServerName &amp; DatabaseName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Stops running MCP servers to release file locks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Starts LocalDB instance if needed (SqlLocalDB start)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Calls build-kb.js and build-xref-db.js with correct args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Supports -KbOnly, -XrefOnly, -ConfigName flags</a:t>
            </a:r>
            <a:endParaRPr lang="en-US" dirty="0"/>
          </a:p>
        </p:txBody>
      </p:sp>
      <p:sp>
        <p:nvSpPr>
          <p:cNvPr id="313" name="Rect 314"/>
          <p:cNvSpPr/>
          <p:nvPr/>
        </p:nvSpPr>
        <p:spPr>
          <a:xfrm>
            <a:off x="6190488" y="1536192"/>
            <a:ext cx="5495544" cy="320040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314" name="TextBox 315"/>
          <p:cNvSpPr txBox="1"/>
          <p:nvPr/>
        </p:nvSpPr>
        <p:spPr>
          <a:xfrm>
            <a:off x="6190488" y="1536192"/>
            <a:ext cx="54955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onsolas"/>
                <a:cs typeface="Consolas"/>
              </a:rPr>
              <a:t>Deploy-FunctionApp.ps1</a:t>
            </a:r>
            <a:r>
              <a:rPr lang="en-US" sz="800" dirty="0">
                <a:solidFill>
                  <a:srgbClr val="FFFFFF"/>
                </a:solidFill>
                <a:latin typeface="Arial"/>
                <a:cs typeface="Arial"/>
              </a:rPr>
              <a:t>  — Full Deployment</a:t>
            </a:r>
            <a:endParaRPr lang="en-US" dirty="0"/>
          </a:p>
        </p:txBody>
      </p:sp>
      <p:sp>
        <p:nvSpPr>
          <p:cNvPr id="315" name="Rect 316"/>
          <p:cNvSpPr/>
          <p:nvPr/>
        </p:nvSpPr>
        <p:spPr>
          <a:xfrm>
            <a:off x="6190488" y="1856232"/>
            <a:ext cx="5495544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813341"/>
            </a:solidFill>
          </a:ln>
        </p:spPr>
      </p:sp>
      <p:sp>
        <p:nvSpPr>
          <p:cNvPr id="316" name="TextBox 317"/>
          <p:cNvSpPr txBox="1"/>
          <p:nvPr/>
        </p:nvSpPr>
        <p:spPr>
          <a:xfrm>
            <a:off x="6300216" y="1901952"/>
            <a:ext cx="5276088" cy="13898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Uploads SQLite DBs via Kudu VFS API (HTTPS PUT)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Basic auth: Kudu publishing credentials (Base64)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Creates /home/data/ dir on Function App filesystem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npm install --omit=dev for production dependencies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Cross-installs Linux better-sqlite3 binary: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dirty="0">
                <a:solidFill>
                  <a:srgbClr val="813341"/>
                </a:solidFill>
                <a:latin typeface="Arial"/>
                <a:cs typeface="Arial"/>
              </a:rPr>
              <a:t>    </a:t>
            </a: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npx prebuild-install --platform linux --arch x64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Zips code + node_modules, deploys via az CLI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SCM_DO_BUILD_DURING_DEPLOYMENT=false (skip server build)</a:t>
            </a:r>
            <a:endParaRPr lang="en-US" dirty="0"/>
          </a:p>
        </p:txBody>
      </p:sp>
      <p:sp>
        <p:nvSpPr>
          <p:cNvPr id="317" name="Rect 318"/>
          <p:cNvSpPr/>
          <p:nvPr/>
        </p:nvSpPr>
        <p:spPr>
          <a:xfrm>
            <a:off x="539496" y="3456432"/>
            <a:ext cx="5495544" cy="320040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318" name="TextBox 319"/>
          <p:cNvSpPr txBox="1"/>
          <p:nvPr/>
        </p:nvSpPr>
        <p:spPr>
          <a:xfrm>
            <a:off x="539496" y="3456432"/>
            <a:ext cx="54955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onsolas"/>
                <a:cs typeface="Consolas"/>
              </a:rPr>
              <a:t>Deploy-Infrastructure.ps1</a:t>
            </a:r>
            <a:r>
              <a:rPr lang="en-US" sz="800" dirty="0">
                <a:solidFill>
                  <a:srgbClr val="FFFFFF"/>
                </a:solidFill>
                <a:latin typeface="Arial"/>
                <a:cs typeface="Arial"/>
              </a:rPr>
              <a:t>  — Bicep IaC</a:t>
            </a:r>
            <a:endParaRPr lang="en-US" dirty="0"/>
          </a:p>
        </p:txBody>
      </p:sp>
      <p:sp>
        <p:nvSpPr>
          <p:cNvPr id="319" name="Rect 320"/>
          <p:cNvSpPr/>
          <p:nvPr/>
        </p:nvSpPr>
        <p:spPr>
          <a:xfrm>
            <a:off x="539496" y="3776472"/>
            <a:ext cx="549554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AD9B68"/>
            </a:solidFill>
          </a:ln>
        </p:spPr>
      </p:sp>
      <p:sp>
        <p:nvSpPr>
          <p:cNvPr id="320" name="TextBox 321"/>
          <p:cNvSpPr txBox="1"/>
          <p:nvPr/>
        </p:nvSpPr>
        <p:spPr>
          <a:xfrm>
            <a:off x="649224" y="3822192"/>
            <a:ext cx="5276088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Deploys main-rg.bicep to Azure resource group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Creates Function App, ASP, Storage, Key Vault, AppInsights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Naming: {prefix}-{env}-{workload}-{suffix}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Tags: Owner, Environment, CostCenter, ManagedBy</a:t>
            </a:r>
            <a:endParaRPr lang="en-US" dirty="0"/>
          </a:p>
        </p:txBody>
      </p:sp>
      <p:sp>
        <p:nvSpPr>
          <p:cNvPr id="321" name="Rect 322"/>
          <p:cNvSpPr/>
          <p:nvPr/>
        </p:nvSpPr>
        <p:spPr>
          <a:xfrm>
            <a:off x="6190488" y="3456432"/>
            <a:ext cx="5495544" cy="320040"/>
          </a:xfrm>
          <a:prstGeom prst="rect">
            <a:avLst/>
          </a:prstGeom>
          <a:solidFill>
            <a:srgbClr val="647772"/>
          </a:solidFill>
          <a:ln>
            <a:noFill/>
          </a:ln>
        </p:spPr>
      </p:sp>
      <p:sp>
        <p:nvSpPr>
          <p:cNvPr id="322" name="TextBox 323"/>
          <p:cNvSpPr txBox="1"/>
          <p:nvPr/>
        </p:nvSpPr>
        <p:spPr>
          <a:xfrm>
            <a:off x="6190488" y="3456432"/>
            <a:ext cx="5495544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50" b="1" dirty="0">
                <a:solidFill>
                  <a:srgbClr val="FFFFFF"/>
                </a:solidFill>
                <a:latin typeface="Consolas"/>
                <a:cs typeface="Consolas"/>
              </a:rPr>
              <a:t>Set-RoleAssignments.ps1</a:t>
            </a:r>
            <a:r>
              <a:rPr lang="en-US" sz="800" dirty="0">
                <a:solidFill>
                  <a:srgbClr val="FFFFFF"/>
                </a:solidFill>
                <a:latin typeface="Arial"/>
                <a:cs typeface="Arial"/>
              </a:rPr>
              <a:t>  — RBAC Setup</a:t>
            </a:r>
            <a:endParaRPr lang="en-US" dirty="0"/>
          </a:p>
        </p:txBody>
      </p:sp>
      <p:sp>
        <p:nvSpPr>
          <p:cNvPr id="323" name="Rect 324"/>
          <p:cNvSpPr/>
          <p:nvPr/>
        </p:nvSpPr>
        <p:spPr>
          <a:xfrm>
            <a:off x="6190488" y="3776472"/>
            <a:ext cx="5495544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647772"/>
            </a:solidFill>
          </a:ln>
        </p:spPr>
      </p:sp>
      <p:sp>
        <p:nvSpPr>
          <p:cNvPr id="324" name="TextBox 325"/>
          <p:cNvSpPr txBox="1"/>
          <p:nvPr/>
        </p:nvSpPr>
        <p:spPr>
          <a:xfrm>
            <a:off x="6300216" y="3822192"/>
            <a:ext cx="5276088" cy="9601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Assigns Key Vault Secrets User to Function App identity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Uses system-assigned managed identity (principal ID)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Must be run by Owner / User Access Administrator</a:t>
            </a:r>
            <a:endParaRPr lang="en-US" dirty="0"/>
          </a:p>
          <a:p>
            <a:pPr>
              <a:spcAft>
                <a:spcPts val="20"/>
              </a:spcAft>
              <a:lnSpc>
                <a:spcPct val="108000"/>
              </a:lnSpc>
            </a:pPr>
            <a:r>
              <a:rPr lang="en-US" sz="700" b="1" dirty="0">
                <a:solidFill>
                  <a:srgbClr val="647772"/>
                </a:solidFill>
                <a:latin typeface="Arial"/>
                <a:cs typeface="Arial"/>
              </a:rPr>
              <a:t>• </a:t>
            </a: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Post-deployment step (requires existing resources)</a:t>
            </a:r>
            <a:endParaRPr lang="en-US" dirty="0"/>
          </a:p>
        </p:txBody>
      </p:sp>
      <p:sp>
        <p:nvSpPr>
          <p:cNvPr id="325" name="Rect 326"/>
          <p:cNvSpPr/>
          <p:nvPr/>
        </p:nvSpPr>
        <p:spPr>
          <a:xfrm>
            <a:off x="539496" y="4937760"/>
            <a:ext cx="11109960" cy="4114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326" name="TextBox 327"/>
          <p:cNvSpPr txBox="1"/>
          <p:nvPr/>
        </p:nvSpPr>
        <p:spPr>
          <a:xfrm>
            <a:off x="685800" y="4956048"/>
            <a:ext cx="10817352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Typical flow: </a:t>
            </a:r>
            <a:r>
              <a:rPr lang="en-US" sz="750" dirty="0">
                <a:solidFill>
                  <a:srgbClr val="333333"/>
                </a:solidFill>
                <a:latin typeface="Consolas"/>
                <a:cs typeface="Consolas"/>
              </a:rPr>
              <a:t>.\Update-Databases.ps1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  →  </a:t>
            </a:r>
            <a:r>
              <a:rPr lang="en-US" sz="750" dirty="0">
                <a:solidFill>
                  <a:srgbClr val="333333"/>
                </a:solidFill>
                <a:latin typeface="Consolas"/>
                <a:cs typeface="Consolas"/>
              </a:rPr>
              <a:t>.\Deploy-FunctionApp.ps1 -Environment d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  →  </a:t>
            </a:r>
            <a:r>
              <a:rPr lang="en-US" sz="750" dirty="0">
                <a:solidFill>
                  <a:srgbClr val="333333"/>
                </a:solidFill>
                <a:latin typeface="Consolas"/>
                <a:cs typeface="Consolas"/>
              </a:rPr>
              <a:t>.\Set-RoleAssignments.ps1</a:t>
            </a:r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  (first deploy only)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H 3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Security Architecture</a:t>
            </a:r>
            <a:endParaRPr lang="en-US" dirty="0"/>
          </a:p>
        </p:txBody>
      </p:sp>
      <p:sp>
        <p:nvSpPr>
          <p:cNvPr id="328" name="TextBox 329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Defense in depth: transport security, identity management, query sandboxing, and input validation at every layer</a:t>
            </a:r>
            <a:endParaRPr lang="en-US" dirty="0"/>
          </a:p>
        </p:txBody>
      </p:sp>
      <p:sp>
        <p:nvSpPr>
          <p:cNvPr id="329" name="Rect 330"/>
          <p:cNvSpPr/>
          <p:nvPr/>
        </p:nvSpPr>
        <p:spPr>
          <a:xfrm>
            <a:off x="539496" y="1536192"/>
            <a:ext cx="3611880" cy="32004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330" name="TextBox 331"/>
          <p:cNvSpPr txBox="1"/>
          <p:nvPr/>
        </p:nvSpPr>
        <p:spPr>
          <a:xfrm>
            <a:off x="539496" y="15361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Transport &amp; Network</a:t>
            </a:r>
            <a:endParaRPr lang="en-US" dirty="0"/>
          </a:p>
        </p:txBody>
      </p:sp>
      <p:sp>
        <p:nvSpPr>
          <p:cNvPr id="331" name="TextBox 332"/>
          <p:cNvSpPr txBox="1"/>
          <p:nvPr/>
        </p:nvSpPr>
        <p:spPr>
          <a:xfrm>
            <a:off x="630936" y="193852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HTTPS Only</a:t>
            </a:r>
            <a:endParaRPr lang="en-US" dirty="0"/>
          </a:p>
        </p:txBody>
      </p:sp>
      <p:sp>
        <p:nvSpPr>
          <p:cNvPr id="332" name="TextBox 333"/>
          <p:cNvSpPr txBox="1"/>
          <p:nvPr/>
        </p:nvSpPr>
        <p:spPr>
          <a:xfrm>
            <a:off x="630936" y="2194560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httpsOnly: true on Function App — all HTTP redirected to HTTPS</a:t>
            </a:r>
            <a:endParaRPr lang="en-US" dirty="0"/>
          </a:p>
        </p:txBody>
      </p:sp>
      <p:sp>
        <p:nvSpPr>
          <p:cNvPr id="333" name="TextBox 334"/>
          <p:cNvSpPr txBox="1"/>
          <p:nvPr/>
        </p:nvSpPr>
        <p:spPr>
          <a:xfrm>
            <a:off x="630936" y="268833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TLS 1.2 Minimum</a:t>
            </a:r>
            <a:endParaRPr lang="en-US" dirty="0"/>
          </a:p>
        </p:txBody>
      </p:sp>
      <p:sp>
        <p:nvSpPr>
          <p:cNvPr id="334" name="TextBox 335"/>
          <p:cNvSpPr txBox="1"/>
          <p:nvPr/>
        </p:nvSpPr>
        <p:spPr>
          <a:xfrm>
            <a:off x="630936" y="2944368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minTlsVersion: '1.2' enforced in Bicep configuration</a:t>
            </a:r>
            <a:endParaRPr lang="en-US" dirty="0"/>
          </a:p>
        </p:txBody>
      </p:sp>
      <p:sp>
        <p:nvSpPr>
          <p:cNvPr id="335" name="TextBox 336"/>
          <p:cNvSpPr txBox="1"/>
          <p:nvPr/>
        </p:nvSpPr>
        <p:spPr>
          <a:xfrm>
            <a:off x="630936" y="34381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FTPS Disabled</a:t>
            </a:r>
            <a:endParaRPr lang="en-US" dirty="0"/>
          </a:p>
        </p:txBody>
      </p:sp>
      <p:sp>
        <p:nvSpPr>
          <p:cNvPr id="336" name="TextBox 337"/>
          <p:cNvSpPr txBox="1"/>
          <p:nvPr/>
        </p:nvSpPr>
        <p:spPr>
          <a:xfrm>
            <a:off x="630936" y="3694176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ftpsState: 'Disabled' — no FTP/FTPS access to filesystem</a:t>
            </a:r>
            <a:endParaRPr lang="en-US" dirty="0"/>
          </a:p>
        </p:txBody>
      </p:sp>
      <p:sp>
        <p:nvSpPr>
          <p:cNvPr id="337" name="TextBox 338"/>
          <p:cNvSpPr txBox="1"/>
          <p:nvPr/>
        </p:nvSpPr>
        <p:spPr>
          <a:xfrm>
            <a:off x="630936" y="418795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No Credentials in URLs</a:t>
            </a:r>
            <a:endParaRPr lang="en-US" dirty="0"/>
          </a:p>
        </p:txBody>
      </p:sp>
      <p:sp>
        <p:nvSpPr>
          <p:cNvPr id="338" name="TextBox 339"/>
          <p:cNvSpPr txBox="1"/>
          <p:nvPr/>
        </p:nvSpPr>
        <p:spPr>
          <a:xfrm>
            <a:off x="630936" y="4443984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SQLite is local filesystem — no DB connection strings needed</a:t>
            </a:r>
            <a:endParaRPr lang="en-US" dirty="0"/>
          </a:p>
        </p:txBody>
      </p:sp>
      <p:sp>
        <p:nvSpPr>
          <p:cNvPr id="339" name="Rect 340"/>
          <p:cNvSpPr/>
          <p:nvPr/>
        </p:nvSpPr>
        <p:spPr>
          <a:xfrm>
            <a:off x="4306824" y="1536192"/>
            <a:ext cx="3611880" cy="320040"/>
          </a:xfrm>
          <a:prstGeom prst="rect">
            <a:avLst/>
          </a:prstGeom>
          <a:solidFill>
            <a:srgbClr val="AD9B68"/>
          </a:solidFill>
          <a:ln>
            <a:noFill/>
          </a:ln>
        </p:spPr>
      </p:sp>
      <p:sp>
        <p:nvSpPr>
          <p:cNvPr id="340" name="TextBox 341"/>
          <p:cNvSpPr txBox="1"/>
          <p:nvPr/>
        </p:nvSpPr>
        <p:spPr>
          <a:xfrm>
            <a:off x="4306824" y="15361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Identity &amp; Access</a:t>
            </a:r>
            <a:endParaRPr lang="en-US" dirty="0"/>
          </a:p>
        </p:txBody>
      </p:sp>
      <p:sp>
        <p:nvSpPr>
          <p:cNvPr id="341" name="TextBox 342"/>
          <p:cNvSpPr txBox="1"/>
          <p:nvPr/>
        </p:nvSpPr>
        <p:spPr>
          <a:xfrm>
            <a:off x="4398264" y="193852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Managed Identity</a:t>
            </a:r>
            <a:endParaRPr lang="en-US" dirty="0"/>
          </a:p>
        </p:txBody>
      </p:sp>
      <p:sp>
        <p:nvSpPr>
          <p:cNvPr id="342" name="TextBox 343"/>
          <p:cNvSpPr txBox="1"/>
          <p:nvPr/>
        </p:nvSpPr>
        <p:spPr>
          <a:xfrm>
            <a:off x="4398264" y="2194560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System-assigned identity for Azure service integration</a:t>
            </a:r>
            <a:endParaRPr lang="en-US" dirty="0"/>
          </a:p>
        </p:txBody>
      </p:sp>
      <p:sp>
        <p:nvSpPr>
          <p:cNvPr id="343" name="TextBox 344"/>
          <p:cNvSpPr txBox="1"/>
          <p:nvPr/>
        </p:nvSpPr>
        <p:spPr>
          <a:xfrm>
            <a:off x="4398264" y="268833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RBAC on Key Vault</a:t>
            </a:r>
            <a:endParaRPr lang="en-US" dirty="0"/>
          </a:p>
        </p:txBody>
      </p:sp>
      <p:sp>
        <p:nvSpPr>
          <p:cNvPr id="344" name="TextBox 345"/>
          <p:cNvSpPr txBox="1"/>
          <p:nvPr/>
        </p:nvSpPr>
        <p:spPr>
          <a:xfrm>
            <a:off x="4398264" y="2944368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Key Vault Secrets User role via az role assignment</a:t>
            </a:r>
            <a:endParaRPr lang="en-US" dirty="0"/>
          </a:p>
        </p:txBody>
      </p:sp>
      <p:sp>
        <p:nvSpPr>
          <p:cNvPr id="345" name="TextBox 346"/>
          <p:cNvSpPr txBox="1"/>
          <p:nvPr/>
        </p:nvSpPr>
        <p:spPr>
          <a:xfrm>
            <a:off x="4398264" y="34381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Kudu Auth</a:t>
            </a:r>
            <a:endParaRPr lang="en-US" dirty="0"/>
          </a:p>
        </p:txBody>
      </p:sp>
      <p:sp>
        <p:nvSpPr>
          <p:cNvPr id="346" name="TextBox 347"/>
          <p:cNvSpPr txBox="1"/>
          <p:nvPr/>
        </p:nvSpPr>
        <p:spPr>
          <a:xfrm>
            <a:off x="4398264" y="3694176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Publishing credentials (Basic auth) for deployment only</a:t>
            </a:r>
            <a:endParaRPr lang="en-US" dirty="0"/>
          </a:p>
        </p:txBody>
      </p:sp>
      <p:sp>
        <p:nvSpPr>
          <p:cNvPr id="347" name="TextBox 348"/>
          <p:cNvSpPr txBox="1"/>
          <p:nvPr/>
        </p:nvSpPr>
        <p:spPr>
          <a:xfrm>
            <a:off x="4398264" y="418795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AD9B68"/>
                </a:solidFill>
                <a:latin typeface="Arial"/>
                <a:cs typeface="Arial"/>
              </a:rPr>
              <a:t>Named Pipe Auth</a:t>
            </a:r>
            <a:endParaRPr lang="en-US" dirty="0"/>
          </a:p>
        </p:txBody>
      </p:sp>
      <p:sp>
        <p:nvSpPr>
          <p:cNvPr id="348" name="TextBox 349"/>
          <p:cNvSpPr txBox="1"/>
          <p:nvPr/>
        </p:nvSpPr>
        <p:spPr>
          <a:xfrm>
            <a:off x="4398264" y="4443984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Windows Trusted_Connection — no passwords stored anywhere</a:t>
            </a:r>
            <a:endParaRPr lang="en-US" dirty="0"/>
          </a:p>
        </p:txBody>
      </p:sp>
      <p:sp>
        <p:nvSpPr>
          <p:cNvPr id="349" name="Rect 350"/>
          <p:cNvSpPr/>
          <p:nvPr/>
        </p:nvSpPr>
        <p:spPr>
          <a:xfrm>
            <a:off x="8074152" y="1536192"/>
            <a:ext cx="3611880" cy="320040"/>
          </a:xfrm>
          <a:prstGeom prst="rect">
            <a:avLst/>
          </a:prstGeom>
          <a:solidFill>
            <a:srgbClr val="813341"/>
          </a:solidFill>
          <a:ln>
            <a:noFill/>
          </a:ln>
        </p:spPr>
      </p:sp>
      <p:sp>
        <p:nvSpPr>
          <p:cNvPr id="350" name="TextBox 351"/>
          <p:cNvSpPr txBox="1"/>
          <p:nvPr/>
        </p:nvSpPr>
        <p:spPr>
          <a:xfrm>
            <a:off x="8074152" y="1536192"/>
            <a:ext cx="36118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Arial"/>
                <a:cs typeface="Arial"/>
              </a:rPr>
              <a:t>Query Sandboxing</a:t>
            </a:r>
            <a:endParaRPr lang="en-US" dirty="0"/>
          </a:p>
        </p:txBody>
      </p:sp>
      <p:sp>
        <p:nvSpPr>
          <p:cNvPr id="351" name="TextBox 352"/>
          <p:cNvSpPr txBox="1"/>
          <p:nvPr/>
        </p:nvSpPr>
        <p:spPr>
          <a:xfrm>
            <a:off x="8165592" y="1938528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Read-Only Mode</a:t>
            </a:r>
            <a:endParaRPr lang="en-US" dirty="0"/>
          </a:p>
        </p:txBody>
      </p:sp>
      <p:sp>
        <p:nvSpPr>
          <p:cNvPr id="352" name="TextBox 353"/>
          <p:cNvSpPr txBox="1"/>
          <p:nvPr/>
        </p:nvSpPr>
        <p:spPr>
          <a:xfrm>
            <a:off x="8165592" y="2194560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Database opened with { readonly: true } — no writes possible</a:t>
            </a:r>
            <a:endParaRPr lang="en-US" dirty="0"/>
          </a:p>
        </p:txBody>
      </p:sp>
      <p:sp>
        <p:nvSpPr>
          <p:cNvPr id="353" name="TextBox 354"/>
          <p:cNvSpPr txBox="1"/>
          <p:nvPr/>
        </p:nvSpPr>
        <p:spPr>
          <a:xfrm>
            <a:off x="8165592" y="2688336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Parameterized Queries</a:t>
            </a:r>
            <a:endParaRPr lang="en-US" dirty="0"/>
          </a:p>
        </p:txBody>
      </p:sp>
      <p:sp>
        <p:nvSpPr>
          <p:cNvPr id="354" name="TextBox 355"/>
          <p:cNvSpPr txBox="1"/>
          <p:nvPr/>
        </p:nvSpPr>
        <p:spPr>
          <a:xfrm>
            <a:off x="8165592" y="2944368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All user input via positional ? placeholders (no interpolation)</a:t>
            </a:r>
            <a:endParaRPr lang="en-US" dirty="0"/>
          </a:p>
        </p:txBody>
      </p:sp>
      <p:sp>
        <p:nvSpPr>
          <p:cNvPr id="355" name="TextBox 356"/>
          <p:cNvSpPr txBox="1"/>
          <p:nvPr/>
        </p:nvSpPr>
        <p:spPr>
          <a:xfrm>
            <a:off x="8165592" y="3438144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Keyword Validation</a:t>
            </a:r>
            <a:endParaRPr lang="en-US" dirty="0"/>
          </a:p>
        </p:txBody>
      </p:sp>
      <p:sp>
        <p:nvSpPr>
          <p:cNvPr id="356" name="TextBox 357"/>
          <p:cNvSpPr txBox="1"/>
          <p:nvPr/>
        </p:nvSpPr>
        <p:spPr>
          <a:xfrm>
            <a:off x="8165592" y="3694176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raw_sql tools only allow SELECT, WITH, PRAGMA statements</a:t>
            </a:r>
            <a:endParaRPr lang="en-US" dirty="0"/>
          </a:p>
        </p:txBody>
      </p:sp>
      <p:sp>
        <p:nvSpPr>
          <p:cNvPr id="357" name="TextBox 358"/>
          <p:cNvSpPr txBox="1"/>
          <p:nvPr/>
        </p:nvSpPr>
        <p:spPr>
          <a:xfrm>
            <a:off x="8165592" y="4187952"/>
            <a:ext cx="3429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Row Limits</a:t>
            </a:r>
            <a:endParaRPr lang="en-US" dirty="0"/>
          </a:p>
        </p:txBody>
      </p:sp>
      <p:sp>
        <p:nvSpPr>
          <p:cNvPr id="358" name="TextBox 359"/>
          <p:cNvSpPr txBox="1"/>
          <p:nvPr/>
        </p:nvSpPr>
        <p:spPr>
          <a:xfrm>
            <a:off x="8165592" y="4443984"/>
            <a:ext cx="3429000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LIMIT clauses enforced: 500 rows (KB), 100 rows (XRef)</a:t>
            </a:r>
            <a:endParaRPr lang="en-US" dirty="0"/>
          </a:p>
        </p:txBody>
      </p:sp>
      <p:sp>
        <p:nvSpPr>
          <p:cNvPr id="359" name="Rect 360"/>
          <p:cNvSpPr/>
          <p:nvPr/>
        </p:nvSpPr>
        <p:spPr>
          <a:xfrm>
            <a:off x="539496" y="4846320"/>
            <a:ext cx="11109960" cy="5029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360" name="TextBox 361"/>
          <p:cNvSpPr txBox="1"/>
          <p:nvPr/>
        </p:nvSpPr>
        <p:spPr>
          <a:xfrm>
            <a:off x="685800" y="486460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>
              <a:lnSpc>
                <a:spcPct val="115000"/>
              </a:lnSpc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MCP Endpoint Security: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authLevel: 'anonymous' — endpoints are designed for internal/VPN network access. For public exposure, add Azure AD authentication via Easy Auth, API Management gateway, or Function-level API keys.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H 38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Database Build: Knowledge Base (build-kb.js)</a:t>
            </a:r>
            <a:endParaRPr lang="en-US" dirty="0"/>
          </a:p>
        </p:txBody>
      </p:sp>
      <p:sp>
        <p:nvSpPr>
          <p:cNvPr id="362" name="TextBox 363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Parses D365 F&amp;O XML metadata from PackagesLocalDirectory into a 1,063 MB SQLite database in ~10 minutes</a:t>
            </a:r>
            <a:endParaRPr lang="en-US" dirty="0"/>
          </a:p>
        </p:txBody>
      </p:sp>
      <p:sp>
        <p:nvSpPr>
          <p:cNvPr id="363" name="Rect 364"/>
          <p:cNvSpPr/>
          <p:nvPr/>
        </p:nvSpPr>
        <p:spPr>
          <a:xfrm>
            <a:off x="539496" y="1536192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364" name="TextBox 365"/>
          <p:cNvSpPr txBox="1"/>
          <p:nvPr/>
        </p:nvSpPr>
        <p:spPr>
          <a:xfrm>
            <a:off x="630936" y="1554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Phase 0: </a:t>
            </a: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Label Loading</a:t>
            </a:r>
            <a:endParaRPr lang="en-US" dirty="0"/>
          </a:p>
        </p:txBody>
      </p:sp>
      <p:sp>
        <p:nvSpPr>
          <p:cNvPr id="365" name="TextBox 366"/>
          <p:cNvSpPr txBox="1"/>
          <p:nvPr/>
        </p:nvSpPr>
        <p:spPr>
          <a:xfrm>
            <a:off x="630936" y="1783080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i="1" dirty="0">
                <a:solidFill>
                  <a:srgbClr val="FFFFFF"/>
                </a:solidFill>
                <a:latin typeface="Arial"/>
                <a:cs typeface="Arial"/>
              </a:rPr>
              <a:t>~30 sec</a:t>
            </a:r>
            <a:endParaRPr lang="en-US" dirty="0"/>
          </a:p>
        </p:txBody>
      </p:sp>
      <p:sp>
        <p:nvSpPr>
          <p:cNvPr id="366" name="TextBox 367"/>
          <p:cNvSpPr txBox="1"/>
          <p:nvPr/>
        </p:nvSpPr>
        <p:spPr>
          <a:xfrm>
            <a:off x="630936" y="2103120"/>
            <a:ext cx="34290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Scan all en-US .label.txt files across all modules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Parse 369K+ label ID mappings (@SYS12345 → text)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Store in-memory Map for Phase 1 enrichment</a:t>
            </a:r>
            <a:endParaRPr lang="en-US" dirty="0"/>
          </a:p>
        </p:txBody>
      </p:sp>
      <p:sp>
        <p:nvSpPr>
          <p:cNvPr id="367" name="Rect 368"/>
          <p:cNvSpPr/>
          <p:nvPr/>
        </p:nvSpPr>
        <p:spPr>
          <a:xfrm>
            <a:off x="4306824" y="1536192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368" name="TextBox 369"/>
          <p:cNvSpPr txBox="1"/>
          <p:nvPr/>
        </p:nvSpPr>
        <p:spPr>
          <a:xfrm>
            <a:off x="4398264" y="1554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Phase 1: </a:t>
            </a: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XML Parsing</a:t>
            </a:r>
            <a:endParaRPr lang="en-US" dirty="0"/>
          </a:p>
        </p:txBody>
      </p:sp>
      <p:sp>
        <p:nvSpPr>
          <p:cNvPr id="369" name="TextBox 370"/>
          <p:cNvSpPr txBox="1"/>
          <p:nvPr/>
        </p:nvSpPr>
        <p:spPr>
          <a:xfrm>
            <a:off x="4398264" y="1783080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i="1" dirty="0">
                <a:solidFill>
                  <a:srgbClr val="FFFFFF"/>
                </a:solidFill>
                <a:latin typeface="Arial"/>
                <a:cs typeface="Arial"/>
              </a:rPr>
              <a:t>~8 min</a:t>
            </a:r>
            <a:endParaRPr lang="en-US" dirty="0"/>
          </a:p>
        </p:txBody>
      </p:sp>
      <p:sp>
        <p:nvSpPr>
          <p:cNvPr id="370" name="TextBox 371"/>
          <p:cNvSpPr txBox="1"/>
          <p:nvPr/>
        </p:nvSpPr>
        <p:spPr>
          <a:xfrm>
            <a:off x="4398264" y="2103120"/>
            <a:ext cx="34290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Parse 10 object types using fast-xml-parser: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dirty="0">
                <a:solidFill>
                  <a:srgbClr val="AD9B68"/>
                </a:solidFill>
                <a:latin typeface="Arial"/>
                <a:cs typeface="Arial"/>
              </a:rPr>
              <a:t>   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AxTable, AxEnum, AxEdt, AxClass, AxDataEntityView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dirty="0">
                <a:solidFill>
                  <a:srgbClr val="AD9B68"/>
                </a:solidFill>
                <a:latin typeface="Arial"/>
                <a:cs typeface="Arial"/>
              </a:rPr>
              <a:t>   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AxForm, AxView, Security objects, Menu items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Extract full X++ source code from methods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Multi-directory: Microsoft + ISV packages merged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AD9B68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In-memory Maps for FTS enrichment (classMethodNames)</a:t>
            </a:r>
            <a:endParaRPr lang="en-US" dirty="0"/>
          </a:p>
        </p:txBody>
      </p:sp>
      <p:sp>
        <p:nvSpPr>
          <p:cNvPr id="371" name="Rect 372"/>
          <p:cNvSpPr/>
          <p:nvPr/>
        </p:nvSpPr>
        <p:spPr>
          <a:xfrm>
            <a:off x="8074152" y="1536192"/>
            <a:ext cx="3611880" cy="502920"/>
          </a:xfrm>
          <a:prstGeom prst="roundRect">
            <a:avLst>
              <a:gd name="adj" fmla="val 5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372" name="TextBox 373"/>
          <p:cNvSpPr txBox="1"/>
          <p:nvPr/>
        </p:nvSpPr>
        <p:spPr>
          <a:xfrm>
            <a:off x="8165592" y="1554480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Phase 2: </a:t>
            </a:r>
            <a:r>
              <a:rPr lang="en-US" sz="900" dirty="0">
                <a:solidFill>
                  <a:srgbClr val="FFFFFF"/>
                </a:solidFill>
                <a:latin typeface="Arial"/>
                <a:cs typeface="Arial"/>
              </a:rPr>
              <a:t>Index &amp; Curated Data</a:t>
            </a:r>
            <a:endParaRPr lang="en-US" dirty="0"/>
          </a:p>
        </p:txBody>
      </p:sp>
      <p:sp>
        <p:nvSpPr>
          <p:cNvPr id="373" name="TextBox 374"/>
          <p:cNvSpPr txBox="1"/>
          <p:nvPr/>
        </p:nvSpPr>
        <p:spPr>
          <a:xfrm>
            <a:off x="8165592" y="1783080"/>
            <a:ext cx="3429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i="1" dirty="0">
                <a:solidFill>
                  <a:srgbClr val="FFFFFF"/>
                </a:solidFill>
                <a:latin typeface="Arial"/>
                <a:cs typeface="Arial"/>
              </a:rPr>
              <a:t>~1 min</a:t>
            </a:r>
            <a:endParaRPr lang="en-US" dirty="0"/>
          </a:p>
        </p:txBody>
      </p:sp>
      <p:sp>
        <p:nvSpPr>
          <p:cNvPr id="374" name="TextBox 375"/>
          <p:cNvSpPr txBox="1"/>
          <p:nvPr/>
        </p:nvSpPr>
        <p:spPr>
          <a:xfrm>
            <a:off x="8165592" y="2103120"/>
            <a:ext cx="34290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Build kb_search table (LIKE-based full-text search)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Build graph_edges table (dependency traversal)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Import hallucination_traps (known LLM mistakes)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Import field_renames (AX2012 → D365)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Import sql_templates (pre-validated queries)</a:t>
            </a:r>
            <a:endParaRPr lang="en-US" dirty="0"/>
          </a:p>
          <a:p>
            <a:pPr>
              <a:spcAft>
                <a:spcPts val="60"/>
              </a:spcAft>
              <a:lnSpc>
                <a:spcPct val="115000"/>
              </a:lnSpc>
            </a:pPr>
            <a:r>
              <a:rPr lang="en-US" sz="750" b="1" dirty="0">
                <a:solidFill>
                  <a:srgbClr val="813341"/>
                </a:solidFill>
                <a:latin typeface="Arial"/>
                <a:cs typeface="Arial"/>
              </a:rPr>
              <a:t>•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Build module summary statistics</a:t>
            </a:r>
            <a:endParaRPr lang="en-US" dirty="0"/>
          </a:p>
        </p:txBody>
      </p:sp>
      <p:sp>
        <p:nvSpPr>
          <p:cNvPr id="375" name="TextBox 376"/>
          <p:cNvSpPr txBox="1"/>
          <p:nvPr/>
        </p:nvSpPr>
        <p:spPr>
          <a:xfrm>
            <a:off x="539496" y="3977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47772"/>
                </a:solidFill>
                <a:latin typeface="Arial"/>
                <a:cs typeface="Arial"/>
              </a:rPr>
              <a:t>Build Technology</a:t>
            </a:r>
            <a:endParaRPr lang="en-US" dirty="0"/>
          </a:p>
        </p:txBody>
      </p:sp>
      <p:sp>
        <p:nvSpPr>
          <p:cNvPr id="376" name="Rect 377"/>
          <p:cNvSpPr/>
          <p:nvPr/>
        </p:nvSpPr>
        <p:spPr>
          <a:xfrm>
            <a:off x="539496" y="4279392"/>
            <a:ext cx="53035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647772"/>
            </a:solidFill>
          </a:ln>
        </p:spPr>
      </p:sp>
      <p:sp>
        <p:nvSpPr>
          <p:cNvPr id="377" name="TextBox 378"/>
          <p:cNvSpPr txBox="1"/>
          <p:nvPr/>
        </p:nvSpPr>
        <p:spPr>
          <a:xfrm>
            <a:off x="630936" y="4315968"/>
            <a:ext cx="5120640" cy="10241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Engine: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sql.js (WebAssembly SQLite) for in-memory construction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Parser: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fast-xml-parser with array coercion for consistent structure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Output: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Binary buffer written to file via writeFileSync()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Multi-path: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Comma-separated directories for Microsoft + ISV metadata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647772"/>
                </a:solidFill>
                <a:latin typeface="Arial"/>
                <a:cs typeface="Arial"/>
              </a:rPr>
              <a:t>Memory: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Moderate — parses files sequentially, not loaded all at once</a:t>
            </a:r>
            <a:endParaRPr lang="en-US" dirty="0"/>
          </a:p>
        </p:txBody>
      </p:sp>
      <p:sp>
        <p:nvSpPr>
          <p:cNvPr id="378" name="TextBox 379"/>
          <p:cNvSpPr txBox="1"/>
          <p:nvPr/>
        </p:nvSpPr>
        <p:spPr>
          <a:xfrm>
            <a:off x="6080760" y="3977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XML → SQLite Flow</a:t>
            </a:r>
            <a:endParaRPr lang="en-US" dirty="0"/>
          </a:p>
        </p:txBody>
      </p:sp>
      <p:sp>
        <p:nvSpPr>
          <p:cNvPr id="379" name="TextBox 380"/>
          <p:cNvSpPr txBox="1"/>
          <p:nvPr/>
        </p:nvSpPr>
        <p:spPr>
          <a:xfrm>
            <a:off x="6080760" y="4279392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wrap="square" anchor="t" lIns="72000" tIns="54000" rIns="72000" bIns="54000"/>
          <a:lstStyle/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For each D365 module directory: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for (const pkg of packagesPaths)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// Scan: .../ModuleName/AxTable/*.xml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const files = glob(pkg + '/*/AxTable/*.xml');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for (const file of files)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const xml = readFileSync(file);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const parsed = xmlParser.parse(xml);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db.run('INSERT INTO tables ...', [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    parsed.Name, parsed.TableGroup, ...]);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}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}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H 42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Database Build: Cross-Reference (build-xref-db.js)</a:t>
            </a:r>
            <a:endParaRPr lang="en-US" dirty="0"/>
          </a:p>
        </p:txBody>
      </p:sp>
      <p:sp>
        <p:nvSpPr>
          <p:cNvPr id="381" name="TextBox 382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Streams 5.8M names + 26.6M references from SQL Server LocalDB into a 3,300 MB SQLite database in ~22 minutes (requires 8 GB heap)</a:t>
            </a:r>
            <a:endParaRPr lang="en-US" dirty="0"/>
          </a:p>
        </p:txBody>
      </p:sp>
      <p:sp>
        <p:nvSpPr>
          <p:cNvPr id="382" name="TextBox 383"/>
          <p:cNvSpPr txBox="1"/>
          <p:nvPr/>
        </p:nvSpPr>
        <p:spPr>
          <a:xfrm>
            <a:off x="539496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Build Process</a:t>
            </a:r>
            <a:endParaRPr lang="en-US" dirty="0"/>
          </a:p>
        </p:txBody>
      </p:sp>
      <p:sp>
        <p:nvSpPr>
          <p:cNvPr id="383" name="Rect 384"/>
          <p:cNvSpPr/>
          <p:nvPr/>
        </p:nvSpPr>
        <p:spPr>
          <a:xfrm>
            <a:off x="539496" y="184708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384" name="TextBox 385"/>
          <p:cNvSpPr txBox="1"/>
          <p:nvPr/>
        </p:nvSpPr>
        <p:spPr>
          <a:xfrm>
            <a:off x="539496" y="184708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dirty="0"/>
          </a:p>
        </p:txBody>
      </p:sp>
      <p:sp>
        <p:nvSpPr>
          <p:cNvPr id="385" name="TextBox 386"/>
          <p:cNvSpPr txBox="1"/>
          <p:nvPr/>
        </p:nvSpPr>
        <p:spPr>
          <a:xfrm>
            <a:off x="932688" y="184708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Resolve Named Pipe</a:t>
            </a:r>
            <a:endParaRPr lang="en-US" dirty="0"/>
          </a:p>
        </p:txBody>
      </p:sp>
      <p:sp>
        <p:nvSpPr>
          <p:cNvPr id="386" name="TextBox 387"/>
          <p:cNvSpPr txBox="1"/>
          <p:nvPr/>
        </p:nvSpPr>
        <p:spPr>
          <a:xfrm>
            <a:off x="3063240" y="1847088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SqlLocalDB info → parse np:\\.\pipe\... string</a:t>
            </a:r>
            <a:endParaRPr lang="en-US" dirty="0"/>
          </a:p>
        </p:txBody>
      </p:sp>
      <p:sp>
        <p:nvSpPr>
          <p:cNvPr id="387" name="Rect 388"/>
          <p:cNvSpPr/>
          <p:nvPr/>
        </p:nvSpPr>
        <p:spPr>
          <a:xfrm>
            <a:off x="539496" y="2322576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388" name="TextBox 389"/>
          <p:cNvSpPr txBox="1"/>
          <p:nvPr/>
        </p:nvSpPr>
        <p:spPr>
          <a:xfrm>
            <a:off x="539496" y="2322576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389" name="TextBox 390"/>
          <p:cNvSpPr txBox="1"/>
          <p:nvPr/>
        </p:nvSpPr>
        <p:spPr>
          <a:xfrm>
            <a:off x="932688" y="2322576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Connect to SQL Server</a:t>
            </a:r>
            <a:endParaRPr lang="en-US" dirty="0"/>
          </a:p>
        </p:txBody>
      </p:sp>
      <p:sp>
        <p:nvSpPr>
          <p:cNvPr id="390" name="TextBox 391"/>
          <p:cNvSpPr txBox="1"/>
          <p:nvPr/>
        </p:nvSpPr>
        <p:spPr>
          <a:xfrm>
            <a:off x="3063240" y="2322576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mssql/tedious driver via named pipe, trusted auth</a:t>
            </a:r>
            <a:endParaRPr lang="en-US" dirty="0"/>
          </a:p>
        </p:txBody>
      </p:sp>
      <p:sp>
        <p:nvSpPr>
          <p:cNvPr id="391" name="Rect 392"/>
          <p:cNvSpPr/>
          <p:nvPr/>
        </p:nvSpPr>
        <p:spPr>
          <a:xfrm>
            <a:off x="539496" y="2798064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392" name="TextBox 393"/>
          <p:cNvSpPr txBox="1"/>
          <p:nvPr/>
        </p:nvSpPr>
        <p:spPr>
          <a:xfrm>
            <a:off x="539496" y="2798064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dirty="0"/>
          </a:p>
        </p:txBody>
      </p:sp>
      <p:sp>
        <p:nvSpPr>
          <p:cNvPr id="393" name="TextBox 394"/>
          <p:cNvSpPr txBox="1"/>
          <p:nvPr/>
        </p:nvSpPr>
        <p:spPr>
          <a:xfrm>
            <a:off x="932688" y="2798064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Stream Names (500K batches)</a:t>
            </a:r>
            <a:endParaRPr lang="en-US" dirty="0"/>
          </a:p>
        </p:txBody>
      </p:sp>
      <p:sp>
        <p:nvSpPr>
          <p:cNvPr id="394" name="TextBox 395"/>
          <p:cNvSpPr txBox="1"/>
          <p:nvPr/>
        </p:nvSpPr>
        <p:spPr>
          <a:xfrm>
            <a:off x="3063240" y="2798064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5.8M AOT paths: /Classes/SalesTable/Methods/find</a:t>
            </a:r>
            <a:endParaRPr lang="en-US" dirty="0"/>
          </a:p>
        </p:txBody>
      </p:sp>
      <p:sp>
        <p:nvSpPr>
          <p:cNvPr id="395" name="Rect 396"/>
          <p:cNvSpPr/>
          <p:nvPr/>
        </p:nvSpPr>
        <p:spPr>
          <a:xfrm>
            <a:off x="539496" y="3273552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396" name="TextBox 397"/>
          <p:cNvSpPr txBox="1"/>
          <p:nvPr/>
        </p:nvSpPr>
        <p:spPr>
          <a:xfrm>
            <a:off x="539496" y="3273552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dirty="0"/>
          </a:p>
        </p:txBody>
      </p:sp>
      <p:sp>
        <p:nvSpPr>
          <p:cNvPr id="397" name="TextBox 398"/>
          <p:cNvSpPr txBox="1"/>
          <p:nvPr/>
        </p:nvSpPr>
        <p:spPr>
          <a:xfrm>
            <a:off x="932688" y="327355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Stream References (1M batches)</a:t>
            </a:r>
            <a:endParaRPr lang="en-US" dirty="0"/>
          </a:p>
        </p:txBody>
      </p:sp>
      <p:sp>
        <p:nvSpPr>
          <p:cNvPr id="398" name="TextBox 399"/>
          <p:cNvSpPr txBox="1"/>
          <p:nvPr/>
        </p:nvSpPr>
        <p:spPr>
          <a:xfrm>
            <a:off x="3063240" y="3273552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26.6M refs: source_id, target_id, kind, line, col</a:t>
            </a:r>
            <a:endParaRPr lang="en-US" dirty="0"/>
          </a:p>
        </p:txBody>
      </p:sp>
      <p:sp>
        <p:nvSpPr>
          <p:cNvPr id="399" name="Rect 400"/>
          <p:cNvSpPr/>
          <p:nvPr/>
        </p:nvSpPr>
        <p:spPr>
          <a:xfrm>
            <a:off x="539496" y="37490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400" name="TextBox 401"/>
          <p:cNvSpPr txBox="1"/>
          <p:nvPr/>
        </p:nvSpPr>
        <p:spPr>
          <a:xfrm>
            <a:off x="539496" y="3749040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401" name="TextBox 402"/>
          <p:cNvSpPr txBox="1"/>
          <p:nvPr/>
        </p:nvSpPr>
        <p:spPr>
          <a:xfrm>
            <a:off x="932688" y="374904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Bulk-insert metadata</a:t>
            </a:r>
            <a:endParaRPr lang="en-US" dirty="0"/>
          </a:p>
        </p:txBody>
      </p:sp>
      <p:sp>
        <p:nvSpPr>
          <p:cNvPr id="402" name="TextBox 403"/>
          <p:cNvSpPr txBox="1"/>
          <p:nvPr/>
        </p:nvSpPr>
        <p:spPr>
          <a:xfrm>
            <a:off x="3063240" y="3749040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Modules (~390), Providers (~50), Kind map (8 types)</a:t>
            </a:r>
            <a:endParaRPr lang="en-US" dirty="0"/>
          </a:p>
        </p:txBody>
      </p:sp>
      <p:sp>
        <p:nvSpPr>
          <p:cNvPr id="403" name="Rect 404"/>
          <p:cNvSpPr/>
          <p:nvPr/>
        </p:nvSpPr>
        <p:spPr>
          <a:xfrm>
            <a:off x="539496" y="42245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04" name="TextBox 405"/>
          <p:cNvSpPr txBox="1"/>
          <p:nvPr/>
        </p:nvSpPr>
        <p:spPr>
          <a:xfrm>
            <a:off x="539496" y="42245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US" dirty="0"/>
          </a:p>
        </p:txBody>
      </p:sp>
      <p:sp>
        <p:nvSpPr>
          <p:cNvPr id="405" name="TextBox 406"/>
          <p:cNvSpPr txBox="1"/>
          <p:nvPr/>
        </p:nvSpPr>
        <p:spPr>
          <a:xfrm>
            <a:off x="932688" y="422452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50" b="1" dirty="0">
                <a:solidFill>
                  <a:srgbClr val="333333"/>
                </a:solidFill>
                <a:latin typeface="Arial"/>
                <a:cs typeface="Arial"/>
              </a:rPr>
              <a:t>Create 8 covering indexes</a:t>
            </a:r>
            <a:endParaRPr lang="en-US" dirty="0"/>
          </a:p>
        </p:txBody>
      </p:sp>
      <p:sp>
        <p:nvSpPr>
          <p:cNvPr id="406" name="TextBox 407"/>
          <p:cNvSpPr txBox="1"/>
          <p:nvPr/>
        </p:nvSpPr>
        <p:spPr>
          <a:xfrm>
            <a:off x="3063240" y="4224528"/>
            <a:ext cx="2962656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Compound indexes for source+kind, target+kind queries</a:t>
            </a:r>
            <a:endParaRPr lang="en-US" dirty="0"/>
          </a:p>
        </p:txBody>
      </p:sp>
      <p:sp>
        <p:nvSpPr>
          <p:cNvPr id="407" name="TextBox 408"/>
          <p:cNvSpPr txBox="1"/>
          <p:nvPr/>
        </p:nvSpPr>
        <p:spPr>
          <a:xfrm>
            <a:off x="6263640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Technical Implementation</a:t>
            </a:r>
            <a:endParaRPr lang="en-US" dirty="0"/>
          </a:p>
        </p:txBody>
      </p:sp>
      <p:sp>
        <p:nvSpPr>
          <p:cNvPr id="408" name="TextBox 409"/>
          <p:cNvSpPr txBox="1"/>
          <p:nvPr/>
        </p:nvSpPr>
        <p:spPr>
          <a:xfrm>
            <a:off x="6263640" y="1847088"/>
            <a:ext cx="5303520" cy="1737360"/>
          </a:xfrm>
          <a:prstGeom prst="roundRect">
            <a:avLst>
              <a:gd name="adj" fmla="val 5000"/>
            </a:avLst>
          </a:prstGeom>
          <a:solidFill>
            <a:srgbClr val="2D2D2D"/>
          </a:solidFill>
          <a:ln>
            <a:noFill/>
          </a:ln>
        </p:spPr>
        <p:txBody>
          <a:bodyPr wrap="square" anchor="t" lIns="72000" tIns="54000" rIns="72000" bIns="54000"/>
          <a:lstStyle/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SQLite performance pragmas for bulk writes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db.pragma('journal_mode = OFF');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db.pragma('synchronous = OFF');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db.pragma('cache_size = -200000');  // 200 MB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db.pragma('locking_mode = EXCLUSIVE');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/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// Batch insert with prepared statement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const insert = db.prepare(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'INSERT INTO refs VALUES (?,?,?,?,?)');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const tx = db.transaction((rows) =&gt; {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  for (const r of rows) insert.run(...r);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});</a:t>
            </a:r>
            <a:endParaRPr lang="en-US" dirty="0"/>
          </a:p>
          <a:p>
            <a:pPr>
              <a:lnSpc>
                <a:spcPct val="105000"/>
              </a:lnSpc>
            </a:pPr>
            <a:r>
              <a:rPr lang="en-US" sz="700" dirty="0">
                <a:solidFill>
                  <a:srgbClr val="FFFFFF"/>
                </a:solidFill>
                <a:latin typeface="Consolas"/>
                <a:cs typeface="Consolas"/>
              </a:rPr>
              <a:t>tx(batchOf1MRows);  // ~5 min for 26.6M rows</a:t>
            </a:r>
            <a:endParaRPr lang="en-US" dirty="0"/>
          </a:p>
        </p:txBody>
      </p:sp>
      <p:sp>
        <p:nvSpPr>
          <p:cNvPr id="409" name="TextBox 410"/>
          <p:cNvSpPr txBox="1"/>
          <p:nvPr/>
        </p:nvSpPr>
        <p:spPr>
          <a:xfrm>
            <a:off x="6263640" y="370332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8 Reference Kinds</a:t>
            </a:r>
            <a:endParaRPr lang="en-US" dirty="0"/>
          </a:p>
        </p:txBody>
      </p:sp>
      <p:sp>
        <p:nvSpPr>
          <p:cNvPr id="410" name="TextBox 411"/>
          <p:cNvSpPr txBox="1"/>
          <p:nvPr/>
        </p:nvSpPr>
        <p:spPr>
          <a:xfrm>
            <a:off x="6263640" y="40050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1 = Call</a:t>
            </a:r>
            <a:endParaRPr lang="en-US" dirty="0"/>
          </a:p>
        </p:txBody>
      </p:sp>
      <p:sp>
        <p:nvSpPr>
          <p:cNvPr id="411" name="TextBox 412"/>
          <p:cNvSpPr txBox="1"/>
          <p:nvPr/>
        </p:nvSpPr>
        <p:spPr>
          <a:xfrm>
            <a:off x="7589520" y="40050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2 = Read</a:t>
            </a:r>
            <a:endParaRPr lang="en-US" dirty="0"/>
          </a:p>
        </p:txBody>
      </p:sp>
      <p:sp>
        <p:nvSpPr>
          <p:cNvPr id="412" name="TextBox 413"/>
          <p:cNvSpPr txBox="1"/>
          <p:nvPr/>
        </p:nvSpPr>
        <p:spPr>
          <a:xfrm>
            <a:off x="8915400" y="40050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3 = Implements</a:t>
            </a:r>
            <a:endParaRPr lang="en-US" dirty="0"/>
          </a:p>
        </p:txBody>
      </p:sp>
      <p:sp>
        <p:nvSpPr>
          <p:cNvPr id="413" name="TextBox 414"/>
          <p:cNvSpPr txBox="1"/>
          <p:nvPr/>
        </p:nvSpPr>
        <p:spPr>
          <a:xfrm>
            <a:off x="10241280" y="400507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4 = Extends</a:t>
            </a:r>
            <a:endParaRPr lang="en-US" dirty="0"/>
          </a:p>
        </p:txBody>
      </p:sp>
      <p:sp>
        <p:nvSpPr>
          <p:cNvPr id="414" name="TextBox 415"/>
          <p:cNvSpPr txBox="1"/>
          <p:nvPr/>
        </p:nvSpPr>
        <p:spPr>
          <a:xfrm>
            <a:off x="6263640" y="4279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6 = Delegate</a:t>
            </a:r>
            <a:endParaRPr lang="en-US" dirty="0"/>
          </a:p>
        </p:txBody>
      </p:sp>
      <p:sp>
        <p:nvSpPr>
          <p:cNvPr id="415" name="TextBox 416"/>
          <p:cNvSpPr txBox="1"/>
          <p:nvPr/>
        </p:nvSpPr>
        <p:spPr>
          <a:xfrm>
            <a:off x="7589520" y="4279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7 = Attribute</a:t>
            </a:r>
            <a:endParaRPr lang="en-US" dirty="0"/>
          </a:p>
        </p:txBody>
      </p:sp>
      <p:sp>
        <p:nvSpPr>
          <p:cNvPr id="416" name="TextBox 417"/>
          <p:cNvSpPr txBox="1"/>
          <p:nvPr/>
        </p:nvSpPr>
        <p:spPr>
          <a:xfrm>
            <a:off x="8915400" y="4279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9 = Tag</a:t>
            </a:r>
            <a:endParaRPr lang="en-US" dirty="0"/>
          </a:p>
        </p:txBody>
      </p:sp>
      <p:sp>
        <p:nvSpPr>
          <p:cNvPr id="417" name="TextBox 418"/>
          <p:cNvSpPr txBox="1"/>
          <p:nvPr/>
        </p:nvSpPr>
        <p:spPr>
          <a:xfrm>
            <a:off x="10241280" y="4279392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700" b="1" dirty="0">
                <a:solidFill>
                  <a:srgbClr val="AD9B68"/>
                </a:solidFill>
                <a:latin typeface="Consolas"/>
                <a:cs typeface="Consolas"/>
              </a:rPr>
              <a:t>10 = Override</a:t>
            </a:r>
            <a:endParaRPr lang="en-US" dirty="0"/>
          </a:p>
        </p:txBody>
      </p:sp>
      <p:sp>
        <p:nvSpPr>
          <p:cNvPr id="418" name="Rect 419"/>
          <p:cNvSpPr/>
          <p:nvPr/>
        </p:nvSpPr>
        <p:spPr>
          <a:xfrm>
            <a:off x="539496" y="475488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419" name="TextBox 420"/>
          <p:cNvSpPr txBox="1"/>
          <p:nvPr/>
        </p:nvSpPr>
        <p:spPr>
          <a:xfrm>
            <a:off x="630936" y="4773168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80"/>
              </a:spcAft>
            </a:pPr>
            <a:r>
              <a:rPr lang="en-US" sz="850" b="1" dirty="0">
                <a:solidFill>
                  <a:srgbClr val="6DC1C9"/>
                </a:solidFill>
                <a:latin typeface="Arial"/>
                <a:cs typeface="Arial"/>
              </a:rPr>
              <a:t>Runtime Requirements</a:t>
            </a:r>
            <a:endParaRPr lang="en-US" dirty="0"/>
          </a:p>
          <a:p>
            <a:pPr>
              <a:spcAft>
                <a:spcPts val="50"/>
              </a:spcAft>
            </a:pPr>
            <a:r>
              <a:rPr lang="en-US" sz="750" b="1" dirty="0">
                <a:solidFill>
                  <a:srgbClr val="333333"/>
                </a:solidFill>
                <a:latin typeface="Consolas"/>
                <a:cs typeface="Consolas"/>
              </a:rPr>
              <a:t>node --max-old-space-size=8192</a:t>
            </a:r>
            <a:r>
              <a:rPr lang="en-US" sz="750" dirty="0">
                <a:solidFill>
                  <a:srgbClr val="666666"/>
                </a:solidFill>
                <a:latin typeface="Arial"/>
                <a:cs typeface="Arial"/>
              </a:rPr>
              <a:t> (8 GB heap required)</a:t>
            </a:r>
            <a:endParaRPr lang="en-US" dirty="0"/>
          </a:p>
          <a:p>
            <a:pPr/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26.6M references must be held in memory during batch inserts to SQLite.</a:t>
            </a:r>
            <a:endParaRPr lang="en-US" dirty="0"/>
          </a:p>
        </p:txBody>
      </p:sp>
      <p:sp>
        <p:nvSpPr>
          <p:cNvPr id="420" name="Rect 421"/>
          <p:cNvSpPr/>
          <p:nvPr/>
        </p:nvSpPr>
        <p:spPr>
          <a:xfrm>
            <a:off x="6263640" y="4754880"/>
            <a:ext cx="5303520" cy="5943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21" name="TextBox 422"/>
          <p:cNvSpPr txBox="1"/>
          <p:nvPr/>
        </p:nvSpPr>
        <p:spPr>
          <a:xfrm>
            <a:off x="6355080" y="4773168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80"/>
              </a:spcAft>
            </a:pPr>
            <a:r>
              <a:rPr lang="en-US" sz="850" b="1" dirty="0">
                <a:solidFill>
                  <a:srgbClr val="813341"/>
                </a:solidFill>
                <a:latin typeface="Arial"/>
                <a:cs typeface="Arial"/>
              </a:rPr>
              <a:t>Cross-Reference Data Source</a:t>
            </a:r>
            <a:endParaRPr lang="en-US" dirty="0"/>
          </a:p>
          <a:p>
            <a:pPr>
              <a:lnSpc>
                <a:spcPct val="115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Visual Studio &gt; Dynamics 365 &gt; Build Cross Reference Data must be run first. Only then does LocalDB contain ISV/custom code references.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H 45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Cross-Platform Deployment: Windows → Linux</a:t>
            </a:r>
            <a:endParaRPr lang="en-US" dirty="0"/>
          </a:p>
        </p:txBody>
      </p:sp>
      <p:sp>
        <p:nvSpPr>
          <p:cNvPr id="423" name="TextBox 424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The build machine is Windows (D365 F&amp;O dev environment), but Azure Functions runs Linux — native SQLite binaries must be cross-compiled</a:t>
            </a:r>
            <a:endParaRPr lang="en-US" dirty="0"/>
          </a:p>
        </p:txBody>
      </p:sp>
      <p:sp>
        <p:nvSpPr>
          <p:cNvPr id="424" name="TextBox 425"/>
          <p:cNvSpPr txBox="1"/>
          <p:nvPr/>
        </p:nvSpPr>
        <p:spPr>
          <a:xfrm>
            <a:off x="539496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The Challenge</a:t>
            </a:r>
            <a:endParaRPr lang="en-US" dirty="0"/>
          </a:p>
        </p:txBody>
      </p:sp>
      <p:sp>
        <p:nvSpPr>
          <p:cNvPr id="425" name="Rect 426"/>
          <p:cNvSpPr/>
          <p:nvPr/>
        </p:nvSpPr>
        <p:spPr>
          <a:xfrm>
            <a:off x="539496" y="1847088"/>
            <a:ext cx="5303520" cy="1005840"/>
          </a:xfrm>
          <a:prstGeom prst="roundRect">
            <a:avLst>
              <a:gd name="adj" fmla="val 5000"/>
            </a:avLst>
          </a:prstGeom>
          <a:solidFill>
            <a:srgbClr val="FFEBEE"/>
          </a:solidFill>
          <a:ln w="9525">
            <a:solidFill>
              <a:srgbClr val="C62828"/>
            </a:solidFill>
          </a:ln>
        </p:spPr>
      </p:sp>
      <p:sp>
        <p:nvSpPr>
          <p:cNvPr id="426" name="TextBox 427"/>
          <p:cNvSpPr txBox="1"/>
          <p:nvPr/>
        </p:nvSpPr>
        <p:spPr>
          <a:xfrm>
            <a:off x="630936" y="1883664"/>
            <a:ext cx="512064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50"/>
              </a:spcAft>
            </a:pPr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better-sqlite3 is a native Node.js addon (C++ compiled binary).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npm install on Windows produces a Windows .node binary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Deploying Windows binary to Linux Function App = crash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Azure Functions build (SCM) doesn't install native deps reliably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Cannot run npm install on Linux from a Windows build machine</a:t>
            </a:r>
            <a:endParaRPr lang="en-US" dirty="0"/>
          </a:p>
        </p:txBody>
      </p:sp>
      <p:sp>
        <p:nvSpPr>
          <p:cNvPr id="427" name="TextBox 428"/>
          <p:cNvSpPr txBox="1"/>
          <p:nvPr/>
        </p:nvSpPr>
        <p:spPr>
          <a:xfrm>
            <a:off x="608076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2E7D32"/>
                </a:solidFill>
                <a:latin typeface="Arial"/>
                <a:cs typeface="Arial"/>
              </a:rPr>
              <a:t>The Solution: prebuild-install</a:t>
            </a:r>
            <a:endParaRPr lang="en-US" dirty="0"/>
          </a:p>
        </p:txBody>
      </p:sp>
      <p:sp>
        <p:nvSpPr>
          <p:cNvPr id="428" name="Rect 429"/>
          <p:cNvSpPr/>
          <p:nvPr/>
        </p:nvSpPr>
        <p:spPr>
          <a:xfrm>
            <a:off x="6080760" y="1847088"/>
            <a:ext cx="5486400" cy="100584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</p:sp>
      <p:sp>
        <p:nvSpPr>
          <p:cNvPr id="429" name="TextBox 430"/>
          <p:cNvSpPr txBox="1"/>
          <p:nvPr/>
        </p:nvSpPr>
        <p:spPr>
          <a:xfrm>
            <a:off x="6172200" y="1883664"/>
            <a:ext cx="5303520" cy="93268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50"/>
              </a:spcAft>
            </a:pPr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Download pre-compiled Linux x64 binary from GitHub releases.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✔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Run on Windows: npx prebuild-install --platform linux --arch x64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✔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Targets Node.js 20.20.0 (matches Azure Functions runtime)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✔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Installs to node_modules/better-sqlite3/prebuilds/</a:t>
            </a:r>
            <a:endParaRPr lang="en-US" dirty="0"/>
          </a:p>
          <a:p>
            <a:pPr>
              <a:spcAft>
                <a:spcPts val="50"/>
              </a:spcAft>
              <a:lnSpc>
                <a:spcPct val="112000"/>
              </a:lnSpc>
            </a:pPr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✔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SCM_DO_BUILD_DURING_DEPLOYMENT=false skips server-side build</a:t>
            </a:r>
            <a:endParaRPr lang="en-US" dirty="0"/>
          </a:p>
        </p:txBody>
      </p:sp>
      <p:sp>
        <p:nvSpPr>
          <p:cNvPr id="430" name="TextBox 431"/>
          <p:cNvSpPr txBox="1"/>
          <p:nvPr/>
        </p:nvSpPr>
        <p:spPr>
          <a:xfrm>
            <a:off x="539496" y="301752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Deployment Flow</a:t>
            </a:r>
            <a:endParaRPr lang="en-US" dirty="0"/>
          </a:p>
        </p:txBody>
      </p:sp>
      <p:sp>
        <p:nvSpPr>
          <p:cNvPr id="431" name="Rect 432"/>
          <p:cNvSpPr/>
          <p:nvPr/>
        </p:nvSpPr>
        <p:spPr>
          <a:xfrm>
            <a:off x="53949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432" name="TextBox 433"/>
          <p:cNvSpPr txBox="1"/>
          <p:nvPr/>
        </p:nvSpPr>
        <p:spPr>
          <a:xfrm>
            <a:off x="53949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npm install
--omit=dev</a:t>
            </a:r>
            <a:endParaRPr lang="en-US" dirty="0"/>
          </a:p>
        </p:txBody>
      </p:sp>
      <p:sp>
        <p:nvSpPr>
          <p:cNvPr id="433" name="TextBox 434"/>
          <p:cNvSpPr txBox="1"/>
          <p:nvPr/>
        </p:nvSpPr>
        <p:spPr>
          <a:xfrm>
            <a:off x="53949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Install production
deps (Windows)</a:t>
            </a:r>
            <a:endParaRPr lang="en-US" dirty="0"/>
          </a:p>
        </p:txBody>
      </p:sp>
      <p:sp>
        <p:nvSpPr>
          <p:cNvPr id="434" name="TextBox 435"/>
          <p:cNvSpPr txBox="1"/>
          <p:nvPr/>
        </p:nvSpPr>
        <p:spPr>
          <a:xfrm>
            <a:off x="2139696" y="3493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800" dirty="0">
                <a:solidFill>
                  <a:srgbClr val="6DC1C9"/>
                </a:solidFill>
                <a:latin typeface="Arial"/>
                <a:cs typeface="Arial"/>
              </a:rPr>
              <a:t>▶</a:t>
            </a:r>
            <a:endParaRPr lang="en-US" dirty="0"/>
          </a:p>
        </p:txBody>
      </p:sp>
      <p:sp>
        <p:nvSpPr>
          <p:cNvPr id="435" name="Rect 436"/>
          <p:cNvSpPr/>
          <p:nvPr/>
        </p:nvSpPr>
        <p:spPr>
          <a:xfrm>
            <a:off x="241401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36" name="TextBox 437"/>
          <p:cNvSpPr txBox="1"/>
          <p:nvPr/>
        </p:nvSpPr>
        <p:spPr>
          <a:xfrm>
            <a:off x="241401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prebuild-install
--platform linux</a:t>
            </a:r>
            <a:endParaRPr lang="en-US" dirty="0"/>
          </a:p>
        </p:txBody>
      </p:sp>
      <p:sp>
        <p:nvSpPr>
          <p:cNvPr id="437" name="TextBox 438"/>
          <p:cNvSpPr txBox="1"/>
          <p:nvPr/>
        </p:nvSpPr>
        <p:spPr>
          <a:xfrm>
            <a:off x="241401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Download Linux
better-sqlite3</a:t>
            </a:r>
            <a:endParaRPr lang="en-US" dirty="0"/>
          </a:p>
        </p:txBody>
      </p:sp>
      <p:sp>
        <p:nvSpPr>
          <p:cNvPr id="438" name="TextBox 439"/>
          <p:cNvSpPr txBox="1"/>
          <p:nvPr/>
        </p:nvSpPr>
        <p:spPr>
          <a:xfrm>
            <a:off x="4014216" y="3493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800" dirty="0">
                <a:solidFill>
                  <a:srgbClr val="6DC1C9"/>
                </a:solidFill>
                <a:latin typeface="Arial"/>
                <a:cs typeface="Arial"/>
              </a:rPr>
              <a:t>▶</a:t>
            </a:r>
            <a:endParaRPr lang="en-US" dirty="0"/>
          </a:p>
        </p:txBody>
      </p:sp>
      <p:sp>
        <p:nvSpPr>
          <p:cNvPr id="439" name="Rect 440"/>
          <p:cNvSpPr/>
          <p:nvPr/>
        </p:nvSpPr>
        <p:spPr>
          <a:xfrm>
            <a:off x="428853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440" name="TextBox 441"/>
          <p:cNvSpPr txBox="1"/>
          <p:nvPr/>
        </p:nvSpPr>
        <p:spPr>
          <a:xfrm>
            <a:off x="428853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Zip code +
node_modules</a:t>
            </a:r>
            <a:endParaRPr lang="en-US" dirty="0"/>
          </a:p>
        </p:txBody>
      </p:sp>
      <p:sp>
        <p:nvSpPr>
          <p:cNvPr id="441" name="TextBox 442"/>
          <p:cNvSpPr txBox="1"/>
          <p:nvPr/>
        </p:nvSpPr>
        <p:spPr>
          <a:xfrm>
            <a:off x="428853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Package for
deployment</a:t>
            </a:r>
            <a:endParaRPr lang="en-US" dirty="0"/>
          </a:p>
        </p:txBody>
      </p:sp>
      <p:sp>
        <p:nvSpPr>
          <p:cNvPr id="442" name="TextBox 443"/>
          <p:cNvSpPr txBox="1"/>
          <p:nvPr/>
        </p:nvSpPr>
        <p:spPr>
          <a:xfrm>
            <a:off x="5888736" y="3493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800" dirty="0">
                <a:solidFill>
                  <a:srgbClr val="6DC1C9"/>
                </a:solidFill>
                <a:latin typeface="Arial"/>
                <a:cs typeface="Arial"/>
              </a:rPr>
              <a:t>▶</a:t>
            </a:r>
            <a:endParaRPr lang="en-US" dirty="0"/>
          </a:p>
        </p:txBody>
      </p:sp>
      <p:sp>
        <p:nvSpPr>
          <p:cNvPr id="443" name="Rect 444"/>
          <p:cNvSpPr/>
          <p:nvPr/>
        </p:nvSpPr>
        <p:spPr>
          <a:xfrm>
            <a:off x="616305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444" name="TextBox 445"/>
          <p:cNvSpPr txBox="1"/>
          <p:nvPr/>
        </p:nvSpPr>
        <p:spPr>
          <a:xfrm>
            <a:off x="616305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az functionapp
config-zip</a:t>
            </a:r>
            <a:endParaRPr lang="en-US" dirty="0"/>
          </a:p>
        </p:txBody>
      </p:sp>
      <p:sp>
        <p:nvSpPr>
          <p:cNvPr id="445" name="TextBox 446"/>
          <p:cNvSpPr txBox="1"/>
          <p:nvPr/>
        </p:nvSpPr>
        <p:spPr>
          <a:xfrm>
            <a:off x="616305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Upload zip to
Azure</a:t>
            </a:r>
            <a:endParaRPr lang="en-US" dirty="0"/>
          </a:p>
        </p:txBody>
      </p:sp>
      <p:sp>
        <p:nvSpPr>
          <p:cNvPr id="446" name="TextBox 447"/>
          <p:cNvSpPr txBox="1"/>
          <p:nvPr/>
        </p:nvSpPr>
        <p:spPr>
          <a:xfrm>
            <a:off x="7763256" y="3493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800" dirty="0">
                <a:solidFill>
                  <a:srgbClr val="6DC1C9"/>
                </a:solidFill>
                <a:latin typeface="Arial"/>
                <a:cs typeface="Arial"/>
              </a:rPr>
              <a:t>▶</a:t>
            </a:r>
            <a:endParaRPr lang="en-US" dirty="0"/>
          </a:p>
        </p:txBody>
      </p:sp>
      <p:sp>
        <p:nvSpPr>
          <p:cNvPr id="447" name="Rect 448"/>
          <p:cNvSpPr/>
          <p:nvPr/>
        </p:nvSpPr>
        <p:spPr>
          <a:xfrm>
            <a:off x="803757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448" name="TextBox 449"/>
          <p:cNvSpPr txBox="1"/>
          <p:nvPr/>
        </p:nvSpPr>
        <p:spPr>
          <a:xfrm>
            <a:off x="803757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Kudu VFS PUT
/home/data/</a:t>
            </a:r>
            <a:endParaRPr lang="en-US" dirty="0"/>
          </a:p>
        </p:txBody>
      </p:sp>
      <p:sp>
        <p:nvSpPr>
          <p:cNvPr id="449" name="TextBox 450"/>
          <p:cNvSpPr txBox="1"/>
          <p:nvPr/>
        </p:nvSpPr>
        <p:spPr>
          <a:xfrm>
            <a:off x="803757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Upload SQLite
databases</a:t>
            </a:r>
            <a:endParaRPr lang="en-US" dirty="0"/>
          </a:p>
        </p:txBody>
      </p:sp>
      <p:sp>
        <p:nvSpPr>
          <p:cNvPr id="450" name="TextBox 451"/>
          <p:cNvSpPr txBox="1"/>
          <p:nvPr/>
        </p:nvSpPr>
        <p:spPr>
          <a:xfrm>
            <a:off x="9637776" y="3493008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/>
            <a:r>
              <a:rPr lang="en-US" sz="800" dirty="0">
                <a:solidFill>
                  <a:srgbClr val="6DC1C9"/>
                </a:solidFill>
                <a:latin typeface="Arial"/>
                <a:cs typeface="Arial"/>
              </a:rPr>
              <a:t>▶</a:t>
            </a:r>
            <a:endParaRPr lang="en-US" dirty="0"/>
          </a:p>
        </p:txBody>
      </p:sp>
      <p:sp>
        <p:nvSpPr>
          <p:cNvPr id="451" name="Rect 452"/>
          <p:cNvSpPr/>
          <p:nvPr/>
        </p:nvSpPr>
        <p:spPr>
          <a:xfrm>
            <a:off x="9912096" y="3337560"/>
            <a:ext cx="1719072" cy="59436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452" name="TextBox 453"/>
          <p:cNvSpPr txBox="1"/>
          <p:nvPr/>
        </p:nvSpPr>
        <p:spPr>
          <a:xfrm>
            <a:off x="9912096" y="3337560"/>
            <a:ext cx="1719072" cy="5943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b="1" dirty="0">
                <a:solidFill>
                  <a:srgbClr val="FFFFFF"/>
                </a:solidFill>
                <a:latin typeface="Consolas"/>
                <a:cs typeface="Consolas"/>
              </a:rPr>
              <a:t>Health check
GET /api/d365kb</a:t>
            </a:r>
            <a:endParaRPr lang="en-US" dirty="0"/>
          </a:p>
        </p:txBody>
      </p:sp>
      <p:sp>
        <p:nvSpPr>
          <p:cNvPr id="453" name="TextBox 454"/>
          <p:cNvSpPr txBox="1"/>
          <p:nvPr/>
        </p:nvSpPr>
        <p:spPr>
          <a:xfrm>
            <a:off x="9912096" y="3950208"/>
            <a:ext cx="1719072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lnSpc>
                <a:spcPct val="108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Validate
endpoints</a:t>
            </a:r>
            <a:endParaRPr lang="en-US" dirty="0"/>
          </a:p>
        </p:txBody>
      </p:sp>
      <p:sp>
        <p:nvSpPr>
          <p:cNvPr id="454" name="Rect 455"/>
          <p:cNvSpPr/>
          <p:nvPr/>
        </p:nvSpPr>
        <p:spPr>
          <a:xfrm>
            <a:off x="539496" y="4572000"/>
            <a:ext cx="11109960" cy="77724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</p:sp>
      <p:sp>
        <p:nvSpPr>
          <p:cNvPr id="455" name="TextBox 456"/>
          <p:cNvSpPr txBox="1"/>
          <p:nvPr/>
        </p:nvSpPr>
        <p:spPr>
          <a:xfrm>
            <a:off x="685800" y="4617720"/>
            <a:ext cx="10817352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spcAft>
                <a:spcPts val="100"/>
              </a:spcAft>
            </a:pPr>
            <a:r>
              <a:rPr lang="en-US" sz="850" b="1" dirty="0">
                <a:solidFill>
                  <a:srgbClr val="647772"/>
                </a:solidFill>
                <a:latin typeface="Arial"/>
                <a:cs typeface="Arial"/>
              </a:rPr>
              <a:t>Local Development: Different SQLite Technology</a:t>
            </a:r>
            <a:endParaRPr lang="en-US" dirty="0"/>
          </a:p>
          <a:p>
            <a:pPr>
              <a:lnSpc>
                <a:spcPct val="118000"/>
              </a:lnSpc>
            </a:pP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KB local server uses </a:t>
            </a:r>
            <a:r>
              <a:rPr lang="en-US" sz="750" b="1" dirty="0">
                <a:solidFill>
                  <a:srgbClr val="6DC1C9"/>
                </a:solidFill>
                <a:latin typeface="Consolas"/>
                <a:cs typeface="Consolas"/>
              </a:rPr>
              <a:t>sql.js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 (WebAssembly, in-memory, no native binary needed). XRef local server uses </a:t>
            </a:r>
            <a:r>
              <a:rPr lang="en-US" sz="750" b="1" dirty="0">
                <a:solidFill>
                  <a:srgbClr val="AD9B68"/>
                </a:solidFill>
                <a:latin typeface="Consolas"/>
                <a:cs typeface="Consolas"/>
              </a:rPr>
              <a:t>better-sqlite3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 (native, file-based — 3.3 GB too large for in-memory). Azure uses </a:t>
            </a:r>
            <a:r>
              <a:rPr lang="en-US" sz="750" b="1" dirty="0">
                <a:solidFill>
                  <a:srgbClr val="813341"/>
                </a:solidFill>
                <a:latin typeface="Consolas"/>
                <a:cs typeface="Consolas"/>
              </a:rPr>
              <a:t>better-sqlite3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 for both (Linux native binary, persistent filesystem).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PH 5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Cost Estimation &amp; Optimization</a:t>
            </a:r>
            <a:endParaRPr lang="en-US" dirty="0"/>
          </a:p>
        </p:txBody>
      </p:sp>
      <p:sp>
        <p:nvSpPr>
          <p:cNvPr id="457" name="TextBox 458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Monthly Azure cost breakdown for the MCP service infrastructure — current architecture eliminates database licensing entirely via SQLite</a:t>
            </a:r>
            <a:endParaRPr lang="en-US" dirty="0"/>
          </a:p>
        </p:txBody>
      </p:sp>
      <p:sp>
        <p:nvSpPr>
          <p:cNvPr id="458" name="TextBox 459"/>
          <p:cNvSpPr txBox="1"/>
          <p:nvPr/>
        </p:nvSpPr>
        <p:spPr>
          <a:xfrm>
            <a:off x="539496" y="1536192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6DC1C9"/>
                </a:solidFill>
                <a:latin typeface="Arial"/>
                <a:cs typeface="Arial"/>
              </a:rPr>
              <a:t>Monthly Cost Breakdown (EUR)</a:t>
            </a:r>
            <a:endParaRPr lang="en-US" dirty="0"/>
          </a:p>
        </p:txBody>
      </p:sp>
      <p:sp>
        <p:nvSpPr>
          <p:cNvPr id="459" name="Rect 460"/>
          <p:cNvSpPr/>
          <p:nvPr/>
        </p:nvSpPr>
        <p:spPr>
          <a:xfrm>
            <a:off x="539496" y="1847088"/>
            <a:ext cx="7132320" cy="320040"/>
          </a:xfrm>
          <a:prstGeom prst="rect">
            <a:avLst/>
          </a:prstGeom>
          <a:solidFill>
            <a:srgbClr val="6DC1C9"/>
          </a:solidFill>
          <a:ln>
            <a:noFill/>
          </a:ln>
        </p:spPr>
      </p:sp>
      <p:sp>
        <p:nvSpPr>
          <p:cNvPr id="460" name="TextBox 461"/>
          <p:cNvSpPr txBox="1"/>
          <p:nvPr/>
        </p:nvSpPr>
        <p:spPr>
          <a:xfrm>
            <a:off x="539496" y="1847088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Component</a:t>
            </a:r>
            <a:endParaRPr lang="en-US" dirty="0"/>
          </a:p>
        </p:txBody>
      </p:sp>
      <p:sp>
        <p:nvSpPr>
          <p:cNvPr id="461" name="TextBox 462"/>
          <p:cNvSpPr txBox="1"/>
          <p:nvPr/>
        </p:nvSpPr>
        <p:spPr>
          <a:xfrm>
            <a:off x="2560320" y="1847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SKU / Tier</a:t>
            </a:r>
            <a:endParaRPr lang="en-US" dirty="0"/>
          </a:p>
        </p:txBody>
      </p:sp>
      <p:sp>
        <p:nvSpPr>
          <p:cNvPr id="462" name="TextBox 463"/>
          <p:cNvSpPr txBox="1"/>
          <p:nvPr/>
        </p:nvSpPr>
        <p:spPr>
          <a:xfrm>
            <a:off x="3840480" y="18470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Purpose</a:t>
            </a:r>
            <a:endParaRPr lang="en-US" dirty="0"/>
          </a:p>
        </p:txBody>
      </p:sp>
      <p:sp>
        <p:nvSpPr>
          <p:cNvPr id="463" name="TextBox 464"/>
          <p:cNvSpPr txBox="1"/>
          <p:nvPr/>
        </p:nvSpPr>
        <p:spPr>
          <a:xfrm>
            <a:off x="5120640" y="18470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Est. / Month</a:t>
            </a:r>
            <a:endParaRPr lang="en-US" dirty="0"/>
          </a:p>
        </p:txBody>
      </p:sp>
      <p:sp>
        <p:nvSpPr>
          <p:cNvPr id="464" name="TextBox 465"/>
          <p:cNvSpPr txBox="1"/>
          <p:nvPr/>
        </p:nvSpPr>
        <p:spPr>
          <a:xfrm>
            <a:off x="6053328" y="184708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Cost Driver</a:t>
            </a:r>
            <a:endParaRPr lang="en-US" dirty="0"/>
          </a:p>
        </p:txBody>
      </p:sp>
      <p:sp>
        <p:nvSpPr>
          <p:cNvPr id="465" name="Rect 466"/>
          <p:cNvSpPr/>
          <p:nvPr/>
        </p:nvSpPr>
        <p:spPr>
          <a:xfrm>
            <a:off x="539496" y="2167128"/>
            <a:ext cx="7132320" cy="320040"/>
          </a:xfrm>
          <a:prstGeom prst="rect">
            <a:avLst/>
          </a:prstGeom>
          <a:solidFill>
            <a:srgbClr val="E0F3F5"/>
          </a:solidFill>
          <a:ln>
            <a:noFill/>
          </a:ln>
        </p:spPr>
      </p:sp>
      <p:sp>
        <p:nvSpPr>
          <p:cNvPr id="466" name="TextBox 467"/>
          <p:cNvSpPr txBox="1"/>
          <p:nvPr/>
        </p:nvSpPr>
        <p:spPr>
          <a:xfrm>
            <a:off x="539496" y="216712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Arial"/>
                <a:cs typeface="Arial"/>
              </a:rPr>
              <a:t>App Service Plan</a:t>
            </a:r>
            <a:endParaRPr lang="en-US" dirty="0"/>
          </a:p>
        </p:txBody>
      </p:sp>
      <p:sp>
        <p:nvSpPr>
          <p:cNvPr id="467" name="TextBox 468"/>
          <p:cNvSpPr txBox="1"/>
          <p:nvPr/>
        </p:nvSpPr>
        <p:spPr>
          <a:xfrm>
            <a:off x="2560320" y="21671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EP1 (Linux)</a:t>
            </a:r>
            <a:endParaRPr lang="en-US" dirty="0"/>
          </a:p>
        </p:txBody>
      </p:sp>
      <p:sp>
        <p:nvSpPr>
          <p:cNvPr id="468" name="TextBox 469"/>
          <p:cNvSpPr txBox="1"/>
          <p:nvPr/>
        </p:nvSpPr>
        <p:spPr>
          <a:xfrm>
            <a:off x="3840480" y="216712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1 always-ready instance</a:t>
            </a:r>
            <a:endParaRPr lang="en-US" dirty="0"/>
          </a:p>
        </p:txBody>
      </p:sp>
      <p:sp>
        <p:nvSpPr>
          <p:cNvPr id="469" name="TextBox 470"/>
          <p:cNvSpPr txBox="1"/>
          <p:nvPr/>
        </p:nvSpPr>
        <p:spPr>
          <a:xfrm>
            <a:off x="5120640" y="216712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~150</a:t>
            </a:r>
            <a:endParaRPr lang="en-US" dirty="0"/>
          </a:p>
        </p:txBody>
      </p:sp>
      <p:sp>
        <p:nvSpPr>
          <p:cNvPr id="470" name="TextBox 471"/>
          <p:cNvSpPr txBox="1"/>
          <p:nvPr/>
        </p:nvSpPr>
        <p:spPr>
          <a:xfrm>
            <a:off x="6053328" y="216712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Always-on compute</a:t>
            </a:r>
            <a:endParaRPr lang="en-US" dirty="0"/>
          </a:p>
        </p:txBody>
      </p:sp>
      <p:sp>
        <p:nvSpPr>
          <p:cNvPr id="471" name="Rect 472"/>
          <p:cNvSpPr/>
          <p:nvPr/>
        </p:nvSpPr>
        <p:spPr>
          <a:xfrm>
            <a:off x="539496" y="2487168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72" name="TextBox 473"/>
          <p:cNvSpPr txBox="1"/>
          <p:nvPr/>
        </p:nvSpPr>
        <p:spPr>
          <a:xfrm>
            <a:off x="539496" y="248716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Arial"/>
                <a:cs typeface="Arial"/>
              </a:rPr>
              <a:t>Function App</a:t>
            </a:r>
            <a:endParaRPr lang="en-US" dirty="0"/>
          </a:p>
        </p:txBody>
      </p:sp>
      <p:sp>
        <p:nvSpPr>
          <p:cNvPr id="473" name="TextBox 474"/>
          <p:cNvSpPr txBox="1"/>
          <p:nvPr/>
        </p:nvSpPr>
        <p:spPr>
          <a:xfrm>
            <a:off x="2560320" y="24871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Included in ASP</a:t>
            </a:r>
            <a:endParaRPr lang="en-US" dirty="0"/>
          </a:p>
        </p:txBody>
      </p:sp>
      <p:sp>
        <p:nvSpPr>
          <p:cNvPr id="474" name="TextBox 475"/>
          <p:cNvSpPr txBox="1"/>
          <p:nvPr/>
        </p:nvSpPr>
        <p:spPr>
          <a:xfrm>
            <a:off x="3840480" y="248716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HTTP endpoints + runtime</a:t>
            </a:r>
            <a:endParaRPr lang="en-US" dirty="0"/>
          </a:p>
        </p:txBody>
      </p:sp>
      <p:sp>
        <p:nvSpPr>
          <p:cNvPr id="475" name="TextBox 476"/>
          <p:cNvSpPr txBox="1"/>
          <p:nvPr/>
        </p:nvSpPr>
        <p:spPr>
          <a:xfrm>
            <a:off x="5120640" y="248716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—</a:t>
            </a:r>
            <a:endParaRPr lang="en-US" dirty="0"/>
          </a:p>
        </p:txBody>
      </p:sp>
      <p:sp>
        <p:nvSpPr>
          <p:cNvPr id="476" name="TextBox 477"/>
          <p:cNvSpPr txBox="1"/>
          <p:nvPr/>
        </p:nvSpPr>
        <p:spPr>
          <a:xfrm>
            <a:off x="6053328" y="248716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Included in plan</a:t>
            </a:r>
            <a:endParaRPr lang="en-US" dirty="0"/>
          </a:p>
        </p:txBody>
      </p:sp>
      <p:sp>
        <p:nvSpPr>
          <p:cNvPr id="477" name="Rect 478"/>
          <p:cNvSpPr/>
          <p:nvPr/>
        </p:nvSpPr>
        <p:spPr>
          <a:xfrm>
            <a:off x="539496" y="2807208"/>
            <a:ext cx="7132320" cy="320040"/>
          </a:xfrm>
          <a:prstGeom prst="rect">
            <a:avLst/>
          </a:prstGeom>
          <a:solidFill>
            <a:srgbClr val="E0F3F5"/>
          </a:solidFill>
          <a:ln>
            <a:noFill/>
          </a:ln>
        </p:spPr>
      </p:sp>
      <p:sp>
        <p:nvSpPr>
          <p:cNvPr id="478" name="TextBox 479"/>
          <p:cNvSpPr txBox="1"/>
          <p:nvPr/>
        </p:nvSpPr>
        <p:spPr>
          <a:xfrm>
            <a:off x="539496" y="28072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Arial"/>
                <a:cs typeface="Arial"/>
              </a:rPr>
              <a:t>Storage Account</a:t>
            </a:r>
            <a:endParaRPr lang="en-US" dirty="0"/>
          </a:p>
        </p:txBody>
      </p:sp>
      <p:sp>
        <p:nvSpPr>
          <p:cNvPr id="479" name="TextBox 480"/>
          <p:cNvSpPr txBox="1"/>
          <p:nvPr/>
        </p:nvSpPr>
        <p:spPr>
          <a:xfrm>
            <a:off x="2560320" y="28072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Standard LRS</a:t>
            </a:r>
            <a:endParaRPr lang="en-US" dirty="0"/>
          </a:p>
        </p:txBody>
      </p:sp>
      <p:sp>
        <p:nvSpPr>
          <p:cNvPr id="480" name="TextBox 481"/>
          <p:cNvSpPr txBox="1"/>
          <p:nvPr/>
        </p:nvSpPr>
        <p:spPr>
          <a:xfrm>
            <a:off x="3840480" y="280720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Functions runtime</a:t>
            </a:r>
            <a:endParaRPr lang="en-US" dirty="0"/>
          </a:p>
        </p:txBody>
      </p:sp>
      <p:sp>
        <p:nvSpPr>
          <p:cNvPr id="481" name="TextBox 482"/>
          <p:cNvSpPr txBox="1"/>
          <p:nvPr/>
        </p:nvSpPr>
        <p:spPr>
          <a:xfrm>
            <a:off x="5120640" y="280720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~2</a:t>
            </a:r>
            <a:endParaRPr lang="en-US" dirty="0"/>
          </a:p>
        </p:txBody>
      </p:sp>
      <p:sp>
        <p:nvSpPr>
          <p:cNvPr id="482" name="TextBox 483"/>
          <p:cNvSpPr txBox="1"/>
          <p:nvPr/>
        </p:nvSpPr>
        <p:spPr>
          <a:xfrm>
            <a:off x="6053328" y="280720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Minimal usage</a:t>
            </a:r>
            <a:endParaRPr lang="en-US" dirty="0"/>
          </a:p>
        </p:txBody>
      </p:sp>
      <p:sp>
        <p:nvSpPr>
          <p:cNvPr id="483" name="Rect 484"/>
          <p:cNvSpPr/>
          <p:nvPr/>
        </p:nvSpPr>
        <p:spPr>
          <a:xfrm>
            <a:off x="539496" y="3127248"/>
            <a:ext cx="7132320" cy="3200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4" name="TextBox 485"/>
          <p:cNvSpPr txBox="1"/>
          <p:nvPr/>
        </p:nvSpPr>
        <p:spPr>
          <a:xfrm>
            <a:off x="539496" y="312724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Arial"/>
                <a:cs typeface="Arial"/>
              </a:rPr>
              <a:t>Key Vault</a:t>
            </a:r>
            <a:endParaRPr lang="en-US" dirty="0"/>
          </a:p>
        </p:txBody>
      </p:sp>
      <p:sp>
        <p:nvSpPr>
          <p:cNvPr id="485" name="TextBox 486"/>
          <p:cNvSpPr txBox="1"/>
          <p:nvPr/>
        </p:nvSpPr>
        <p:spPr>
          <a:xfrm>
            <a:off x="2560320" y="31272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Standard</a:t>
            </a:r>
            <a:endParaRPr lang="en-US" dirty="0"/>
          </a:p>
        </p:txBody>
      </p:sp>
      <p:sp>
        <p:nvSpPr>
          <p:cNvPr id="486" name="TextBox 487"/>
          <p:cNvSpPr txBox="1"/>
          <p:nvPr/>
        </p:nvSpPr>
        <p:spPr>
          <a:xfrm>
            <a:off x="3840480" y="312724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RBAC, secrets ready</a:t>
            </a:r>
            <a:endParaRPr lang="en-US" dirty="0"/>
          </a:p>
        </p:txBody>
      </p:sp>
      <p:sp>
        <p:nvSpPr>
          <p:cNvPr id="487" name="TextBox 488"/>
          <p:cNvSpPr txBox="1"/>
          <p:nvPr/>
        </p:nvSpPr>
        <p:spPr>
          <a:xfrm>
            <a:off x="5120640" y="312724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~1</a:t>
            </a:r>
            <a:endParaRPr lang="en-US" dirty="0"/>
          </a:p>
        </p:txBody>
      </p:sp>
      <p:sp>
        <p:nvSpPr>
          <p:cNvPr id="488" name="TextBox 489"/>
          <p:cNvSpPr txBox="1"/>
          <p:nvPr/>
        </p:nvSpPr>
        <p:spPr>
          <a:xfrm>
            <a:off x="6053328" y="312724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&lt;1K operations</a:t>
            </a:r>
            <a:endParaRPr lang="en-US" dirty="0"/>
          </a:p>
        </p:txBody>
      </p:sp>
      <p:sp>
        <p:nvSpPr>
          <p:cNvPr id="489" name="Rect 490"/>
          <p:cNvSpPr/>
          <p:nvPr/>
        </p:nvSpPr>
        <p:spPr>
          <a:xfrm>
            <a:off x="539496" y="3447288"/>
            <a:ext cx="7132320" cy="320040"/>
          </a:xfrm>
          <a:prstGeom prst="rect">
            <a:avLst/>
          </a:prstGeom>
          <a:solidFill>
            <a:srgbClr val="E0F3F5"/>
          </a:solidFill>
          <a:ln>
            <a:noFill/>
          </a:ln>
        </p:spPr>
      </p:sp>
      <p:sp>
        <p:nvSpPr>
          <p:cNvPr id="490" name="TextBox 491"/>
          <p:cNvSpPr txBox="1"/>
          <p:nvPr/>
        </p:nvSpPr>
        <p:spPr>
          <a:xfrm>
            <a:off x="539496" y="344728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00" b="1" dirty="0">
                <a:solidFill>
                  <a:srgbClr val="333333"/>
                </a:solidFill>
                <a:latin typeface="Arial"/>
                <a:cs typeface="Arial"/>
              </a:rPr>
              <a:t>App Insights + Log Analytics</a:t>
            </a:r>
            <a:endParaRPr lang="en-US" dirty="0"/>
          </a:p>
        </p:txBody>
      </p:sp>
      <p:sp>
        <p:nvSpPr>
          <p:cNvPr id="491" name="TextBox 492"/>
          <p:cNvSpPr txBox="1"/>
          <p:nvPr/>
        </p:nvSpPr>
        <p:spPr>
          <a:xfrm>
            <a:off x="2560320" y="34472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333333"/>
                </a:solidFill>
                <a:latin typeface="Consolas"/>
                <a:cs typeface="Consolas"/>
              </a:rPr>
              <a:t>PerGB, 30d</a:t>
            </a:r>
            <a:endParaRPr lang="en-US" dirty="0"/>
          </a:p>
        </p:txBody>
      </p:sp>
      <p:sp>
        <p:nvSpPr>
          <p:cNvPr id="492" name="TextBox 493"/>
          <p:cNvSpPr txBox="1"/>
          <p:nvPr/>
        </p:nvSpPr>
        <p:spPr>
          <a:xfrm>
            <a:off x="3840480" y="3447288"/>
            <a:ext cx="1280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00" dirty="0">
                <a:solidFill>
                  <a:srgbClr val="666666"/>
                </a:solidFill>
                <a:latin typeface="Arial"/>
                <a:cs typeface="Arial"/>
              </a:rPr>
              <a:t>Telemetry + logs</a:t>
            </a:r>
            <a:endParaRPr lang="en-US" dirty="0"/>
          </a:p>
        </p:txBody>
      </p:sp>
      <p:sp>
        <p:nvSpPr>
          <p:cNvPr id="493" name="TextBox 494"/>
          <p:cNvSpPr txBox="1"/>
          <p:nvPr/>
        </p:nvSpPr>
        <p:spPr>
          <a:xfrm>
            <a:off x="5120640" y="3447288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750" b="1" dirty="0">
                <a:solidFill>
                  <a:srgbClr val="6DC1C9"/>
                </a:solidFill>
                <a:latin typeface="Arial"/>
                <a:cs typeface="Arial"/>
              </a:rPr>
              <a:t>~15</a:t>
            </a:r>
            <a:endParaRPr lang="en-US" dirty="0"/>
          </a:p>
        </p:txBody>
      </p:sp>
      <p:sp>
        <p:nvSpPr>
          <p:cNvPr id="494" name="TextBox 495"/>
          <p:cNvSpPr txBox="1"/>
          <p:nvPr/>
        </p:nvSpPr>
        <p:spPr>
          <a:xfrm>
            <a:off x="6053328" y="3447288"/>
            <a:ext cx="1618488" cy="32004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650" dirty="0">
                <a:solidFill>
                  <a:srgbClr val="666666"/>
                </a:solidFill>
                <a:latin typeface="Arial"/>
                <a:cs typeface="Arial"/>
              </a:rPr>
              <a:t>Ingestion volume</a:t>
            </a:r>
            <a:endParaRPr lang="en-US" dirty="0"/>
          </a:p>
        </p:txBody>
      </p:sp>
      <p:sp>
        <p:nvSpPr>
          <p:cNvPr id="495" name="Rect 496"/>
          <p:cNvSpPr/>
          <p:nvPr/>
        </p:nvSpPr>
        <p:spPr>
          <a:xfrm>
            <a:off x="539496" y="3767328"/>
            <a:ext cx="7132320" cy="365760"/>
          </a:xfrm>
          <a:prstGeom prst="roundRect">
            <a:avLst>
              <a:gd name="adj" fmla="val 3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496" name="TextBox 497"/>
          <p:cNvSpPr txBox="1"/>
          <p:nvPr/>
        </p:nvSpPr>
        <p:spPr>
          <a:xfrm>
            <a:off x="539496" y="3767328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Arial"/>
                <a:cs typeface="Arial"/>
              </a:rPr>
              <a:t>Total Estimated Monthly Cost</a:t>
            </a:r>
            <a:endParaRPr lang="en-US" dirty="0"/>
          </a:p>
        </p:txBody>
      </p:sp>
      <p:sp>
        <p:nvSpPr>
          <p:cNvPr id="497" name="TextBox 498"/>
          <p:cNvSpPr txBox="1"/>
          <p:nvPr/>
        </p:nvSpPr>
        <p:spPr>
          <a:xfrm>
            <a:off x="5120640" y="3767328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Arial"/>
                <a:cs typeface="Arial"/>
              </a:rPr>
              <a:t>~168</a:t>
            </a:r>
            <a:endParaRPr lang="en-US" dirty="0"/>
          </a:p>
        </p:txBody>
      </p:sp>
      <p:sp>
        <p:nvSpPr>
          <p:cNvPr id="498" name="TextBox 499"/>
          <p:cNvSpPr txBox="1"/>
          <p:nvPr/>
        </p:nvSpPr>
        <p:spPr>
          <a:xfrm>
            <a:off x="6053328" y="3767328"/>
            <a:ext cx="1618488" cy="36576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00" dirty="0">
                <a:solidFill>
                  <a:srgbClr val="FFFFFF"/>
                </a:solidFill>
                <a:latin typeface="Arial"/>
                <a:cs typeface="Arial"/>
              </a:rPr>
              <a:t>EUR / month</a:t>
            </a:r>
            <a:endParaRPr lang="en-US" dirty="0"/>
          </a:p>
        </p:txBody>
      </p:sp>
      <p:sp>
        <p:nvSpPr>
          <p:cNvPr id="499" name="TextBox 500"/>
          <p:cNvSpPr txBox="1"/>
          <p:nvPr/>
        </p:nvSpPr>
        <p:spPr>
          <a:xfrm>
            <a:off x="7909560" y="153619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2E7D32"/>
                </a:solidFill>
                <a:latin typeface="Arial"/>
                <a:cs typeface="Arial"/>
              </a:rPr>
              <a:t>Key Architectural Cost Win</a:t>
            </a:r>
            <a:endParaRPr lang="en-US" dirty="0"/>
          </a:p>
        </p:txBody>
      </p:sp>
      <p:sp>
        <p:nvSpPr>
          <p:cNvPr id="500" name="Rect 501"/>
          <p:cNvSpPr/>
          <p:nvPr/>
        </p:nvSpPr>
        <p:spPr>
          <a:xfrm>
            <a:off x="7909560" y="1847088"/>
            <a:ext cx="3657600" cy="20116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9525">
            <a:solidFill>
              <a:srgbClr val="2E7D32"/>
            </a:solidFill>
          </a:ln>
        </p:spPr>
      </p:sp>
      <p:sp>
        <p:nvSpPr>
          <p:cNvPr id="501" name="TextBox 502"/>
          <p:cNvSpPr txBox="1"/>
          <p:nvPr/>
        </p:nvSpPr>
        <p:spPr>
          <a:xfrm>
            <a:off x="8001000" y="1901952"/>
            <a:ext cx="3474720" cy="190195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tr">
              <a:spcAft>
                <a:spcPts val="200"/>
              </a:spcAft>
            </a:pPr>
            <a:r>
              <a:rPr lang="en-US" sz="1000" b="1" dirty="0">
                <a:solidFill>
                  <a:srgbClr val="2E7D32"/>
                </a:solidFill>
                <a:latin typeface="Arial"/>
                <a:cs typeface="Arial"/>
              </a:rPr>
              <a:t>No Database Licensing!</a:t>
            </a:r>
            <a:endParaRPr lang="en-US" dirty="0"/>
          </a:p>
          <a:p>
            <a:pPr>
              <a:spcAft>
                <a:spcPts val="200"/>
              </a:spcAft>
              <a:lnSpc>
                <a:spcPct val="118000"/>
              </a:lnSpc>
            </a:pP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SQLite replaces Azure SQL Database entirely. Traditional architecture would require:</a:t>
            </a:r>
            <a:endParaRPr lang="en-US" dirty="0"/>
          </a:p>
          <a:p>
            <a:pPr>
              <a:spcAft>
                <a:spcPts val="60"/>
              </a:spcAft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Azure SQL S3: ~200 EUR/month</a:t>
            </a:r>
            <a:endParaRPr lang="en-US" dirty="0"/>
          </a:p>
          <a:p>
            <a:pPr>
              <a:spcAft>
                <a:spcPts val="60"/>
              </a:spcAft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Or Elastic Pool: ~350 EUR/month</a:t>
            </a:r>
            <a:endParaRPr lang="en-US" dirty="0"/>
          </a:p>
          <a:p>
            <a:pPr>
              <a:spcAft>
                <a:spcPts val="60"/>
              </a:spcAft>
            </a:pPr>
            <a:r>
              <a:rPr lang="en-US" sz="750" b="1" dirty="0">
                <a:solidFill>
                  <a:srgbClr val="C62828"/>
                </a:solidFill>
                <a:latin typeface="Arial"/>
                <a:cs typeface="Arial"/>
              </a:rPr>
              <a:t>✖ </a:t>
            </a:r>
            <a:r>
              <a:rPr lang="en-US" sz="750" dirty="0">
                <a:solidFill>
                  <a:srgbClr val="333333"/>
                </a:solidFill>
                <a:latin typeface="Arial"/>
                <a:cs typeface="Arial"/>
              </a:rPr>
              <a:t>For two databases (KB + XRef)</a:t>
            </a:r>
            <a:endParaRPr lang="en-US" dirty="0"/>
          </a:p>
          <a:p>
            <a:pPr>
              <a:spcAft>
                <a:spcPts val="100"/>
              </a:spcAft>
            </a:pPr>
            <a:r>
              <a:rPr lang="en-US" sz="1100" dirty="0">
                <a:solidFill>
                  <a:srgbClr val="333333"/>
                </a:solidFill>
                <a:latin typeface="Arial"/>
                <a:cs typeface="Arial"/>
              </a:rPr>
              <a:t/>
            </a:r>
            <a:endParaRPr lang="en-US" dirty="0"/>
          </a:p>
          <a:p>
            <a:pPr/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✔ SQLite: </a:t>
            </a:r>
            <a:r>
              <a:rPr lang="en-US" sz="750" b="1" dirty="0">
                <a:solidFill>
                  <a:srgbClr val="2E7D32"/>
                </a:solidFill>
                <a:latin typeface="Arial"/>
                <a:cs typeface="Arial"/>
              </a:rPr>
              <a:t>0 EUR/month</a:t>
            </a:r>
            <a:endParaRPr lang="en-US" dirty="0"/>
          </a:p>
        </p:txBody>
      </p:sp>
      <p:sp>
        <p:nvSpPr>
          <p:cNvPr id="502" name="TextBox 503"/>
          <p:cNvSpPr txBox="1"/>
          <p:nvPr/>
        </p:nvSpPr>
        <p:spPr>
          <a:xfrm>
            <a:off x="539496" y="4297680"/>
            <a:ext cx="111099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AD9B68"/>
                </a:solidFill>
                <a:latin typeface="Arial"/>
                <a:cs typeface="Arial"/>
              </a:rPr>
              <a:t>Cost Optimization Paths</a:t>
            </a:r>
            <a:endParaRPr lang="en-US" dirty="0"/>
          </a:p>
        </p:txBody>
      </p:sp>
      <p:sp>
        <p:nvSpPr>
          <p:cNvPr id="503" name="Rect 504"/>
          <p:cNvSpPr/>
          <p:nvPr/>
        </p:nvSpPr>
        <p:spPr>
          <a:xfrm>
            <a:off x="539496" y="4617720"/>
            <a:ext cx="2679192" cy="274320"/>
          </a:xfrm>
          <a:prstGeom prst="roundRect">
            <a:avLst>
              <a:gd name="adj" fmla="val 3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504" name="TextBox 505"/>
          <p:cNvSpPr txBox="1"/>
          <p:nvPr/>
        </p:nvSpPr>
        <p:spPr>
          <a:xfrm>
            <a:off x="539496" y="4617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Consumption Plan</a:t>
            </a:r>
            <a:endParaRPr lang="en-US" dirty="0"/>
          </a:p>
        </p:txBody>
      </p:sp>
      <p:sp>
        <p:nvSpPr>
          <p:cNvPr id="505" name="TextBox 506"/>
          <p:cNvSpPr txBox="1"/>
          <p:nvPr/>
        </p:nvSpPr>
        <p:spPr>
          <a:xfrm>
            <a:off x="2185416" y="461772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-140 EUR/mo</a:t>
            </a:r>
            <a:endParaRPr lang="en-US" dirty="0"/>
          </a:p>
        </p:txBody>
      </p:sp>
      <p:sp>
        <p:nvSpPr>
          <p:cNvPr id="506" name="TextBox 507"/>
          <p:cNvSpPr txBox="1"/>
          <p:nvPr/>
        </p:nvSpPr>
        <p:spPr>
          <a:xfrm>
            <a:off x="585216" y="4919472"/>
            <a:ext cx="25877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Replace EP1 with pay-per-execution. Trade-off: 5-10s cold starts on first request. Good for low-traffic use.</a:t>
            </a:r>
            <a:endParaRPr lang="en-US" dirty="0"/>
          </a:p>
        </p:txBody>
      </p:sp>
      <p:sp>
        <p:nvSpPr>
          <p:cNvPr id="507" name="Rect 508"/>
          <p:cNvSpPr/>
          <p:nvPr/>
        </p:nvSpPr>
        <p:spPr>
          <a:xfrm>
            <a:off x="3374136" y="4617720"/>
            <a:ext cx="2679192" cy="274320"/>
          </a:xfrm>
          <a:prstGeom prst="roundRect">
            <a:avLst>
              <a:gd name="adj" fmla="val 3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508" name="TextBox 509"/>
          <p:cNvSpPr txBox="1"/>
          <p:nvPr/>
        </p:nvSpPr>
        <p:spPr>
          <a:xfrm>
            <a:off x="3374136" y="4617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Reserved Instances</a:t>
            </a:r>
            <a:endParaRPr lang="en-US" dirty="0"/>
          </a:p>
        </p:txBody>
      </p:sp>
      <p:sp>
        <p:nvSpPr>
          <p:cNvPr id="509" name="TextBox 510"/>
          <p:cNvSpPr txBox="1"/>
          <p:nvPr/>
        </p:nvSpPr>
        <p:spPr>
          <a:xfrm>
            <a:off x="5020056" y="461772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-30% on 1yr</a:t>
            </a:r>
            <a:endParaRPr lang="en-US" dirty="0"/>
          </a:p>
        </p:txBody>
      </p:sp>
      <p:sp>
        <p:nvSpPr>
          <p:cNvPr id="510" name="TextBox 511"/>
          <p:cNvSpPr txBox="1"/>
          <p:nvPr/>
        </p:nvSpPr>
        <p:spPr>
          <a:xfrm>
            <a:off x="3419856" y="4919472"/>
            <a:ext cx="25877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Commit to 1-year Reserved Instance for EP1. Reduces compute cost by ~45 EUR/month.</a:t>
            </a:r>
            <a:endParaRPr lang="en-US" dirty="0"/>
          </a:p>
        </p:txBody>
      </p:sp>
      <p:sp>
        <p:nvSpPr>
          <p:cNvPr id="511" name="Rect 512"/>
          <p:cNvSpPr/>
          <p:nvPr/>
        </p:nvSpPr>
        <p:spPr>
          <a:xfrm>
            <a:off x="6208776" y="4617720"/>
            <a:ext cx="2679192" cy="274320"/>
          </a:xfrm>
          <a:prstGeom prst="roundRect">
            <a:avLst>
              <a:gd name="adj" fmla="val 3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512" name="TextBox 513"/>
          <p:cNvSpPr txBox="1"/>
          <p:nvPr/>
        </p:nvSpPr>
        <p:spPr>
          <a:xfrm>
            <a:off x="6208776" y="4617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Reduce Logging</a:t>
            </a:r>
            <a:endParaRPr lang="en-US" dirty="0"/>
          </a:p>
        </p:txBody>
      </p:sp>
      <p:sp>
        <p:nvSpPr>
          <p:cNvPr id="513" name="TextBox 514"/>
          <p:cNvSpPr txBox="1"/>
          <p:nvPr/>
        </p:nvSpPr>
        <p:spPr>
          <a:xfrm>
            <a:off x="7854696" y="461772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-10 EUR/mo</a:t>
            </a:r>
            <a:endParaRPr lang="en-US" dirty="0"/>
          </a:p>
        </p:txBody>
      </p:sp>
      <p:sp>
        <p:nvSpPr>
          <p:cNvPr id="514" name="TextBox 515"/>
          <p:cNvSpPr txBox="1"/>
          <p:nvPr/>
        </p:nvSpPr>
        <p:spPr>
          <a:xfrm>
            <a:off x="6254496" y="4919472"/>
            <a:ext cx="25877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Disable or sample more aggressively in App Insights. excludedTypes: "Request" already applied.</a:t>
            </a:r>
            <a:endParaRPr lang="en-US" dirty="0"/>
          </a:p>
        </p:txBody>
      </p:sp>
      <p:sp>
        <p:nvSpPr>
          <p:cNvPr id="515" name="Rect 516"/>
          <p:cNvSpPr/>
          <p:nvPr/>
        </p:nvSpPr>
        <p:spPr>
          <a:xfrm>
            <a:off x="9043416" y="4617720"/>
            <a:ext cx="2679192" cy="274320"/>
          </a:xfrm>
          <a:prstGeom prst="roundRect">
            <a:avLst>
              <a:gd name="adj" fmla="val 3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516" name="TextBox 517"/>
          <p:cNvSpPr txBox="1"/>
          <p:nvPr/>
        </p:nvSpPr>
        <p:spPr>
          <a:xfrm>
            <a:off x="9043416" y="4617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54000" tIns="45720" rIns="91440" bIns="45720"/>
          <a:lstStyle/>
          <a:p>
            <a:pPr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Minimum Config</a:t>
            </a:r>
            <a:endParaRPr lang="en-US" dirty="0"/>
          </a:p>
        </p:txBody>
      </p:sp>
      <p:sp>
        <p:nvSpPr>
          <p:cNvPr id="517" name="TextBox 518"/>
          <p:cNvSpPr txBox="1"/>
          <p:nvPr/>
        </p:nvSpPr>
        <p:spPr>
          <a:xfrm>
            <a:off x="10689336" y="4617720"/>
            <a:ext cx="1033272" cy="27432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r"/>
            <a:r>
              <a:rPr lang="en-US" sz="750" b="1" dirty="0">
                <a:solidFill>
                  <a:srgbClr val="FFFFFF"/>
                </a:solidFill>
                <a:latin typeface="Arial"/>
                <a:cs typeface="Arial"/>
              </a:rPr>
              <a:t>~15 EUR/mo</a:t>
            </a:r>
            <a:endParaRPr lang="en-US" dirty="0"/>
          </a:p>
        </p:txBody>
      </p:sp>
      <p:sp>
        <p:nvSpPr>
          <p:cNvPr id="518" name="TextBox 519"/>
          <p:cNvSpPr txBox="1"/>
          <p:nvPr/>
        </p:nvSpPr>
        <p:spPr>
          <a:xfrm>
            <a:off x="9089136" y="4919472"/>
            <a:ext cx="25877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650" dirty="0">
                <a:solidFill>
                  <a:srgbClr val="333333"/>
                </a:solidFill>
                <a:latin typeface="Arial"/>
                <a:cs typeface="Arial"/>
              </a:rPr>
              <a:t>Consumption Plan + minimal logging. Acceptable for dev/test environments.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H 5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What Impacts Your Real Costs</a:t>
            </a:r>
            <a:endParaRPr lang="en-US" dirty="0"/>
          </a:p>
        </p:txBody>
      </p:sp>
      <p:sp>
        <p:nvSpPr>
          <p:cNvPr id="520" name="TextBox 521"/>
          <p:cNvSpPr txBox="1"/>
          <p:nvPr/>
        </p:nvSpPr>
        <p:spPr>
          <a:xfrm>
            <a:off x="539496" y="1207008"/>
            <a:ext cx="11109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00" i="1" dirty="0">
                <a:solidFill>
                  <a:srgbClr val="666666"/>
                </a:solidFill>
                <a:latin typeface="Arial"/>
                <a:cs typeface="Arial"/>
              </a:rPr>
              <a:t>Understanding the factors that influence actual running costs beyond the base infrastructure estimate</a:t>
            </a:r>
            <a:endParaRPr lang="en-US" dirty="0"/>
          </a:p>
        </p:txBody>
      </p:sp>
      <p:sp>
        <p:nvSpPr>
          <p:cNvPr id="521" name="TextBox 522"/>
          <p:cNvSpPr txBox="1"/>
          <p:nvPr/>
        </p:nvSpPr>
        <p:spPr>
          <a:xfrm>
            <a:off x="539496" y="15361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813341"/>
                </a:solidFill>
                <a:latin typeface="Arial"/>
                <a:cs typeface="Arial"/>
              </a:rPr>
              <a:t>Factors That Increase Cost</a:t>
            </a:r>
            <a:endParaRPr lang="en-US" dirty="0"/>
          </a:p>
        </p:txBody>
      </p:sp>
      <p:sp>
        <p:nvSpPr>
          <p:cNvPr id="522" name="TextBox 523"/>
          <p:cNvSpPr txBox="1"/>
          <p:nvPr/>
        </p:nvSpPr>
        <p:spPr>
          <a:xfrm>
            <a:off x="539496" y="1874520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Concurrent Users</a:t>
            </a:r>
            <a:r>
              <a:rPr lang="en-US" sz="700" i="1" dirty="0">
                <a:solidFill>
                  <a:srgbClr val="666666"/>
                </a:solidFill>
                <a:latin typeface="Arial"/>
                <a:cs typeface="Arial"/>
              </a:rPr>
              <a:t>  ↑ Low impact — EP1 is powerful</a:t>
            </a:r>
            <a:endParaRPr lang="en-US" dirty="0"/>
          </a:p>
        </p:txBody>
      </p:sp>
      <p:sp>
        <p:nvSpPr>
          <p:cNvPr id="523" name="TextBox 524"/>
          <p:cNvSpPr txBox="1"/>
          <p:nvPr/>
        </p:nvSpPr>
        <p:spPr>
          <a:xfrm>
            <a:off x="539496" y="209397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More simultaneous MCP clients = more Function App invocations. EP1 handles ~200 req/sec before scaling to 2nd worker.</a:t>
            </a:r>
            <a:endParaRPr lang="en-US" dirty="0"/>
          </a:p>
        </p:txBody>
      </p:sp>
      <p:sp>
        <p:nvSpPr>
          <p:cNvPr id="524" name="TextBox 525"/>
          <p:cNvSpPr txBox="1"/>
          <p:nvPr/>
        </p:nvSpPr>
        <p:spPr>
          <a:xfrm>
            <a:off x="539496" y="2468880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Query Complexity</a:t>
            </a:r>
            <a:r>
              <a:rPr lang="en-US" sz="700" i="1" dirty="0">
                <a:solidFill>
                  <a:srgbClr val="666666"/>
                </a:solidFill>
                <a:latin typeface="Arial"/>
                <a:cs typeface="Arial"/>
              </a:rPr>
              <a:t>  ↑ Medium impact — max 3 workers</a:t>
            </a:r>
            <a:endParaRPr lang="en-US" dirty="0"/>
          </a:p>
        </p:txBody>
      </p:sp>
      <p:sp>
        <p:nvSpPr>
          <p:cNvPr id="525" name="TextBox 526"/>
          <p:cNvSpPr txBox="1"/>
          <p:nvPr/>
        </p:nvSpPr>
        <p:spPr>
          <a:xfrm>
            <a:off x="539496" y="268833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Recursive CTEs (xref_impact_analysis, xref_class_hierarchy) use more CPU. Heavy queries may trigger scale-out to additional workers.</a:t>
            </a:r>
            <a:endParaRPr lang="en-US" dirty="0"/>
          </a:p>
        </p:txBody>
      </p:sp>
      <p:sp>
        <p:nvSpPr>
          <p:cNvPr id="526" name="TextBox 527"/>
          <p:cNvSpPr txBox="1"/>
          <p:nvPr/>
        </p:nvSpPr>
        <p:spPr>
          <a:xfrm>
            <a:off x="539496" y="3063240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Database Rebuild Frequency</a:t>
            </a:r>
            <a:r>
              <a:rPr lang="en-US" sz="700" i="1" dirty="0">
                <a:solidFill>
                  <a:srgbClr val="666666"/>
                </a:solidFill>
                <a:latin typeface="Arial"/>
                <a:cs typeface="Arial"/>
              </a:rPr>
              <a:t>  ↑ Indirect cost — developer time</a:t>
            </a:r>
            <a:endParaRPr lang="en-US" dirty="0"/>
          </a:p>
        </p:txBody>
      </p:sp>
      <p:sp>
        <p:nvSpPr>
          <p:cNvPr id="527" name="TextBox 528"/>
          <p:cNvSpPr txBox="1"/>
          <p:nvPr/>
        </p:nvSpPr>
        <p:spPr>
          <a:xfrm>
            <a:off x="539496" y="328269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Each rebuild requires a Windows dev machine. D365 updates (monthly/quarterly) trigger rebuilds. Dev machine time is the real cost.</a:t>
            </a:r>
            <a:endParaRPr lang="en-US" dirty="0"/>
          </a:p>
        </p:txBody>
      </p:sp>
      <p:sp>
        <p:nvSpPr>
          <p:cNvPr id="528" name="TextBox 529"/>
          <p:cNvSpPr txBox="1"/>
          <p:nvPr/>
        </p:nvSpPr>
        <p:spPr>
          <a:xfrm>
            <a:off x="539496" y="3657600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Multi-Environment</a:t>
            </a:r>
            <a:r>
              <a:rPr lang="en-US" sz="700" i="1" dirty="0">
                <a:solidFill>
                  <a:srgbClr val="666666"/>
                </a:solidFill>
                <a:latin typeface="Arial"/>
                <a:cs typeface="Arial"/>
              </a:rPr>
              <a:t>  ↑ High impact if full EP1 per env</a:t>
            </a:r>
            <a:endParaRPr lang="en-US" dirty="0"/>
          </a:p>
        </p:txBody>
      </p:sp>
      <p:sp>
        <p:nvSpPr>
          <p:cNvPr id="529" name="TextBox 530"/>
          <p:cNvSpPr txBox="1"/>
          <p:nvPr/>
        </p:nvSpPr>
        <p:spPr>
          <a:xfrm>
            <a:off x="539496" y="387705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Dev + Prod = 2x infrastructure. Consider Consumption Plan for dev (~15 EUR vs ~168 EUR).</a:t>
            </a:r>
            <a:endParaRPr lang="en-US" dirty="0"/>
          </a:p>
        </p:txBody>
      </p:sp>
      <p:sp>
        <p:nvSpPr>
          <p:cNvPr id="530" name="TextBox 531"/>
          <p:cNvSpPr txBox="1"/>
          <p:nvPr/>
        </p:nvSpPr>
        <p:spPr>
          <a:xfrm>
            <a:off x="539496" y="4251960"/>
            <a:ext cx="530352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813341"/>
                </a:solidFill>
                <a:latin typeface="Arial"/>
                <a:cs typeface="Arial"/>
              </a:rPr>
              <a:t>Logging Volume</a:t>
            </a:r>
            <a:r>
              <a:rPr lang="en-US" sz="700" i="1" dirty="0">
                <a:solidFill>
                  <a:srgbClr val="666666"/>
                </a:solidFill>
                <a:latin typeface="Arial"/>
                <a:cs typeface="Arial"/>
              </a:rPr>
              <a:t>  ↑ Low-medium — sampling helps</a:t>
            </a:r>
            <a:endParaRPr lang="en-US" dirty="0"/>
          </a:p>
        </p:txBody>
      </p:sp>
      <p:sp>
        <p:nvSpPr>
          <p:cNvPr id="531" name="TextBox 532"/>
          <p:cNvSpPr txBox="1"/>
          <p:nvPr/>
        </p:nvSpPr>
        <p:spPr>
          <a:xfrm>
            <a:off x="539496" y="4471416"/>
            <a:ext cx="530352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High tool usage = more App Insights ingestion. 1 GB/day free, then ~2.30 EUR/GB. AI tools can be chatty.</a:t>
            </a:r>
            <a:endParaRPr lang="en-US" dirty="0"/>
          </a:p>
        </p:txBody>
      </p:sp>
      <p:sp>
        <p:nvSpPr>
          <p:cNvPr id="532" name="TextBox 533"/>
          <p:cNvSpPr txBox="1"/>
          <p:nvPr/>
        </p:nvSpPr>
        <p:spPr>
          <a:xfrm>
            <a:off x="6080760" y="153619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950" b="1" dirty="0">
                <a:solidFill>
                  <a:srgbClr val="2E7D32"/>
                </a:solidFill>
                <a:latin typeface="Arial"/>
                <a:cs typeface="Arial"/>
              </a:rPr>
              <a:t>Factors That Keep Costs Low</a:t>
            </a:r>
            <a:endParaRPr lang="en-US" dirty="0"/>
          </a:p>
        </p:txBody>
      </p:sp>
      <p:sp>
        <p:nvSpPr>
          <p:cNvPr id="533" name="TextBox 534"/>
          <p:cNvSpPr txBox="1"/>
          <p:nvPr/>
        </p:nvSpPr>
        <p:spPr>
          <a:xfrm>
            <a:off x="6080760" y="187452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SQLite = Zero DB Licensing</a:t>
            </a:r>
            <a:endParaRPr lang="en-US" dirty="0"/>
          </a:p>
        </p:txBody>
      </p:sp>
      <p:sp>
        <p:nvSpPr>
          <p:cNvPr id="534" name="TextBox 535"/>
          <p:cNvSpPr txBox="1"/>
          <p:nvPr/>
        </p:nvSpPr>
        <p:spPr>
          <a:xfrm>
            <a:off x="6080760" y="209397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No Azure SQL, no DTU pricing, no elastic pool costs. Read-only file-based database is free to operate.</a:t>
            </a:r>
            <a:endParaRPr lang="en-US" dirty="0"/>
          </a:p>
        </p:txBody>
      </p:sp>
      <p:sp>
        <p:nvSpPr>
          <p:cNvPr id="535" name="TextBox 536"/>
          <p:cNvSpPr txBox="1"/>
          <p:nvPr/>
        </p:nvSpPr>
        <p:spPr>
          <a:xfrm>
            <a:off x="6080760" y="246888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Stateless Architecture</a:t>
            </a:r>
            <a:endParaRPr lang="en-US" dirty="0"/>
          </a:p>
        </p:txBody>
      </p:sp>
      <p:sp>
        <p:nvSpPr>
          <p:cNvPr id="536" name="TextBox 537"/>
          <p:cNvSpPr txBox="1"/>
          <p:nvPr/>
        </p:nvSpPr>
        <p:spPr>
          <a:xfrm>
            <a:off x="6080760" y="268833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No persistent connections, no connection pooling overhead, no session state storage. Just HTTP in, JSON out.</a:t>
            </a:r>
            <a:endParaRPr lang="en-US" dirty="0"/>
          </a:p>
        </p:txBody>
      </p:sp>
      <p:sp>
        <p:nvSpPr>
          <p:cNvPr id="537" name="TextBox 538"/>
          <p:cNvSpPr txBox="1"/>
          <p:nvPr/>
        </p:nvSpPr>
        <p:spPr>
          <a:xfrm>
            <a:off x="6080760" y="306324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Pre-built Databases</a:t>
            </a:r>
            <a:endParaRPr lang="en-US" dirty="0"/>
          </a:p>
        </p:txBody>
      </p:sp>
      <p:sp>
        <p:nvSpPr>
          <p:cNvPr id="538" name="TextBox 539"/>
          <p:cNvSpPr txBox="1"/>
          <p:nvPr/>
        </p:nvSpPr>
        <p:spPr>
          <a:xfrm>
            <a:off x="6080760" y="328269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Build once on dev machine, deploy everywhere. No runtime data processing, no ETL pipelines, no scheduled jobs.</a:t>
            </a:r>
            <a:endParaRPr lang="en-US" dirty="0"/>
          </a:p>
        </p:txBody>
      </p:sp>
      <p:sp>
        <p:nvSpPr>
          <p:cNvPr id="539" name="TextBox 540"/>
          <p:cNvSpPr txBox="1"/>
          <p:nvPr/>
        </p:nvSpPr>
        <p:spPr>
          <a:xfrm>
            <a:off x="6080760" y="365760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Singleton Connections</a:t>
            </a:r>
            <a:endParaRPr lang="en-US" dirty="0"/>
          </a:p>
        </p:txBody>
      </p:sp>
      <p:sp>
        <p:nvSpPr>
          <p:cNvPr id="540" name="TextBox 541"/>
          <p:cNvSpPr txBox="1"/>
          <p:nvPr/>
        </p:nvSpPr>
        <p:spPr>
          <a:xfrm>
            <a:off x="6080760" y="387705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One DB connection per Function App instance. No connection churn, no pool management.</a:t>
            </a:r>
            <a:endParaRPr lang="en-US" dirty="0"/>
          </a:p>
        </p:txBody>
      </p:sp>
      <p:sp>
        <p:nvSpPr>
          <p:cNvPr id="541" name="TextBox 542"/>
          <p:cNvSpPr txBox="1"/>
          <p:nvPr/>
        </p:nvSpPr>
        <p:spPr>
          <a:xfrm>
            <a:off x="6080760" y="4251960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800" b="1" dirty="0">
                <a:solidFill>
                  <a:srgbClr val="2E7D32"/>
                </a:solidFill>
                <a:latin typeface="Arial"/>
                <a:cs typeface="Arial"/>
              </a:rPr>
              <a:t>Linux Platform</a:t>
            </a:r>
            <a:endParaRPr lang="en-US" dirty="0"/>
          </a:p>
        </p:txBody>
      </p:sp>
      <p:sp>
        <p:nvSpPr>
          <p:cNvPr id="542" name="TextBox 543"/>
          <p:cNvSpPr txBox="1"/>
          <p:nvPr/>
        </p:nvSpPr>
        <p:spPr>
          <a:xfrm>
            <a:off x="6080760" y="4471416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2000"/>
              </a:lnSpc>
            </a:pPr>
            <a:r>
              <a:rPr lang="en-US" sz="700" dirty="0">
                <a:solidFill>
                  <a:srgbClr val="333333"/>
                </a:solidFill>
                <a:latin typeface="Arial"/>
                <a:cs typeface="Arial"/>
              </a:rPr>
              <a:t>EP1 Linux is cheaper than Windows. No Windows licensing surcharge.</a:t>
            </a:r>
            <a:endParaRPr lang="en-US" dirty="0"/>
          </a:p>
        </p:txBody>
      </p:sp>
      <p:sp>
        <p:nvSpPr>
          <p:cNvPr id="543" name="Rect 544"/>
          <p:cNvSpPr/>
          <p:nvPr/>
        </p:nvSpPr>
        <p:spPr>
          <a:xfrm>
            <a:off x="539496" y="4846320"/>
            <a:ext cx="11109960" cy="502920"/>
          </a:xfrm>
          <a:prstGeom prst="roundRect">
            <a:avLst>
              <a:gd name="adj" fmla="val 5000"/>
            </a:avLst>
          </a:prstGeom>
          <a:solidFill>
            <a:srgbClr val="E0F3F5"/>
          </a:solidFill>
          <a:ln>
            <a:noFill/>
          </a:ln>
        </p:spPr>
      </p:sp>
      <p:sp>
        <p:nvSpPr>
          <p:cNvPr id="544" name="TextBox 545"/>
          <p:cNvSpPr txBox="1"/>
          <p:nvPr/>
        </p:nvSpPr>
        <p:spPr>
          <a:xfrm>
            <a:off x="685800" y="4864608"/>
            <a:ext cx="1081735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800" b="1" dirty="0">
                <a:solidFill>
                  <a:srgbClr val="6DC1C9"/>
                </a:solidFill>
                <a:latin typeface="Arial"/>
                <a:cs typeface="Arial"/>
              </a:rPr>
              <a:t>TCO Comparison: </a:t>
            </a:r>
            <a:r>
              <a:rPr lang="en-US" sz="800" dirty="0">
                <a:solidFill>
                  <a:srgbClr val="333333"/>
                </a:solidFill>
                <a:latin typeface="Arial"/>
                <a:cs typeface="Arial"/>
              </a:rPr>
              <a:t>Traditional Azure SQL architecture: ~400-550 EUR/mo  |  This SQLite architecture: ~168 EUR/mo  |  Consumption Plan (dev): ~15 EUR/mo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H 57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z="1800" b="1" dirty="0">
                <a:solidFill>
                  <a:srgbClr val="000000"/>
                </a:solidFill>
                <a:latin typeface="Arial"/>
                <a:cs typeface="Arial"/>
              </a:rPr>
              <a:t>Technical Summary</a:t>
            </a:r>
            <a:endParaRPr lang="en-US" dirty="0"/>
          </a:p>
        </p:txBody>
      </p:sp>
      <p:sp>
        <p:nvSpPr>
          <p:cNvPr id="546" name="Rect 547"/>
          <p:cNvSpPr/>
          <p:nvPr/>
        </p:nvSpPr>
        <p:spPr>
          <a:xfrm>
            <a:off x="539496" y="130759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DC1C9"/>
          </a:solidFill>
          <a:ln>
            <a:noFill/>
          </a:ln>
        </p:spPr>
      </p:sp>
      <p:sp>
        <p:nvSpPr>
          <p:cNvPr id="547" name="TextBox 548"/>
          <p:cNvSpPr txBox="1"/>
          <p:nvPr/>
        </p:nvSpPr>
        <p:spPr>
          <a:xfrm>
            <a:off x="539496" y="1307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en-US" dirty="0"/>
          </a:p>
        </p:txBody>
      </p:sp>
      <p:sp>
        <p:nvSpPr>
          <p:cNvPr id="548" name="TextBox 549"/>
          <p:cNvSpPr txBox="1"/>
          <p:nvPr/>
        </p:nvSpPr>
        <p:spPr>
          <a:xfrm>
            <a:off x="1051560" y="128016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Azure Functions v4 + MCP Streamable HTTP</a:t>
            </a:r>
            <a:endParaRPr lang="en-US" dirty="0"/>
          </a:p>
        </p:txBody>
      </p:sp>
      <p:sp>
        <p:nvSpPr>
          <p:cNvPr id="549" name="TextBox 550"/>
          <p:cNvSpPr txBox="1"/>
          <p:nvPr/>
        </p:nvSpPr>
        <p:spPr>
          <a:xfrm>
            <a:off x="1051560" y="157276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Stateless Node.js 20 functions on Linux EP1. Two endpoints exposing 33 tools via the Model Context Protocol standard.</a:t>
            </a:r>
            <a:endParaRPr lang="en-US" dirty="0"/>
          </a:p>
        </p:txBody>
      </p:sp>
      <p:sp>
        <p:nvSpPr>
          <p:cNvPr id="550" name="Rect 551"/>
          <p:cNvSpPr/>
          <p:nvPr/>
        </p:nvSpPr>
        <p:spPr>
          <a:xfrm>
            <a:off x="539496" y="205740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AD9B68"/>
          </a:solidFill>
          <a:ln>
            <a:noFill/>
          </a:ln>
        </p:spPr>
      </p:sp>
      <p:sp>
        <p:nvSpPr>
          <p:cNvPr id="551" name="TextBox 552"/>
          <p:cNvSpPr txBox="1"/>
          <p:nvPr/>
        </p:nvSpPr>
        <p:spPr>
          <a:xfrm>
            <a:off x="539496" y="2057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en-US" dirty="0"/>
          </a:p>
        </p:txBody>
      </p:sp>
      <p:sp>
        <p:nvSpPr>
          <p:cNvPr id="552" name="TextBox 553"/>
          <p:cNvSpPr txBox="1"/>
          <p:nvPr/>
        </p:nvSpPr>
        <p:spPr>
          <a:xfrm>
            <a:off x="1051560" y="2029968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SQLite replaces Azure SQL entirely</a:t>
            </a:r>
            <a:endParaRPr lang="en-US" dirty="0"/>
          </a:p>
        </p:txBody>
      </p:sp>
      <p:sp>
        <p:nvSpPr>
          <p:cNvPr id="553" name="TextBox 554"/>
          <p:cNvSpPr txBox="1"/>
          <p:nvPr/>
        </p:nvSpPr>
        <p:spPr>
          <a:xfrm>
            <a:off x="1051560" y="232257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better-sqlite3 with 200 MB cache + 3 GB mmap. Read-only singleton pattern. Zero database licensing costs.</a:t>
            </a:r>
            <a:endParaRPr lang="en-US" dirty="0"/>
          </a:p>
        </p:txBody>
      </p:sp>
      <p:sp>
        <p:nvSpPr>
          <p:cNvPr id="554" name="Rect 555"/>
          <p:cNvSpPr/>
          <p:nvPr/>
        </p:nvSpPr>
        <p:spPr>
          <a:xfrm>
            <a:off x="539496" y="2807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B77133"/>
          </a:solidFill>
          <a:ln>
            <a:noFill/>
          </a:ln>
        </p:spPr>
      </p:sp>
      <p:sp>
        <p:nvSpPr>
          <p:cNvPr id="555" name="TextBox 556"/>
          <p:cNvSpPr txBox="1"/>
          <p:nvPr/>
        </p:nvSpPr>
        <p:spPr>
          <a:xfrm>
            <a:off x="539496" y="2807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en-US" dirty="0"/>
          </a:p>
        </p:txBody>
      </p:sp>
      <p:sp>
        <p:nvSpPr>
          <p:cNvPr id="556" name="TextBox 557"/>
          <p:cNvSpPr txBox="1"/>
          <p:nvPr/>
        </p:nvSpPr>
        <p:spPr>
          <a:xfrm>
            <a:off x="1051560" y="2779776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Named Pipes connect to LocalDB</a:t>
            </a:r>
            <a:endParaRPr lang="en-US" dirty="0"/>
          </a:p>
        </p:txBody>
      </p:sp>
      <p:sp>
        <p:nvSpPr>
          <p:cNvPr id="557" name="TextBox 558"/>
          <p:cNvSpPr txBox="1"/>
          <p:nvPr/>
        </p:nvSpPr>
        <p:spPr>
          <a:xfrm>
            <a:off x="1051560" y="3072384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XRef build resolves Windows named pipes to stream 26.6M references from Visual Studio's cross-reference database.</a:t>
            </a:r>
            <a:endParaRPr lang="en-US" dirty="0"/>
          </a:p>
        </p:txBody>
      </p:sp>
      <p:sp>
        <p:nvSpPr>
          <p:cNvPr id="558" name="Rect 559"/>
          <p:cNvSpPr/>
          <p:nvPr/>
        </p:nvSpPr>
        <p:spPr>
          <a:xfrm>
            <a:off x="539496" y="355701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813341"/>
          </a:solidFill>
          <a:ln>
            <a:noFill/>
          </a:ln>
        </p:spPr>
      </p:sp>
      <p:sp>
        <p:nvSpPr>
          <p:cNvPr id="559" name="TextBox 560"/>
          <p:cNvSpPr txBox="1"/>
          <p:nvPr/>
        </p:nvSpPr>
        <p:spPr>
          <a:xfrm>
            <a:off x="539496" y="355701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en-US" dirty="0"/>
          </a:p>
        </p:txBody>
      </p:sp>
      <p:sp>
        <p:nvSpPr>
          <p:cNvPr id="560" name="TextBox 561"/>
          <p:cNvSpPr txBox="1"/>
          <p:nvPr/>
        </p:nvSpPr>
        <p:spPr>
          <a:xfrm>
            <a:off x="1051560" y="3529584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PowerShell automates everything</a:t>
            </a:r>
            <a:endParaRPr lang="en-US" dirty="0"/>
          </a:p>
        </p:txBody>
      </p:sp>
      <p:sp>
        <p:nvSpPr>
          <p:cNvPr id="561" name="TextBox 562"/>
          <p:cNvSpPr txBox="1"/>
          <p:nvPr/>
        </p:nvSpPr>
        <p:spPr>
          <a:xfrm>
            <a:off x="1051560" y="382219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Configuration discovery, database builds, cross-platform binary install, Kudu deployment, RBAC setup, health validation.</a:t>
            </a:r>
            <a:endParaRPr lang="en-US" dirty="0"/>
          </a:p>
        </p:txBody>
      </p:sp>
      <p:sp>
        <p:nvSpPr>
          <p:cNvPr id="562" name="Rect 563"/>
          <p:cNvSpPr/>
          <p:nvPr/>
        </p:nvSpPr>
        <p:spPr>
          <a:xfrm>
            <a:off x="539496" y="430682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647772"/>
          </a:solidFill>
          <a:ln>
            <a:noFill/>
          </a:ln>
        </p:spPr>
      </p:sp>
      <p:sp>
        <p:nvSpPr>
          <p:cNvPr id="563" name="TextBox 564"/>
          <p:cNvSpPr txBox="1"/>
          <p:nvPr/>
        </p:nvSpPr>
        <p:spPr>
          <a:xfrm>
            <a:off x="539496" y="4306824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en-US" dirty="0"/>
          </a:p>
        </p:txBody>
      </p:sp>
      <p:sp>
        <p:nvSpPr>
          <p:cNvPr id="564" name="TextBox 565"/>
          <p:cNvSpPr txBox="1"/>
          <p:nvPr/>
        </p:nvSpPr>
        <p:spPr>
          <a:xfrm>
            <a:off x="1051560" y="4279392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Security at every layer</a:t>
            </a:r>
            <a:endParaRPr lang="en-US" dirty="0"/>
          </a:p>
        </p:txBody>
      </p:sp>
      <p:sp>
        <p:nvSpPr>
          <p:cNvPr id="565" name="TextBox 566"/>
          <p:cNvSpPr txBox="1"/>
          <p:nvPr/>
        </p:nvSpPr>
        <p:spPr>
          <a:xfrm>
            <a:off x="1051560" y="45720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HTTPS + TLS 1.2, managed identity, RBAC, parameterized queries, keyword validation, row limits, read-only database.</a:t>
            </a:r>
            <a:endParaRPr lang="en-US" dirty="0"/>
          </a:p>
        </p:txBody>
      </p:sp>
      <p:sp>
        <p:nvSpPr>
          <p:cNvPr id="566" name="Rect 567"/>
          <p:cNvSpPr/>
          <p:nvPr/>
        </p:nvSpPr>
        <p:spPr>
          <a:xfrm>
            <a:off x="539496" y="5056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</p:spPr>
      </p:sp>
      <p:sp>
        <p:nvSpPr>
          <p:cNvPr id="567" name="TextBox 568"/>
          <p:cNvSpPr txBox="1"/>
          <p:nvPr/>
        </p:nvSpPr>
        <p:spPr>
          <a:xfrm>
            <a:off x="539496" y="505663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0" tIns="45720" rIns="91440" bIns="45720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en-US" dirty="0"/>
          </a:p>
        </p:txBody>
      </p:sp>
      <p:sp>
        <p:nvSpPr>
          <p:cNvPr id="568" name="TextBox 569"/>
          <p:cNvSpPr txBox="1"/>
          <p:nvPr/>
        </p:nvSpPr>
        <p:spPr>
          <a:xfrm>
            <a:off x="1051560" y="5029200"/>
            <a:ext cx="105156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/>
            <a:r>
              <a:rPr lang="en-US" sz="1100" b="1" dirty="0">
                <a:solidFill>
                  <a:srgbClr val="333333"/>
                </a:solidFill>
                <a:latin typeface="Arial"/>
                <a:cs typeface="Arial"/>
              </a:rPr>
              <a:t>Total cost: ~168 EUR/month (prod)</a:t>
            </a:r>
            <a:endParaRPr lang="en-US" dirty="0"/>
          </a:p>
        </p:txBody>
      </p:sp>
      <p:sp>
        <p:nvSpPr>
          <p:cNvPr id="569" name="TextBox 570"/>
          <p:cNvSpPr txBox="1"/>
          <p:nvPr/>
        </p:nvSpPr>
        <p:spPr>
          <a:xfrm>
            <a:off x="1051560" y="5321808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>
              <a:lnSpc>
                <a:spcPct val="118000"/>
              </a:lnSpc>
            </a:pPr>
            <a:r>
              <a:rPr lang="en-US" sz="850" dirty="0">
                <a:solidFill>
                  <a:srgbClr val="666666"/>
                </a:solidFill>
                <a:latin typeface="Arial"/>
                <a:cs typeface="Arial"/>
              </a:rPr>
              <a:t>60% cheaper than Azure SQL architecture. Consumption Plan option at ~15 EUR/month for dev/test environments.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relleborg layout WITHOUT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5F8BE65A-4006-4694-B021-2BD2E6B59404}"/>
    </a:ext>
  </a:extLst>
</a:theme>
</file>

<file path=ppt/theme/theme2.xml><?xml version="1.0" encoding="utf-8"?>
<a:theme xmlns:a="http://schemas.openxmlformats.org/drawingml/2006/main" name="Trelleborg layout WITH subtitles">
  <a:themeElements>
    <a:clrScheme name="230905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2700">
          <a:noFill/>
        </a:ln>
      </a:spPr>
      <a:bodyPr lIns="72000" tIns="72000" rIns="72000" bIns="72000" rtlCol="0" anchor="t"/>
      <a:lstStyle>
        <a:defPPr algn="l">
          <a:lnSpc>
            <a:spcPct val="110000"/>
          </a:lnSpc>
          <a:spcBef>
            <a:spcPts val="800"/>
          </a:spcBef>
          <a:defRPr smtClean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0" tIns="0" rIns="0" bIns="0" rtlCol="0">
        <a:spAutoFit/>
      </a:bodyPr>
      <a:lstStyle>
        <a:defPPr algn="l">
          <a:lnSpc>
            <a:spcPct val="110000"/>
          </a:lnSpc>
          <a:spcBef>
            <a:spcPts val="800"/>
          </a:spcBef>
          <a:defRPr smtClean="0"/>
        </a:defPPr>
      </a:lstStyle>
    </a:txDef>
  </a:objectDefaults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Trelleborg template and toolbox v.1.pptx" id="{8AD82F21-6A70-4867-959E-EC1657297534}" vid="{8F1BF63D-33B0-4415-930E-3A22A2F5B076}"/>
    </a:ext>
  </a:extLst>
</a:theme>
</file>

<file path=ppt/theme/theme3.xml><?xml version="1.0" encoding="utf-8"?>
<a:theme xmlns:a="http://schemas.openxmlformats.org/drawingml/2006/main" name="Office Theme">
  <a:themeElements>
    <a:clrScheme name="240116_Trelleborg">
      <a:dk1>
        <a:srgbClr val="000000"/>
      </a:dk1>
      <a:lt1>
        <a:srgbClr val="FFFFFF"/>
      </a:lt1>
      <a:dk2>
        <a:srgbClr val="333333"/>
      </a:dk2>
      <a:lt2>
        <a:srgbClr val="CCCCCC"/>
      </a:lt2>
      <a:accent1>
        <a:srgbClr val="666666"/>
      </a:accent1>
      <a:accent2>
        <a:srgbClr val="6DC1C9"/>
      </a:accent2>
      <a:accent3>
        <a:srgbClr val="AD9B68"/>
      </a:accent3>
      <a:accent4>
        <a:srgbClr val="B77133"/>
      </a:accent4>
      <a:accent5>
        <a:srgbClr val="647772"/>
      </a:accent5>
      <a:accent6>
        <a:srgbClr val="813341"/>
      </a:accent6>
      <a:hlink>
        <a:srgbClr val="AD9B68"/>
      </a:hlink>
      <a:folHlink>
        <a:srgbClr val="666666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40116_Trellebor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NK">
      <a:srgbClr val="FFFFFF"/>
    </a:custClr>
    <a:custClr name="BLANK">
      <a:srgbClr val="FFFFFF"/>
    </a:custClr>
    <a:custClr name="BLANK">
      <a:srgbClr val="FFFFFF"/>
    </a:custClr>
    <a:custClr name="Trelleborg Green">
      <a:srgbClr val="4FA646"/>
    </a:custClr>
    <a:custClr name="Trelleborg Black">
      <a:srgbClr val="000000"/>
    </a:custClr>
    <a:custClr name="Trelleborg Turquoise">
      <a:srgbClr val="49B1BB"/>
    </a:custClr>
    <a:custClr name="Trelleborg Gold">
      <a:srgbClr val="998242"/>
    </a:custClr>
    <a:custClr name="Trelleborg Copper">
      <a:srgbClr val="A54E00"/>
    </a:custClr>
    <a:custClr name="Trelleborg Moss">
      <a:srgbClr val="3D554F"/>
    </a:custClr>
    <a:custClr name="Trelleborg Brick">
      <a:srgbClr val="610012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20%">
      <a:srgbClr val="72B86B"/>
    </a:custClr>
    <a:custClr name="Trelleborg Black 20%">
      <a:srgbClr val="333333"/>
    </a:custClr>
    <a:custClr name="Trelleborg Turquoise 20%">
      <a:srgbClr val="6DC1C9"/>
    </a:custClr>
    <a:custClr name="Trelleborg Gold 20%">
      <a:srgbClr val="AD9B68"/>
    </a:custClr>
    <a:custClr name="Trelleborg Copper 20%">
      <a:srgbClr val="B77133"/>
    </a:custClr>
    <a:custClr name="Trelleborg Moss 20%">
      <a:srgbClr val="647772"/>
    </a:custClr>
    <a:custClr name="Trelleborg Brick 20%">
      <a:srgbClr val="81334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40%">
      <a:srgbClr val="95CA90"/>
    </a:custClr>
    <a:custClr name="Trelleborg Black 40%">
      <a:srgbClr val="666666"/>
    </a:custClr>
    <a:custClr name="Trelleborg Turquoise 40%">
      <a:srgbClr val="92D0D6"/>
    </a:custClr>
    <a:custClr name="Trelleborg Gold 40%">
      <a:srgbClr val="C2B48E"/>
    </a:custClr>
    <a:custClr name="Trelleborg Copper 40%">
      <a:srgbClr val="C99566"/>
    </a:custClr>
    <a:custClr name="Trelleborg Moss 40%">
      <a:srgbClr val="8B9995"/>
    </a:custClr>
    <a:custClr name="Trelleborg Brick 40%">
      <a:srgbClr val="A06671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60%">
      <a:srgbClr val="B9DBB5"/>
    </a:custClr>
    <a:custClr name="Trelleborg Black 60%">
      <a:srgbClr val="999999"/>
    </a:custClr>
    <a:custClr name="Trelleborg Turquoise 60%">
      <a:srgbClr val="B6E0E4"/>
    </a:custClr>
    <a:custClr name="Trelleborg Gold 60%">
      <a:srgbClr val="D6CDB3"/>
    </a:custClr>
    <a:custClr name="Trelleborg Copper 60%">
      <a:srgbClr val="DBB899"/>
    </a:custClr>
    <a:custClr name="Trelleborg Moss 60%">
      <a:srgbClr val="B1BBB9"/>
    </a:custClr>
    <a:custClr name="Trelleborg Brick 60%">
      <a:srgbClr val="C099A0"/>
    </a:custClr>
    <a:custClr name="BLANK">
      <a:srgbClr val="FFFFFF"/>
    </a:custClr>
    <a:custClr name="BLANK">
      <a:srgbClr val="FFFFFF"/>
    </a:custClr>
    <a:custClr name="BLANK">
      <a:srgbClr val="FFFFFF"/>
    </a:custClr>
    <a:custClr name="Trelleborg Green 80%">
      <a:srgbClr val="DCEDDA"/>
    </a:custClr>
    <a:custClr name="Trelleborg Black 80%">
      <a:srgbClr val="CCCCCC"/>
    </a:custClr>
    <a:custClr name="Trelleborg Turquoise 80%">
      <a:srgbClr val="DBEFF1"/>
    </a:custClr>
    <a:custClr name="Trelleborg Gold 80%">
      <a:srgbClr val="EBE6D9"/>
    </a:custClr>
    <a:custClr name="Trelleborg Copper 80%">
      <a:srgbClr val="EDDCCC"/>
    </a:custClr>
    <a:custClr name="Trelleborg Moss 80%">
      <a:srgbClr val="D8DDDC"/>
    </a:custClr>
    <a:custClr name="Trelleborg Brick 80%">
      <a:srgbClr val="DFCCD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68cdf2a-c704-434a-a26b-e9d2b58a1b26">
      <Terms xmlns="http://schemas.microsoft.com/office/infopath/2007/PartnerControls"/>
    </lcf76f155ced4ddcb4097134ff3c332f>
    <TaxCatchAll xmlns="0740f516-8edd-43f4-a74a-adbc026fc50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85F51D834CA7479B73624D2E5D9188" ma:contentTypeVersion="14" ma:contentTypeDescription="Create a new document." ma:contentTypeScope="" ma:versionID="b194a5834eeb41edcc762a7d90077f41">
  <xsd:schema xmlns:xsd="http://www.w3.org/2001/XMLSchema" xmlns:xs="http://www.w3.org/2001/XMLSchema" xmlns:p="http://schemas.microsoft.com/office/2006/metadata/properties" xmlns:ns2="d68cdf2a-c704-434a-a26b-e9d2b58a1b26" xmlns:ns3="0740f516-8edd-43f4-a74a-adbc026fc50a" targetNamespace="http://schemas.microsoft.com/office/2006/metadata/properties" ma:root="true" ma:fieldsID="7110e4dc8e3e71c9bebd305723e395f6" ns2:_="" ns3:_="">
    <xsd:import namespace="d68cdf2a-c704-434a-a26b-e9d2b58a1b26"/>
    <xsd:import namespace="0740f516-8edd-43f4-a74a-adbc026fc5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8cdf2a-c704-434a-a26b-e9d2b58a1b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67bf3288-28e8-4ef9-9788-6427bad48b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40f516-8edd-43f4-a74a-adbc026fc50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704284-9cbd-4fb2-b966-ad0726a87052}" ma:internalName="TaxCatchAll" ma:showField="CatchAllData" ma:web="0740f516-8edd-43f4-a74a-adbc026fc5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44F83A-07EB-48D2-9842-5998DA6117F3}">
  <ds:schemaRefs>
    <ds:schemaRef ds:uri="0740f516-8edd-43f4-a74a-adbc026fc50a"/>
    <ds:schemaRef ds:uri="d68cdf2a-c704-434a-a26b-e9d2b58a1b2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8E5017B-E149-4287-BF71-2B76ACBD058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CA9699-493C-450E-90A2-49F72AAE0E91}">
  <ds:schemaRefs>
    <ds:schemaRef ds:uri="0740f516-8edd-43f4-a74a-adbc026fc50a"/>
    <ds:schemaRef ds:uri="d68cdf2a-c704-434a-a26b-e9d2b58a1b2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2a0926b8-bf16-4a60-adaf-5bd46f8df9ae}" enabled="1" method="Standard" siteId="{0f861177-7722-4f06-8db9-3384e5321a9f}" removed="0"/>
  <clbl:label id="{50a58a55-8d55-4c7b-aa85-1ae890a4cc64}" enabled="1" method="Standard" siteId="{e85feadf-11e7-47bb-a160-43b98dcc96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Trelleborg_template_2024__v.1</Template>
  <TotalTime>170</TotalTime>
  <Words>98</Words>
  <Application>Microsoft Office PowerPoint</Application>
  <PresentationFormat>Widescreen</PresentationFormat>
  <Paragraphs>41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Trelleborg layout WITHOUT subtitles</vt:lpstr>
      <vt:lpstr>Trelleborg layout WITH subtitles</vt:lpstr>
      <vt:lpstr>think-cell Slide</vt:lpstr>
      <vt:lpstr>D365 F&amp;O – Change requests management</vt:lpstr>
      <vt:lpstr>Change request management</vt:lpstr>
      <vt:lpstr>Decision matrix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Veronica Åkermo</dc:creator>
  <cp:lastModifiedBy>Antoine Bastian</cp:lastModifiedBy>
  <cp:revision>4</cp:revision>
  <dcterms:created xsi:type="dcterms:W3CDTF">2025-02-17T05:03:08Z</dcterms:created>
  <dcterms:modified xsi:type="dcterms:W3CDTF">2026-03-03T13:49:34Z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0x010100EE85F51D834CA7479B73624D2E5D9188</vt:lpwstr>
  </property>
  <property fmtid="{D5CDD505-2E9C-101B-9397-08002B2CF9AE}" pid="3" name="MediaServiceImageTags">
    <vt:lpwstr/>
  </property>
  <property fmtid="{D5CDD505-2E9C-101B-9397-08002B2CF9AE}" pid="4" name="NXPowerLiteLastOptimized">
    <vt:lpwstr>1079019</vt:lpwstr>
  </property>
  <property fmtid="{D5CDD505-2E9C-101B-9397-08002B2CF9AE}" pid="5" name="NXPowerLiteSettings">
    <vt:lpwstr>F70005D002A000</vt:lpwstr>
  </property>
  <property fmtid="{D5CDD505-2E9C-101B-9397-08002B2CF9AE}" pid="6" name="NXPowerLiteVersion">
    <vt:lpwstr>D10.0.1</vt:lpwstr>
  </property>
  <property fmtid="{D5CDD505-2E9C-101B-9397-08002B2CF9AE}" pid="7" name="ClassificationContentMarkingFooterLocations">
    <vt:lpwstr>Trelleborg layout WITHOUT subtitles:10\Trelleborg layout WITH subtitles:10</vt:lpwstr>
  </property>
  <property fmtid="{D5CDD505-2E9C-101B-9397-08002B2CF9AE}" pid="8" name="ClassificationContentMarkingFooterText">
    <vt:lpwstr>Internal document</vt:lpwstr>
  </property>
</Properties>
</file>